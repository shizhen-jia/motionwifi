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58" r:id="rId4"/>
    <p:sldId id="259" r:id="rId5"/>
    <p:sldId id="260" r:id="rId6"/>
    <p:sldId id="261" r:id="rId7"/>
    <p:sldId id="2147477447" r:id="rId8"/>
    <p:sldId id="2147477446"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41"/>
    <p:restoredTop sz="94658"/>
  </p:normalViewPr>
  <p:slideViewPr>
    <p:cSldViewPr snapToGrid="0">
      <p:cViewPr varScale="1">
        <p:scale>
          <a:sx n="120" d="100"/>
          <a:sy n="120" d="100"/>
        </p:scale>
        <p:origin x="96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C0D690-A442-40B9-90B1-7112450EEB7B}" type="datetimeFigureOut">
              <a:rPr lang="en-US" smtClean="0"/>
              <a:t>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DCCD12-E9C5-4A99-A840-F09D44BE98A0}" type="slidenum">
              <a:rPr lang="en-US" smtClean="0"/>
              <a:t>‹#›</a:t>
            </a:fld>
            <a:endParaRPr lang="en-US"/>
          </a:p>
        </p:txBody>
      </p:sp>
    </p:spTree>
    <p:extLst>
      <p:ext uri="{BB962C8B-B14F-4D97-AF65-F5344CB8AC3E}">
        <p14:creationId xmlns:p14="http://schemas.microsoft.com/office/powerpoint/2010/main" val="30895835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kern="1200">
                <a:solidFill>
                  <a:schemeClr val="tx1"/>
                </a:solidFill>
                <a:latin typeface="+mn-lt"/>
                <a:ea typeface="+mn-ea"/>
                <a:cs typeface="+mn-cs"/>
              </a:rPr>
              <a:t>Score(angle) =</a:t>
            </a:r>
            <a:br>
              <a:rPr lang="en-US" sz="1200" kern="1200">
                <a:solidFill>
                  <a:schemeClr val="tx1"/>
                </a:solidFill>
                <a:latin typeface="+mn-lt"/>
                <a:ea typeface="+mn-ea"/>
                <a:cs typeface="+mn-cs"/>
              </a:rPr>
            </a:br>
            <a:r>
              <a:rPr lang="en-US" sz="1200" kern="1200">
                <a:solidFill>
                  <a:schemeClr val="tx1"/>
                </a:solidFill>
                <a:latin typeface="+mn-lt"/>
                <a:ea typeface="+mn-ea"/>
                <a:cs typeface="+mn-cs"/>
              </a:rPr>
              <a:t>Σ weight(client) × performance(client, angle)</a:t>
            </a:r>
          </a:p>
          <a:p>
            <a:r>
              <a:rPr lang="en-US"/>
              <a:t>Where performance could include:</a:t>
            </a:r>
          </a:p>
          <a:p>
            <a:pPr rtl="0"/>
            <a:r>
              <a:rPr lang="en-US" sz="1200" kern="1200">
                <a:solidFill>
                  <a:schemeClr val="tx1"/>
                </a:solidFill>
                <a:latin typeface="+mn-lt"/>
                <a:ea typeface="+mn-ea"/>
                <a:cs typeface="+mn-cs"/>
              </a:rPr>
              <a:t>throughput</a:t>
            </a:r>
            <a:br>
              <a:rPr lang="en-US" sz="1200" kern="1200">
                <a:solidFill>
                  <a:schemeClr val="tx1"/>
                </a:solidFill>
                <a:latin typeface="+mn-lt"/>
                <a:ea typeface="+mn-ea"/>
                <a:cs typeface="+mn-cs"/>
              </a:rPr>
            </a:br>
            <a:r>
              <a:rPr lang="en-US" sz="1200" kern="1200">
                <a:solidFill>
                  <a:schemeClr val="tx1"/>
                </a:solidFill>
                <a:latin typeface="+mn-lt"/>
                <a:ea typeface="+mn-ea"/>
                <a:cs typeface="+mn-cs"/>
              </a:rPr>
              <a:t>latency</a:t>
            </a:r>
            <a:br>
              <a:rPr lang="en-US" sz="1200" kern="1200">
                <a:solidFill>
                  <a:schemeClr val="tx1"/>
                </a:solidFill>
                <a:latin typeface="+mn-lt"/>
                <a:ea typeface="+mn-ea"/>
                <a:cs typeface="+mn-cs"/>
              </a:rPr>
            </a:br>
            <a:r>
              <a:rPr lang="en-US" sz="1200" kern="1200">
                <a:solidFill>
                  <a:schemeClr val="tx1"/>
                </a:solidFill>
                <a:latin typeface="+mn-lt"/>
                <a:ea typeface="+mn-ea"/>
                <a:cs typeface="+mn-cs"/>
              </a:rPr>
              <a:t>RSSI/SNR</a:t>
            </a:r>
            <a:br>
              <a:rPr lang="en-US" sz="1200" kern="1200">
                <a:solidFill>
                  <a:schemeClr val="tx1"/>
                </a:solidFill>
                <a:latin typeface="+mn-lt"/>
                <a:ea typeface="+mn-ea"/>
                <a:cs typeface="+mn-cs"/>
              </a:rPr>
            </a:br>
            <a:r>
              <a:rPr lang="en-US" sz="1200" kern="1200">
                <a:solidFill>
                  <a:schemeClr val="tx1"/>
                </a:solidFill>
                <a:latin typeface="+mn-lt"/>
                <a:ea typeface="+mn-ea"/>
                <a:cs typeface="+mn-cs"/>
              </a:rPr>
              <a:t>packet error rate</a:t>
            </a:r>
            <a:br>
              <a:rPr lang="en-US" sz="1200" kern="1200">
                <a:solidFill>
                  <a:schemeClr val="tx1"/>
                </a:solidFill>
                <a:latin typeface="+mn-lt"/>
                <a:ea typeface="+mn-ea"/>
                <a:cs typeface="+mn-cs"/>
              </a:rPr>
            </a:br>
            <a:r>
              <a:rPr lang="en-US" sz="1200" kern="1200">
                <a:solidFill>
                  <a:schemeClr val="tx1"/>
                </a:solidFill>
                <a:latin typeface="+mn-lt"/>
                <a:ea typeface="+mn-ea"/>
                <a:cs typeface="+mn-cs"/>
              </a:rPr>
              <a:t>MCS stability</a:t>
            </a:r>
          </a:p>
          <a:p>
            <a:r>
              <a:rPr lang="en-US"/>
              <a:t>A practical scoring function could be:</a:t>
            </a:r>
          </a:p>
          <a:p>
            <a:pPr rtl="0"/>
            <a:r>
              <a:rPr lang="en-US" sz="1200" kern="1200">
                <a:solidFill>
                  <a:schemeClr val="tx1"/>
                </a:solidFill>
                <a:latin typeface="+mn-lt"/>
                <a:ea typeface="+mn-ea"/>
                <a:cs typeface="+mn-cs"/>
              </a:rPr>
              <a:t>Score(angle) =</a:t>
            </a:r>
            <a:br>
              <a:rPr lang="en-US" sz="1200" kern="1200">
                <a:solidFill>
                  <a:schemeClr val="tx1"/>
                </a:solidFill>
                <a:latin typeface="+mn-lt"/>
                <a:ea typeface="+mn-ea"/>
                <a:cs typeface="+mn-cs"/>
              </a:rPr>
            </a:br>
            <a:r>
              <a:rPr lang="en-US" sz="1200" kern="1200">
                <a:solidFill>
                  <a:schemeClr val="tx1"/>
                </a:solidFill>
                <a:latin typeface="+mn-lt"/>
                <a:ea typeface="+mn-ea"/>
                <a:cs typeface="+mn-cs"/>
              </a:rPr>
              <a:t>Σ Wi × [a × </a:t>
            </a:r>
            <a:r>
              <a:rPr lang="en-US" sz="1200" kern="1200" err="1">
                <a:solidFill>
                  <a:schemeClr val="tx1"/>
                </a:solidFill>
                <a:latin typeface="+mn-lt"/>
                <a:ea typeface="+mn-ea"/>
                <a:cs typeface="+mn-cs"/>
              </a:rPr>
              <a:t>throughput_i</a:t>
            </a:r>
            <a:r>
              <a:rPr lang="en-US" sz="1200" kern="1200">
                <a:solidFill>
                  <a:schemeClr val="tx1"/>
                </a:solidFill>
                <a:latin typeface="+mn-lt"/>
                <a:ea typeface="+mn-ea"/>
                <a:cs typeface="+mn-cs"/>
              </a:rPr>
              <a:t>(angle)</a:t>
            </a:r>
            <a:br>
              <a:rPr lang="en-US" sz="1200" kern="1200">
                <a:solidFill>
                  <a:schemeClr val="tx1"/>
                </a:solidFill>
                <a:latin typeface="+mn-lt"/>
                <a:ea typeface="+mn-ea"/>
                <a:cs typeface="+mn-cs"/>
              </a:rPr>
            </a:br>
            <a:r>
              <a:rPr lang="en-US" sz="1200" kern="1200">
                <a:solidFill>
                  <a:schemeClr val="tx1"/>
                </a:solidFill>
                <a:latin typeface="+mn-lt"/>
                <a:ea typeface="+mn-ea"/>
                <a:cs typeface="+mn-cs"/>
              </a:rPr>
              <a:t>       - b × </a:t>
            </a:r>
            <a:r>
              <a:rPr lang="en-US" sz="1200" kern="1200" err="1">
                <a:solidFill>
                  <a:schemeClr val="tx1"/>
                </a:solidFill>
                <a:latin typeface="+mn-lt"/>
                <a:ea typeface="+mn-ea"/>
                <a:cs typeface="+mn-cs"/>
              </a:rPr>
              <a:t>latency_i</a:t>
            </a:r>
            <a:r>
              <a:rPr lang="en-US" sz="1200" kern="1200">
                <a:solidFill>
                  <a:schemeClr val="tx1"/>
                </a:solidFill>
                <a:latin typeface="+mn-lt"/>
                <a:ea typeface="+mn-ea"/>
                <a:cs typeface="+mn-cs"/>
              </a:rPr>
              <a:t>(angle)</a:t>
            </a:r>
            <a:br>
              <a:rPr lang="en-US" sz="1200" kern="1200">
                <a:solidFill>
                  <a:schemeClr val="tx1"/>
                </a:solidFill>
                <a:latin typeface="+mn-lt"/>
                <a:ea typeface="+mn-ea"/>
                <a:cs typeface="+mn-cs"/>
              </a:rPr>
            </a:br>
            <a:r>
              <a:rPr lang="en-US" sz="1200" kern="1200">
                <a:solidFill>
                  <a:schemeClr val="tx1"/>
                </a:solidFill>
                <a:latin typeface="+mn-lt"/>
                <a:ea typeface="+mn-ea"/>
                <a:cs typeface="+mn-cs"/>
              </a:rPr>
              <a:t>       - c × </a:t>
            </a:r>
            <a:r>
              <a:rPr lang="en-US" sz="1200" kern="1200" err="1">
                <a:solidFill>
                  <a:schemeClr val="tx1"/>
                </a:solidFill>
                <a:latin typeface="+mn-lt"/>
                <a:ea typeface="+mn-ea"/>
                <a:cs typeface="+mn-cs"/>
              </a:rPr>
              <a:t>packet_loss_i</a:t>
            </a:r>
            <a:r>
              <a:rPr lang="en-US" sz="1200" kern="1200">
                <a:solidFill>
                  <a:schemeClr val="tx1"/>
                </a:solidFill>
                <a:latin typeface="+mn-lt"/>
                <a:ea typeface="+mn-ea"/>
                <a:cs typeface="+mn-cs"/>
              </a:rPr>
              <a:t>(angle)]</a:t>
            </a:r>
          </a:p>
          <a:p>
            <a:r>
              <a:rPr lang="en-US"/>
              <a:t>Where:</a:t>
            </a:r>
          </a:p>
          <a:p>
            <a:r>
              <a:rPr lang="en-US" sz="1200" kern="1200">
                <a:solidFill>
                  <a:schemeClr val="tx1"/>
                </a:solidFill>
                <a:latin typeface="+mn-lt"/>
                <a:ea typeface="+mn-ea"/>
                <a:cs typeface="+mn-cs"/>
              </a:rPr>
              <a:t>Wi</a:t>
            </a:r>
            <a:r>
              <a:rPr lang="en-US"/>
              <a:t> = device priority weight </a:t>
            </a:r>
          </a:p>
          <a:p>
            <a:pPr lvl="1"/>
            <a:r>
              <a:rPr lang="en-US"/>
              <a:t>gaming console: high </a:t>
            </a:r>
          </a:p>
          <a:p>
            <a:pPr lvl="1"/>
            <a:r>
              <a:rPr lang="en-US"/>
              <a:t>TV: high </a:t>
            </a:r>
          </a:p>
          <a:p>
            <a:pPr lvl="1"/>
            <a:r>
              <a:rPr lang="en-US"/>
              <a:t>laptop: medium/high </a:t>
            </a:r>
          </a:p>
          <a:p>
            <a:pPr lvl="1"/>
            <a:r>
              <a:rPr lang="en-US"/>
              <a:t>phone: medium/high </a:t>
            </a:r>
          </a:p>
          <a:p>
            <a:pPr lvl="1"/>
            <a:r>
              <a:rPr lang="en-US"/>
              <a:t>thermostat: low </a:t>
            </a:r>
          </a:p>
          <a:p>
            <a:r>
              <a:rPr lang="en-US" sz="1200" kern="1200">
                <a:solidFill>
                  <a:schemeClr val="tx1"/>
                </a:solidFill>
                <a:latin typeface="+mn-lt"/>
                <a:ea typeface="+mn-ea"/>
                <a:cs typeface="+mn-cs"/>
              </a:rPr>
              <a:t>a, b, c</a:t>
            </a:r>
            <a:r>
              <a:rPr lang="en-US"/>
              <a:t> = tuning factors </a:t>
            </a:r>
          </a:p>
          <a:p>
            <a:r>
              <a:rPr lang="en-US" sz="1200" kern="1200">
                <a:solidFill>
                  <a:schemeClr val="tx1"/>
                </a:solidFill>
                <a:latin typeface="+mn-lt"/>
                <a:ea typeface="+mn-ea"/>
                <a:cs typeface="+mn-cs"/>
              </a:rPr>
              <a:t>i</a:t>
            </a:r>
            <a:r>
              <a:rPr lang="en-US"/>
              <a:t> = each client </a:t>
            </a:r>
          </a:p>
          <a:p>
            <a:r>
              <a:rPr lang="en-US"/>
              <a:t>Then the AP selects:</a:t>
            </a:r>
          </a:p>
          <a:p>
            <a:pPr rtl="0"/>
            <a:r>
              <a:rPr lang="en-US" sz="1200" kern="1200" err="1">
                <a:solidFill>
                  <a:schemeClr val="tx1"/>
                </a:solidFill>
                <a:latin typeface="+mn-lt"/>
                <a:ea typeface="+mn-ea"/>
                <a:cs typeface="+mn-cs"/>
              </a:rPr>
              <a:t>best_angle</a:t>
            </a:r>
            <a:r>
              <a:rPr lang="en-US" sz="1200" kern="1200">
                <a:solidFill>
                  <a:schemeClr val="tx1"/>
                </a:solidFill>
                <a:latin typeface="+mn-lt"/>
                <a:ea typeface="+mn-ea"/>
                <a:cs typeface="+mn-cs"/>
              </a:rPr>
              <a:t> = angle with maximum Score(angle)</a:t>
            </a:r>
          </a:p>
          <a:p>
            <a:endParaRPr lang="en-US"/>
          </a:p>
        </p:txBody>
      </p:sp>
      <p:sp>
        <p:nvSpPr>
          <p:cNvPr id="4" name="Slide Number Placeholder 3"/>
          <p:cNvSpPr>
            <a:spLocks noGrp="1"/>
          </p:cNvSpPr>
          <p:nvPr>
            <p:ph type="sldNum" sz="quarter" idx="5"/>
          </p:nvPr>
        </p:nvSpPr>
        <p:spPr/>
        <p:txBody>
          <a:bodyPr/>
          <a:lstStyle/>
          <a:p>
            <a:fld id="{A7DCCD12-E9C5-4A99-A840-F09D44BE98A0}" type="slidenum">
              <a:rPr lang="en-US" smtClean="0"/>
              <a:t>4</a:t>
            </a:fld>
            <a:endParaRPr lang="en-US"/>
          </a:p>
        </p:txBody>
      </p:sp>
    </p:spTree>
    <p:extLst>
      <p:ext uri="{BB962C8B-B14F-4D97-AF65-F5344CB8AC3E}">
        <p14:creationId xmlns:p14="http://schemas.microsoft.com/office/powerpoint/2010/main" val="16073010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2FDFB2-5D00-6688-6468-F3BEA47EE3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D61E80-B911-4434-64A1-6D9CEBA3C6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68412F-2223-36FF-5CE9-56A77556DBFE}"/>
              </a:ext>
            </a:extLst>
          </p:cNvPr>
          <p:cNvSpPr>
            <a:spLocks noGrp="1"/>
          </p:cNvSpPr>
          <p:nvPr>
            <p:ph type="body" idx="1"/>
          </p:nvPr>
        </p:nvSpPr>
        <p:spPr/>
        <p:txBody>
          <a:bodyPr/>
          <a:lstStyle/>
          <a:p>
            <a:pPr rtl="0"/>
            <a:r>
              <a:rPr lang="en-US" sz="1200" kern="1200">
                <a:solidFill>
                  <a:schemeClr val="tx1"/>
                </a:solidFill>
                <a:latin typeface="+mn-lt"/>
                <a:ea typeface="+mn-ea"/>
                <a:cs typeface="+mn-cs"/>
              </a:rPr>
              <a:t>Score(angle) =</a:t>
            </a:r>
            <a:br>
              <a:rPr lang="en-US" sz="1200" kern="1200">
                <a:solidFill>
                  <a:schemeClr val="tx1"/>
                </a:solidFill>
                <a:latin typeface="+mn-lt"/>
                <a:ea typeface="+mn-ea"/>
                <a:cs typeface="+mn-cs"/>
              </a:rPr>
            </a:br>
            <a:r>
              <a:rPr lang="en-US" sz="1200" kern="1200">
                <a:solidFill>
                  <a:schemeClr val="tx1"/>
                </a:solidFill>
                <a:latin typeface="+mn-lt"/>
                <a:ea typeface="+mn-ea"/>
                <a:cs typeface="+mn-cs"/>
              </a:rPr>
              <a:t>Σ weight(client) × performance(client, angle)</a:t>
            </a:r>
          </a:p>
          <a:p>
            <a:r>
              <a:rPr lang="en-US"/>
              <a:t>Where performance could include:</a:t>
            </a:r>
          </a:p>
          <a:p>
            <a:pPr rtl="0"/>
            <a:r>
              <a:rPr lang="en-US" sz="1200" kern="1200">
                <a:solidFill>
                  <a:schemeClr val="tx1"/>
                </a:solidFill>
                <a:latin typeface="+mn-lt"/>
                <a:ea typeface="+mn-ea"/>
                <a:cs typeface="+mn-cs"/>
              </a:rPr>
              <a:t>throughput</a:t>
            </a:r>
            <a:br>
              <a:rPr lang="en-US" sz="1200" kern="1200">
                <a:solidFill>
                  <a:schemeClr val="tx1"/>
                </a:solidFill>
                <a:latin typeface="+mn-lt"/>
                <a:ea typeface="+mn-ea"/>
                <a:cs typeface="+mn-cs"/>
              </a:rPr>
            </a:br>
            <a:r>
              <a:rPr lang="en-US" sz="1200" kern="1200">
                <a:solidFill>
                  <a:schemeClr val="tx1"/>
                </a:solidFill>
                <a:latin typeface="+mn-lt"/>
                <a:ea typeface="+mn-ea"/>
                <a:cs typeface="+mn-cs"/>
              </a:rPr>
              <a:t>latency</a:t>
            </a:r>
            <a:br>
              <a:rPr lang="en-US" sz="1200" kern="1200">
                <a:solidFill>
                  <a:schemeClr val="tx1"/>
                </a:solidFill>
                <a:latin typeface="+mn-lt"/>
                <a:ea typeface="+mn-ea"/>
                <a:cs typeface="+mn-cs"/>
              </a:rPr>
            </a:br>
            <a:r>
              <a:rPr lang="en-US" sz="1200" kern="1200">
                <a:solidFill>
                  <a:schemeClr val="tx1"/>
                </a:solidFill>
                <a:latin typeface="+mn-lt"/>
                <a:ea typeface="+mn-ea"/>
                <a:cs typeface="+mn-cs"/>
              </a:rPr>
              <a:t>RSSI/SNR</a:t>
            </a:r>
            <a:br>
              <a:rPr lang="en-US" sz="1200" kern="1200">
                <a:solidFill>
                  <a:schemeClr val="tx1"/>
                </a:solidFill>
                <a:latin typeface="+mn-lt"/>
                <a:ea typeface="+mn-ea"/>
                <a:cs typeface="+mn-cs"/>
              </a:rPr>
            </a:br>
            <a:r>
              <a:rPr lang="en-US" sz="1200" kern="1200">
                <a:solidFill>
                  <a:schemeClr val="tx1"/>
                </a:solidFill>
                <a:latin typeface="+mn-lt"/>
                <a:ea typeface="+mn-ea"/>
                <a:cs typeface="+mn-cs"/>
              </a:rPr>
              <a:t>packet error rate</a:t>
            </a:r>
            <a:br>
              <a:rPr lang="en-US" sz="1200" kern="1200">
                <a:solidFill>
                  <a:schemeClr val="tx1"/>
                </a:solidFill>
                <a:latin typeface="+mn-lt"/>
                <a:ea typeface="+mn-ea"/>
                <a:cs typeface="+mn-cs"/>
              </a:rPr>
            </a:br>
            <a:r>
              <a:rPr lang="en-US" sz="1200" kern="1200">
                <a:solidFill>
                  <a:schemeClr val="tx1"/>
                </a:solidFill>
                <a:latin typeface="+mn-lt"/>
                <a:ea typeface="+mn-ea"/>
                <a:cs typeface="+mn-cs"/>
              </a:rPr>
              <a:t>MCS stability</a:t>
            </a:r>
          </a:p>
          <a:p>
            <a:r>
              <a:rPr lang="en-US"/>
              <a:t>A practical scoring function could be:</a:t>
            </a:r>
          </a:p>
          <a:p>
            <a:pPr rtl="0"/>
            <a:r>
              <a:rPr lang="en-US" sz="1200" kern="1200">
                <a:solidFill>
                  <a:schemeClr val="tx1"/>
                </a:solidFill>
                <a:latin typeface="+mn-lt"/>
                <a:ea typeface="+mn-ea"/>
                <a:cs typeface="+mn-cs"/>
              </a:rPr>
              <a:t>Score(angle) =</a:t>
            </a:r>
            <a:br>
              <a:rPr lang="en-US" sz="1200" kern="1200">
                <a:solidFill>
                  <a:schemeClr val="tx1"/>
                </a:solidFill>
                <a:latin typeface="+mn-lt"/>
                <a:ea typeface="+mn-ea"/>
                <a:cs typeface="+mn-cs"/>
              </a:rPr>
            </a:br>
            <a:r>
              <a:rPr lang="en-US" sz="1200" kern="1200">
                <a:solidFill>
                  <a:schemeClr val="tx1"/>
                </a:solidFill>
                <a:latin typeface="+mn-lt"/>
                <a:ea typeface="+mn-ea"/>
                <a:cs typeface="+mn-cs"/>
              </a:rPr>
              <a:t>Σ Wi × [a × </a:t>
            </a:r>
            <a:r>
              <a:rPr lang="en-US" sz="1200" kern="1200" err="1">
                <a:solidFill>
                  <a:schemeClr val="tx1"/>
                </a:solidFill>
                <a:latin typeface="+mn-lt"/>
                <a:ea typeface="+mn-ea"/>
                <a:cs typeface="+mn-cs"/>
              </a:rPr>
              <a:t>throughput_i</a:t>
            </a:r>
            <a:r>
              <a:rPr lang="en-US" sz="1200" kern="1200">
                <a:solidFill>
                  <a:schemeClr val="tx1"/>
                </a:solidFill>
                <a:latin typeface="+mn-lt"/>
                <a:ea typeface="+mn-ea"/>
                <a:cs typeface="+mn-cs"/>
              </a:rPr>
              <a:t>(angle)</a:t>
            </a:r>
            <a:br>
              <a:rPr lang="en-US" sz="1200" kern="1200">
                <a:solidFill>
                  <a:schemeClr val="tx1"/>
                </a:solidFill>
                <a:latin typeface="+mn-lt"/>
                <a:ea typeface="+mn-ea"/>
                <a:cs typeface="+mn-cs"/>
              </a:rPr>
            </a:br>
            <a:r>
              <a:rPr lang="en-US" sz="1200" kern="1200">
                <a:solidFill>
                  <a:schemeClr val="tx1"/>
                </a:solidFill>
                <a:latin typeface="+mn-lt"/>
                <a:ea typeface="+mn-ea"/>
                <a:cs typeface="+mn-cs"/>
              </a:rPr>
              <a:t>       - b × </a:t>
            </a:r>
            <a:r>
              <a:rPr lang="en-US" sz="1200" kern="1200" err="1">
                <a:solidFill>
                  <a:schemeClr val="tx1"/>
                </a:solidFill>
                <a:latin typeface="+mn-lt"/>
                <a:ea typeface="+mn-ea"/>
                <a:cs typeface="+mn-cs"/>
              </a:rPr>
              <a:t>latency_i</a:t>
            </a:r>
            <a:r>
              <a:rPr lang="en-US" sz="1200" kern="1200">
                <a:solidFill>
                  <a:schemeClr val="tx1"/>
                </a:solidFill>
                <a:latin typeface="+mn-lt"/>
                <a:ea typeface="+mn-ea"/>
                <a:cs typeface="+mn-cs"/>
              </a:rPr>
              <a:t>(angle)</a:t>
            </a:r>
            <a:br>
              <a:rPr lang="en-US" sz="1200" kern="1200">
                <a:solidFill>
                  <a:schemeClr val="tx1"/>
                </a:solidFill>
                <a:latin typeface="+mn-lt"/>
                <a:ea typeface="+mn-ea"/>
                <a:cs typeface="+mn-cs"/>
              </a:rPr>
            </a:br>
            <a:r>
              <a:rPr lang="en-US" sz="1200" kern="1200">
                <a:solidFill>
                  <a:schemeClr val="tx1"/>
                </a:solidFill>
                <a:latin typeface="+mn-lt"/>
                <a:ea typeface="+mn-ea"/>
                <a:cs typeface="+mn-cs"/>
              </a:rPr>
              <a:t>       - c × </a:t>
            </a:r>
            <a:r>
              <a:rPr lang="en-US" sz="1200" kern="1200" err="1">
                <a:solidFill>
                  <a:schemeClr val="tx1"/>
                </a:solidFill>
                <a:latin typeface="+mn-lt"/>
                <a:ea typeface="+mn-ea"/>
                <a:cs typeface="+mn-cs"/>
              </a:rPr>
              <a:t>packet_loss_i</a:t>
            </a:r>
            <a:r>
              <a:rPr lang="en-US" sz="1200" kern="1200">
                <a:solidFill>
                  <a:schemeClr val="tx1"/>
                </a:solidFill>
                <a:latin typeface="+mn-lt"/>
                <a:ea typeface="+mn-ea"/>
                <a:cs typeface="+mn-cs"/>
              </a:rPr>
              <a:t>(angle)]</a:t>
            </a:r>
          </a:p>
          <a:p>
            <a:r>
              <a:rPr lang="en-US"/>
              <a:t>Where:</a:t>
            </a:r>
          </a:p>
          <a:p>
            <a:r>
              <a:rPr lang="en-US" sz="1200" kern="1200">
                <a:solidFill>
                  <a:schemeClr val="tx1"/>
                </a:solidFill>
                <a:latin typeface="+mn-lt"/>
                <a:ea typeface="+mn-ea"/>
                <a:cs typeface="+mn-cs"/>
              </a:rPr>
              <a:t>Wi</a:t>
            </a:r>
            <a:r>
              <a:rPr lang="en-US"/>
              <a:t> = device priority weight </a:t>
            </a:r>
          </a:p>
          <a:p>
            <a:pPr lvl="1"/>
            <a:r>
              <a:rPr lang="en-US"/>
              <a:t>gaming console: high </a:t>
            </a:r>
          </a:p>
          <a:p>
            <a:pPr lvl="1"/>
            <a:r>
              <a:rPr lang="en-US"/>
              <a:t>TV: high </a:t>
            </a:r>
          </a:p>
          <a:p>
            <a:pPr lvl="1"/>
            <a:r>
              <a:rPr lang="en-US"/>
              <a:t>laptop: medium/high </a:t>
            </a:r>
          </a:p>
          <a:p>
            <a:pPr lvl="1"/>
            <a:r>
              <a:rPr lang="en-US"/>
              <a:t>phone: medium/high </a:t>
            </a:r>
          </a:p>
          <a:p>
            <a:pPr lvl="1"/>
            <a:r>
              <a:rPr lang="en-US"/>
              <a:t>thermostat: low </a:t>
            </a:r>
          </a:p>
          <a:p>
            <a:r>
              <a:rPr lang="en-US" sz="1200" kern="1200">
                <a:solidFill>
                  <a:schemeClr val="tx1"/>
                </a:solidFill>
                <a:latin typeface="+mn-lt"/>
                <a:ea typeface="+mn-ea"/>
                <a:cs typeface="+mn-cs"/>
              </a:rPr>
              <a:t>a, b, c</a:t>
            </a:r>
            <a:r>
              <a:rPr lang="en-US"/>
              <a:t> = tuning factors </a:t>
            </a:r>
          </a:p>
          <a:p>
            <a:r>
              <a:rPr lang="en-US" sz="1200" kern="1200">
                <a:solidFill>
                  <a:schemeClr val="tx1"/>
                </a:solidFill>
                <a:latin typeface="+mn-lt"/>
                <a:ea typeface="+mn-ea"/>
                <a:cs typeface="+mn-cs"/>
              </a:rPr>
              <a:t>i</a:t>
            </a:r>
            <a:r>
              <a:rPr lang="en-US"/>
              <a:t> = each client </a:t>
            </a:r>
          </a:p>
          <a:p>
            <a:r>
              <a:rPr lang="en-US"/>
              <a:t>Then the AP selects:</a:t>
            </a:r>
          </a:p>
          <a:p>
            <a:pPr rtl="0"/>
            <a:r>
              <a:rPr lang="en-US" sz="1200" kern="1200" err="1">
                <a:solidFill>
                  <a:schemeClr val="tx1"/>
                </a:solidFill>
                <a:latin typeface="+mn-lt"/>
                <a:ea typeface="+mn-ea"/>
                <a:cs typeface="+mn-cs"/>
              </a:rPr>
              <a:t>best_angle</a:t>
            </a:r>
            <a:r>
              <a:rPr lang="en-US" sz="1200" kern="1200">
                <a:solidFill>
                  <a:schemeClr val="tx1"/>
                </a:solidFill>
                <a:latin typeface="+mn-lt"/>
                <a:ea typeface="+mn-ea"/>
                <a:cs typeface="+mn-cs"/>
              </a:rPr>
              <a:t> = angle with maximum Score(angle)</a:t>
            </a:r>
          </a:p>
          <a:p>
            <a:endParaRPr lang="en-US"/>
          </a:p>
        </p:txBody>
      </p:sp>
      <p:sp>
        <p:nvSpPr>
          <p:cNvPr id="4" name="Slide Number Placeholder 3">
            <a:extLst>
              <a:ext uri="{FF2B5EF4-FFF2-40B4-BE49-F238E27FC236}">
                <a16:creationId xmlns:a16="http://schemas.microsoft.com/office/drawing/2014/main" id="{05F0223A-F216-3378-7E80-889457E80FD5}"/>
              </a:ext>
            </a:extLst>
          </p:cNvPr>
          <p:cNvSpPr>
            <a:spLocks noGrp="1"/>
          </p:cNvSpPr>
          <p:nvPr>
            <p:ph type="sldNum" sz="quarter" idx="5"/>
          </p:nvPr>
        </p:nvSpPr>
        <p:spPr/>
        <p:txBody>
          <a:bodyPr/>
          <a:lstStyle/>
          <a:p>
            <a:fld id="{A7DCCD12-E9C5-4A99-A840-F09D44BE98A0}" type="slidenum">
              <a:rPr lang="en-US" smtClean="0"/>
              <a:t>5</a:t>
            </a:fld>
            <a:endParaRPr lang="en-US"/>
          </a:p>
        </p:txBody>
      </p:sp>
    </p:spTree>
    <p:extLst>
      <p:ext uri="{BB962C8B-B14F-4D97-AF65-F5344CB8AC3E}">
        <p14:creationId xmlns:p14="http://schemas.microsoft.com/office/powerpoint/2010/main" val="33110828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5E969-3F44-6477-6A45-7A305B9F5F4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74086F4-1399-382C-11B7-00648141EE5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44A3BB6-3BE7-478F-D405-CC3C203171F6}"/>
              </a:ext>
            </a:extLst>
          </p:cNvPr>
          <p:cNvSpPr>
            <a:spLocks noGrp="1"/>
          </p:cNvSpPr>
          <p:nvPr>
            <p:ph type="dt" sz="half" idx="10"/>
          </p:nvPr>
        </p:nvSpPr>
        <p:spPr/>
        <p:txBody>
          <a:bodyPr/>
          <a:lstStyle/>
          <a:p>
            <a:fld id="{442A3A98-E2EE-405E-B99C-BBCB1D580D7E}" type="datetimeFigureOut">
              <a:rPr lang="en-US" smtClean="0"/>
              <a:t>7/20/26</a:t>
            </a:fld>
            <a:endParaRPr lang="en-US"/>
          </a:p>
        </p:txBody>
      </p:sp>
      <p:sp>
        <p:nvSpPr>
          <p:cNvPr id="5" name="Footer Placeholder 4">
            <a:extLst>
              <a:ext uri="{FF2B5EF4-FFF2-40B4-BE49-F238E27FC236}">
                <a16:creationId xmlns:a16="http://schemas.microsoft.com/office/drawing/2014/main" id="{2653CEB3-DFFA-D92E-1E6C-51EF8F894D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23B2CE-FF19-710C-8D52-1A73F6D416EF}"/>
              </a:ext>
            </a:extLst>
          </p:cNvPr>
          <p:cNvSpPr>
            <a:spLocks noGrp="1"/>
          </p:cNvSpPr>
          <p:nvPr>
            <p:ph type="sldNum" sz="quarter" idx="12"/>
          </p:nvPr>
        </p:nvSpPr>
        <p:spPr/>
        <p:txBody>
          <a:bodyPr/>
          <a:lstStyle/>
          <a:p>
            <a:fld id="{53EBF548-04AD-4045-9EA8-427941524C2D}" type="slidenum">
              <a:rPr lang="en-US" smtClean="0"/>
              <a:t>‹#›</a:t>
            </a:fld>
            <a:endParaRPr lang="en-US"/>
          </a:p>
        </p:txBody>
      </p:sp>
    </p:spTree>
    <p:extLst>
      <p:ext uri="{BB962C8B-B14F-4D97-AF65-F5344CB8AC3E}">
        <p14:creationId xmlns:p14="http://schemas.microsoft.com/office/powerpoint/2010/main" val="41439348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8F40F-B4C1-52C7-6727-9C3C8A5DB11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4DD8416-01C4-93CB-4A55-B3CFA5B8740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A762D8-25E5-BD3F-59E9-DE0CB845DA6D}"/>
              </a:ext>
            </a:extLst>
          </p:cNvPr>
          <p:cNvSpPr>
            <a:spLocks noGrp="1"/>
          </p:cNvSpPr>
          <p:nvPr>
            <p:ph type="dt" sz="half" idx="10"/>
          </p:nvPr>
        </p:nvSpPr>
        <p:spPr/>
        <p:txBody>
          <a:bodyPr/>
          <a:lstStyle/>
          <a:p>
            <a:fld id="{442A3A98-E2EE-405E-B99C-BBCB1D580D7E}" type="datetimeFigureOut">
              <a:rPr lang="en-US" smtClean="0"/>
              <a:t>7/20/26</a:t>
            </a:fld>
            <a:endParaRPr lang="en-US"/>
          </a:p>
        </p:txBody>
      </p:sp>
      <p:sp>
        <p:nvSpPr>
          <p:cNvPr id="5" name="Footer Placeholder 4">
            <a:extLst>
              <a:ext uri="{FF2B5EF4-FFF2-40B4-BE49-F238E27FC236}">
                <a16:creationId xmlns:a16="http://schemas.microsoft.com/office/drawing/2014/main" id="{53996FCD-70A9-D30F-6B04-F17D232BF0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FBBF34-AB3D-0BDC-8085-F4BD5CA0ED02}"/>
              </a:ext>
            </a:extLst>
          </p:cNvPr>
          <p:cNvSpPr>
            <a:spLocks noGrp="1"/>
          </p:cNvSpPr>
          <p:nvPr>
            <p:ph type="sldNum" sz="quarter" idx="12"/>
          </p:nvPr>
        </p:nvSpPr>
        <p:spPr/>
        <p:txBody>
          <a:bodyPr/>
          <a:lstStyle/>
          <a:p>
            <a:fld id="{53EBF548-04AD-4045-9EA8-427941524C2D}" type="slidenum">
              <a:rPr lang="en-US" smtClean="0"/>
              <a:t>‹#›</a:t>
            </a:fld>
            <a:endParaRPr lang="en-US"/>
          </a:p>
        </p:txBody>
      </p:sp>
    </p:spTree>
    <p:extLst>
      <p:ext uri="{BB962C8B-B14F-4D97-AF65-F5344CB8AC3E}">
        <p14:creationId xmlns:p14="http://schemas.microsoft.com/office/powerpoint/2010/main" val="3026085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0FE9C-B288-8716-00DF-04FD2D53348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C9C418E-E434-30BB-12FE-D0ED2E8563B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E8AD40A-832D-5553-65CD-1B13109A9341}"/>
              </a:ext>
            </a:extLst>
          </p:cNvPr>
          <p:cNvSpPr>
            <a:spLocks noGrp="1"/>
          </p:cNvSpPr>
          <p:nvPr>
            <p:ph type="dt" sz="half" idx="10"/>
          </p:nvPr>
        </p:nvSpPr>
        <p:spPr/>
        <p:txBody>
          <a:bodyPr/>
          <a:lstStyle/>
          <a:p>
            <a:fld id="{442A3A98-E2EE-405E-B99C-BBCB1D580D7E}" type="datetimeFigureOut">
              <a:rPr lang="en-US" smtClean="0"/>
              <a:t>7/20/26</a:t>
            </a:fld>
            <a:endParaRPr lang="en-US"/>
          </a:p>
        </p:txBody>
      </p:sp>
      <p:sp>
        <p:nvSpPr>
          <p:cNvPr id="5" name="Footer Placeholder 4">
            <a:extLst>
              <a:ext uri="{FF2B5EF4-FFF2-40B4-BE49-F238E27FC236}">
                <a16:creationId xmlns:a16="http://schemas.microsoft.com/office/drawing/2014/main" id="{C954521E-AC0E-87BE-FAF4-43E0B54F10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E7135E-EB6A-7803-C91A-E03364BBE496}"/>
              </a:ext>
            </a:extLst>
          </p:cNvPr>
          <p:cNvSpPr>
            <a:spLocks noGrp="1"/>
          </p:cNvSpPr>
          <p:nvPr>
            <p:ph type="sldNum" sz="quarter" idx="12"/>
          </p:nvPr>
        </p:nvSpPr>
        <p:spPr/>
        <p:txBody>
          <a:bodyPr/>
          <a:lstStyle/>
          <a:p>
            <a:fld id="{53EBF548-04AD-4045-9EA8-427941524C2D}" type="slidenum">
              <a:rPr lang="en-US" smtClean="0"/>
              <a:t>‹#›</a:t>
            </a:fld>
            <a:endParaRPr lang="en-US"/>
          </a:p>
        </p:txBody>
      </p:sp>
    </p:spTree>
    <p:extLst>
      <p:ext uri="{BB962C8B-B14F-4D97-AF65-F5344CB8AC3E}">
        <p14:creationId xmlns:p14="http://schemas.microsoft.com/office/powerpoint/2010/main" val="3316747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79153-D606-CE57-DE53-6BEB4BC9A6A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90C18C9-CE72-CB2F-776C-CB7CD328DF5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7CE22A6-9F18-9C3C-DF83-B648CDCD692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5936F55-5F96-EBE1-2B6B-D97AEEBD393C}"/>
              </a:ext>
            </a:extLst>
          </p:cNvPr>
          <p:cNvSpPr>
            <a:spLocks noGrp="1"/>
          </p:cNvSpPr>
          <p:nvPr>
            <p:ph type="dt" sz="half" idx="10"/>
          </p:nvPr>
        </p:nvSpPr>
        <p:spPr/>
        <p:txBody>
          <a:bodyPr/>
          <a:lstStyle/>
          <a:p>
            <a:fld id="{442A3A98-E2EE-405E-B99C-BBCB1D580D7E}" type="datetimeFigureOut">
              <a:rPr lang="en-US" smtClean="0"/>
              <a:t>7/20/26</a:t>
            </a:fld>
            <a:endParaRPr lang="en-US"/>
          </a:p>
        </p:txBody>
      </p:sp>
      <p:sp>
        <p:nvSpPr>
          <p:cNvPr id="6" name="Footer Placeholder 5">
            <a:extLst>
              <a:ext uri="{FF2B5EF4-FFF2-40B4-BE49-F238E27FC236}">
                <a16:creationId xmlns:a16="http://schemas.microsoft.com/office/drawing/2014/main" id="{B8873D8D-9282-D582-49B2-C8DCE53DA30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8F027DB-0920-80B0-9F11-498BA15D598A}"/>
              </a:ext>
            </a:extLst>
          </p:cNvPr>
          <p:cNvSpPr>
            <a:spLocks noGrp="1"/>
          </p:cNvSpPr>
          <p:nvPr>
            <p:ph type="sldNum" sz="quarter" idx="12"/>
          </p:nvPr>
        </p:nvSpPr>
        <p:spPr/>
        <p:txBody>
          <a:bodyPr/>
          <a:lstStyle/>
          <a:p>
            <a:fld id="{53EBF548-04AD-4045-9EA8-427941524C2D}" type="slidenum">
              <a:rPr lang="en-US" smtClean="0"/>
              <a:t>‹#›</a:t>
            </a:fld>
            <a:endParaRPr lang="en-US"/>
          </a:p>
        </p:txBody>
      </p:sp>
    </p:spTree>
    <p:extLst>
      <p:ext uri="{BB962C8B-B14F-4D97-AF65-F5344CB8AC3E}">
        <p14:creationId xmlns:p14="http://schemas.microsoft.com/office/powerpoint/2010/main" val="5333785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5F6D1-5678-DD6A-98AB-F7FACEF1F97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4CE8C59-05A8-AD61-E87A-77DD3DD66C1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86A3D22-E690-76FC-1101-B8C9996CEE5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EF1336E-B8EA-F36B-5AC2-5B59929BED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7176259-3F9D-0D15-67C3-19BC6506552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1D0B6E2-D2B6-5251-A399-BF006E7895E1}"/>
              </a:ext>
            </a:extLst>
          </p:cNvPr>
          <p:cNvSpPr>
            <a:spLocks noGrp="1"/>
          </p:cNvSpPr>
          <p:nvPr>
            <p:ph type="dt" sz="half" idx="10"/>
          </p:nvPr>
        </p:nvSpPr>
        <p:spPr/>
        <p:txBody>
          <a:bodyPr/>
          <a:lstStyle/>
          <a:p>
            <a:fld id="{442A3A98-E2EE-405E-B99C-BBCB1D580D7E}" type="datetimeFigureOut">
              <a:rPr lang="en-US" smtClean="0"/>
              <a:t>7/20/26</a:t>
            </a:fld>
            <a:endParaRPr lang="en-US"/>
          </a:p>
        </p:txBody>
      </p:sp>
      <p:sp>
        <p:nvSpPr>
          <p:cNvPr id="8" name="Footer Placeholder 7">
            <a:extLst>
              <a:ext uri="{FF2B5EF4-FFF2-40B4-BE49-F238E27FC236}">
                <a16:creationId xmlns:a16="http://schemas.microsoft.com/office/drawing/2014/main" id="{619C948F-FDF4-BCFA-5DA1-AD757249EE9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37955AE-A550-CFAF-6F28-996F35321C78}"/>
              </a:ext>
            </a:extLst>
          </p:cNvPr>
          <p:cNvSpPr>
            <a:spLocks noGrp="1"/>
          </p:cNvSpPr>
          <p:nvPr>
            <p:ph type="sldNum" sz="quarter" idx="12"/>
          </p:nvPr>
        </p:nvSpPr>
        <p:spPr/>
        <p:txBody>
          <a:bodyPr/>
          <a:lstStyle/>
          <a:p>
            <a:fld id="{53EBF548-04AD-4045-9EA8-427941524C2D}" type="slidenum">
              <a:rPr lang="en-US" smtClean="0"/>
              <a:t>‹#›</a:t>
            </a:fld>
            <a:endParaRPr lang="en-US"/>
          </a:p>
        </p:txBody>
      </p:sp>
    </p:spTree>
    <p:extLst>
      <p:ext uri="{BB962C8B-B14F-4D97-AF65-F5344CB8AC3E}">
        <p14:creationId xmlns:p14="http://schemas.microsoft.com/office/powerpoint/2010/main" val="8804270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F6FC38-8138-643F-0CAF-5D29CED455B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DF57F1A-B574-7C5A-02A7-D4ABBB796369}"/>
              </a:ext>
            </a:extLst>
          </p:cNvPr>
          <p:cNvSpPr>
            <a:spLocks noGrp="1"/>
          </p:cNvSpPr>
          <p:nvPr>
            <p:ph type="dt" sz="half" idx="10"/>
          </p:nvPr>
        </p:nvSpPr>
        <p:spPr/>
        <p:txBody>
          <a:bodyPr/>
          <a:lstStyle/>
          <a:p>
            <a:fld id="{442A3A98-E2EE-405E-B99C-BBCB1D580D7E}" type="datetimeFigureOut">
              <a:rPr lang="en-US" smtClean="0"/>
              <a:t>7/20/26</a:t>
            </a:fld>
            <a:endParaRPr lang="en-US"/>
          </a:p>
        </p:txBody>
      </p:sp>
      <p:sp>
        <p:nvSpPr>
          <p:cNvPr id="4" name="Footer Placeholder 3">
            <a:extLst>
              <a:ext uri="{FF2B5EF4-FFF2-40B4-BE49-F238E27FC236}">
                <a16:creationId xmlns:a16="http://schemas.microsoft.com/office/drawing/2014/main" id="{D943BA7C-F7D3-5822-D935-E049A048285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6FF289C-0ACC-3C3D-1E35-DA3AD1A3ACBC}"/>
              </a:ext>
            </a:extLst>
          </p:cNvPr>
          <p:cNvSpPr>
            <a:spLocks noGrp="1"/>
          </p:cNvSpPr>
          <p:nvPr>
            <p:ph type="sldNum" sz="quarter" idx="12"/>
          </p:nvPr>
        </p:nvSpPr>
        <p:spPr/>
        <p:txBody>
          <a:bodyPr/>
          <a:lstStyle/>
          <a:p>
            <a:fld id="{53EBF548-04AD-4045-9EA8-427941524C2D}" type="slidenum">
              <a:rPr lang="en-US" smtClean="0"/>
              <a:t>‹#›</a:t>
            </a:fld>
            <a:endParaRPr lang="en-US"/>
          </a:p>
        </p:txBody>
      </p:sp>
    </p:spTree>
    <p:extLst>
      <p:ext uri="{BB962C8B-B14F-4D97-AF65-F5344CB8AC3E}">
        <p14:creationId xmlns:p14="http://schemas.microsoft.com/office/powerpoint/2010/main" val="11041631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2589938-CCDA-268E-C88D-EFF92E83E938}"/>
              </a:ext>
            </a:extLst>
          </p:cNvPr>
          <p:cNvSpPr>
            <a:spLocks noGrp="1"/>
          </p:cNvSpPr>
          <p:nvPr>
            <p:ph type="dt" sz="half" idx="10"/>
          </p:nvPr>
        </p:nvSpPr>
        <p:spPr/>
        <p:txBody>
          <a:bodyPr/>
          <a:lstStyle/>
          <a:p>
            <a:fld id="{442A3A98-E2EE-405E-B99C-BBCB1D580D7E}" type="datetimeFigureOut">
              <a:rPr lang="en-US" smtClean="0"/>
              <a:t>7/20/26</a:t>
            </a:fld>
            <a:endParaRPr lang="en-US"/>
          </a:p>
        </p:txBody>
      </p:sp>
      <p:sp>
        <p:nvSpPr>
          <p:cNvPr id="3" name="Footer Placeholder 2">
            <a:extLst>
              <a:ext uri="{FF2B5EF4-FFF2-40B4-BE49-F238E27FC236}">
                <a16:creationId xmlns:a16="http://schemas.microsoft.com/office/drawing/2014/main" id="{5FEE4F8F-CB8D-1B67-1666-76C2F7A5757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F4C5F41-434A-BC4B-9830-68C77FC4B040}"/>
              </a:ext>
            </a:extLst>
          </p:cNvPr>
          <p:cNvSpPr>
            <a:spLocks noGrp="1"/>
          </p:cNvSpPr>
          <p:nvPr>
            <p:ph type="sldNum" sz="quarter" idx="12"/>
          </p:nvPr>
        </p:nvSpPr>
        <p:spPr/>
        <p:txBody>
          <a:bodyPr/>
          <a:lstStyle/>
          <a:p>
            <a:fld id="{53EBF548-04AD-4045-9EA8-427941524C2D}" type="slidenum">
              <a:rPr lang="en-US" smtClean="0"/>
              <a:t>‹#›</a:t>
            </a:fld>
            <a:endParaRPr lang="en-US"/>
          </a:p>
        </p:txBody>
      </p:sp>
    </p:spTree>
    <p:extLst>
      <p:ext uri="{BB962C8B-B14F-4D97-AF65-F5344CB8AC3E}">
        <p14:creationId xmlns:p14="http://schemas.microsoft.com/office/powerpoint/2010/main" val="22251202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66C34-F851-FB91-73E4-5EAB721B77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FF11E8B-8327-C756-121C-26F466ECCA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B69ED65-9F36-CE55-FB7A-A18B2518E1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D3EA8A-28B6-68B0-74E5-2121F6F46A89}"/>
              </a:ext>
            </a:extLst>
          </p:cNvPr>
          <p:cNvSpPr>
            <a:spLocks noGrp="1"/>
          </p:cNvSpPr>
          <p:nvPr>
            <p:ph type="dt" sz="half" idx="10"/>
          </p:nvPr>
        </p:nvSpPr>
        <p:spPr/>
        <p:txBody>
          <a:bodyPr/>
          <a:lstStyle/>
          <a:p>
            <a:fld id="{442A3A98-E2EE-405E-B99C-BBCB1D580D7E}" type="datetimeFigureOut">
              <a:rPr lang="en-US" smtClean="0"/>
              <a:t>7/20/26</a:t>
            </a:fld>
            <a:endParaRPr lang="en-US"/>
          </a:p>
        </p:txBody>
      </p:sp>
      <p:sp>
        <p:nvSpPr>
          <p:cNvPr id="6" name="Footer Placeholder 5">
            <a:extLst>
              <a:ext uri="{FF2B5EF4-FFF2-40B4-BE49-F238E27FC236}">
                <a16:creationId xmlns:a16="http://schemas.microsoft.com/office/drawing/2014/main" id="{5B836B2F-7E35-101F-635B-567BE101E7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E7BFB5-E75F-07BC-A731-73C28CB3DBF1}"/>
              </a:ext>
            </a:extLst>
          </p:cNvPr>
          <p:cNvSpPr>
            <a:spLocks noGrp="1"/>
          </p:cNvSpPr>
          <p:nvPr>
            <p:ph type="sldNum" sz="quarter" idx="12"/>
          </p:nvPr>
        </p:nvSpPr>
        <p:spPr/>
        <p:txBody>
          <a:bodyPr/>
          <a:lstStyle/>
          <a:p>
            <a:fld id="{53EBF548-04AD-4045-9EA8-427941524C2D}" type="slidenum">
              <a:rPr lang="en-US" smtClean="0"/>
              <a:t>‹#›</a:t>
            </a:fld>
            <a:endParaRPr lang="en-US"/>
          </a:p>
        </p:txBody>
      </p:sp>
    </p:spTree>
    <p:extLst>
      <p:ext uri="{BB962C8B-B14F-4D97-AF65-F5344CB8AC3E}">
        <p14:creationId xmlns:p14="http://schemas.microsoft.com/office/powerpoint/2010/main" val="26857309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C8F0B-6DB2-A181-BC24-2DF642471D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0266CD-6D3E-307F-9902-2DFDC8823EE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1A1698B-8D5F-E136-2CC6-AF3A3AA7DF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C7D0F3-F10B-B6F6-BF93-0B8312BE4BE4}"/>
              </a:ext>
            </a:extLst>
          </p:cNvPr>
          <p:cNvSpPr>
            <a:spLocks noGrp="1"/>
          </p:cNvSpPr>
          <p:nvPr>
            <p:ph type="dt" sz="half" idx="10"/>
          </p:nvPr>
        </p:nvSpPr>
        <p:spPr/>
        <p:txBody>
          <a:bodyPr/>
          <a:lstStyle/>
          <a:p>
            <a:fld id="{442A3A98-E2EE-405E-B99C-BBCB1D580D7E}" type="datetimeFigureOut">
              <a:rPr lang="en-US" smtClean="0"/>
              <a:t>7/20/26</a:t>
            </a:fld>
            <a:endParaRPr lang="en-US"/>
          </a:p>
        </p:txBody>
      </p:sp>
      <p:sp>
        <p:nvSpPr>
          <p:cNvPr id="6" name="Footer Placeholder 5">
            <a:extLst>
              <a:ext uri="{FF2B5EF4-FFF2-40B4-BE49-F238E27FC236}">
                <a16:creationId xmlns:a16="http://schemas.microsoft.com/office/drawing/2014/main" id="{E552C7A0-A03F-58A5-2540-A989DF0F6F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B427F48-1F3C-4546-E5D0-C450DF599A9A}"/>
              </a:ext>
            </a:extLst>
          </p:cNvPr>
          <p:cNvSpPr>
            <a:spLocks noGrp="1"/>
          </p:cNvSpPr>
          <p:nvPr>
            <p:ph type="sldNum" sz="quarter" idx="12"/>
          </p:nvPr>
        </p:nvSpPr>
        <p:spPr/>
        <p:txBody>
          <a:bodyPr/>
          <a:lstStyle/>
          <a:p>
            <a:fld id="{53EBF548-04AD-4045-9EA8-427941524C2D}" type="slidenum">
              <a:rPr lang="en-US" smtClean="0"/>
              <a:t>‹#›</a:t>
            </a:fld>
            <a:endParaRPr lang="en-US"/>
          </a:p>
        </p:txBody>
      </p:sp>
    </p:spTree>
    <p:extLst>
      <p:ext uri="{BB962C8B-B14F-4D97-AF65-F5344CB8AC3E}">
        <p14:creationId xmlns:p14="http://schemas.microsoft.com/office/powerpoint/2010/main" val="14576176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9349B-4823-FA29-B681-B8FF822EBB8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D05A7FD-25EE-1BA3-25D0-69CEAB6BAB4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603A0D-559C-D2CA-85D2-7E563751671B}"/>
              </a:ext>
            </a:extLst>
          </p:cNvPr>
          <p:cNvSpPr>
            <a:spLocks noGrp="1"/>
          </p:cNvSpPr>
          <p:nvPr>
            <p:ph type="dt" sz="half" idx="10"/>
          </p:nvPr>
        </p:nvSpPr>
        <p:spPr/>
        <p:txBody>
          <a:bodyPr/>
          <a:lstStyle/>
          <a:p>
            <a:fld id="{442A3A98-E2EE-405E-B99C-BBCB1D580D7E}" type="datetimeFigureOut">
              <a:rPr lang="en-US" smtClean="0"/>
              <a:t>7/20/26</a:t>
            </a:fld>
            <a:endParaRPr lang="en-US"/>
          </a:p>
        </p:txBody>
      </p:sp>
      <p:sp>
        <p:nvSpPr>
          <p:cNvPr id="5" name="Footer Placeholder 4">
            <a:extLst>
              <a:ext uri="{FF2B5EF4-FFF2-40B4-BE49-F238E27FC236}">
                <a16:creationId xmlns:a16="http://schemas.microsoft.com/office/drawing/2014/main" id="{E8C69A6F-8CD2-D1F3-F18C-9B72B9E525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A89C24-94C4-5988-03DD-718D0A084442}"/>
              </a:ext>
            </a:extLst>
          </p:cNvPr>
          <p:cNvSpPr>
            <a:spLocks noGrp="1"/>
          </p:cNvSpPr>
          <p:nvPr>
            <p:ph type="sldNum" sz="quarter" idx="12"/>
          </p:nvPr>
        </p:nvSpPr>
        <p:spPr/>
        <p:txBody>
          <a:bodyPr/>
          <a:lstStyle/>
          <a:p>
            <a:fld id="{53EBF548-04AD-4045-9EA8-427941524C2D}" type="slidenum">
              <a:rPr lang="en-US" smtClean="0"/>
              <a:t>‹#›</a:t>
            </a:fld>
            <a:endParaRPr lang="en-US"/>
          </a:p>
        </p:txBody>
      </p:sp>
    </p:spTree>
    <p:extLst>
      <p:ext uri="{BB962C8B-B14F-4D97-AF65-F5344CB8AC3E}">
        <p14:creationId xmlns:p14="http://schemas.microsoft.com/office/powerpoint/2010/main" val="31513739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CE10F69-AAAF-94C4-5F14-824862B30E0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4457295-39C5-672F-AD1B-F188D13C4A6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93F772-D904-3BFC-6F08-25B2D5054BBB}"/>
              </a:ext>
            </a:extLst>
          </p:cNvPr>
          <p:cNvSpPr>
            <a:spLocks noGrp="1"/>
          </p:cNvSpPr>
          <p:nvPr>
            <p:ph type="dt" sz="half" idx="10"/>
          </p:nvPr>
        </p:nvSpPr>
        <p:spPr/>
        <p:txBody>
          <a:bodyPr/>
          <a:lstStyle/>
          <a:p>
            <a:fld id="{442A3A98-E2EE-405E-B99C-BBCB1D580D7E}" type="datetimeFigureOut">
              <a:rPr lang="en-US" smtClean="0"/>
              <a:t>7/20/26</a:t>
            </a:fld>
            <a:endParaRPr lang="en-US"/>
          </a:p>
        </p:txBody>
      </p:sp>
      <p:sp>
        <p:nvSpPr>
          <p:cNvPr id="5" name="Footer Placeholder 4">
            <a:extLst>
              <a:ext uri="{FF2B5EF4-FFF2-40B4-BE49-F238E27FC236}">
                <a16:creationId xmlns:a16="http://schemas.microsoft.com/office/drawing/2014/main" id="{42DE6DBA-0009-683F-A25B-F157D066B1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67C77E-DE88-E7C3-AD33-D91596662EAD}"/>
              </a:ext>
            </a:extLst>
          </p:cNvPr>
          <p:cNvSpPr>
            <a:spLocks noGrp="1"/>
          </p:cNvSpPr>
          <p:nvPr>
            <p:ph type="sldNum" sz="quarter" idx="12"/>
          </p:nvPr>
        </p:nvSpPr>
        <p:spPr/>
        <p:txBody>
          <a:bodyPr/>
          <a:lstStyle/>
          <a:p>
            <a:fld id="{53EBF548-04AD-4045-9EA8-427941524C2D}" type="slidenum">
              <a:rPr lang="en-US" smtClean="0"/>
              <a:t>‹#›</a:t>
            </a:fld>
            <a:endParaRPr lang="en-US"/>
          </a:p>
        </p:txBody>
      </p:sp>
    </p:spTree>
    <p:extLst>
      <p:ext uri="{BB962C8B-B14F-4D97-AF65-F5344CB8AC3E}">
        <p14:creationId xmlns:p14="http://schemas.microsoft.com/office/powerpoint/2010/main" val="16287364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6_One Column Text ">
    <p:bg>
      <p:bgPr>
        <a:solidFill>
          <a:srgbClr val="F3F3F3"/>
        </a:solidFill>
        <a:effectLst/>
      </p:bgPr>
    </p:bg>
    <p:spTree>
      <p:nvGrpSpPr>
        <p:cNvPr id="1" name=""/>
        <p:cNvGrpSpPr/>
        <p:nvPr/>
      </p:nvGrpSpPr>
      <p:grpSpPr>
        <a:xfrm>
          <a:off x="0" y="0"/>
          <a:ext cx="0" cy="0"/>
          <a:chOff x="0" y="0"/>
          <a:chExt cx="0" cy="0"/>
        </a:xfrm>
      </p:grpSpPr>
      <p:sp>
        <p:nvSpPr>
          <p:cNvPr id="4" name="Text Placeholder 8">
            <a:extLst>
              <a:ext uri="{FF2B5EF4-FFF2-40B4-BE49-F238E27FC236}">
                <a16:creationId xmlns:a16="http://schemas.microsoft.com/office/drawing/2014/main" id="{F24EDEFF-33E1-24F2-7E58-F5A9E065C0CD}"/>
              </a:ext>
            </a:extLst>
          </p:cNvPr>
          <p:cNvSpPr>
            <a:spLocks noGrp="1"/>
          </p:cNvSpPr>
          <p:nvPr>
            <p:ph type="body" sz="quarter" idx="10" hasCustomPrompt="1"/>
          </p:nvPr>
        </p:nvSpPr>
        <p:spPr>
          <a:xfrm>
            <a:off x="634997" y="1447800"/>
            <a:ext cx="10982734" cy="4478823"/>
          </a:xfrm>
          <a:prstGeom prst="rect">
            <a:avLst/>
          </a:prstGeom>
        </p:spPr>
        <p:txBody>
          <a:bodyPr/>
          <a:lstStyle>
            <a:lvl1pPr marL="0" indent="0" algn="l">
              <a:lnSpc>
                <a:spcPct val="114000"/>
              </a:lnSpc>
              <a:buNone/>
              <a:defRPr sz="2600" b="0" i="0" spc="0">
                <a:solidFill>
                  <a:schemeClr val="tx1"/>
                </a:solidFill>
                <a:latin typeface="Nunito Sans Normal" pitchFamily="2" charset="77"/>
                <a:ea typeface="Gibson Book" pitchFamily="2" charset="77"/>
              </a:defRPr>
            </a:lvl1pPr>
            <a:lvl2pPr marL="195263" indent="-195263">
              <a:tabLst/>
              <a:defRPr>
                <a:solidFill>
                  <a:schemeClr val="tx1"/>
                </a:solidFill>
              </a:defRPr>
            </a:lvl2pPr>
            <a:lvl3pPr marL="466725" indent="-174625">
              <a:tabLst/>
              <a:defRPr/>
            </a:lvl3pPr>
            <a:lvl4pPr marL="801688" indent="-173038">
              <a:tabLst/>
              <a:defRPr/>
            </a:lvl4pPr>
            <a:lvl5pPr marL="1095375" indent="-173038">
              <a:tabLst/>
              <a:defRPr/>
            </a:lvl5pPr>
            <a:lvl6pPr marL="1377950" indent="-152400">
              <a:buFont typeface="Arial" panose="020B0604020202020204" pitchFamily="34" charset="0"/>
              <a:buChar char="•"/>
              <a:tabLst/>
              <a:defRPr/>
            </a:lvl6pPr>
            <a:lvl7pPr marL="1714500" indent="-152400">
              <a:tabLst/>
              <a:defRPr/>
            </a:lvl7pPr>
            <a:lvl8pPr marL="2062163" indent="-163513">
              <a:tabLst/>
              <a:defRPr/>
            </a:lvl8pPr>
            <a:lvl9pPr marL="2408238" indent="-184150">
              <a:tabLst/>
              <a:defRPr/>
            </a:lvl9pPr>
          </a:lstStyle>
          <a:p>
            <a:pPr lvl="0"/>
            <a:r>
              <a:rPr lang="en-US"/>
              <a:t>Text would go here.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a:p>
            <a:pPr lvl="4"/>
            <a:endParaRPr lang="en-US"/>
          </a:p>
          <a:p>
            <a:pPr lvl="4"/>
            <a:endParaRPr lang="en-US"/>
          </a:p>
        </p:txBody>
      </p:sp>
      <p:sp>
        <p:nvSpPr>
          <p:cNvPr id="12" name="Text Placeholder 8">
            <a:extLst>
              <a:ext uri="{FF2B5EF4-FFF2-40B4-BE49-F238E27FC236}">
                <a16:creationId xmlns:a16="http://schemas.microsoft.com/office/drawing/2014/main" id="{22BF4F7E-6785-B29E-0641-14B92759AC02}"/>
              </a:ext>
            </a:extLst>
          </p:cNvPr>
          <p:cNvSpPr>
            <a:spLocks noGrp="1"/>
          </p:cNvSpPr>
          <p:nvPr>
            <p:ph type="body" sz="quarter" idx="11" hasCustomPrompt="1"/>
          </p:nvPr>
        </p:nvSpPr>
        <p:spPr>
          <a:xfrm>
            <a:off x="634997" y="931376"/>
            <a:ext cx="10982734" cy="464999"/>
          </a:xfrm>
          <a:prstGeom prst="rect">
            <a:avLst/>
          </a:prstGeom>
        </p:spPr>
        <p:txBody>
          <a:bodyPr/>
          <a:lstStyle>
            <a:lvl1pPr marL="0" indent="0" algn="l">
              <a:buNone/>
              <a:defRPr sz="1800" b="1" i="0" spc="150">
                <a:solidFill>
                  <a:srgbClr val="E00016"/>
                </a:solidFill>
                <a:latin typeface="Nunito Sans Normal" pitchFamily="2" charset="77"/>
                <a:ea typeface="Gibson Medium" pitchFamily="2" charset="77"/>
                <a:cs typeface="Open Sans Semibold" panose="020B0606030504020204" pitchFamily="34" charset="0"/>
              </a:defRPr>
            </a:lvl1pPr>
          </a:lstStyle>
          <a:p>
            <a:pPr lvl="0"/>
            <a:r>
              <a:rPr lang="en-US"/>
              <a:t>SECTION NAME ALL CAPS</a:t>
            </a:r>
          </a:p>
        </p:txBody>
      </p:sp>
      <p:sp>
        <p:nvSpPr>
          <p:cNvPr id="5" name="Text 4">
            <a:extLst>
              <a:ext uri="{FF2B5EF4-FFF2-40B4-BE49-F238E27FC236}">
                <a16:creationId xmlns:a16="http://schemas.microsoft.com/office/drawing/2014/main" id="{1525A538-E79F-F934-351A-3F523967B9D7}"/>
              </a:ext>
            </a:extLst>
          </p:cNvPr>
          <p:cNvSpPr/>
          <p:nvPr userDrawn="1"/>
        </p:nvSpPr>
        <p:spPr>
          <a:xfrm>
            <a:off x="11276132" y="6355003"/>
            <a:ext cx="341599" cy="249382"/>
          </a:xfrm>
          <a:prstGeom prst="rect">
            <a:avLst/>
          </a:prstGeom>
          <a:noFill/>
          <a:ln/>
        </p:spPr>
        <p:txBody>
          <a:bodyPr wrap="square" lIns="0" tIns="0" rIns="0" bIns="0" rtlCol="0" anchor="ctr"/>
          <a:lstStyle/>
          <a:p>
            <a:pPr algn="r">
              <a:lnSpc>
                <a:spcPts val="1600"/>
              </a:lnSpc>
            </a:pPr>
            <a:fld id="{559729A4-79A7-FD4E-AF42-9F3B480758CF}" type="slidenum">
              <a:rPr lang="en-US" sz="1000" b="0" i="0" kern="0" spc="100" smtClean="0">
                <a:solidFill>
                  <a:srgbClr val="717171">
                    <a:alpha val="100000"/>
                  </a:srgbClr>
                </a:solidFill>
                <a:latin typeface="Nunito Sans Normal" pitchFamily="2" charset="77"/>
                <a:ea typeface="Gibson Book" pitchFamily="2" charset="77"/>
                <a:cs typeface="Open Sans Light" panose="020B0606030504020204" pitchFamily="34" charset="0"/>
              </a:rPr>
              <a:pPr algn="r">
                <a:lnSpc>
                  <a:spcPts val="1600"/>
                </a:lnSpc>
              </a:pPr>
              <a:t>‹#›</a:t>
            </a:fld>
            <a:endParaRPr lang="en-US" sz="1000" b="0" i="0" spc="100">
              <a:latin typeface="Nunito Sans Normal" pitchFamily="2" charset="77"/>
              <a:ea typeface="Gibson Book" pitchFamily="2" charset="77"/>
              <a:cs typeface="Open Sans Light" panose="020B0606030504020204" pitchFamily="34" charset="0"/>
            </a:endParaRPr>
          </a:p>
        </p:txBody>
      </p:sp>
      <p:sp>
        <p:nvSpPr>
          <p:cNvPr id="6" name="Text Placeholder 8">
            <a:extLst>
              <a:ext uri="{FF2B5EF4-FFF2-40B4-BE49-F238E27FC236}">
                <a16:creationId xmlns:a16="http://schemas.microsoft.com/office/drawing/2014/main" id="{934A0B4E-6500-A77A-F74A-59DCF87BAE7E}"/>
              </a:ext>
            </a:extLst>
          </p:cNvPr>
          <p:cNvSpPr>
            <a:spLocks noGrp="1"/>
          </p:cNvSpPr>
          <p:nvPr>
            <p:ph type="body" sz="quarter" idx="13" hasCustomPrompt="1"/>
          </p:nvPr>
        </p:nvSpPr>
        <p:spPr>
          <a:xfrm>
            <a:off x="8707139" y="6341879"/>
            <a:ext cx="2691326" cy="313930"/>
          </a:xfrm>
          <a:prstGeom prst="rect">
            <a:avLst/>
          </a:prstGeom>
        </p:spPr>
        <p:txBody>
          <a:bodyPr anchor="ctr"/>
          <a:lstStyle>
            <a:lvl1pPr marL="0" indent="0" algn="r">
              <a:buNone/>
              <a:defRPr sz="1000" b="0" i="0" spc="150">
                <a:solidFill>
                  <a:srgbClr val="717171"/>
                </a:solidFill>
                <a:latin typeface="Nunito Sans Normal" pitchFamily="2" charset="77"/>
                <a:ea typeface="Gibson Book" pitchFamily="2" charset="77"/>
                <a:cs typeface="Open Sans Light" panose="020B0606030504020204" pitchFamily="34" charset="0"/>
              </a:defRPr>
            </a:lvl1pPr>
          </a:lstStyle>
          <a:p>
            <a:pPr lvl="0"/>
            <a:r>
              <a:rPr lang="en-US"/>
              <a:t>SECTION NAME</a:t>
            </a:r>
          </a:p>
        </p:txBody>
      </p:sp>
    </p:spTree>
    <p:extLst>
      <p:ext uri="{BB962C8B-B14F-4D97-AF65-F5344CB8AC3E}">
        <p14:creationId xmlns:p14="http://schemas.microsoft.com/office/powerpoint/2010/main" val="544026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6D88E25-9214-9A2A-4502-4D71655187A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D3DBE3D-94B0-0717-C2A8-0E773D7EBC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19ACF6-65C2-4A58-5889-AC3E560DEAC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42A3A98-E2EE-405E-B99C-BBCB1D580D7E}" type="datetimeFigureOut">
              <a:rPr lang="en-US" smtClean="0"/>
              <a:t>7/20/26</a:t>
            </a:fld>
            <a:endParaRPr lang="en-US"/>
          </a:p>
        </p:txBody>
      </p:sp>
      <p:sp>
        <p:nvSpPr>
          <p:cNvPr id="5" name="Footer Placeholder 4">
            <a:extLst>
              <a:ext uri="{FF2B5EF4-FFF2-40B4-BE49-F238E27FC236}">
                <a16:creationId xmlns:a16="http://schemas.microsoft.com/office/drawing/2014/main" id="{CFAF25C4-EDBA-46CE-2122-601A168AC5E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ADC1FEE-A303-EFA7-34AF-5BBD8044B8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3EBF548-04AD-4045-9EA8-427941524C2D}" type="slidenum">
              <a:rPr lang="en-US" smtClean="0"/>
              <a:t>‹#›</a:t>
            </a:fld>
            <a:endParaRPr lang="en-US"/>
          </a:p>
        </p:txBody>
      </p:sp>
    </p:spTree>
    <p:extLst>
      <p:ext uri="{BB962C8B-B14F-4D97-AF65-F5344CB8AC3E}">
        <p14:creationId xmlns:p14="http://schemas.microsoft.com/office/powerpoint/2010/main" val="9892653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D6FFB-172A-F754-7ED4-3A02D0FA0E03}"/>
              </a:ext>
            </a:extLst>
          </p:cNvPr>
          <p:cNvSpPr>
            <a:spLocks noGrp="1"/>
          </p:cNvSpPr>
          <p:nvPr>
            <p:ph type="ctrTitle"/>
          </p:nvPr>
        </p:nvSpPr>
        <p:spPr/>
        <p:txBody>
          <a:bodyPr>
            <a:normAutofit fontScale="90000"/>
          </a:bodyPr>
          <a:lstStyle/>
          <a:p>
            <a:r>
              <a:rPr lang="en-US"/>
              <a:t>Adaptive Multi-Client Antenna Orientation Optimization for Wireless APs.</a:t>
            </a:r>
          </a:p>
        </p:txBody>
      </p:sp>
      <p:sp>
        <p:nvSpPr>
          <p:cNvPr id="3" name="Subtitle 2">
            <a:extLst>
              <a:ext uri="{FF2B5EF4-FFF2-40B4-BE49-F238E27FC236}">
                <a16:creationId xmlns:a16="http://schemas.microsoft.com/office/drawing/2014/main" id="{A2407B7A-B4FB-88CF-9500-585C399D82F2}"/>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6778043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C160E-3FFB-08E7-810D-E236329E690A}"/>
              </a:ext>
            </a:extLst>
          </p:cNvPr>
          <p:cNvSpPr>
            <a:spLocks noGrp="1"/>
          </p:cNvSpPr>
          <p:nvPr>
            <p:ph type="title"/>
          </p:nvPr>
        </p:nvSpPr>
        <p:spPr/>
        <p:txBody>
          <a:bodyPr>
            <a:noAutofit/>
          </a:bodyPr>
          <a:lstStyle/>
          <a:p>
            <a:r>
              <a:rPr lang="en-US" sz="3200"/>
              <a:t>Background of the Invention (What is the problem being solved and how was the problem previously solved?):</a:t>
            </a:r>
          </a:p>
        </p:txBody>
      </p:sp>
      <p:sp>
        <p:nvSpPr>
          <p:cNvPr id="3" name="Content Placeholder 2">
            <a:extLst>
              <a:ext uri="{FF2B5EF4-FFF2-40B4-BE49-F238E27FC236}">
                <a16:creationId xmlns:a16="http://schemas.microsoft.com/office/drawing/2014/main" id="{58D86068-9B7A-9C99-C6F3-517228888F43}"/>
              </a:ext>
            </a:extLst>
          </p:cNvPr>
          <p:cNvSpPr>
            <a:spLocks noGrp="1"/>
          </p:cNvSpPr>
          <p:nvPr>
            <p:ph idx="1"/>
          </p:nvPr>
        </p:nvSpPr>
        <p:spPr/>
        <p:txBody>
          <a:bodyPr>
            <a:normAutofit/>
          </a:bodyPr>
          <a:lstStyle/>
          <a:p>
            <a:r>
              <a:rPr lang="en-US" sz="1600"/>
              <a:t>Most commercially available Wi-Fi access points use fixed antenna orientations that cannot be adjusted after installation. Consequently, the antenna radiation pattern remains the same regardless of the deployment environment. However, the optimal antenna orientation depends on the physical layout of the building and  the client locations. For example, in a multi-story home with a basement, an AP installed on the second floor should direct more energy downward, whereas an AP installed in the basement should provide stronger upward radiation. Because the antenna orientation is fixed, the resulting Wi-Fi coverage is often not optimized for the installation environment, leading to reduced coverage and performance.</a:t>
            </a:r>
          </a:p>
        </p:txBody>
      </p:sp>
    </p:spTree>
    <p:extLst>
      <p:ext uri="{BB962C8B-B14F-4D97-AF65-F5344CB8AC3E}">
        <p14:creationId xmlns:p14="http://schemas.microsoft.com/office/powerpoint/2010/main" val="4800255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593F8-7CD9-9784-083C-C43FCF48A281}"/>
              </a:ext>
            </a:extLst>
          </p:cNvPr>
          <p:cNvSpPr>
            <a:spLocks noGrp="1"/>
          </p:cNvSpPr>
          <p:nvPr>
            <p:ph type="title"/>
          </p:nvPr>
        </p:nvSpPr>
        <p:spPr/>
        <p:txBody>
          <a:bodyPr/>
          <a:lstStyle/>
          <a:p>
            <a:r>
              <a:rPr lang="en-US"/>
              <a:t>Known Prior Art </a:t>
            </a:r>
          </a:p>
        </p:txBody>
      </p:sp>
      <p:sp>
        <p:nvSpPr>
          <p:cNvPr id="3" name="Content Placeholder 2">
            <a:extLst>
              <a:ext uri="{FF2B5EF4-FFF2-40B4-BE49-F238E27FC236}">
                <a16:creationId xmlns:a16="http://schemas.microsoft.com/office/drawing/2014/main" id="{A888F2C9-C6DB-11FF-7039-48ED1D3A1E12}"/>
              </a:ext>
            </a:extLst>
          </p:cNvPr>
          <p:cNvSpPr>
            <a:spLocks noGrp="1"/>
          </p:cNvSpPr>
          <p:nvPr>
            <p:ph idx="1"/>
          </p:nvPr>
        </p:nvSpPr>
        <p:spPr/>
        <p:txBody>
          <a:bodyPr>
            <a:normAutofit/>
          </a:bodyPr>
          <a:lstStyle/>
          <a:p>
            <a:r>
              <a:rPr lang="en-US" sz="2000"/>
              <a:t>Some patents propose to optimize antenna direction toward  devices but they do not propose the AP learning every client's preferred orientation over time or do not take into account client traffic need to know what clients to prioritize. They optimize mathematically from channel estimates. Prior work do not propose calibration sweep.</a:t>
            </a:r>
          </a:p>
        </p:txBody>
      </p:sp>
    </p:spTree>
    <p:extLst>
      <p:ext uri="{BB962C8B-B14F-4D97-AF65-F5344CB8AC3E}">
        <p14:creationId xmlns:p14="http://schemas.microsoft.com/office/powerpoint/2010/main" val="6117562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C36CD-35C1-B9B7-C9C2-25A096E06FBC}"/>
              </a:ext>
            </a:extLst>
          </p:cNvPr>
          <p:cNvSpPr>
            <a:spLocks noGrp="1"/>
          </p:cNvSpPr>
          <p:nvPr>
            <p:ph type="title"/>
          </p:nvPr>
        </p:nvSpPr>
        <p:spPr/>
        <p:txBody>
          <a:bodyPr>
            <a:normAutofit/>
          </a:bodyPr>
          <a:lstStyle/>
          <a:p>
            <a:r>
              <a:rPr lang="en-US"/>
              <a:t>Description of the Invention</a:t>
            </a:r>
          </a:p>
        </p:txBody>
      </p:sp>
      <p:sp>
        <p:nvSpPr>
          <p:cNvPr id="3" name="Content Placeholder 2">
            <a:extLst>
              <a:ext uri="{FF2B5EF4-FFF2-40B4-BE49-F238E27FC236}">
                <a16:creationId xmlns:a16="http://schemas.microsoft.com/office/drawing/2014/main" id="{1358BD3E-E5E2-6569-6667-14EEA69036AF}"/>
              </a:ext>
            </a:extLst>
          </p:cNvPr>
          <p:cNvSpPr>
            <a:spLocks noGrp="1"/>
          </p:cNvSpPr>
          <p:nvPr>
            <p:ph idx="1"/>
          </p:nvPr>
        </p:nvSpPr>
        <p:spPr/>
        <p:txBody>
          <a:bodyPr>
            <a:normAutofit fontScale="92500" lnSpcReduction="10000"/>
          </a:bodyPr>
          <a:lstStyle/>
          <a:p>
            <a:r>
              <a:rPr lang="en-US" sz="1400" dirty="0"/>
              <a:t>The invention optimizes the antenna orientation of a Wi-Fi access point using motorized antennas to improve the overall user experience throughout the home. The optimization is performed in several steps.</a:t>
            </a:r>
            <a:endParaRPr lang="en-US" sz="1400" b="1" dirty="0"/>
          </a:p>
          <a:p>
            <a:r>
              <a:rPr lang="en-US" sz="1400" b="1" dirty="0"/>
              <a:t>1. Wireless channel characterization by rotating antennas (Calibration):</a:t>
            </a:r>
            <a:r>
              <a:rPr lang="en-US" sz="1400" dirty="0"/>
              <a:t> The AP performs a calibration sweep by rotating the antennas through different orientations while collecting performance metrics for each associated device. This process determines the antenna orientations that provide the best performance for each device.</a:t>
            </a:r>
          </a:p>
          <a:p>
            <a:r>
              <a:rPr lang="en-US" sz="1400" b="1" dirty="0"/>
              <a:t>2. Device characterization:</a:t>
            </a:r>
            <a:r>
              <a:rPr lang="en-US" sz="1400" dirty="0"/>
              <a:t> The AP identifies the type of each connected device (e.g., IoT device, PC, laptop, TV, phone, gaming console) and collects information about its traffic characteristics.</a:t>
            </a:r>
          </a:p>
          <a:p>
            <a:r>
              <a:rPr lang="en-US" sz="1400" b="1" dirty="0"/>
              <a:t>3. Device prioritization:</a:t>
            </a:r>
            <a:r>
              <a:rPr lang="en-US" sz="1400" dirty="0"/>
              <a:t> Each device is assigned a priority based on its class and traffic requirements. Devices that benefit from high throughput and low latency, such as gaming consoles, phones, TVs, and PCs, receive higher priority, while devices with limited bandwidth or latency requirements, such as thermostats or other IoT devices, receive lower priority.</a:t>
            </a:r>
          </a:p>
          <a:p>
            <a:r>
              <a:rPr lang="en-US" sz="1400" b="1" dirty="0"/>
              <a:t>4. Antenna orientation optimization:</a:t>
            </a:r>
            <a:r>
              <a:rPr lang="en-US" sz="1400" dirty="0"/>
              <a:t> Using the calibration results and the assigned priorities, the AP determines the antenna orientation that provides the best overall performance for all connected devices, while favoring the devices that have the greatest impact on the user experience. Algorithms could be based on weighted utility maximization, proportional fairness.  Reinforcement learning can be used if the AP is capable of learning  over time from traffic patterns and device movement – see below)</a:t>
            </a:r>
          </a:p>
          <a:p>
            <a:pPr lvl="1"/>
            <a:endParaRPr lang="en-US" sz="1000" dirty="0"/>
          </a:p>
          <a:p>
            <a:r>
              <a:rPr lang="en-US" sz="1400" dirty="0"/>
              <a:t>Additional steps for further optimization include</a:t>
            </a:r>
          </a:p>
          <a:p>
            <a:r>
              <a:rPr lang="en-US" sz="1400" b="1" dirty="0"/>
              <a:t>5. Learning:</a:t>
            </a:r>
            <a:r>
              <a:rPr lang="en-US" sz="1400" dirty="0"/>
              <a:t> The AP repeats the calibration periodically or when significant changes are detected in the network (for example, a new device joins, a device moves, or traffic patterns change). The AP builds a history of the preferred antenna orientations for each device.</a:t>
            </a:r>
          </a:p>
          <a:p>
            <a:r>
              <a:rPr lang="en-US" sz="1400" b="1" dirty="0"/>
              <a:t>6. Prediction:</a:t>
            </a:r>
            <a:r>
              <a:rPr lang="en-US" sz="1400" dirty="0"/>
              <a:t> For mobile devices such as phones and laptops, the AP learns recurring locations and usage patterns. Based on this history, the AP can proactively adjust the antenna orientation before or during periods of expected high traffic, reducing the need for a full calibration sweep.</a:t>
            </a:r>
          </a:p>
        </p:txBody>
      </p:sp>
    </p:spTree>
    <p:extLst>
      <p:ext uri="{BB962C8B-B14F-4D97-AF65-F5344CB8AC3E}">
        <p14:creationId xmlns:p14="http://schemas.microsoft.com/office/powerpoint/2010/main" val="6784755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610BAD-EB9C-6990-B41D-A9E247D3CB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215F75-4F84-CF45-CE0C-08EA86B52600}"/>
              </a:ext>
            </a:extLst>
          </p:cNvPr>
          <p:cNvSpPr>
            <a:spLocks noGrp="1"/>
          </p:cNvSpPr>
          <p:nvPr>
            <p:ph type="title"/>
          </p:nvPr>
        </p:nvSpPr>
        <p:spPr/>
        <p:txBody>
          <a:bodyPr>
            <a:normAutofit/>
          </a:bodyPr>
          <a:lstStyle/>
          <a:p>
            <a:r>
              <a:rPr lang="en-US"/>
              <a:t>Description of the Invention - Questions</a:t>
            </a:r>
          </a:p>
        </p:txBody>
      </p:sp>
      <p:sp>
        <p:nvSpPr>
          <p:cNvPr id="3" name="Content Placeholder 2">
            <a:extLst>
              <a:ext uri="{FF2B5EF4-FFF2-40B4-BE49-F238E27FC236}">
                <a16:creationId xmlns:a16="http://schemas.microsoft.com/office/drawing/2014/main" id="{8472E73E-0049-508D-D248-D95ADA6DE7B6}"/>
              </a:ext>
            </a:extLst>
          </p:cNvPr>
          <p:cNvSpPr>
            <a:spLocks noGrp="1"/>
          </p:cNvSpPr>
          <p:nvPr>
            <p:ph idx="1"/>
          </p:nvPr>
        </p:nvSpPr>
        <p:spPr/>
        <p:txBody>
          <a:bodyPr>
            <a:normAutofit fontScale="77500" lnSpcReduction="20000"/>
          </a:bodyPr>
          <a:lstStyle/>
          <a:p>
            <a:r>
              <a:rPr lang="en-US" sz="1400" dirty="0"/>
              <a:t>The invention optimizes the antenna orientation of a Wi-Fi access point using motorized antennas to improve the overall user experience throughout the home. The optimization is performed in several steps.</a:t>
            </a:r>
            <a:endParaRPr lang="en-US" sz="1400" b="1" dirty="0"/>
          </a:p>
          <a:p>
            <a:r>
              <a:rPr lang="en-US" sz="1400" b="1" dirty="0"/>
              <a:t>1. Calibration:</a:t>
            </a:r>
            <a:r>
              <a:rPr lang="en-US" sz="1400" dirty="0"/>
              <a:t> The AP performs a calibration sweep by rotating the antennas through different orientations while collecting performance metrics for each associated device. This process determines the antenna orientations that provide the best performance for each device.</a:t>
            </a:r>
          </a:p>
          <a:p>
            <a:pPr lvl="1"/>
            <a:r>
              <a:rPr lang="en-US" sz="1000" dirty="0">
                <a:solidFill>
                  <a:srgbClr val="C00000"/>
                </a:solidFill>
              </a:rPr>
              <a:t>How to reduce the number of position for the sweep</a:t>
            </a:r>
          </a:p>
          <a:p>
            <a:pPr lvl="1"/>
            <a:r>
              <a:rPr lang="en-US" sz="1000" dirty="0">
                <a:solidFill>
                  <a:srgbClr val="C00000"/>
                </a:solidFill>
              </a:rPr>
              <a:t>What </a:t>
            </a:r>
            <a:r>
              <a:rPr lang="en-US" sz="1000" dirty="0" err="1">
                <a:solidFill>
                  <a:srgbClr val="C00000"/>
                </a:solidFill>
              </a:rPr>
              <a:t>kpis</a:t>
            </a:r>
            <a:r>
              <a:rPr lang="en-US" sz="1000" dirty="0">
                <a:solidFill>
                  <a:srgbClr val="C00000"/>
                </a:solidFill>
              </a:rPr>
              <a:t> to record (RSSI, collision, PER, ???)</a:t>
            </a:r>
          </a:p>
          <a:p>
            <a:r>
              <a:rPr lang="en-US" sz="1400" b="1" dirty="0"/>
              <a:t>2. Device characterization:</a:t>
            </a:r>
            <a:r>
              <a:rPr lang="en-US" sz="1400" dirty="0"/>
              <a:t> The AP identifies the type of each connected device (e.g., IoT device, PC, laptop, TV, phone, gaming console) and collects information about its traffic characteristics.</a:t>
            </a:r>
          </a:p>
          <a:p>
            <a:pPr lvl="1"/>
            <a:r>
              <a:rPr lang="en-US" sz="1000" dirty="0">
                <a:solidFill>
                  <a:srgbClr val="C00000"/>
                </a:solidFill>
              </a:rPr>
              <a:t>Device category  based on DHCP hostname/fingerprinting, device MAC address, DNS, </a:t>
            </a:r>
            <a:r>
              <a:rPr lang="en-US" sz="1000" dirty="0" err="1">
                <a:solidFill>
                  <a:srgbClr val="C00000"/>
                </a:solidFill>
              </a:rPr>
              <a:t>mDNS</a:t>
            </a:r>
            <a:endParaRPr lang="en-US" sz="1000" dirty="0">
              <a:solidFill>
                <a:srgbClr val="C00000"/>
              </a:solidFill>
            </a:endParaRPr>
          </a:p>
          <a:p>
            <a:pPr lvl="1"/>
            <a:r>
              <a:rPr lang="en-US" sz="1000" dirty="0">
                <a:solidFill>
                  <a:srgbClr val="C00000"/>
                </a:solidFill>
              </a:rPr>
              <a:t>Traffic characteristic based on DPI, AI to classify  audio, video, gaming and throughput requirement  (other KPIS?) </a:t>
            </a:r>
          </a:p>
          <a:p>
            <a:r>
              <a:rPr lang="en-US" sz="1400" b="1" dirty="0"/>
              <a:t>3. Device prioritization:</a:t>
            </a:r>
            <a:r>
              <a:rPr lang="en-US" sz="1400" dirty="0"/>
              <a:t> Each device is assigned a priority based on its class and traffic requirements. Devices that benefit from high throughput and low latency, such as gaming consoles, phones, TVs, and PCs, receive higher priority, while devices with limited bandwidth or latency requirements, such as thermostats or other IoT devices, receive lower priority.</a:t>
            </a:r>
          </a:p>
          <a:p>
            <a:r>
              <a:rPr lang="en-US" sz="1400" b="1" dirty="0"/>
              <a:t>4. Antenna optimization:</a:t>
            </a:r>
            <a:r>
              <a:rPr lang="en-US" sz="1400" dirty="0"/>
              <a:t> Using the calibration results and the assigned priorities, the AP determines the antenna orientation that provides the best overall performance for all connected devices, while favoring the devices that have the greatest impact on the user experience. Algorithms could be based on weighted utility maximization, proportional fairness.  Reinforcement learning can be used if the AP is capable of learning  over time from traffic patterns and device movement – see below)</a:t>
            </a:r>
          </a:p>
          <a:p>
            <a:pPr lvl="1"/>
            <a:r>
              <a:rPr lang="en-US" sz="1000" dirty="0"/>
              <a:t>Antena orientation – example of calculation </a:t>
            </a:r>
          </a:p>
          <a:p>
            <a:pPr lvl="1"/>
            <a:r>
              <a:rPr lang="en-US" sz="1000" dirty="0">
                <a:solidFill>
                  <a:srgbClr val="FF0000"/>
                </a:solidFill>
              </a:rPr>
              <a:t>An alternative is to have multiple antennas in the AP (e.g., 16) and select best antenna to use – replacing the “motorized antenna approach”</a:t>
            </a:r>
          </a:p>
          <a:p>
            <a:pPr lvl="1"/>
            <a:endParaRPr lang="en-US" sz="1000" dirty="0"/>
          </a:p>
          <a:p>
            <a:r>
              <a:rPr lang="en-US" sz="1400" dirty="0"/>
              <a:t>Additional steps for further optimization include</a:t>
            </a:r>
          </a:p>
          <a:p>
            <a:r>
              <a:rPr lang="en-US" sz="1400" b="1" dirty="0"/>
              <a:t>5. Learning:</a:t>
            </a:r>
            <a:r>
              <a:rPr lang="en-US" sz="1400" dirty="0"/>
              <a:t> The AP repeats the calibration periodically or when significant changes are detected in the network (for example, a new device joins, a device moves, or traffic patterns change). The AP builds a history of the preferred antenna orientations for each device.</a:t>
            </a:r>
          </a:p>
          <a:p>
            <a:r>
              <a:rPr lang="en-US" sz="1400" b="1" dirty="0"/>
              <a:t>6. Prediction:</a:t>
            </a:r>
            <a:r>
              <a:rPr lang="en-US" sz="1400" dirty="0"/>
              <a:t> For mobile devices such as phones and laptops, the AP learns recurring locations and usage patterns. Based on this history, the AP can proactively adjust the antenna orientation before or during periods of expected high traffic, reducing the need for a full calibration sweep.</a:t>
            </a:r>
          </a:p>
          <a:p>
            <a:pPr lvl="1"/>
            <a:r>
              <a:rPr lang="en-US" sz="1000" dirty="0"/>
              <a:t>AI based</a:t>
            </a:r>
          </a:p>
          <a:p>
            <a:endParaRPr lang="en-US" sz="1400" dirty="0"/>
          </a:p>
          <a:p>
            <a:endParaRPr lang="en-US" dirty="0"/>
          </a:p>
        </p:txBody>
      </p:sp>
    </p:spTree>
    <p:extLst>
      <p:ext uri="{BB962C8B-B14F-4D97-AF65-F5344CB8AC3E}">
        <p14:creationId xmlns:p14="http://schemas.microsoft.com/office/powerpoint/2010/main" val="12613797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317A9-FFEC-33E1-1614-9E78831B676B}"/>
              </a:ext>
            </a:extLst>
          </p:cNvPr>
          <p:cNvSpPr>
            <a:spLocks noGrp="1"/>
          </p:cNvSpPr>
          <p:nvPr>
            <p:ph type="title"/>
          </p:nvPr>
        </p:nvSpPr>
        <p:spPr/>
        <p:txBody>
          <a:bodyPr/>
          <a:lstStyle/>
          <a:p>
            <a:r>
              <a:rPr lang="en-US"/>
              <a:t>Diagrams: to do</a:t>
            </a:r>
          </a:p>
        </p:txBody>
      </p:sp>
      <p:sp>
        <p:nvSpPr>
          <p:cNvPr id="3" name="Content Placeholder 2">
            <a:extLst>
              <a:ext uri="{FF2B5EF4-FFF2-40B4-BE49-F238E27FC236}">
                <a16:creationId xmlns:a16="http://schemas.microsoft.com/office/drawing/2014/main" id="{33ED4E2E-5882-127C-D058-FED549545657}"/>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9550901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5CBE8-8E17-C5A5-CA8A-054613EC7C34}"/>
              </a:ext>
            </a:extLst>
          </p:cNvPr>
          <p:cNvSpPr>
            <a:spLocks noGrp="1"/>
          </p:cNvSpPr>
          <p:nvPr>
            <p:ph type="title"/>
          </p:nvPr>
        </p:nvSpPr>
        <p:spPr/>
        <p:txBody>
          <a:bodyPr/>
          <a:lstStyle/>
          <a:p>
            <a:r>
              <a:rPr lang="en-US" dirty="0"/>
              <a:t>1. Wireless channel characterization by rotating antennas</a:t>
            </a:r>
          </a:p>
        </p:txBody>
      </p:sp>
      <p:sp>
        <p:nvSpPr>
          <p:cNvPr id="3" name="Content Placeholder 2">
            <a:extLst>
              <a:ext uri="{FF2B5EF4-FFF2-40B4-BE49-F238E27FC236}">
                <a16:creationId xmlns:a16="http://schemas.microsoft.com/office/drawing/2014/main" id="{4D1E5989-BD20-0317-3AC1-2D4341A23145}"/>
              </a:ext>
            </a:extLst>
          </p:cNvPr>
          <p:cNvSpPr>
            <a:spLocks noGrp="1"/>
          </p:cNvSpPr>
          <p:nvPr>
            <p:ph idx="1"/>
          </p:nvPr>
        </p:nvSpPr>
        <p:spPr/>
        <p:txBody>
          <a:bodyPr>
            <a:normAutofit fontScale="77500" lnSpcReduction="20000"/>
          </a:bodyPr>
          <a:lstStyle/>
          <a:p>
            <a:r>
              <a:rPr lang="en-US" dirty="0"/>
              <a:t>By rotating one or more AP antennas, AP could characterize (step 1) angle of arrival (</a:t>
            </a:r>
            <a:r>
              <a:rPr lang="en-US" dirty="0" err="1"/>
              <a:t>AoA</a:t>
            </a:r>
            <a:r>
              <a:rPr lang="en-US" dirty="0"/>
              <a:t>) and other propagation channel characteristics from each client device. Based on such </a:t>
            </a:r>
            <a:r>
              <a:rPr lang="en-US" dirty="0" err="1"/>
              <a:t>AoA</a:t>
            </a:r>
            <a:r>
              <a:rPr lang="en-US" dirty="0"/>
              <a:t> information, AP could optimize antenna(s) orientation to improve coverage and performance (step 4)</a:t>
            </a:r>
          </a:p>
          <a:p>
            <a:r>
              <a:rPr lang="en-US" dirty="0"/>
              <a:t>Different methods could be designed under various conditions</a:t>
            </a:r>
          </a:p>
          <a:p>
            <a:pPr lvl="1"/>
            <a:r>
              <a:rPr lang="en-US" dirty="0"/>
              <a:t>Knowledge of client device locations (fixed or mobile)</a:t>
            </a:r>
          </a:p>
          <a:p>
            <a:pPr lvl="1"/>
            <a:r>
              <a:rPr lang="en-US" dirty="0"/>
              <a:t>Knowledge of indoor floorplan and location of furniture/obstacle in the environment</a:t>
            </a:r>
          </a:p>
          <a:p>
            <a:pPr lvl="1"/>
            <a:r>
              <a:rPr lang="en-US" dirty="0"/>
              <a:t>AP antenna only rotate in one direction (one motor or one axial), two directions (two motors or two axials), three directions (three motors or three axials)</a:t>
            </a:r>
          </a:p>
          <a:p>
            <a:pPr lvl="2"/>
            <a:r>
              <a:rPr lang="en-US" dirty="0"/>
              <a:t>@</a:t>
            </a:r>
            <a:r>
              <a:rPr lang="en-US" dirty="0" err="1"/>
              <a:t>Shizen</a:t>
            </a:r>
            <a:r>
              <a:rPr lang="en-US" dirty="0"/>
              <a:t> and @Hao, please draw a diagram with one AP, four antennas, and the three axials of one example antenna…</a:t>
            </a:r>
          </a:p>
          <a:p>
            <a:r>
              <a:rPr lang="en-US" dirty="0"/>
              <a:t>SAGE/MUSIC and other algorithms can be leveraged or modified to characterize </a:t>
            </a:r>
            <a:r>
              <a:rPr lang="en-US" dirty="0" err="1"/>
              <a:t>AoA</a:t>
            </a:r>
            <a:r>
              <a:rPr lang="en-US" dirty="0"/>
              <a:t> by comparing relative phase and amplitude difference when AP antennas rotate (assuming in a static channel)</a:t>
            </a:r>
          </a:p>
          <a:p>
            <a:r>
              <a:rPr lang="en-US" dirty="0"/>
              <a:t>Potential simulation could be built to demonstrate </a:t>
            </a:r>
            <a:r>
              <a:rPr lang="en-US" dirty="0" err="1"/>
              <a:t>AoA</a:t>
            </a:r>
            <a:r>
              <a:rPr lang="en-US" dirty="0"/>
              <a:t> characterization results and AP performance improvement (hold on for any action)</a:t>
            </a:r>
          </a:p>
        </p:txBody>
      </p:sp>
    </p:spTree>
    <p:extLst>
      <p:ext uri="{BB962C8B-B14F-4D97-AF65-F5344CB8AC3E}">
        <p14:creationId xmlns:p14="http://schemas.microsoft.com/office/powerpoint/2010/main" val="38875134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96925E2-94D7-D455-2B99-A692E6953430}"/>
              </a:ext>
            </a:extLst>
          </p:cNvPr>
          <p:cNvSpPr>
            <a:spLocks noGrp="1"/>
          </p:cNvSpPr>
          <p:nvPr>
            <p:ph type="body" sz="quarter" idx="10"/>
          </p:nvPr>
        </p:nvSpPr>
        <p:spPr>
          <a:xfrm>
            <a:off x="485708" y="1093237"/>
            <a:ext cx="10982734" cy="4478823"/>
          </a:xfrm>
        </p:spPr>
        <p:txBody>
          <a:bodyPr>
            <a:normAutofit fontScale="92500" lnSpcReduction="10000"/>
          </a:bodyPr>
          <a:lstStyle/>
          <a:p>
            <a:r>
              <a:rPr lang="en-US" sz="2000" dirty="0"/>
              <a:t>Calibration and sensing: (Find fixed device) (Pre-knowledge)</a:t>
            </a:r>
            <a:br>
              <a:rPr lang="en-US" sz="2000" dirty="0"/>
            </a:br>
            <a:br>
              <a:rPr lang="en-US" sz="2000" dirty="0"/>
            </a:br>
            <a:r>
              <a:rPr lang="en-US" sz="2000" dirty="0"/>
              <a:t>Optimization: (Best angle for fixed devices; leverage fixed and mobile; how to follow mobile)</a:t>
            </a:r>
          </a:p>
          <a:p>
            <a:r>
              <a:rPr lang="en-US" sz="2000" dirty="0"/>
              <a:t>(Fixed/Mobile)</a:t>
            </a:r>
            <a:br>
              <a:rPr lang="en-US" sz="2000" dirty="0"/>
            </a:br>
            <a:br>
              <a:rPr lang="en-US" sz="2000" dirty="0"/>
            </a:br>
            <a:br>
              <a:rPr lang="en-US" sz="2000" dirty="0"/>
            </a:br>
            <a:br>
              <a:rPr lang="en-US" sz="2000" dirty="0"/>
            </a:br>
            <a:r>
              <a:rPr lang="en-US" sz="2000" dirty="0"/>
              <a:t>One axial</a:t>
            </a:r>
            <a:r>
              <a:rPr lang="zh-CN" altLang="en-US" sz="2000" dirty="0"/>
              <a:t>：</a:t>
            </a:r>
            <a:endParaRPr lang="en-US" altLang="zh-CN" sz="2000" dirty="0"/>
          </a:p>
          <a:p>
            <a:endParaRPr lang="en-US" sz="2000" dirty="0"/>
          </a:p>
          <a:p>
            <a:r>
              <a:rPr lang="en-US" sz="2000" dirty="0"/>
              <a:t>Two axials</a:t>
            </a:r>
            <a:r>
              <a:rPr lang="zh-CN" altLang="en-US" sz="2000" dirty="0"/>
              <a:t>：</a:t>
            </a:r>
            <a:endParaRPr lang="en-US" altLang="zh-CN" sz="2000" dirty="0"/>
          </a:p>
          <a:p>
            <a:endParaRPr lang="en-US" sz="2000" dirty="0"/>
          </a:p>
          <a:p>
            <a:r>
              <a:rPr lang="en-US" sz="2000" dirty="0"/>
              <a:t>Three axials</a:t>
            </a:r>
            <a:r>
              <a:rPr lang="zh-CN" altLang="en-US" sz="2000" dirty="0"/>
              <a:t>：</a:t>
            </a:r>
            <a:endParaRPr lang="en-US" sz="2000" dirty="0"/>
          </a:p>
          <a:p>
            <a:endParaRPr lang="en-US" dirty="0"/>
          </a:p>
        </p:txBody>
      </p:sp>
      <p:sp>
        <p:nvSpPr>
          <p:cNvPr id="3" name="Text Placeholder 2">
            <a:extLst>
              <a:ext uri="{FF2B5EF4-FFF2-40B4-BE49-F238E27FC236}">
                <a16:creationId xmlns:a16="http://schemas.microsoft.com/office/drawing/2014/main" id="{4AC022F4-B1BD-9374-1217-99D307C14D6E}"/>
              </a:ext>
            </a:extLst>
          </p:cNvPr>
          <p:cNvSpPr>
            <a:spLocks noGrp="1"/>
          </p:cNvSpPr>
          <p:nvPr>
            <p:ph type="body" sz="quarter" idx="11"/>
          </p:nvPr>
        </p:nvSpPr>
        <p:spPr>
          <a:xfrm>
            <a:off x="485708" y="334216"/>
            <a:ext cx="10982734" cy="464999"/>
          </a:xfrm>
        </p:spPr>
        <p:txBody>
          <a:bodyPr>
            <a:normAutofit/>
          </a:bodyPr>
          <a:lstStyle/>
          <a:p>
            <a:r>
              <a:rPr lang="en-US" dirty="0"/>
              <a:t>Mechanical pattern</a:t>
            </a:r>
          </a:p>
        </p:txBody>
      </p:sp>
      <p:sp>
        <p:nvSpPr>
          <p:cNvPr id="4" name="Text Placeholder 3">
            <a:extLst>
              <a:ext uri="{FF2B5EF4-FFF2-40B4-BE49-F238E27FC236}">
                <a16:creationId xmlns:a16="http://schemas.microsoft.com/office/drawing/2014/main" id="{B50E5A49-21B0-0EE1-E35B-80CE4C1C2C46}"/>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41982764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609</TotalTime>
  <Words>1603</Words>
  <Application>Microsoft Macintosh PowerPoint</Application>
  <PresentationFormat>Widescreen</PresentationFormat>
  <Paragraphs>83</Paragraphs>
  <Slides>8</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Aptos Display</vt:lpstr>
      <vt:lpstr>Arial</vt:lpstr>
      <vt:lpstr>Nunito Sans Normal</vt:lpstr>
      <vt:lpstr>Office Theme</vt:lpstr>
      <vt:lpstr>Adaptive Multi-Client Antenna Orientation Optimization for Wireless APs.</vt:lpstr>
      <vt:lpstr>Background of the Invention (What is the problem being solved and how was the problem previously solved?):</vt:lpstr>
      <vt:lpstr>Known Prior Art </vt:lpstr>
      <vt:lpstr>Description of the Invention</vt:lpstr>
      <vt:lpstr>Description of the Invention - Questions</vt:lpstr>
      <vt:lpstr>Diagrams: to do</vt:lpstr>
      <vt:lpstr>1. Wireless channel characterization by rotating antennas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Lili Hervieu</dc:creator>
  <cp:lastModifiedBy>Shizhen Jia</cp:lastModifiedBy>
  <cp:revision>5</cp:revision>
  <dcterms:created xsi:type="dcterms:W3CDTF">2026-07-01T20:30:04Z</dcterms:created>
  <dcterms:modified xsi:type="dcterms:W3CDTF">2026-07-21T15:56:58Z</dcterms:modified>
</cp:coreProperties>
</file>