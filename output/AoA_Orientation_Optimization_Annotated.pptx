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30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 d="100"/>
          <a:sy n="11" d="100"/>
        </p:scale>
        <p:origin x="115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Parts I–III.</a:t>
            </a:r>
          </a:p>
          <a:p>
            <a:r>
              <a:t>Proposed models and controller designs. No measured gains are claimed.</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3C5C3-366C-C7CE-5B11-6EEE20184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80F3D-2A53-46F0-3277-F43349750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15AA4-8E61-FC4D-7E72-E0F93E34494B}"/>
              </a:ext>
            </a:extLst>
          </p:cNvPr>
          <p:cNvSpPr>
            <a:spLocks noGrp="1"/>
          </p:cNvSpPr>
          <p:nvPr>
            <p:ph type="body" idx="1"/>
          </p:nvPr>
        </p:nvSpPr>
        <p:spPr/>
        <p:txBody>
          <a:bodyPr/>
          <a:lstStyle/>
          <a:p>
            <a:r>
              <a:t>Source: AoA_Estimation_Rotating_WiFi_Antenna_MUSIC_ESPRIT_SAGE.md, Parts I–III.</a:t>
            </a:r>
          </a:p>
          <a:p>
            <a:r>
              <a:t>Proposed models and controller designs. No measured gains are claimed.</a:t>
            </a:r>
          </a:p>
          <a:p>
            <a:r>
              <a:t>Diagrams are conceptual system/algorithm schematics, not measured results. Formulas retain their LaTeX source in image descriptions and in tmp/slides_detailed/equations.json.</a:t>
            </a:r>
          </a:p>
        </p:txBody>
      </p:sp>
      <p:sp>
        <p:nvSpPr>
          <p:cNvPr id="4" name="Slide Number Placeholder 3">
            <a:extLst>
              <a:ext uri="{FF2B5EF4-FFF2-40B4-BE49-F238E27FC236}">
                <a16:creationId xmlns:a16="http://schemas.microsoft.com/office/drawing/2014/main" id="{DA500E99-95D3-242B-8FB9-C7BCBAF03CE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70366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1.1, 2.1.1, 3.1.</a:t>
            </a:r>
          </a:p>
          <a:p>
            <a:endParaRP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1.7, 2.1, 3.1.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1.3.1, 2.1.1, 2.2.1.</a:t>
            </a:r>
          </a:p>
          <a:p>
            <a:r>
              <a:t>The in-plane model does not exactly represent arbitrary out-of-plane paths. The complex gain g includes calibrated pattern phase.</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1.3.1, 2.2.1.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1.4.1–1.4.4, 2.3.1.</a:t>
            </a:r>
          </a:p>
          <a:p>
            <a:r>
              <a:t>α and θ are polar angles from +z. The control range does not imply an upper-hemisphere source prior. Full source sphere is allowed unless scene knowledge restricts it.</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1.4.1, 2.1.1, 2.3.1.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1.2.2–1.2.3, 1.5, 2.1.1–2.1.2.</a:t>
            </a:r>
          </a:p>
          <a:p>
            <a:endParaRP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1.2.2, 1.3.2, 2.1.2.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1.2.3, 1.5, 2.1.1, 2.1.4–2.1.5.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1.3.2–1.3.3, 2.1.4.</a:t>
            </a:r>
          </a:p>
          <a:p>
            <a:r>
              <a:t>Use common-frequency full-rank covariance or the justified wideband construction on the next slide. Repeating identical coherent multipath snapshots does not restore rank. MUSIC peak heights are not calibrated path powers.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1.3.2–1.3.3, 2.1.4.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2.1.4.</a:t>
            </a:r>
          </a:p>
          <a:p>
            <a:r>
              <a:t>Frequency smoothing assumes equally spaced valid tones and an approximately frequency-flat aperture response. Distinct delays modulo 1/Δf, enough offsets, independent columns and nonzero gains are necessary for the stated rank restoration. Equal delays are not decorrelated by this construction alone. Fit gains by QR/SVD least squares and check held-out residuals.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2.1.4.</a:t>
            </a:r>
          </a:p>
          <a:p>
            <a:r>
              <a:t>Distinct delays modulo 1/Δf, S≥D, independent response columns, nonzero gains and D&lt;KQ support rank restoration. Search delay over an interval shorter than 1/Δf. This is a conditional construction, not a general covariance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1.3.4, 1.4.4, 1.6.</a:t>
            </a:r>
          </a:p>
          <a:p>
            <a:r>
              <a:t>The source proposes a phase-mode approximation. A partial 180° arc and a measured pattern do not automatically yield exact full-circle UCA invariance. The final angle map depends on the validated transform.</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1.3.4, 1.4.4.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1.3.5, 1.4.4, 2.1.5.</a:t>
            </a:r>
          </a:p>
          <a:p>
            <a:r>
              <a:t>X stacks all orientation/tone observations and sweeps. b includes the exact calibrated frequency response and delay phase. The concentrated update assumes white noise after whitening. SAGE needs identifiable data, although it does not require full-rank source covariance.</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2.1.5.</a:t>
            </a:r>
          </a:p>
          <a:p>
            <a:r>
              <a:t>Use bounded path-count selection, multiple starts, current-parameter candidates and held-out fit selection. Directly substituting magnitudes into this complex likelihood is invalid.</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1.6, 2.1.4–2.1.5.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2.1.2–2.1.5.</a:t>
            </a:r>
          </a:p>
          <a:p>
            <a:r>
              <a:t>c contains propagation phase at f0 and excludes transmit power. C is payload rate per second allocated to a link; T is load-capped delivered rate under shared airtime. The baseline optimizes uplink reception. Downlink requires corresponding validation.</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2.1.1–2.1.3.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2.2.1–2.2.2.</a:t>
            </a:r>
          </a:p>
          <a:p>
            <a:r>
              <a:t>Each reflected path belongs to the same source. Dipole gain is generally broadside, so pointing the axis toward a source is not the optimizer.</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2.2.3.</a:t>
            </a:r>
          </a:p>
          <a:p>
            <a:r>
              <a:t>Do not sum isolated full-airtime link rates or count multipath components as clients.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2.2.4.</a:t>
            </a:r>
          </a:p>
          <a:p>
            <a:r>
              <a:t>r_ref is a positive reference rate. Services on the same device share one spatial channel and available airtime. No numerical weights are presented as standardized WMM weights.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2.2.4, 2.3.4.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1.4.3, 2.3.1–2.3.2.</a:t>
            </a:r>
          </a:p>
          <a:p>
            <a:r>
              <a:t>The schematic illustrates client motion; a dipole does not use its axis as a peak-gain beam. Active local search is conditional on valid response behavior, not a guaranteed small-sample AoA estimator.</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2.3.1, 2.3.3.</a:t>
            </a:r>
          </a:p>
          <a:p>
            <a:r>
              <a:t>Upper-hemisphere mechanical control does not restrict source arrival directions to the upper hemisphere. Avoid redundant azimuth states at the pole only when the calibrated hardware response makes them equivalent.</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2.3.4.</a:t>
            </a:r>
          </a:p>
          <a:p>
            <a:r>
              <a:t>Weighted-goodput and concave utility are alternative objectives, both available in either geometry. A strict service guarantee requires explicit constraints and a feasibility policy.</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2.1.3, 2.2.3–2.2.4.</a:t>
            </a:r>
          </a:p>
          <a:p>
            <a:r>
              <a:t>Authored illustrative arithmetic: A: T=(0.5×100,0.5×20)=(50,10), sum=60, weighted=50+4×10=90. B: T=(32.5,25), sum=57.5, weighted=32.5+4×25=132.5. Both use identical saturated demand and airtime. Numerical rates are hypothetical.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2.1.6, 2.4.</a:t>
            </a:r>
          </a:p>
          <a:p>
            <a:endParaRP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2.1.6, 2.4.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3.2.</a:t>
            </a:r>
          </a:p>
          <a:p>
            <a:r>
              <a:t>Keep the original fixed schedule and advance to the next future start if a scan takes too long. Full scans still require valid comparable measurements.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3.1.2, 3.2.1, 3.5.2.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3.3.1–3.3.5.</a:t>
            </a:r>
          </a:p>
          <a:p>
            <a:r>
              <a:t>The diagram is a search schematic, not an empirical objective surface. Global checks must continue independently of degradation at the incumbent.</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3.3.2–3.3.3.</a:t>
            </a:r>
          </a:p>
          <a:p>
            <a:r>
              <a:t>Trigger only after persistent comparable degradation. Freeze the accepted baseline during suspected deterioration or search. Local success may justify bounded step expansion; a valid unsuccessful poll supports contraction. Inconclusive observations do not establish a local optimum. q0 is the incumbent supplied to this subroutine.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3.3.6, 3.4.</a:t>
            </a:r>
          </a:p>
          <a:p>
            <a:endParaRP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3.1.2–3.1.4.</a:t>
            </a:r>
          </a:p>
          <a:p>
            <a:r>
              <a:t>The displayed average assumes equally spaced observation centers. Otherwise interpolate incumbent performance at the candidate time. Correlated packets are not independent uncertainty samples. Restore feasibility under an explicit policy even when aggregate utility decreases.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3.1.2–3.1.3.</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3.6.2–3.7.2.</a:t>
            </a:r>
          </a:p>
          <a:p>
            <a:r>
              <a:t>Household contexts shown here are illustrative hypotheses to learn, not assumptions imposed on every home. Device class alone does not determine traffic demand or criticality.</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3.7.3–3.7.5.</a:t>
            </a:r>
          </a:p>
          <a:p>
            <a:r>
              <a:t>The formula uses recency weights and shrinkage κ to a broader pooled activity profile. Session/day grouping avoids overstated support from correlated windows. One weekend is weak evidence for a recurring weekly pattern.</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3.7.1–3.7.5.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3.8.1–3.8.3.</a:t>
            </a:r>
          </a:p>
          <a:p>
            <a:r>
              <a:t>T_f,h^(s) already accounts for service interruption via usable airtime. Do not subtract the same loss twice. Mechanical penalties must use compatible utility units, or be handled only through budgets. Evaluate joint scenarios before averaging nonlinear utility. The predictive gate differs from requiring an immediate measured gain: a safe advance move may temporarily reduce present utility while improving horizon utility.</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3.8.1–3.8.2.</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3.8.1.</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3.8.6.</a:t>
            </a:r>
          </a:p>
          <a:p>
            <a:r>
              <a:t>Update models exactly once per completed record. Do not coherently pool CSI from incompatible times. Reuse Scheme B recovery, global coverage and a shared movement budget.</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3.8.2–3.8.6.</a:t>
            </a:r>
          </a:p>
          <a:p>
            <a:r>
              <a:t>“Permission from the control policy” means a configured system constraint, not a requirement for human approval on each movement. If temporary current loss is disallowed, use prediction only to prioritize probes or wait for ordinary acceptance. Never treat absent or unobserved future clients as already validated response measurements.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3.8.4–3.8.5.</a:t>
            </a:r>
          </a:p>
          <a:p>
            <a:r>
              <a:t>One actuator controller arbitrates all changes. Current severe service failures have precedence. Forecast-driven probes share the ordinary exploration budget. Independent global coverage remains active even when a learned pattern is confident.</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2.4, 3.5.3–3.5.4, 3.9.</a:t>
            </a:r>
          </a:p>
          <a:p>
            <a:r>
              <a:t>Compare matched elapsed-time and movement/exploration budgets. Include several controlled trials and uncertainty. Chronological held-out evaluation prevents session leakage. Deterministic historical logs cannot identify unsupported counterfactual outcomes.</a:t>
            </a:r>
          </a:p>
          <a:p>
            <a:r>
              <a:t>Diagrams are conceptual system/algorithm schematics, not measured results. Formulas retain their LaTeX source in image descriptions and in tmp/slides_detailed/equations.json.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Part I, 2.1.4–2.1.5.</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Part II.</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AoA_Estimation_Rotating_WiFi_Antenna_MUSIC_ESPRIT_SAGE.md, Part III.</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5E969-3F44-6477-6A45-7A305B9F5F4A}"/>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674086F4-1399-382C-11B7-00648141EE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B44A3BB6-3BE7-478F-D405-CC3C203171F6}"/>
              </a:ext>
            </a:extLst>
          </p:cNvPr>
          <p:cNvSpPr>
            <a:spLocks noGrp="1"/>
          </p:cNvSpPr>
          <p:nvPr>
            <p:ph type="dt" idx="10"/>
          </p:nvPr>
        </p:nvSpPr>
        <p:spPr/>
        <p:txBody>
          <a:body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2653CEB3-DFFA-D92E-1E6C-51EF8F894D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C23B2CE-FF19-710C-8D52-1A73F6D416EF}"/>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8F40F-B4C1-52C7-6727-9C3C8A5DB11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4DD8416-01C4-93CB-4A55-B3CFA5B87402}"/>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CA762D8-25E5-BD3F-59E9-DE0CB845DA6D}"/>
              </a:ext>
            </a:extLst>
          </p:cNvPr>
          <p:cNvSpPr>
            <a:spLocks noGrp="1"/>
          </p:cNvSpPr>
          <p:nvPr>
            <p:ph type="dt" idx="10"/>
          </p:nvPr>
        </p:nvSpPr>
        <p:spPr/>
        <p:txBody>
          <a:body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53996FCD-70A9-D30F-6B04-F17D232BF0D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5FBBF34-AB3D-0BDC-8085-F4BD5CA0ED02}"/>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FE9C-B288-8716-00DF-04FD2D53348F}"/>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BC9C418E-E434-30BB-12FE-D0ED2E8563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1E8AD40A-832D-5553-65CD-1B13109A9341}"/>
              </a:ext>
            </a:extLst>
          </p:cNvPr>
          <p:cNvSpPr>
            <a:spLocks noGrp="1"/>
          </p:cNvSpPr>
          <p:nvPr>
            <p:ph type="dt" idx="10"/>
          </p:nvPr>
        </p:nvSpPr>
        <p:spPr/>
        <p:txBody>
          <a:body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C954521E-AC0E-87BE-FAF4-43E0B54F100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EE7135E-EB6A-7803-C91A-E03364BBE496}"/>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79153-D606-CE57-DE53-6BEB4BC9A6A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90C18C9-CE72-CB2F-776C-CB7CD328DF5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7CE22A6-9F18-9C3C-DF83-B648CDCD692E}"/>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5936F55-5F96-EBE1-2B6B-D97AEEBD393C}"/>
              </a:ext>
            </a:extLst>
          </p:cNvPr>
          <p:cNvSpPr>
            <a:spLocks noGrp="1"/>
          </p:cNvSpPr>
          <p:nvPr>
            <p:ph type="dt" idx="10"/>
          </p:nvPr>
        </p:nvSpPr>
        <p:spPr/>
        <p:txBody>
          <a:bodyPr/>
          <a:lstStyle/>
          <a:p>
            <a:fld id="{442A3A98-E2EE-405E-B99C-BBCB1D580D7E}" type="datetimeFigureOut">
              <a:t>9/11/2026</a:t>
            </a:fld>
            <a:endParaRPr/>
          </a:p>
        </p:txBody>
      </p:sp>
      <p:sp>
        <p:nvSpPr>
          <p:cNvPr id="6" name="Footer Placeholder 5">
            <a:extLst>
              <a:ext uri="{FF2B5EF4-FFF2-40B4-BE49-F238E27FC236}">
                <a16:creationId xmlns:a16="http://schemas.microsoft.com/office/drawing/2014/main" id="{B8873D8D-9282-D582-49B2-C8DCE53DA30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8F027DB-0920-80B0-9F11-498BA15D598A}"/>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F6D1-5678-DD6A-98AB-F7FACEF1F972}"/>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14CE8C59-05A8-AD61-E87A-77DD3DD66C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86A3D22-E690-76FC-1101-B8C9996CEE5D}"/>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EF1336E-B8EA-F36B-5AC2-5B59929BEDB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67176259-3F9D-0D15-67C3-19BC65065526}"/>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A1D0B6E2-D2B6-5251-A399-BF006E7895E1}"/>
              </a:ext>
            </a:extLst>
          </p:cNvPr>
          <p:cNvSpPr>
            <a:spLocks noGrp="1"/>
          </p:cNvSpPr>
          <p:nvPr>
            <p:ph type="dt" idx="10"/>
          </p:nvPr>
        </p:nvSpPr>
        <p:spPr/>
        <p:txBody>
          <a:bodyPr/>
          <a:lstStyle/>
          <a:p>
            <a:fld id="{442A3A98-E2EE-405E-B99C-BBCB1D580D7E}" type="datetimeFigureOut">
              <a:t>9/11/2026</a:t>
            </a:fld>
            <a:endParaRPr/>
          </a:p>
        </p:txBody>
      </p:sp>
      <p:sp>
        <p:nvSpPr>
          <p:cNvPr id="8" name="Footer Placeholder 7">
            <a:extLst>
              <a:ext uri="{FF2B5EF4-FFF2-40B4-BE49-F238E27FC236}">
                <a16:creationId xmlns:a16="http://schemas.microsoft.com/office/drawing/2014/main" id="{619C948F-FDF4-BCFA-5DA1-AD757249EE9A}"/>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937955AE-A550-CFAF-6F28-996F35321C78}"/>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FC38-8138-643F-0CAF-5D29CED455B0}"/>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DF57F1A-B574-7C5A-02A7-D4ABBB796369}"/>
              </a:ext>
            </a:extLst>
          </p:cNvPr>
          <p:cNvSpPr>
            <a:spLocks noGrp="1"/>
          </p:cNvSpPr>
          <p:nvPr>
            <p:ph type="dt" idx="10"/>
          </p:nvPr>
        </p:nvSpPr>
        <p:spPr/>
        <p:txBody>
          <a:bodyPr/>
          <a:lstStyle/>
          <a:p>
            <a:fld id="{442A3A98-E2EE-405E-B99C-BBCB1D580D7E}" type="datetimeFigureOut">
              <a:t>9/11/2026</a:t>
            </a:fld>
            <a:endParaRPr/>
          </a:p>
        </p:txBody>
      </p:sp>
      <p:sp>
        <p:nvSpPr>
          <p:cNvPr id="4" name="Footer Placeholder 3">
            <a:extLst>
              <a:ext uri="{FF2B5EF4-FFF2-40B4-BE49-F238E27FC236}">
                <a16:creationId xmlns:a16="http://schemas.microsoft.com/office/drawing/2014/main" id="{D943BA7C-F7D3-5822-D935-E049A048285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16FF289C-0ACC-3C3D-1E35-DA3AD1A3ACBC}"/>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589938-CCDA-268E-C88D-EFF92E83E938}"/>
              </a:ext>
            </a:extLst>
          </p:cNvPr>
          <p:cNvSpPr>
            <a:spLocks noGrp="1"/>
          </p:cNvSpPr>
          <p:nvPr>
            <p:ph type="dt" idx="10"/>
          </p:nvPr>
        </p:nvSpPr>
        <p:spPr/>
        <p:txBody>
          <a:bodyPr/>
          <a:lstStyle/>
          <a:p>
            <a:fld id="{442A3A98-E2EE-405E-B99C-BBCB1D580D7E}" type="datetimeFigureOut">
              <a:t>9/11/2026</a:t>
            </a:fld>
            <a:endParaRPr/>
          </a:p>
        </p:txBody>
      </p:sp>
      <p:sp>
        <p:nvSpPr>
          <p:cNvPr id="3" name="Footer Placeholder 2">
            <a:extLst>
              <a:ext uri="{FF2B5EF4-FFF2-40B4-BE49-F238E27FC236}">
                <a16:creationId xmlns:a16="http://schemas.microsoft.com/office/drawing/2014/main" id="{5FEE4F8F-CB8D-1B67-1666-76C2F7A5757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F4C5F41-434A-BC4B-9830-68C77FC4B040}"/>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66C34-F851-FB91-73E4-5EAB721B775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CFF11E8B-8327-C756-121C-26F466ECCAF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7B69ED65-9F36-CE55-FB7A-A18B2518E1A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D4D3EA8A-28B6-68B0-74E5-2121F6F46A89}"/>
              </a:ext>
            </a:extLst>
          </p:cNvPr>
          <p:cNvSpPr>
            <a:spLocks noGrp="1"/>
          </p:cNvSpPr>
          <p:nvPr>
            <p:ph type="dt" idx="10"/>
          </p:nvPr>
        </p:nvSpPr>
        <p:spPr/>
        <p:txBody>
          <a:bodyPr/>
          <a:lstStyle/>
          <a:p>
            <a:fld id="{442A3A98-E2EE-405E-B99C-BBCB1D580D7E}" type="datetimeFigureOut">
              <a:t>9/11/2026</a:t>
            </a:fld>
            <a:endParaRPr/>
          </a:p>
        </p:txBody>
      </p:sp>
      <p:sp>
        <p:nvSpPr>
          <p:cNvPr id="6" name="Footer Placeholder 5">
            <a:extLst>
              <a:ext uri="{FF2B5EF4-FFF2-40B4-BE49-F238E27FC236}">
                <a16:creationId xmlns:a16="http://schemas.microsoft.com/office/drawing/2014/main" id="{5B836B2F-7E35-101F-635B-567BE101E77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6E7BFB5-E75F-07BC-A731-73C28CB3DBF1}"/>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8F0B-6DB2-A181-BC24-2DF642471D9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770266CD-6D3E-307F-9902-2DFDC8823E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81A1698B-8D5F-E136-2CC6-AF3A3AA7DF58}"/>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87C7D0F3-F10B-B6F6-BF93-0B8312BE4BE4}"/>
              </a:ext>
            </a:extLst>
          </p:cNvPr>
          <p:cNvSpPr>
            <a:spLocks noGrp="1"/>
          </p:cNvSpPr>
          <p:nvPr>
            <p:ph type="dt" idx="10"/>
          </p:nvPr>
        </p:nvSpPr>
        <p:spPr/>
        <p:txBody>
          <a:bodyPr/>
          <a:lstStyle/>
          <a:p>
            <a:fld id="{442A3A98-E2EE-405E-B99C-BBCB1D580D7E}" type="datetimeFigureOut">
              <a:t>9/11/2026</a:t>
            </a:fld>
            <a:endParaRPr/>
          </a:p>
        </p:txBody>
      </p:sp>
      <p:sp>
        <p:nvSpPr>
          <p:cNvPr id="6" name="Footer Placeholder 5">
            <a:extLst>
              <a:ext uri="{FF2B5EF4-FFF2-40B4-BE49-F238E27FC236}">
                <a16:creationId xmlns:a16="http://schemas.microsoft.com/office/drawing/2014/main" id="{E552C7A0-A03F-58A5-2540-A989DF0F6FC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B427F48-1F3C-4546-E5D0-C450DF599A9A}"/>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9349B-4823-FA29-B681-B8FF822EBB80}"/>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D05A7FD-25EE-1BA3-25D0-69CEAB6BAB43}"/>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8603A0D-559C-D2CA-85D2-7E563751671B}"/>
              </a:ext>
            </a:extLst>
          </p:cNvPr>
          <p:cNvSpPr>
            <a:spLocks noGrp="1"/>
          </p:cNvSpPr>
          <p:nvPr>
            <p:ph type="dt" idx="10"/>
          </p:nvPr>
        </p:nvSpPr>
        <p:spPr/>
        <p:txBody>
          <a:body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E8C69A6F-8CD2-D1F3-F18C-9B72B9E5251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8A89C24-94C4-5988-03DD-718D0A084442}"/>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10F69-AAAF-94C4-5F14-824862B30E08}"/>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F4457295-39C5-672F-AD1B-F188D13C4A6E}"/>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F93F772-D904-3BFC-6F08-25B2D5054BBB}"/>
              </a:ext>
            </a:extLst>
          </p:cNvPr>
          <p:cNvSpPr>
            <a:spLocks noGrp="1"/>
          </p:cNvSpPr>
          <p:nvPr>
            <p:ph type="dt" idx="10"/>
          </p:nvPr>
        </p:nvSpPr>
        <p:spPr/>
        <p:txBody>
          <a:body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42DE6DBA-0009-683F-A25B-F157D066B13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667C77E-DE88-E7C3-AD33-D91596662EAD}"/>
              </a:ext>
            </a:extLst>
          </p:cNvPr>
          <p:cNvSpPr>
            <a:spLocks noGrp="1"/>
          </p:cNvSpPr>
          <p:nvPr>
            <p:ph type="sldNum" idx="12"/>
          </p:nvPr>
        </p:nvSpPr>
        <p:spPr/>
        <p:txBody>
          <a:bodyPr/>
          <a:lstStyle/>
          <a:p>
            <a:fld id="{53EBF548-04AD-4045-9EA8-427941524C2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One Column Text ">
    <p:bg>
      <p:bgPr>
        <a:solidFill>
          <a:srgbClr val="F3F3F3"/>
        </a:solidFill>
        <a:effectLst/>
      </p:bgPr>
    </p:bg>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F24EDEFF-33E1-24F2-7E58-F5A9E065C0CD}"/>
              </a:ext>
            </a:extLst>
          </p:cNvPr>
          <p:cNvSpPr>
            <a:spLocks noGrp="1"/>
          </p:cNvSpPr>
          <p:nvPr>
            <p:ph type="body" idx="10" hasCustomPrompt="1"/>
          </p:nvPr>
        </p:nvSpPr>
        <p:spPr>
          <a:xfrm>
            <a:off x="634997" y="1447800"/>
            <a:ext cx="10982734" cy="4478823"/>
          </a:xfrm>
          <a:prstGeom prst="rect">
            <a:avLst/>
          </a:prstGeom>
        </p:spPr>
        <p:txBody>
          <a:bodyPr/>
          <a:lstStyle>
            <a:lvl1pPr marL="0" indent="0" algn="l">
              <a:lnSpc>
                <a:spcPct val="114000"/>
              </a:lnSpc>
              <a:buNone/>
              <a:defRPr sz="2600" b="0" i="0" spc="0">
                <a:solidFill>
                  <a:schemeClr val="tx1"/>
                </a:solidFill>
                <a:latin typeface="Nunito Sans Normal"/>
                <a:ea typeface="Nunito Sans Normal"/>
                <a:cs typeface="Nunito Sans Normal"/>
              </a:defRPr>
            </a:lvl1pPr>
            <a:lvl2pPr marL="195263" indent="-195263">
              <a:buNone/>
              <a:defRPr>
                <a:solidFill>
                  <a:schemeClr val="tx1"/>
                </a:solidFill>
              </a:defRPr>
            </a:lvl2pPr>
            <a:lvl3pPr marL="466725" indent="-174625">
              <a:buNone/>
              <a:defRPr/>
            </a:lvl3pPr>
            <a:lvl4pPr marL="801688" indent="-173038">
              <a:buNone/>
              <a:defRPr/>
            </a:lvl4pPr>
            <a:lvl5pPr marL="1095375" indent="-173038">
              <a:buNone/>
              <a:defRPr/>
            </a:lvl5pPr>
            <a:lvl6pPr marL="1377950" indent="-152400">
              <a:buFont typeface="Arial"/>
              <a:buChar char="•"/>
              <a:defRPr/>
            </a:lvl6pPr>
            <a:lvl7pPr marL="1714500" indent="-152400">
              <a:buNone/>
              <a:defRPr/>
            </a:lvl7pPr>
            <a:lvl8pPr marL="2062163" indent="-163513">
              <a:buNone/>
              <a:defRPr/>
            </a:lvl8pPr>
            <a:lvl9pPr marL="2408238" indent="-184150">
              <a:buNone/>
              <a:defRPr/>
            </a:lvl9pPr>
          </a:lstStyle>
          <a:p>
            <a:pPr lvl="0">
              <a:buNone/>
            </a:pPr>
            <a:r>
              <a:t>Text would go here.</a:t>
            </a:r>
          </a:p>
          <a:p>
            <a:pPr lvl="1">
              <a:buNone/>
            </a:pPr>
            <a:r>
              <a:t>Second level</a:t>
            </a:r>
          </a:p>
          <a:p>
            <a:pPr lvl="2">
              <a:buNone/>
            </a:pPr>
            <a:r>
              <a:t>Third level</a:t>
            </a:r>
          </a:p>
          <a:p>
            <a:pPr lvl="3">
              <a:buNone/>
            </a:pPr>
            <a:r>
              <a:t>Fourth level</a:t>
            </a:r>
          </a:p>
          <a:p>
            <a:pPr lvl="4">
              <a:buNone/>
            </a:pPr>
            <a:r>
              <a:t>Fifth level</a:t>
            </a:r>
          </a:p>
          <a:p>
            <a:pPr lvl="5">
              <a:buNone/>
            </a:pPr>
            <a:r>
              <a:t>Sixth level</a:t>
            </a:r>
          </a:p>
          <a:p>
            <a:pPr lvl="6">
              <a:buNone/>
            </a:pPr>
            <a:r>
              <a:t>Seventh level</a:t>
            </a:r>
          </a:p>
          <a:p>
            <a:pPr lvl="7">
              <a:buNone/>
            </a:pPr>
            <a:r>
              <a:t>Eighth level</a:t>
            </a:r>
          </a:p>
          <a:p>
            <a:pPr lvl="8">
              <a:buNone/>
            </a:pPr>
            <a:r>
              <a:t>Ninth level</a:t>
            </a:r>
          </a:p>
          <a:p>
            <a:pPr lvl="4">
              <a:buNone/>
            </a:pPr>
            <a:endParaRPr/>
          </a:p>
          <a:p>
            <a:pPr lvl="4">
              <a:buNone/>
            </a:pPr>
            <a:endParaRPr/>
          </a:p>
        </p:txBody>
      </p:sp>
      <p:sp>
        <p:nvSpPr>
          <p:cNvPr id="12" name="Text Placeholder 8">
            <a:extLst>
              <a:ext uri="{FF2B5EF4-FFF2-40B4-BE49-F238E27FC236}">
                <a16:creationId xmlns:a16="http://schemas.microsoft.com/office/drawing/2014/main" id="{22BF4F7E-6785-B29E-0641-14B92759AC02}"/>
              </a:ext>
            </a:extLst>
          </p:cNvPr>
          <p:cNvSpPr>
            <a:spLocks noGrp="1"/>
          </p:cNvSpPr>
          <p:nvPr>
            <p:ph type="body" idx="11" hasCustomPrompt="1"/>
          </p:nvPr>
        </p:nvSpPr>
        <p:spPr>
          <a:xfrm>
            <a:off x="634997" y="931376"/>
            <a:ext cx="10982734" cy="464999"/>
          </a:xfrm>
          <a:prstGeom prst="rect">
            <a:avLst/>
          </a:prstGeom>
        </p:spPr>
        <p:txBody>
          <a:bodyPr/>
          <a:lstStyle>
            <a:lvl1pPr marL="0" indent="0" algn="l">
              <a:buNone/>
              <a:defRPr sz="1800" b="1" i="0" spc="150">
                <a:solidFill>
                  <a:srgbClr val="E00016"/>
                </a:solidFill>
                <a:latin typeface="Nunito Sans Normal"/>
                <a:ea typeface="Nunito Sans Normal"/>
                <a:cs typeface="Nunito Sans Normal"/>
              </a:defRPr>
            </a:lvl1pPr>
          </a:lstStyle>
          <a:p>
            <a:pPr lvl="0">
              <a:buNone/>
            </a:pPr>
            <a:r>
              <a:t>SECTION NAME ALL CAPS</a:t>
            </a:r>
          </a:p>
        </p:txBody>
      </p:sp>
      <p:sp>
        <p:nvSpPr>
          <p:cNvPr id="5" name="Text 4">
            <a:extLst>
              <a:ext uri="{FF2B5EF4-FFF2-40B4-BE49-F238E27FC236}">
                <a16:creationId xmlns:a16="http://schemas.microsoft.com/office/drawing/2014/main" id="{1525A538-E79F-F934-351A-3F523967B9D7}"/>
              </a:ext>
            </a:extLst>
          </p:cNvPr>
          <p:cNvSpPr>
            <a:spLocks noGrp="1"/>
          </p:cNvSpPr>
          <p:nvPr/>
        </p:nvSpPr>
        <p:spPr>
          <a:xfrm>
            <a:off x="11276132" y="6355003"/>
            <a:ext cx="341599" cy="249382"/>
          </a:xfrm>
          <a:prstGeom prst="rect">
            <a:avLst/>
          </a:prstGeom>
          <a:noFill/>
        </p:spPr>
        <p:txBody>
          <a:bodyPr wrap="square" lIns="0" tIns="0" rIns="0" bIns="0" anchor="ctr"/>
          <a:lstStyle/>
          <a:p>
            <a:pPr algn="r">
              <a:lnSpc>
                <a:spcPts val="1600"/>
              </a:lnSpc>
              <a:buNone/>
            </a:pPr>
            <a:fld id="{559729A4-79A7-FD4E-AF42-9F3B480758CF}" type="slidenum">
              <a:rPr sz="1000" b="0" i="0" spc="100">
                <a:solidFill>
                  <a:srgbClr val="717171">
                    <a:alpha val="100000"/>
                  </a:srgbClr>
                </a:solidFill>
                <a:latin typeface="Nunito Sans Normal"/>
                <a:ea typeface="Nunito Sans Normal"/>
                <a:cs typeface="Nunito Sans Normal"/>
              </a:rPr>
              <a:t>‹#›</a:t>
            </a:fld>
            <a:endParaRPr sz="1000" b="0" i="0" spc="100">
              <a:latin typeface="Nunito Sans Normal"/>
              <a:ea typeface="Nunito Sans Normal"/>
              <a:cs typeface="Nunito Sans Normal"/>
            </a:endParaRPr>
          </a:p>
        </p:txBody>
      </p:sp>
      <p:sp>
        <p:nvSpPr>
          <p:cNvPr id="6" name="Text Placeholder 8">
            <a:extLst>
              <a:ext uri="{FF2B5EF4-FFF2-40B4-BE49-F238E27FC236}">
                <a16:creationId xmlns:a16="http://schemas.microsoft.com/office/drawing/2014/main" id="{934A0B4E-6500-A77A-F74A-59DCF87BAE7E}"/>
              </a:ext>
            </a:extLst>
          </p:cNvPr>
          <p:cNvSpPr>
            <a:spLocks noGrp="1"/>
          </p:cNvSpPr>
          <p:nvPr>
            <p:ph type="body" idx="13" hasCustomPrompt="1"/>
          </p:nvPr>
        </p:nvSpPr>
        <p:spPr>
          <a:xfrm>
            <a:off x="8707139" y="6341879"/>
            <a:ext cx="2691326" cy="313930"/>
          </a:xfrm>
          <a:prstGeom prst="rect">
            <a:avLst/>
          </a:prstGeom>
        </p:spPr>
        <p:txBody>
          <a:bodyPr anchor="ctr"/>
          <a:lstStyle>
            <a:lvl1pPr marL="0" indent="0" algn="r">
              <a:buNone/>
              <a:defRPr sz="1000" b="0" i="0" spc="150">
                <a:solidFill>
                  <a:srgbClr val="717171"/>
                </a:solidFill>
                <a:latin typeface="Nunito Sans Normal"/>
                <a:ea typeface="Nunito Sans Normal"/>
                <a:cs typeface="Nunito Sans Normal"/>
              </a:defRPr>
            </a:lvl1pPr>
          </a:lstStyle>
          <a:p>
            <a:pPr lvl="0">
              <a:buNone/>
            </a:pPr>
            <a:r>
              <a:t>SECTION NAME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D88E25-9214-9A2A-4502-4D71655187A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D3DBE3D-94B0-0717-C2A8-0E773D7EBC39}"/>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319ACF6-65C2-4A58-5889-AC3E560DEAC7}"/>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442A3A98-E2EE-405E-B99C-BBCB1D580D7E}" type="datetimeFigureOut">
              <a:t>9/11/2026</a:t>
            </a:fld>
            <a:endParaRPr/>
          </a:p>
        </p:txBody>
      </p:sp>
      <p:sp>
        <p:nvSpPr>
          <p:cNvPr id="5" name="Footer Placeholder 4">
            <a:extLst>
              <a:ext uri="{FF2B5EF4-FFF2-40B4-BE49-F238E27FC236}">
                <a16:creationId xmlns:a16="http://schemas.microsoft.com/office/drawing/2014/main" id="{CFAF25C4-EDBA-46CE-2122-601A168AC5EF}"/>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3ADC1FEE-A303-EFA7-34AF-5BBD8044B84F}"/>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53EBF548-04AD-4045-9EA8-427941524C2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6FFB-172A-F754-7ED4-3A02D0FA0E03}"/>
              </a:ext>
            </a:extLst>
          </p:cNvPr>
          <p:cNvSpPr>
            <a:spLocks noGrp="1"/>
          </p:cNvSpPr>
          <p:nvPr>
            <p:ph type="ctrTitle"/>
          </p:nvPr>
        </p:nvSpPr>
        <p:spPr/>
        <p:txBody>
          <a:bodyPr anchor="b">
            <a:noAutofit/>
          </a:bodyPr>
          <a:lstStyle/>
          <a:p>
            <a:pPr algn="ctr">
              <a:buNone/>
              <a:defRPr sz="5100">
                <a:solidFill>
                  <a:srgbClr val="111111"/>
                </a:solidFill>
                <a:latin typeface="Aptos Display"/>
                <a:ea typeface="Aptos Display"/>
                <a:cs typeface="Aptos Display"/>
              </a:defRPr>
            </a:pPr>
            <a:r>
              <a:rPr sz="5100">
                <a:solidFill>
                  <a:srgbClr val="111111"/>
                </a:solidFill>
                <a:latin typeface="Aptos Display"/>
                <a:ea typeface="Aptos Display"/>
                <a:cs typeface="Aptos Display"/>
              </a:rPr>
              <a:t>Rotating Wi-Fi Antennas</a:t>
            </a:r>
          </a:p>
          <a:p>
            <a:pPr algn="ctr">
              <a:buNone/>
              <a:defRPr sz="5100">
                <a:solidFill>
                  <a:srgbClr val="111111"/>
                </a:solidFill>
                <a:latin typeface="Aptos Display"/>
                <a:ea typeface="Aptos Display"/>
                <a:cs typeface="Aptos Display"/>
              </a:defRPr>
            </a:pPr>
            <a:r>
              <a:rPr sz="5100">
                <a:solidFill>
                  <a:srgbClr val="111111"/>
                </a:solidFill>
                <a:latin typeface="Aptos Display"/>
                <a:ea typeface="Aptos Display"/>
                <a:cs typeface="Aptos Display"/>
              </a:rPr>
              <a:t>Estimation and Adaptive</a:t>
            </a:r>
          </a:p>
          <a:p>
            <a:pPr algn="ctr">
              <a:buNone/>
              <a:defRPr sz="5100">
                <a:solidFill>
                  <a:srgbClr val="111111"/>
                </a:solidFill>
                <a:latin typeface="Aptos Display"/>
                <a:ea typeface="Aptos Display"/>
                <a:cs typeface="Aptos Display"/>
              </a:defRPr>
            </a:pPr>
            <a:r>
              <a:rPr sz="5100">
                <a:solidFill>
                  <a:srgbClr val="111111"/>
                </a:solidFill>
                <a:latin typeface="Aptos Display"/>
                <a:ea typeface="Aptos Display"/>
                <a:cs typeface="Aptos Display"/>
              </a:rPr>
              <a:t>Orientation Optimization</a:t>
            </a:r>
          </a:p>
        </p:txBody>
      </p:sp>
      <p:sp>
        <p:nvSpPr>
          <p:cNvPr id="3" name="Subtitle 2">
            <a:extLst>
              <a:ext uri="{FF2B5EF4-FFF2-40B4-BE49-F238E27FC236}">
                <a16:creationId xmlns:a16="http://schemas.microsoft.com/office/drawing/2014/main" id="{A2407B7A-B4FB-88CF-9500-585C399D82F2}"/>
              </a:ext>
            </a:extLst>
          </p:cNvPr>
          <p:cNvSpPr>
            <a:spLocks noGrp="1"/>
          </p:cNvSpPr>
          <p:nvPr>
            <p:ph type="subTitle" idx="1"/>
          </p:nvPr>
        </p:nvSpPr>
        <p:spPr/>
        <p:txBody>
          <a:bodyPr>
            <a:noAutofit/>
          </a:bodyPr>
          <a:lstStyle/>
          <a:p>
            <a:pPr algn="ctr">
              <a:buNone/>
              <a:defRPr sz="2400">
                <a:latin typeface="Aptos"/>
                <a:ea typeface="Aptos"/>
                <a:cs typeface="Aptos"/>
              </a:defRPr>
            </a:pPr>
            <a:r>
              <a:rPr sz="2400">
                <a:latin typeface="Aptos"/>
                <a:ea typeface="Aptos"/>
                <a:cs typeface="Aptos"/>
              </a:rPr>
              <a:t>Signal models, algorithms, and deployment scenarios</a:t>
            </a:r>
            <a:endParaRPr/>
          </a:p>
        </p:txBody>
      </p:sp>
    </p:spTree>
    <p:extLst>
      <p:ext uri="{BB962C8B-B14F-4D97-AF65-F5344CB8AC3E}">
        <p14:creationId xmlns:p14="http://schemas.microsoft.com/office/powerpoint/2010/main" val="677804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EE78-3534-532D-0E37-CC726EAFCD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44F69-62D2-DA2F-DB2B-E3F7E6B3AF38}"/>
              </a:ext>
            </a:extLst>
          </p:cNvPr>
          <p:cNvSpPr>
            <a:spLocks noGrp="1"/>
          </p:cNvSpPr>
          <p:nvPr>
            <p:ph type="ctrTitle"/>
          </p:nvPr>
        </p:nvSpPr>
        <p:spPr>
          <a:xfrm>
            <a:off x="593387" y="927371"/>
            <a:ext cx="11005225" cy="3917005"/>
          </a:xfrm>
        </p:spPr>
        <p:txBody>
          <a:bodyPr anchor="b">
            <a:noAutofit/>
          </a:bodyPr>
          <a:lstStyle/>
          <a:p>
            <a:pPr algn="ctr">
              <a:buNone/>
              <a:defRPr sz="5100">
                <a:solidFill>
                  <a:srgbClr val="111111"/>
                </a:solidFill>
                <a:latin typeface="Aptos Display"/>
                <a:ea typeface="Aptos Display"/>
                <a:cs typeface="Aptos Display"/>
              </a:defRPr>
            </a:pPr>
            <a:r>
              <a:rPr sz="4000" dirty="0">
                <a:solidFill>
                  <a:srgbClr val="111111"/>
                </a:solidFill>
                <a:latin typeface="Aptos Display"/>
                <a:ea typeface="Aptos Display"/>
                <a:cs typeface="Aptos Display"/>
              </a:rPr>
              <a:t>Rotat</a:t>
            </a:r>
            <a:r>
              <a:rPr lang="en-US" sz="4000" dirty="0">
                <a:solidFill>
                  <a:srgbClr val="111111"/>
                </a:solidFill>
                <a:latin typeface="Aptos Display"/>
                <a:ea typeface="Aptos Display"/>
                <a:cs typeface="Aptos Display"/>
              </a:rPr>
              <a:t>ion Platform</a:t>
            </a:r>
            <a:br>
              <a:rPr lang="en-US" sz="4000" dirty="0">
                <a:solidFill>
                  <a:srgbClr val="111111"/>
                </a:solidFill>
                <a:latin typeface="Aptos Display"/>
                <a:ea typeface="Aptos Display"/>
                <a:cs typeface="Aptos Display"/>
              </a:rPr>
            </a:br>
            <a:r>
              <a:rPr lang="en-US" sz="4000" dirty="0">
                <a:solidFill>
                  <a:srgbClr val="111111"/>
                </a:solidFill>
                <a:latin typeface="Aptos Display"/>
                <a:ea typeface="Aptos Display"/>
                <a:cs typeface="Aptos Display"/>
              </a:rPr>
              <a:t>Follow the strongest path.</a:t>
            </a:r>
            <a:br>
              <a:rPr lang="en-US" sz="4000" dirty="0">
                <a:solidFill>
                  <a:srgbClr val="111111"/>
                </a:solidFill>
                <a:latin typeface="Aptos Display"/>
                <a:ea typeface="Aptos Display"/>
                <a:cs typeface="Aptos Display"/>
              </a:rPr>
            </a:br>
            <a:br>
              <a:rPr lang="en-US" sz="4000" dirty="0">
                <a:solidFill>
                  <a:srgbClr val="111111"/>
                </a:solidFill>
                <a:latin typeface="Aptos Display"/>
                <a:ea typeface="Aptos Display"/>
                <a:cs typeface="Aptos Display"/>
              </a:rPr>
            </a:br>
            <a:r>
              <a:rPr lang="en-US" sz="4000" dirty="0" err="1">
                <a:solidFill>
                  <a:srgbClr val="111111"/>
                </a:solidFill>
                <a:latin typeface="Aptos Display"/>
                <a:ea typeface="Aptos Display"/>
                <a:cs typeface="Aptos Display"/>
              </a:rPr>
              <a:t>Poparization</a:t>
            </a:r>
            <a:r>
              <a:rPr lang="en-US" sz="4000" dirty="0">
                <a:solidFill>
                  <a:srgbClr val="111111"/>
                </a:solidFill>
                <a:latin typeface="Aptos Display"/>
                <a:ea typeface="Aptos Display"/>
                <a:cs typeface="Aptos Display"/>
              </a:rPr>
              <a:t> optimization (follow the client ),cross polarization ratio </a:t>
            </a:r>
            <a:r>
              <a:rPr lang="en-US" sz="4000" dirty="0" err="1">
                <a:solidFill>
                  <a:srgbClr val="111111"/>
                </a:solidFill>
                <a:latin typeface="Aptos Display"/>
                <a:ea typeface="Aptos Display"/>
                <a:cs typeface="Aptos Display"/>
              </a:rPr>
              <a:t>missmatch</a:t>
            </a:r>
            <a:br>
              <a:rPr lang="en-US" sz="5100" dirty="0">
                <a:solidFill>
                  <a:srgbClr val="111111"/>
                </a:solidFill>
                <a:latin typeface="Aptos Display"/>
                <a:ea typeface="Aptos Display"/>
                <a:cs typeface="Aptos Display"/>
              </a:rPr>
            </a:br>
            <a:endParaRPr sz="5100" dirty="0">
              <a:solidFill>
                <a:srgbClr val="111111"/>
              </a:solidFill>
              <a:latin typeface="Aptos Display"/>
              <a:ea typeface="Aptos Display"/>
              <a:cs typeface="Aptos Display"/>
            </a:endParaRPr>
          </a:p>
        </p:txBody>
      </p:sp>
    </p:spTree>
    <p:extLst>
      <p:ext uri="{BB962C8B-B14F-4D97-AF65-F5344CB8AC3E}">
        <p14:creationId xmlns:p14="http://schemas.microsoft.com/office/powerpoint/2010/main" val="177935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System overview</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1">
            <a:extLst>
              <a:ext uri="{FF2B5EF4-FFF2-40B4-BE49-F238E27FC236}">
                <a16:creationId xmlns:a16="http://schemas.microsoft.com/office/drawing/2014/main" id="{05788918-B1E3-4742-9D38-9F735F799CFF}"/>
              </a:ext>
            </a:extLst>
          </p:cNvPr>
          <p:cNvSpPr>
            <a:spLocks noGrp="1"/>
          </p:cNvSpPr>
          <p:nvPr/>
        </p:nvSpPr>
        <p:spPr>
          <a:xfrm>
            <a:off x="2476500" y="3638550"/>
            <a:ext cx="1543050" cy="617220"/>
          </a:xfrm>
          <a:prstGeom prst="roundRect">
            <a:avLst>
              <a:gd name="adj" fmla="val 12346"/>
            </a:avLst>
          </a:prstGeom>
          <a:solidFill>
            <a:srgbClr val="FFFFFF"/>
          </a:solidFill>
          <a:ln w="19050">
            <a:solidFill>
              <a:srgbClr val="111111"/>
            </a:solidFill>
          </a:ln>
        </p:spPr>
        <p:txBody>
          <a:bodyPr/>
          <a:lstStyle/>
          <a:p>
            <a:endParaRPr lang="en-US"/>
          </a:p>
        </p:txBody>
      </p:sp>
      <p:sp>
        <p:nvSpPr>
          <p:cNvPr id="5" name="line-2">
            <a:extLst>
              <a:ext uri="{FF2B5EF4-FFF2-40B4-BE49-F238E27FC236}">
                <a16:creationId xmlns:a16="http://schemas.microsoft.com/office/drawing/2014/main" id="{9CE044C8-13A7-42AE-9B17-A1A841567090}"/>
              </a:ext>
            </a:extLst>
          </p:cNvPr>
          <p:cNvSpPr>
            <a:spLocks noGrp="1"/>
          </p:cNvSpPr>
          <p:nvPr/>
        </p:nvSpPr>
        <p:spPr>
          <a:xfrm>
            <a:off x="2759393" y="2892743"/>
            <a:ext cx="9525" cy="745808"/>
          </a:xfrm>
          <a:custGeom>
            <a:avLst/>
            <a:gdLst/>
            <a:ahLst/>
            <a:cxnLst/>
            <a:rect l="0" t="0" r="0" b="0"/>
            <a:pathLst>
              <a:path w="9525" h="745808">
                <a:moveTo>
                  <a:pt x="0" y="745808"/>
                </a:moveTo>
                <a:lnTo>
                  <a:pt x="0" y="0"/>
                </a:lnTo>
              </a:path>
            </a:pathLst>
          </a:custGeom>
          <a:noFill/>
          <a:ln w="64294">
            <a:solidFill>
              <a:srgbClr val="111111"/>
            </a:solidFill>
          </a:ln>
        </p:spPr>
        <p:txBody>
          <a:bodyPr/>
          <a:lstStyle/>
          <a:p>
            <a:endParaRPr lang="en-US"/>
          </a:p>
        </p:txBody>
      </p:sp>
      <p:sp>
        <p:nvSpPr>
          <p:cNvPr id="6" name="line-3">
            <a:extLst>
              <a:ext uri="{FF2B5EF4-FFF2-40B4-BE49-F238E27FC236}">
                <a16:creationId xmlns:a16="http://schemas.microsoft.com/office/drawing/2014/main" id="{56820DC4-3D6F-4639-A509-11A87B68F578}"/>
              </a:ext>
            </a:extLst>
          </p:cNvPr>
          <p:cNvSpPr>
            <a:spLocks noGrp="1"/>
          </p:cNvSpPr>
          <p:nvPr/>
        </p:nvSpPr>
        <p:spPr>
          <a:xfrm>
            <a:off x="3659505" y="2867025"/>
            <a:ext cx="334328" cy="771525"/>
          </a:xfrm>
          <a:custGeom>
            <a:avLst/>
            <a:gdLst/>
            <a:ahLst/>
            <a:cxnLst/>
            <a:rect l="0" t="0" r="0" b="0"/>
            <a:pathLst>
              <a:path w="334328" h="771525">
                <a:moveTo>
                  <a:pt x="0" y="771525"/>
                </a:moveTo>
                <a:lnTo>
                  <a:pt x="334328" y="0"/>
                </a:lnTo>
              </a:path>
            </a:pathLst>
          </a:custGeom>
          <a:noFill/>
          <a:ln w="64294">
            <a:solidFill>
              <a:srgbClr val="C76520"/>
            </a:solidFill>
          </a:ln>
        </p:spPr>
        <p:txBody>
          <a:bodyPr/>
          <a:lstStyle/>
          <a:p>
            <a:endParaRPr lang="en-US"/>
          </a:p>
        </p:txBody>
      </p:sp>
      <p:sp>
        <p:nvSpPr>
          <p:cNvPr id="7" name="diagram-4">
            <a:extLst>
              <a:ext uri="{FF2B5EF4-FFF2-40B4-BE49-F238E27FC236}">
                <a16:creationId xmlns:a16="http://schemas.microsoft.com/office/drawing/2014/main" id="{FC542BFF-A8F7-4285-ABF8-665F62C4459B}"/>
              </a:ext>
            </a:extLst>
          </p:cNvPr>
          <p:cNvSpPr>
            <a:spLocks noGrp="1"/>
          </p:cNvSpPr>
          <p:nvPr/>
        </p:nvSpPr>
        <p:spPr>
          <a:xfrm>
            <a:off x="2733675" y="3985736"/>
            <a:ext cx="64294" cy="64294"/>
          </a:xfrm>
          <a:prstGeom prst="ellipse">
            <a:avLst/>
          </a:prstGeom>
          <a:solidFill>
            <a:srgbClr val="287653"/>
          </a:solidFill>
          <a:ln w="19050">
            <a:noFill/>
          </a:ln>
        </p:spPr>
        <p:txBody>
          <a:bodyPr/>
          <a:lstStyle/>
          <a:p>
            <a:endParaRPr lang="en-US"/>
          </a:p>
        </p:txBody>
      </p:sp>
      <p:sp>
        <p:nvSpPr>
          <p:cNvPr id="8" name="diagram-5">
            <a:extLst>
              <a:ext uri="{FF2B5EF4-FFF2-40B4-BE49-F238E27FC236}">
                <a16:creationId xmlns:a16="http://schemas.microsoft.com/office/drawing/2014/main" id="{32CEBFD9-60D2-43D3-8EEC-5941E612A640}"/>
              </a:ext>
            </a:extLst>
          </p:cNvPr>
          <p:cNvSpPr>
            <a:spLocks noGrp="1"/>
          </p:cNvSpPr>
          <p:nvPr/>
        </p:nvSpPr>
        <p:spPr>
          <a:xfrm>
            <a:off x="2939415" y="3985736"/>
            <a:ext cx="64294" cy="64294"/>
          </a:xfrm>
          <a:prstGeom prst="ellipse">
            <a:avLst/>
          </a:prstGeom>
          <a:solidFill>
            <a:srgbClr val="C9CDD0"/>
          </a:solidFill>
          <a:ln w="19050">
            <a:noFill/>
          </a:ln>
        </p:spPr>
        <p:txBody>
          <a:bodyPr/>
          <a:lstStyle/>
          <a:p>
            <a:endParaRPr lang="en-US"/>
          </a:p>
        </p:txBody>
      </p:sp>
      <p:sp>
        <p:nvSpPr>
          <p:cNvPr id="9" name="diagram-6">
            <a:extLst>
              <a:ext uri="{FF2B5EF4-FFF2-40B4-BE49-F238E27FC236}">
                <a16:creationId xmlns:a16="http://schemas.microsoft.com/office/drawing/2014/main" id="{CE64598E-5B71-48B7-81AE-CD38EAC7DFC2}"/>
              </a:ext>
            </a:extLst>
          </p:cNvPr>
          <p:cNvSpPr>
            <a:spLocks noGrp="1"/>
          </p:cNvSpPr>
          <p:nvPr/>
        </p:nvSpPr>
        <p:spPr>
          <a:xfrm>
            <a:off x="3145155" y="3985736"/>
            <a:ext cx="64294" cy="64294"/>
          </a:xfrm>
          <a:prstGeom prst="ellipse">
            <a:avLst/>
          </a:prstGeom>
          <a:solidFill>
            <a:srgbClr val="C9CDD0"/>
          </a:solidFill>
          <a:ln w="19050">
            <a:noFill/>
          </a:ln>
        </p:spPr>
        <p:txBody>
          <a:bodyPr/>
          <a:lstStyle/>
          <a:p>
            <a:endParaRPr lang="en-US"/>
          </a:p>
        </p:txBody>
      </p:sp>
      <p:sp>
        <p:nvSpPr>
          <p:cNvPr id="10" name="diagram-7">
            <a:extLst>
              <a:ext uri="{FF2B5EF4-FFF2-40B4-BE49-F238E27FC236}">
                <a16:creationId xmlns:a16="http://schemas.microsoft.com/office/drawing/2014/main" id="{0CE9160B-BBE7-4550-B5A7-6FF96C1C92DA}"/>
              </a:ext>
            </a:extLst>
          </p:cNvPr>
          <p:cNvSpPr>
            <a:spLocks noGrp="1"/>
          </p:cNvSpPr>
          <p:nvPr/>
        </p:nvSpPr>
        <p:spPr>
          <a:xfrm>
            <a:off x="2095500" y="4358640"/>
            <a:ext cx="230505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AP + rotating antenna</a:t>
            </a:r>
          </a:p>
        </p:txBody>
      </p:sp>
      <p:sp>
        <p:nvSpPr>
          <p:cNvPr id="11" name="diagram-8">
            <a:extLst>
              <a:ext uri="{FF2B5EF4-FFF2-40B4-BE49-F238E27FC236}">
                <a16:creationId xmlns:a16="http://schemas.microsoft.com/office/drawing/2014/main" id="{89EA0343-893E-4FA0-9153-12031CE76CB8}"/>
              </a:ext>
            </a:extLst>
          </p:cNvPr>
          <p:cNvSpPr>
            <a:spLocks noGrp="1"/>
          </p:cNvSpPr>
          <p:nvPr/>
        </p:nvSpPr>
        <p:spPr>
          <a:xfrm>
            <a:off x="933450" y="1952625"/>
            <a:ext cx="857250" cy="552450"/>
          </a:xfrm>
          <a:prstGeom prst="rect">
            <a:avLst/>
          </a:prstGeom>
          <a:solidFill>
            <a:srgbClr val="FFFFFF"/>
          </a:solidFill>
          <a:ln w="19050">
            <a:solidFill>
              <a:srgbClr val="111111"/>
            </a:solidFill>
          </a:ln>
        </p:spPr>
        <p:txBody>
          <a:bodyPr/>
          <a:lstStyle/>
          <a:p>
            <a:endParaRPr lang="en-US"/>
          </a:p>
        </p:txBody>
      </p:sp>
      <p:sp>
        <p:nvSpPr>
          <p:cNvPr id="12" name="diagram-9">
            <a:extLst>
              <a:ext uri="{FF2B5EF4-FFF2-40B4-BE49-F238E27FC236}">
                <a16:creationId xmlns:a16="http://schemas.microsoft.com/office/drawing/2014/main" id="{F83351EA-136B-41D7-8F47-BED8235F048F}"/>
              </a:ext>
            </a:extLst>
          </p:cNvPr>
          <p:cNvSpPr>
            <a:spLocks noGrp="1"/>
          </p:cNvSpPr>
          <p:nvPr/>
        </p:nvSpPr>
        <p:spPr>
          <a:xfrm>
            <a:off x="981075" y="2000250"/>
            <a:ext cx="762000" cy="457200"/>
          </a:xfrm>
          <a:prstGeom prst="rect">
            <a:avLst/>
          </a:prstGeom>
          <a:solidFill>
            <a:srgbClr val="F1F4F5"/>
          </a:solidFill>
          <a:ln w="19050">
            <a:noFill/>
          </a:ln>
        </p:spPr>
        <p:txBody>
          <a:bodyPr/>
          <a:lstStyle/>
          <a:p>
            <a:endParaRPr lang="en-US"/>
          </a:p>
        </p:txBody>
      </p:sp>
      <p:sp>
        <p:nvSpPr>
          <p:cNvPr id="13" name="line-10">
            <a:extLst>
              <a:ext uri="{FF2B5EF4-FFF2-40B4-BE49-F238E27FC236}">
                <a16:creationId xmlns:a16="http://schemas.microsoft.com/office/drawing/2014/main" id="{F6A65583-8C57-4A00-9D6E-8A58267B0C25}"/>
              </a:ext>
            </a:extLst>
          </p:cNvPr>
          <p:cNvSpPr>
            <a:spLocks noGrp="1"/>
          </p:cNvSpPr>
          <p:nvPr/>
        </p:nvSpPr>
        <p:spPr>
          <a:xfrm>
            <a:off x="838200" y="2571750"/>
            <a:ext cx="1047750" cy="9525"/>
          </a:xfrm>
          <a:custGeom>
            <a:avLst/>
            <a:gdLst/>
            <a:ahLst/>
            <a:cxnLst/>
            <a:rect l="0" t="0" r="0" b="0"/>
            <a:pathLst>
              <a:path w="1047750" h="9525">
                <a:moveTo>
                  <a:pt x="0" y="0"/>
                </a:moveTo>
                <a:lnTo>
                  <a:pt x="1047750" y="0"/>
                </a:lnTo>
              </a:path>
            </a:pathLst>
          </a:custGeom>
          <a:noFill/>
          <a:ln w="38100">
            <a:solidFill>
              <a:srgbClr val="111111"/>
            </a:solidFill>
          </a:ln>
        </p:spPr>
        <p:txBody>
          <a:bodyPr/>
          <a:lstStyle/>
          <a:p>
            <a:endParaRPr lang="en-US"/>
          </a:p>
        </p:txBody>
      </p:sp>
      <p:sp>
        <p:nvSpPr>
          <p:cNvPr id="14" name="diagram-11">
            <a:extLst>
              <a:ext uri="{FF2B5EF4-FFF2-40B4-BE49-F238E27FC236}">
                <a16:creationId xmlns:a16="http://schemas.microsoft.com/office/drawing/2014/main" id="{8C9B0B57-F993-425A-91C9-BB98187BBF29}"/>
              </a:ext>
            </a:extLst>
          </p:cNvPr>
          <p:cNvSpPr>
            <a:spLocks noGrp="1"/>
          </p:cNvSpPr>
          <p:nvPr/>
        </p:nvSpPr>
        <p:spPr>
          <a:xfrm>
            <a:off x="266700" y="2714625"/>
            <a:ext cx="219075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Laptop</a:t>
            </a:r>
          </a:p>
        </p:txBody>
      </p:sp>
      <p:sp>
        <p:nvSpPr>
          <p:cNvPr id="15" name="diagram-12">
            <a:extLst>
              <a:ext uri="{FF2B5EF4-FFF2-40B4-BE49-F238E27FC236}">
                <a16:creationId xmlns:a16="http://schemas.microsoft.com/office/drawing/2014/main" id="{A32999D7-36FE-4877-ACB4-2227AC91A215}"/>
              </a:ext>
            </a:extLst>
          </p:cNvPr>
          <p:cNvSpPr>
            <a:spLocks noGrp="1"/>
          </p:cNvSpPr>
          <p:nvPr/>
        </p:nvSpPr>
        <p:spPr>
          <a:xfrm>
            <a:off x="5286375" y="2152650"/>
            <a:ext cx="361950" cy="666750"/>
          </a:xfrm>
          <a:prstGeom prst="roundRect">
            <a:avLst>
              <a:gd name="adj" fmla="val 21053"/>
            </a:avLst>
          </a:prstGeom>
          <a:solidFill>
            <a:srgbClr val="FFFFFF"/>
          </a:solidFill>
          <a:ln w="19050">
            <a:solidFill>
              <a:srgbClr val="111111"/>
            </a:solidFill>
          </a:ln>
        </p:spPr>
        <p:txBody>
          <a:bodyPr/>
          <a:lstStyle/>
          <a:p>
            <a:endParaRPr lang="en-US"/>
          </a:p>
        </p:txBody>
      </p:sp>
      <p:sp>
        <p:nvSpPr>
          <p:cNvPr id="16" name="diagram-13">
            <a:extLst>
              <a:ext uri="{FF2B5EF4-FFF2-40B4-BE49-F238E27FC236}">
                <a16:creationId xmlns:a16="http://schemas.microsoft.com/office/drawing/2014/main" id="{084AB6A1-008D-48FB-9EBC-626E531C12B7}"/>
              </a:ext>
            </a:extLst>
          </p:cNvPr>
          <p:cNvSpPr>
            <a:spLocks noGrp="1"/>
          </p:cNvSpPr>
          <p:nvPr/>
        </p:nvSpPr>
        <p:spPr>
          <a:xfrm>
            <a:off x="5334000" y="2238375"/>
            <a:ext cx="266700" cy="476250"/>
          </a:xfrm>
          <a:prstGeom prst="rect">
            <a:avLst/>
          </a:prstGeom>
          <a:solidFill>
            <a:srgbClr val="F1F4F5"/>
          </a:solidFill>
          <a:ln w="9525">
            <a:solidFill>
              <a:srgbClr val="C9CDD0"/>
            </a:solidFill>
          </a:ln>
        </p:spPr>
        <p:txBody>
          <a:bodyPr/>
          <a:lstStyle/>
          <a:p>
            <a:endParaRPr lang="en-US"/>
          </a:p>
        </p:txBody>
      </p:sp>
      <p:sp>
        <p:nvSpPr>
          <p:cNvPr id="17" name="diagram-14">
            <a:extLst>
              <a:ext uri="{FF2B5EF4-FFF2-40B4-BE49-F238E27FC236}">
                <a16:creationId xmlns:a16="http://schemas.microsoft.com/office/drawing/2014/main" id="{24C9DBFA-EEFA-472C-ACB1-0089D569B164}"/>
              </a:ext>
            </a:extLst>
          </p:cNvPr>
          <p:cNvSpPr>
            <a:spLocks noGrp="1"/>
          </p:cNvSpPr>
          <p:nvPr/>
        </p:nvSpPr>
        <p:spPr>
          <a:xfrm>
            <a:off x="5438775" y="2733675"/>
            <a:ext cx="47625" cy="47625"/>
          </a:xfrm>
          <a:prstGeom prst="ellipse">
            <a:avLst/>
          </a:prstGeom>
          <a:solidFill>
            <a:srgbClr val="C9CDD0"/>
          </a:solidFill>
          <a:ln w="19050">
            <a:noFill/>
          </a:ln>
        </p:spPr>
        <p:txBody>
          <a:bodyPr/>
          <a:lstStyle/>
          <a:p>
            <a:endParaRPr lang="en-US"/>
          </a:p>
        </p:txBody>
      </p:sp>
      <p:sp>
        <p:nvSpPr>
          <p:cNvPr id="18" name="diagram-15">
            <a:extLst>
              <a:ext uri="{FF2B5EF4-FFF2-40B4-BE49-F238E27FC236}">
                <a16:creationId xmlns:a16="http://schemas.microsoft.com/office/drawing/2014/main" id="{F659B2E1-49FA-4783-BC12-B8071236486F}"/>
              </a:ext>
            </a:extLst>
          </p:cNvPr>
          <p:cNvSpPr>
            <a:spLocks noGrp="1"/>
          </p:cNvSpPr>
          <p:nvPr/>
        </p:nvSpPr>
        <p:spPr>
          <a:xfrm>
            <a:off x="4619625" y="3028950"/>
            <a:ext cx="169545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Phone</a:t>
            </a:r>
          </a:p>
        </p:txBody>
      </p:sp>
      <p:sp>
        <p:nvSpPr>
          <p:cNvPr id="19" name="diagram-16">
            <a:extLst>
              <a:ext uri="{FF2B5EF4-FFF2-40B4-BE49-F238E27FC236}">
                <a16:creationId xmlns:a16="http://schemas.microsoft.com/office/drawing/2014/main" id="{CDD2C061-FE3D-4155-900A-85FC585B57B3}"/>
              </a:ext>
            </a:extLst>
          </p:cNvPr>
          <p:cNvSpPr>
            <a:spLocks noGrp="1"/>
          </p:cNvSpPr>
          <p:nvPr/>
        </p:nvSpPr>
        <p:spPr>
          <a:xfrm>
            <a:off x="7429500" y="3505200"/>
            <a:ext cx="857250" cy="552450"/>
          </a:xfrm>
          <a:prstGeom prst="rect">
            <a:avLst/>
          </a:prstGeom>
          <a:solidFill>
            <a:srgbClr val="FFFFFF"/>
          </a:solidFill>
          <a:ln w="19050">
            <a:solidFill>
              <a:srgbClr val="111111"/>
            </a:solidFill>
          </a:ln>
        </p:spPr>
        <p:txBody>
          <a:bodyPr/>
          <a:lstStyle/>
          <a:p>
            <a:endParaRPr lang="en-US"/>
          </a:p>
        </p:txBody>
      </p:sp>
      <p:sp>
        <p:nvSpPr>
          <p:cNvPr id="20" name="diagram-17">
            <a:extLst>
              <a:ext uri="{FF2B5EF4-FFF2-40B4-BE49-F238E27FC236}">
                <a16:creationId xmlns:a16="http://schemas.microsoft.com/office/drawing/2014/main" id="{4D838FDB-ECE6-40DB-B302-4C60C7D09B8B}"/>
              </a:ext>
            </a:extLst>
          </p:cNvPr>
          <p:cNvSpPr>
            <a:spLocks noGrp="1"/>
          </p:cNvSpPr>
          <p:nvPr/>
        </p:nvSpPr>
        <p:spPr>
          <a:xfrm>
            <a:off x="7477125" y="3552825"/>
            <a:ext cx="762000" cy="457200"/>
          </a:xfrm>
          <a:prstGeom prst="rect">
            <a:avLst/>
          </a:prstGeom>
          <a:solidFill>
            <a:srgbClr val="F1F4F5"/>
          </a:solidFill>
          <a:ln w="19050">
            <a:noFill/>
          </a:ln>
        </p:spPr>
        <p:txBody>
          <a:bodyPr/>
          <a:lstStyle/>
          <a:p>
            <a:endParaRPr lang="en-US"/>
          </a:p>
        </p:txBody>
      </p:sp>
      <p:sp>
        <p:nvSpPr>
          <p:cNvPr id="21" name="line-18">
            <a:extLst>
              <a:ext uri="{FF2B5EF4-FFF2-40B4-BE49-F238E27FC236}">
                <a16:creationId xmlns:a16="http://schemas.microsoft.com/office/drawing/2014/main" id="{6409F479-947F-4E4F-80BD-E37641B6D224}"/>
              </a:ext>
            </a:extLst>
          </p:cNvPr>
          <p:cNvSpPr>
            <a:spLocks noGrp="1"/>
          </p:cNvSpPr>
          <p:nvPr/>
        </p:nvSpPr>
        <p:spPr>
          <a:xfrm>
            <a:off x="7858125" y="4057650"/>
            <a:ext cx="9525" cy="123825"/>
          </a:xfrm>
          <a:custGeom>
            <a:avLst/>
            <a:gdLst/>
            <a:ahLst/>
            <a:cxnLst/>
            <a:rect l="0" t="0" r="0" b="0"/>
            <a:pathLst>
              <a:path w="9525" h="123825">
                <a:moveTo>
                  <a:pt x="0" y="0"/>
                </a:moveTo>
                <a:lnTo>
                  <a:pt x="0" y="123825"/>
                </a:lnTo>
              </a:path>
            </a:pathLst>
          </a:custGeom>
          <a:noFill/>
          <a:ln w="19050">
            <a:solidFill>
              <a:srgbClr val="111111"/>
            </a:solidFill>
          </a:ln>
        </p:spPr>
        <p:txBody>
          <a:bodyPr/>
          <a:lstStyle/>
          <a:p>
            <a:endParaRPr lang="en-US"/>
          </a:p>
        </p:txBody>
      </p:sp>
      <p:sp>
        <p:nvSpPr>
          <p:cNvPr id="22" name="line-19">
            <a:extLst>
              <a:ext uri="{FF2B5EF4-FFF2-40B4-BE49-F238E27FC236}">
                <a16:creationId xmlns:a16="http://schemas.microsoft.com/office/drawing/2014/main" id="{7C4EC44C-F79B-4EBA-A84A-F3BCFC0ED4D8}"/>
              </a:ext>
            </a:extLst>
          </p:cNvPr>
          <p:cNvSpPr>
            <a:spLocks noGrp="1"/>
          </p:cNvSpPr>
          <p:nvPr/>
        </p:nvSpPr>
        <p:spPr>
          <a:xfrm>
            <a:off x="7620000" y="4181475"/>
            <a:ext cx="476250" cy="9525"/>
          </a:xfrm>
          <a:custGeom>
            <a:avLst/>
            <a:gdLst/>
            <a:ahLst/>
            <a:cxnLst/>
            <a:rect l="0" t="0" r="0" b="0"/>
            <a:pathLst>
              <a:path w="476250" h="9525">
                <a:moveTo>
                  <a:pt x="0" y="0"/>
                </a:moveTo>
                <a:lnTo>
                  <a:pt x="476250" y="0"/>
                </a:lnTo>
              </a:path>
            </a:pathLst>
          </a:custGeom>
          <a:noFill/>
          <a:ln w="28575">
            <a:solidFill>
              <a:srgbClr val="111111"/>
            </a:solidFill>
          </a:ln>
        </p:spPr>
        <p:txBody>
          <a:bodyPr/>
          <a:lstStyle/>
          <a:p>
            <a:endParaRPr lang="en-US"/>
          </a:p>
        </p:txBody>
      </p:sp>
      <p:sp>
        <p:nvSpPr>
          <p:cNvPr id="23" name="diagram-20">
            <a:extLst>
              <a:ext uri="{FF2B5EF4-FFF2-40B4-BE49-F238E27FC236}">
                <a16:creationId xmlns:a16="http://schemas.microsoft.com/office/drawing/2014/main" id="{8921CB26-A22B-4037-9CFD-ABF86C79CB31}"/>
              </a:ext>
            </a:extLst>
          </p:cNvPr>
          <p:cNvSpPr>
            <a:spLocks noGrp="1"/>
          </p:cNvSpPr>
          <p:nvPr/>
        </p:nvSpPr>
        <p:spPr>
          <a:xfrm>
            <a:off x="6762750" y="4267200"/>
            <a:ext cx="219075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TV</a:t>
            </a:r>
          </a:p>
        </p:txBody>
      </p:sp>
      <p:sp>
        <p:nvSpPr>
          <p:cNvPr id="24" name="diagram-21">
            <a:extLst>
              <a:ext uri="{FF2B5EF4-FFF2-40B4-BE49-F238E27FC236}">
                <a16:creationId xmlns:a16="http://schemas.microsoft.com/office/drawing/2014/main" id="{7C4A46C3-11F6-40C0-843A-139354184E74}"/>
              </a:ext>
            </a:extLst>
          </p:cNvPr>
          <p:cNvSpPr>
            <a:spLocks noGrp="1"/>
          </p:cNvSpPr>
          <p:nvPr/>
        </p:nvSpPr>
        <p:spPr>
          <a:xfrm>
            <a:off x="5124450" y="4810125"/>
            <a:ext cx="6477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25" name="diagram-22">
            <a:extLst>
              <a:ext uri="{FF2B5EF4-FFF2-40B4-BE49-F238E27FC236}">
                <a16:creationId xmlns:a16="http://schemas.microsoft.com/office/drawing/2014/main" id="{9DC458A8-6DD9-40B9-97FE-6F1319693D6B}"/>
              </a:ext>
            </a:extLst>
          </p:cNvPr>
          <p:cNvSpPr>
            <a:spLocks noGrp="1"/>
          </p:cNvSpPr>
          <p:nvPr/>
        </p:nvSpPr>
        <p:spPr>
          <a:xfrm>
            <a:off x="5343525" y="4905375"/>
            <a:ext cx="266700" cy="266700"/>
          </a:xfrm>
          <a:prstGeom prst="ellipse">
            <a:avLst/>
          </a:prstGeom>
          <a:solidFill>
            <a:srgbClr val="F1F4F5"/>
          </a:solidFill>
          <a:ln w="19050">
            <a:solidFill>
              <a:srgbClr val="111111"/>
            </a:solidFill>
          </a:ln>
        </p:spPr>
        <p:txBody>
          <a:bodyPr/>
          <a:lstStyle/>
          <a:p>
            <a:endParaRPr lang="en-US"/>
          </a:p>
        </p:txBody>
      </p:sp>
      <p:sp>
        <p:nvSpPr>
          <p:cNvPr id="26" name="line-23">
            <a:extLst>
              <a:ext uri="{FF2B5EF4-FFF2-40B4-BE49-F238E27FC236}">
                <a16:creationId xmlns:a16="http://schemas.microsoft.com/office/drawing/2014/main" id="{E664489C-C373-4B1A-9FD0-1FFF31DB401E}"/>
              </a:ext>
            </a:extLst>
          </p:cNvPr>
          <p:cNvSpPr>
            <a:spLocks noGrp="1"/>
          </p:cNvSpPr>
          <p:nvPr/>
        </p:nvSpPr>
        <p:spPr>
          <a:xfrm>
            <a:off x="5314950" y="5267325"/>
            <a:ext cx="76200" cy="142875"/>
          </a:xfrm>
          <a:custGeom>
            <a:avLst/>
            <a:gdLst/>
            <a:ahLst/>
            <a:cxnLst/>
            <a:rect l="0" t="0" r="0" b="0"/>
            <a:pathLst>
              <a:path w="76200" h="142875">
                <a:moveTo>
                  <a:pt x="76200" y="0"/>
                </a:moveTo>
                <a:lnTo>
                  <a:pt x="0" y="142875"/>
                </a:lnTo>
              </a:path>
            </a:pathLst>
          </a:custGeom>
          <a:noFill/>
          <a:ln w="19050">
            <a:solidFill>
              <a:srgbClr val="111111"/>
            </a:solidFill>
          </a:ln>
        </p:spPr>
        <p:txBody>
          <a:bodyPr/>
          <a:lstStyle/>
          <a:p>
            <a:endParaRPr lang="en-US"/>
          </a:p>
        </p:txBody>
      </p:sp>
      <p:sp>
        <p:nvSpPr>
          <p:cNvPr id="27" name="line-24">
            <a:extLst>
              <a:ext uri="{FF2B5EF4-FFF2-40B4-BE49-F238E27FC236}">
                <a16:creationId xmlns:a16="http://schemas.microsoft.com/office/drawing/2014/main" id="{A54F884F-0E4B-4316-805B-189A288CD28C}"/>
              </a:ext>
            </a:extLst>
          </p:cNvPr>
          <p:cNvSpPr>
            <a:spLocks noGrp="1"/>
          </p:cNvSpPr>
          <p:nvPr/>
        </p:nvSpPr>
        <p:spPr>
          <a:xfrm>
            <a:off x="5219700" y="5410200"/>
            <a:ext cx="428625" cy="9525"/>
          </a:xfrm>
          <a:custGeom>
            <a:avLst/>
            <a:gdLst/>
            <a:ahLst/>
            <a:cxnLst/>
            <a:rect l="0" t="0" r="0" b="0"/>
            <a:pathLst>
              <a:path w="428625" h="9525">
                <a:moveTo>
                  <a:pt x="0" y="0"/>
                </a:moveTo>
                <a:lnTo>
                  <a:pt x="428625" y="0"/>
                </a:lnTo>
              </a:path>
            </a:pathLst>
          </a:custGeom>
          <a:noFill/>
          <a:ln w="19050">
            <a:solidFill>
              <a:srgbClr val="111111"/>
            </a:solidFill>
          </a:ln>
        </p:spPr>
        <p:txBody>
          <a:bodyPr/>
          <a:lstStyle/>
          <a:p>
            <a:endParaRPr lang="en-US"/>
          </a:p>
        </p:txBody>
      </p:sp>
      <p:sp>
        <p:nvSpPr>
          <p:cNvPr id="28" name="diagram-25">
            <a:extLst>
              <a:ext uri="{FF2B5EF4-FFF2-40B4-BE49-F238E27FC236}">
                <a16:creationId xmlns:a16="http://schemas.microsoft.com/office/drawing/2014/main" id="{81DD0407-7138-4590-8377-886FCA0CBB60}"/>
              </a:ext>
            </a:extLst>
          </p:cNvPr>
          <p:cNvSpPr>
            <a:spLocks noGrp="1"/>
          </p:cNvSpPr>
          <p:nvPr/>
        </p:nvSpPr>
        <p:spPr>
          <a:xfrm>
            <a:off x="4457700" y="5476875"/>
            <a:ext cx="198120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Camera</a:t>
            </a:r>
          </a:p>
        </p:txBody>
      </p:sp>
      <p:sp>
        <p:nvSpPr>
          <p:cNvPr id="29" name="line-26">
            <a:extLst>
              <a:ext uri="{FF2B5EF4-FFF2-40B4-BE49-F238E27FC236}">
                <a16:creationId xmlns:a16="http://schemas.microsoft.com/office/drawing/2014/main" id="{60138C90-5D54-4B45-8519-DF3D50A0D77B}"/>
              </a:ext>
            </a:extLst>
          </p:cNvPr>
          <p:cNvSpPr>
            <a:spLocks noGrp="1"/>
          </p:cNvSpPr>
          <p:nvPr/>
        </p:nvSpPr>
        <p:spPr>
          <a:xfrm>
            <a:off x="1762125" y="2400300"/>
            <a:ext cx="885825" cy="1028700"/>
          </a:xfrm>
          <a:custGeom>
            <a:avLst/>
            <a:gdLst/>
            <a:ahLst/>
            <a:cxnLst/>
            <a:rect l="0" t="0" r="0" b="0"/>
            <a:pathLst>
              <a:path w="885825" h="1028700">
                <a:moveTo>
                  <a:pt x="0" y="0"/>
                </a:moveTo>
                <a:lnTo>
                  <a:pt x="885825" y="1028700"/>
                </a:lnTo>
              </a:path>
            </a:pathLst>
          </a:custGeom>
          <a:noFill/>
          <a:ln w="23813">
            <a:solidFill>
              <a:srgbClr val="17698C"/>
            </a:solidFill>
          </a:ln>
        </p:spPr>
        <p:txBody>
          <a:bodyPr/>
          <a:lstStyle/>
          <a:p>
            <a:endParaRPr lang="en-US"/>
          </a:p>
        </p:txBody>
      </p:sp>
      <p:sp>
        <p:nvSpPr>
          <p:cNvPr id="30" name="line-27">
            <a:extLst>
              <a:ext uri="{FF2B5EF4-FFF2-40B4-BE49-F238E27FC236}">
                <a16:creationId xmlns:a16="http://schemas.microsoft.com/office/drawing/2014/main" id="{8FAFC621-35F7-4FBF-8EBB-FED730B00E74}"/>
              </a:ext>
            </a:extLst>
          </p:cNvPr>
          <p:cNvSpPr>
            <a:spLocks noGrp="1"/>
          </p:cNvSpPr>
          <p:nvPr/>
        </p:nvSpPr>
        <p:spPr>
          <a:xfrm>
            <a:off x="2560590" y="3391042"/>
            <a:ext cx="87360" cy="37958"/>
          </a:xfrm>
          <a:custGeom>
            <a:avLst/>
            <a:gdLst/>
            <a:ahLst/>
            <a:cxnLst/>
            <a:rect l="0" t="0" r="0" b="0"/>
            <a:pathLst>
              <a:path w="87360" h="37958">
                <a:moveTo>
                  <a:pt x="87360" y="37958"/>
                </a:moveTo>
                <a:lnTo>
                  <a:pt x="0" y="0"/>
                </a:lnTo>
              </a:path>
            </a:pathLst>
          </a:custGeom>
          <a:noFill/>
          <a:ln w="23813">
            <a:solidFill>
              <a:srgbClr val="17698C"/>
            </a:solidFill>
          </a:ln>
        </p:spPr>
        <p:txBody>
          <a:bodyPr/>
          <a:lstStyle/>
          <a:p>
            <a:endParaRPr lang="en-US"/>
          </a:p>
        </p:txBody>
      </p:sp>
      <p:sp>
        <p:nvSpPr>
          <p:cNvPr id="31" name="line-28">
            <a:extLst>
              <a:ext uri="{FF2B5EF4-FFF2-40B4-BE49-F238E27FC236}">
                <a16:creationId xmlns:a16="http://schemas.microsoft.com/office/drawing/2014/main" id="{FAEB6481-F85F-449C-9306-25E31F453330}"/>
              </a:ext>
            </a:extLst>
          </p:cNvPr>
          <p:cNvSpPr>
            <a:spLocks noGrp="1"/>
          </p:cNvSpPr>
          <p:nvPr/>
        </p:nvSpPr>
        <p:spPr>
          <a:xfrm>
            <a:off x="2623379" y="3336974"/>
            <a:ext cx="24571" cy="92026"/>
          </a:xfrm>
          <a:custGeom>
            <a:avLst/>
            <a:gdLst/>
            <a:ahLst/>
            <a:cxnLst/>
            <a:rect l="0" t="0" r="0" b="0"/>
            <a:pathLst>
              <a:path w="24571" h="92026">
                <a:moveTo>
                  <a:pt x="24571" y="92026"/>
                </a:moveTo>
                <a:lnTo>
                  <a:pt x="0" y="0"/>
                </a:lnTo>
              </a:path>
            </a:pathLst>
          </a:custGeom>
          <a:noFill/>
          <a:ln w="23813">
            <a:solidFill>
              <a:srgbClr val="17698C"/>
            </a:solidFill>
          </a:ln>
        </p:spPr>
        <p:txBody>
          <a:bodyPr/>
          <a:lstStyle/>
          <a:p>
            <a:endParaRPr lang="en-US"/>
          </a:p>
        </p:txBody>
      </p:sp>
      <p:sp>
        <p:nvSpPr>
          <p:cNvPr id="32" name="line-29">
            <a:extLst>
              <a:ext uri="{FF2B5EF4-FFF2-40B4-BE49-F238E27FC236}">
                <a16:creationId xmlns:a16="http://schemas.microsoft.com/office/drawing/2014/main" id="{B97496E8-8803-4873-8CED-F0631AB2D6B3}"/>
              </a:ext>
            </a:extLst>
          </p:cNvPr>
          <p:cNvSpPr>
            <a:spLocks noGrp="1"/>
          </p:cNvSpPr>
          <p:nvPr/>
        </p:nvSpPr>
        <p:spPr>
          <a:xfrm>
            <a:off x="3895725" y="2705100"/>
            <a:ext cx="1438275" cy="790575"/>
          </a:xfrm>
          <a:custGeom>
            <a:avLst/>
            <a:gdLst/>
            <a:ahLst/>
            <a:cxnLst/>
            <a:rect l="0" t="0" r="0" b="0"/>
            <a:pathLst>
              <a:path w="1438275" h="790575">
                <a:moveTo>
                  <a:pt x="1438275" y="0"/>
                </a:moveTo>
                <a:lnTo>
                  <a:pt x="0" y="790575"/>
                </a:lnTo>
              </a:path>
            </a:pathLst>
          </a:custGeom>
          <a:noFill/>
          <a:ln w="23813">
            <a:solidFill>
              <a:srgbClr val="17698C"/>
            </a:solidFill>
          </a:ln>
        </p:spPr>
        <p:txBody>
          <a:bodyPr/>
          <a:lstStyle/>
          <a:p>
            <a:endParaRPr lang="en-US"/>
          </a:p>
        </p:txBody>
      </p:sp>
      <p:sp>
        <p:nvSpPr>
          <p:cNvPr id="33" name="line-30">
            <a:extLst>
              <a:ext uri="{FF2B5EF4-FFF2-40B4-BE49-F238E27FC236}">
                <a16:creationId xmlns:a16="http://schemas.microsoft.com/office/drawing/2014/main" id="{D68FD907-0C47-4121-8152-BE1BC2486330}"/>
              </a:ext>
            </a:extLst>
          </p:cNvPr>
          <p:cNvSpPr>
            <a:spLocks noGrp="1"/>
          </p:cNvSpPr>
          <p:nvPr/>
        </p:nvSpPr>
        <p:spPr>
          <a:xfrm>
            <a:off x="3895725" y="3418054"/>
            <a:ext cx="55205" cy="77621"/>
          </a:xfrm>
          <a:custGeom>
            <a:avLst/>
            <a:gdLst/>
            <a:ahLst/>
            <a:cxnLst/>
            <a:rect l="0" t="0" r="0" b="0"/>
            <a:pathLst>
              <a:path w="55205" h="77621">
                <a:moveTo>
                  <a:pt x="0" y="77621"/>
                </a:moveTo>
                <a:lnTo>
                  <a:pt x="55205" y="0"/>
                </a:lnTo>
              </a:path>
            </a:pathLst>
          </a:custGeom>
          <a:noFill/>
          <a:ln w="23813">
            <a:solidFill>
              <a:srgbClr val="17698C"/>
            </a:solidFill>
          </a:ln>
        </p:spPr>
        <p:txBody>
          <a:bodyPr/>
          <a:lstStyle/>
          <a:p>
            <a:endParaRPr lang="en-US"/>
          </a:p>
        </p:txBody>
      </p:sp>
      <p:sp>
        <p:nvSpPr>
          <p:cNvPr id="34" name="line-31">
            <a:extLst>
              <a:ext uri="{FF2B5EF4-FFF2-40B4-BE49-F238E27FC236}">
                <a16:creationId xmlns:a16="http://schemas.microsoft.com/office/drawing/2014/main" id="{DFC7B166-4B10-4B99-8313-505EFB1DC1E4}"/>
              </a:ext>
            </a:extLst>
          </p:cNvPr>
          <p:cNvSpPr>
            <a:spLocks noGrp="1"/>
          </p:cNvSpPr>
          <p:nvPr/>
        </p:nvSpPr>
        <p:spPr>
          <a:xfrm>
            <a:off x="3895725" y="3490668"/>
            <a:ext cx="95118" cy="9525"/>
          </a:xfrm>
          <a:custGeom>
            <a:avLst/>
            <a:gdLst/>
            <a:ahLst/>
            <a:cxnLst/>
            <a:rect l="0" t="0" r="0" b="0"/>
            <a:pathLst>
              <a:path w="95118" h="9525">
                <a:moveTo>
                  <a:pt x="0" y="5007"/>
                </a:moveTo>
                <a:lnTo>
                  <a:pt x="95118" y="0"/>
                </a:lnTo>
              </a:path>
            </a:pathLst>
          </a:custGeom>
          <a:noFill/>
          <a:ln w="23813">
            <a:solidFill>
              <a:srgbClr val="17698C"/>
            </a:solidFill>
          </a:ln>
        </p:spPr>
        <p:txBody>
          <a:bodyPr/>
          <a:lstStyle/>
          <a:p>
            <a:endParaRPr lang="en-US"/>
          </a:p>
        </p:txBody>
      </p:sp>
      <p:sp>
        <p:nvSpPr>
          <p:cNvPr id="35" name="line-32">
            <a:extLst>
              <a:ext uri="{FF2B5EF4-FFF2-40B4-BE49-F238E27FC236}">
                <a16:creationId xmlns:a16="http://schemas.microsoft.com/office/drawing/2014/main" id="{BE919427-EF3C-4588-98E9-5DB9779362A4}"/>
              </a:ext>
            </a:extLst>
          </p:cNvPr>
          <p:cNvSpPr>
            <a:spLocks noGrp="1"/>
          </p:cNvSpPr>
          <p:nvPr/>
        </p:nvSpPr>
        <p:spPr>
          <a:xfrm>
            <a:off x="4219575" y="3781425"/>
            <a:ext cx="3067050" cy="57150"/>
          </a:xfrm>
          <a:custGeom>
            <a:avLst/>
            <a:gdLst/>
            <a:ahLst/>
            <a:cxnLst/>
            <a:rect l="0" t="0" r="0" b="0"/>
            <a:pathLst>
              <a:path w="3067050" h="57150">
                <a:moveTo>
                  <a:pt x="3067050" y="0"/>
                </a:moveTo>
                <a:lnTo>
                  <a:pt x="0" y="57150"/>
                </a:lnTo>
              </a:path>
            </a:pathLst>
          </a:custGeom>
          <a:noFill/>
          <a:ln w="23813">
            <a:solidFill>
              <a:srgbClr val="17698C"/>
            </a:solidFill>
          </a:ln>
        </p:spPr>
        <p:txBody>
          <a:bodyPr/>
          <a:lstStyle/>
          <a:p>
            <a:endParaRPr lang="en-US"/>
          </a:p>
        </p:txBody>
      </p:sp>
      <p:sp>
        <p:nvSpPr>
          <p:cNvPr id="36" name="line-33">
            <a:extLst>
              <a:ext uri="{FF2B5EF4-FFF2-40B4-BE49-F238E27FC236}">
                <a16:creationId xmlns:a16="http://schemas.microsoft.com/office/drawing/2014/main" id="{8DB998A2-A895-4C36-AADA-8E89B206DBAA}"/>
              </a:ext>
            </a:extLst>
          </p:cNvPr>
          <p:cNvSpPr>
            <a:spLocks noGrp="1"/>
          </p:cNvSpPr>
          <p:nvPr/>
        </p:nvSpPr>
        <p:spPr>
          <a:xfrm>
            <a:off x="4219575" y="3795554"/>
            <a:ext cx="84981" cy="43021"/>
          </a:xfrm>
          <a:custGeom>
            <a:avLst/>
            <a:gdLst/>
            <a:ahLst/>
            <a:cxnLst/>
            <a:rect l="0" t="0" r="0" b="0"/>
            <a:pathLst>
              <a:path w="84981" h="43021">
                <a:moveTo>
                  <a:pt x="0" y="43021"/>
                </a:moveTo>
                <a:lnTo>
                  <a:pt x="84981" y="0"/>
                </a:lnTo>
              </a:path>
            </a:pathLst>
          </a:custGeom>
          <a:noFill/>
          <a:ln w="23813">
            <a:solidFill>
              <a:srgbClr val="17698C"/>
            </a:solidFill>
          </a:ln>
        </p:spPr>
        <p:txBody>
          <a:bodyPr/>
          <a:lstStyle/>
          <a:p>
            <a:endParaRPr lang="en-US"/>
          </a:p>
        </p:txBody>
      </p:sp>
      <p:sp>
        <p:nvSpPr>
          <p:cNvPr id="37" name="line-34">
            <a:extLst>
              <a:ext uri="{FF2B5EF4-FFF2-40B4-BE49-F238E27FC236}">
                <a16:creationId xmlns:a16="http://schemas.microsoft.com/office/drawing/2014/main" id="{B171FAE1-DA93-45EB-91DF-D3C6D95E3A23}"/>
              </a:ext>
            </a:extLst>
          </p:cNvPr>
          <p:cNvSpPr>
            <a:spLocks noGrp="1"/>
          </p:cNvSpPr>
          <p:nvPr/>
        </p:nvSpPr>
        <p:spPr>
          <a:xfrm>
            <a:off x="4219575" y="3838575"/>
            <a:ext cx="86525" cy="39825"/>
          </a:xfrm>
          <a:custGeom>
            <a:avLst/>
            <a:gdLst/>
            <a:ahLst/>
            <a:cxnLst/>
            <a:rect l="0" t="0" r="0" b="0"/>
            <a:pathLst>
              <a:path w="86525" h="39825">
                <a:moveTo>
                  <a:pt x="0" y="0"/>
                </a:moveTo>
                <a:lnTo>
                  <a:pt x="86525" y="39825"/>
                </a:lnTo>
              </a:path>
            </a:pathLst>
          </a:custGeom>
          <a:noFill/>
          <a:ln w="23813">
            <a:solidFill>
              <a:srgbClr val="17698C"/>
            </a:solidFill>
          </a:ln>
        </p:spPr>
        <p:txBody>
          <a:bodyPr/>
          <a:lstStyle/>
          <a:p>
            <a:endParaRPr lang="en-US"/>
          </a:p>
        </p:txBody>
      </p:sp>
      <p:sp>
        <p:nvSpPr>
          <p:cNvPr id="38" name="line-35">
            <a:extLst>
              <a:ext uri="{FF2B5EF4-FFF2-40B4-BE49-F238E27FC236}">
                <a16:creationId xmlns:a16="http://schemas.microsoft.com/office/drawing/2014/main" id="{E2BAE06E-D729-4E71-815E-A61BB499BBF9}"/>
              </a:ext>
            </a:extLst>
          </p:cNvPr>
          <p:cNvSpPr>
            <a:spLocks noGrp="1"/>
          </p:cNvSpPr>
          <p:nvPr/>
        </p:nvSpPr>
        <p:spPr>
          <a:xfrm>
            <a:off x="4105275" y="4219575"/>
            <a:ext cx="1085850" cy="628650"/>
          </a:xfrm>
          <a:custGeom>
            <a:avLst/>
            <a:gdLst/>
            <a:ahLst/>
            <a:cxnLst/>
            <a:rect l="0" t="0" r="0" b="0"/>
            <a:pathLst>
              <a:path w="1085850" h="628650">
                <a:moveTo>
                  <a:pt x="1085850" y="628650"/>
                </a:moveTo>
                <a:lnTo>
                  <a:pt x="0" y="0"/>
                </a:lnTo>
              </a:path>
            </a:pathLst>
          </a:custGeom>
          <a:noFill/>
          <a:ln w="23813">
            <a:solidFill>
              <a:srgbClr val="17698C"/>
            </a:solidFill>
          </a:ln>
        </p:spPr>
        <p:txBody>
          <a:bodyPr/>
          <a:lstStyle/>
          <a:p>
            <a:endParaRPr lang="en-US"/>
          </a:p>
        </p:txBody>
      </p:sp>
      <p:sp>
        <p:nvSpPr>
          <p:cNvPr id="39" name="line-36">
            <a:extLst>
              <a:ext uri="{FF2B5EF4-FFF2-40B4-BE49-F238E27FC236}">
                <a16:creationId xmlns:a16="http://schemas.microsoft.com/office/drawing/2014/main" id="{7A0C5C9D-F72E-4DBD-832B-E3E2D01366CD}"/>
              </a:ext>
            </a:extLst>
          </p:cNvPr>
          <p:cNvSpPr>
            <a:spLocks noGrp="1"/>
          </p:cNvSpPr>
          <p:nvPr/>
        </p:nvSpPr>
        <p:spPr>
          <a:xfrm>
            <a:off x="4105275" y="4219575"/>
            <a:ext cx="94984" cy="9525"/>
          </a:xfrm>
          <a:custGeom>
            <a:avLst/>
            <a:gdLst/>
            <a:ahLst/>
            <a:cxnLst/>
            <a:rect l="0" t="0" r="0" b="0"/>
            <a:pathLst>
              <a:path w="94984" h="9525">
                <a:moveTo>
                  <a:pt x="0" y="0"/>
                </a:moveTo>
                <a:lnTo>
                  <a:pt x="94984" y="7118"/>
                </a:lnTo>
              </a:path>
            </a:pathLst>
          </a:custGeom>
          <a:noFill/>
          <a:ln w="23813">
            <a:solidFill>
              <a:srgbClr val="17698C"/>
            </a:solidFill>
          </a:ln>
        </p:spPr>
        <p:txBody>
          <a:bodyPr/>
          <a:lstStyle/>
          <a:p>
            <a:endParaRPr lang="en-US"/>
          </a:p>
        </p:txBody>
      </p:sp>
      <p:sp>
        <p:nvSpPr>
          <p:cNvPr id="40" name="line-37">
            <a:extLst>
              <a:ext uri="{FF2B5EF4-FFF2-40B4-BE49-F238E27FC236}">
                <a16:creationId xmlns:a16="http://schemas.microsoft.com/office/drawing/2014/main" id="{A4A3C40C-9497-43E2-81AC-88FC4B6D02CA}"/>
              </a:ext>
            </a:extLst>
          </p:cNvPr>
          <p:cNvSpPr>
            <a:spLocks noGrp="1"/>
          </p:cNvSpPr>
          <p:nvPr/>
        </p:nvSpPr>
        <p:spPr>
          <a:xfrm>
            <a:off x="4105275" y="4219575"/>
            <a:ext cx="53467" cy="78828"/>
          </a:xfrm>
          <a:custGeom>
            <a:avLst/>
            <a:gdLst/>
            <a:ahLst/>
            <a:cxnLst/>
            <a:rect l="0" t="0" r="0" b="0"/>
            <a:pathLst>
              <a:path w="53467" h="78828">
                <a:moveTo>
                  <a:pt x="0" y="0"/>
                </a:moveTo>
                <a:lnTo>
                  <a:pt x="53467" y="78828"/>
                </a:lnTo>
              </a:path>
            </a:pathLst>
          </a:custGeom>
          <a:noFill/>
          <a:ln w="23813">
            <a:solidFill>
              <a:srgbClr val="17698C"/>
            </a:solidFill>
          </a:ln>
        </p:spPr>
        <p:txBody>
          <a:bodyPr/>
          <a:lstStyle/>
          <a:p>
            <a:endParaRPr lang="en-US"/>
          </a:p>
        </p:txBody>
      </p:sp>
      <p:sp>
        <p:nvSpPr>
          <p:cNvPr id="41" name="line-38">
            <a:extLst>
              <a:ext uri="{FF2B5EF4-FFF2-40B4-BE49-F238E27FC236}">
                <a16:creationId xmlns:a16="http://schemas.microsoft.com/office/drawing/2014/main" id="{9930E01A-08A0-42EA-8E3A-708720002870}"/>
              </a:ext>
            </a:extLst>
          </p:cNvPr>
          <p:cNvSpPr>
            <a:spLocks noGrp="1"/>
          </p:cNvSpPr>
          <p:nvPr/>
        </p:nvSpPr>
        <p:spPr>
          <a:xfrm>
            <a:off x="4357270" y="3072880"/>
            <a:ext cx="9525" cy="9525"/>
          </a:xfrm>
          <a:custGeom>
            <a:avLst/>
            <a:gdLst/>
            <a:ahLst/>
            <a:cxnLst/>
            <a:rect l="0" t="0" r="0" b="0"/>
            <a:pathLst>
              <a:path w="9525" h="9525">
                <a:moveTo>
                  <a:pt x="0" y="0"/>
                </a:moveTo>
                <a:lnTo>
                  <a:pt x="3750" y="5083"/>
                </a:lnTo>
              </a:path>
            </a:pathLst>
          </a:custGeom>
          <a:noFill/>
          <a:ln w="19050">
            <a:solidFill>
              <a:srgbClr val="17698C"/>
            </a:solidFill>
          </a:ln>
        </p:spPr>
        <p:txBody>
          <a:bodyPr/>
          <a:lstStyle/>
          <a:p>
            <a:endParaRPr lang="en-US"/>
          </a:p>
        </p:txBody>
      </p:sp>
      <p:sp>
        <p:nvSpPr>
          <p:cNvPr id="42" name="line-39">
            <a:extLst>
              <a:ext uri="{FF2B5EF4-FFF2-40B4-BE49-F238E27FC236}">
                <a16:creationId xmlns:a16="http://schemas.microsoft.com/office/drawing/2014/main" id="{FD9D9D46-D7FF-465F-8109-1FEDFA5C3E91}"/>
              </a:ext>
            </a:extLst>
          </p:cNvPr>
          <p:cNvSpPr>
            <a:spLocks noGrp="1"/>
          </p:cNvSpPr>
          <p:nvPr/>
        </p:nvSpPr>
        <p:spPr>
          <a:xfrm>
            <a:off x="4361019" y="3077963"/>
            <a:ext cx="9525" cy="9525"/>
          </a:xfrm>
          <a:custGeom>
            <a:avLst/>
            <a:gdLst/>
            <a:ahLst/>
            <a:cxnLst/>
            <a:rect l="0" t="0" r="0" b="0"/>
            <a:pathLst>
              <a:path w="9525" h="9525">
                <a:moveTo>
                  <a:pt x="0" y="0"/>
                </a:moveTo>
                <a:lnTo>
                  <a:pt x="3463" y="5282"/>
                </a:lnTo>
              </a:path>
            </a:pathLst>
          </a:custGeom>
          <a:noFill/>
          <a:ln w="19050">
            <a:solidFill>
              <a:srgbClr val="17698C"/>
            </a:solidFill>
          </a:ln>
        </p:spPr>
        <p:txBody>
          <a:bodyPr/>
          <a:lstStyle/>
          <a:p>
            <a:endParaRPr lang="en-US"/>
          </a:p>
        </p:txBody>
      </p:sp>
      <p:sp>
        <p:nvSpPr>
          <p:cNvPr id="43" name="line-40">
            <a:extLst>
              <a:ext uri="{FF2B5EF4-FFF2-40B4-BE49-F238E27FC236}">
                <a16:creationId xmlns:a16="http://schemas.microsoft.com/office/drawing/2014/main" id="{0F7EC021-794E-418F-843C-09449E58B519}"/>
              </a:ext>
            </a:extLst>
          </p:cNvPr>
          <p:cNvSpPr>
            <a:spLocks noGrp="1"/>
          </p:cNvSpPr>
          <p:nvPr/>
        </p:nvSpPr>
        <p:spPr>
          <a:xfrm>
            <a:off x="4364483" y="3083245"/>
            <a:ext cx="9525" cy="9525"/>
          </a:xfrm>
          <a:custGeom>
            <a:avLst/>
            <a:gdLst/>
            <a:ahLst/>
            <a:cxnLst/>
            <a:rect l="0" t="0" r="0" b="0"/>
            <a:pathLst>
              <a:path w="9525" h="9525">
                <a:moveTo>
                  <a:pt x="0" y="0"/>
                </a:moveTo>
                <a:lnTo>
                  <a:pt x="3166" y="5466"/>
                </a:lnTo>
              </a:path>
            </a:pathLst>
          </a:custGeom>
          <a:noFill/>
          <a:ln w="19050">
            <a:solidFill>
              <a:srgbClr val="17698C"/>
            </a:solidFill>
          </a:ln>
        </p:spPr>
        <p:txBody>
          <a:bodyPr/>
          <a:lstStyle/>
          <a:p>
            <a:endParaRPr lang="en-US"/>
          </a:p>
        </p:txBody>
      </p:sp>
      <p:sp>
        <p:nvSpPr>
          <p:cNvPr id="44" name="line-41">
            <a:extLst>
              <a:ext uri="{FF2B5EF4-FFF2-40B4-BE49-F238E27FC236}">
                <a16:creationId xmlns:a16="http://schemas.microsoft.com/office/drawing/2014/main" id="{F65DC359-0735-4E29-AC1B-2B8E69F9B613}"/>
              </a:ext>
            </a:extLst>
          </p:cNvPr>
          <p:cNvSpPr>
            <a:spLocks noGrp="1"/>
          </p:cNvSpPr>
          <p:nvPr/>
        </p:nvSpPr>
        <p:spPr>
          <a:xfrm>
            <a:off x="4367649" y="3088711"/>
            <a:ext cx="9525" cy="9525"/>
          </a:xfrm>
          <a:custGeom>
            <a:avLst/>
            <a:gdLst/>
            <a:ahLst/>
            <a:cxnLst/>
            <a:rect l="0" t="0" r="0" b="0"/>
            <a:pathLst>
              <a:path w="9525" h="9525">
                <a:moveTo>
                  <a:pt x="0" y="0"/>
                </a:moveTo>
                <a:lnTo>
                  <a:pt x="2859" y="5632"/>
                </a:lnTo>
              </a:path>
            </a:pathLst>
          </a:custGeom>
          <a:noFill/>
          <a:ln w="19050">
            <a:solidFill>
              <a:srgbClr val="17698C"/>
            </a:solidFill>
          </a:ln>
        </p:spPr>
        <p:txBody>
          <a:bodyPr/>
          <a:lstStyle/>
          <a:p>
            <a:endParaRPr lang="en-US"/>
          </a:p>
        </p:txBody>
      </p:sp>
      <p:sp>
        <p:nvSpPr>
          <p:cNvPr id="45" name="line-42">
            <a:extLst>
              <a:ext uri="{FF2B5EF4-FFF2-40B4-BE49-F238E27FC236}">
                <a16:creationId xmlns:a16="http://schemas.microsoft.com/office/drawing/2014/main" id="{AE28CF8D-7FD0-4341-AD05-A31B5F53AB9C}"/>
              </a:ext>
            </a:extLst>
          </p:cNvPr>
          <p:cNvSpPr>
            <a:spLocks noGrp="1"/>
          </p:cNvSpPr>
          <p:nvPr/>
        </p:nvSpPr>
        <p:spPr>
          <a:xfrm>
            <a:off x="4370508" y="3094343"/>
            <a:ext cx="9525" cy="9525"/>
          </a:xfrm>
          <a:custGeom>
            <a:avLst/>
            <a:gdLst/>
            <a:ahLst/>
            <a:cxnLst/>
            <a:rect l="0" t="0" r="0" b="0"/>
            <a:pathLst>
              <a:path w="9525" h="9525">
                <a:moveTo>
                  <a:pt x="0" y="0"/>
                </a:moveTo>
                <a:lnTo>
                  <a:pt x="2544" y="5781"/>
                </a:lnTo>
              </a:path>
            </a:pathLst>
          </a:custGeom>
          <a:noFill/>
          <a:ln w="19050">
            <a:solidFill>
              <a:srgbClr val="17698C"/>
            </a:solidFill>
          </a:ln>
        </p:spPr>
        <p:txBody>
          <a:bodyPr/>
          <a:lstStyle/>
          <a:p>
            <a:endParaRPr lang="en-US"/>
          </a:p>
        </p:txBody>
      </p:sp>
      <p:sp>
        <p:nvSpPr>
          <p:cNvPr id="46" name="line-43">
            <a:extLst>
              <a:ext uri="{FF2B5EF4-FFF2-40B4-BE49-F238E27FC236}">
                <a16:creationId xmlns:a16="http://schemas.microsoft.com/office/drawing/2014/main" id="{F9F606E4-3305-4441-86AA-C4ABEFDA0B76}"/>
              </a:ext>
            </a:extLst>
          </p:cNvPr>
          <p:cNvSpPr>
            <a:spLocks noGrp="1"/>
          </p:cNvSpPr>
          <p:nvPr/>
        </p:nvSpPr>
        <p:spPr>
          <a:xfrm>
            <a:off x="4373052" y="3100124"/>
            <a:ext cx="9525" cy="9525"/>
          </a:xfrm>
          <a:custGeom>
            <a:avLst/>
            <a:gdLst/>
            <a:ahLst/>
            <a:cxnLst/>
            <a:rect l="0" t="0" r="0" b="0"/>
            <a:pathLst>
              <a:path w="9525" h="9525">
                <a:moveTo>
                  <a:pt x="0" y="0"/>
                </a:moveTo>
                <a:lnTo>
                  <a:pt x="2221" y="5913"/>
                </a:lnTo>
              </a:path>
            </a:pathLst>
          </a:custGeom>
          <a:noFill/>
          <a:ln w="19050">
            <a:solidFill>
              <a:srgbClr val="17698C"/>
            </a:solidFill>
          </a:ln>
        </p:spPr>
        <p:txBody>
          <a:bodyPr/>
          <a:lstStyle/>
          <a:p>
            <a:endParaRPr lang="en-US"/>
          </a:p>
        </p:txBody>
      </p:sp>
      <p:sp>
        <p:nvSpPr>
          <p:cNvPr id="47" name="line-44">
            <a:extLst>
              <a:ext uri="{FF2B5EF4-FFF2-40B4-BE49-F238E27FC236}">
                <a16:creationId xmlns:a16="http://schemas.microsoft.com/office/drawing/2014/main" id="{926DACB5-02A8-4CCC-8B5F-8046310DE9F1}"/>
              </a:ext>
            </a:extLst>
          </p:cNvPr>
          <p:cNvSpPr>
            <a:spLocks noGrp="1"/>
          </p:cNvSpPr>
          <p:nvPr/>
        </p:nvSpPr>
        <p:spPr>
          <a:xfrm>
            <a:off x="4375273" y="3106038"/>
            <a:ext cx="9525" cy="9525"/>
          </a:xfrm>
          <a:custGeom>
            <a:avLst/>
            <a:gdLst/>
            <a:ahLst/>
            <a:cxnLst/>
            <a:rect l="0" t="0" r="0" b="0"/>
            <a:pathLst>
              <a:path w="9525" h="9525">
                <a:moveTo>
                  <a:pt x="0" y="0"/>
                </a:moveTo>
                <a:lnTo>
                  <a:pt x="1891" y="6027"/>
                </a:lnTo>
              </a:path>
            </a:pathLst>
          </a:custGeom>
          <a:noFill/>
          <a:ln w="19050">
            <a:solidFill>
              <a:srgbClr val="17698C"/>
            </a:solidFill>
          </a:ln>
        </p:spPr>
        <p:txBody>
          <a:bodyPr/>
          <a:lstStyle/>
          <a:p>
            <a:endParaRPr lang="en-US"/>
          </a:p>
        </p:txBody>
      </p:sp>
      <p:sp>
        <p:nvSpPr>
          <p:cNvPr id="48" name="line-45">
            <a:extLst>
              <a:ext uri="{FF2B5EF4-FFF2-40B4-BE49-F238E27FC236}">
                <a16:creationId xmlns:a16="http://schemas.microsoft.com/office/drawing/2014/main" id="{B6A43135-3771-48DC-9A0A-7159F279EBDD}"/>
              </a:ext>
            </a:extLst>
          </p:cNvPr>
          <p:cNvSpPr>
            <a:spLocks noGrp="1"/>
          </p:cNvSpPr>
          <p:nvPr/>
        </p:nvSpPr>
        <p:spPr>
          <a:xfrm>
            <a:off x="4377163" y="3112064"/>
            <a:ext cx="9525" cy="9525"/>
          </a:xfrm>
          <a:custGeom>
            <a:avLst/>
            <a:gdLst/>
            <a:ahLst/>
            <a:cxnLst/>
            <a:rect l="0" t="0" r="0" b="0"/>
            <a:pathLst>
              <a:path w="9525" h="9525">
                <a:moveTo>
                  <a:pt x="0" y="0"/>
                </a:moveTo>
                <a:lnTo>
                  <a:pt x="1555" y="6122"/>
                </a:lnTo>
              </a:path>
            </a:pathLst>
          </a:custGeom>
          <a:noFill/>
          <a:ln w="19050">
            <a:solidFill>
              <a:srgbClr val="17698C"/>
            </a:solidFill>
          </a:ln>
        </p:spPr>
        <p:txBody>
          <a:bodyPr/>
          <a:lstStyle/>
          <a:p>
            <a:endParaRPr lang="en-US"/>
          </a:p>
        </p:txBody>
      </p:sp>
      <p:sp>
        <p:nvSpPr>
          <p:cNvPr id="49" name="line-46">
            <a:extLst>
              <a:ext uri="{FF2B5EF4-FFF2-40B4-BE49-F238E27FC236}">
                <a16:creationId xmlns:a16="http://schemas.microsoft.com/office/drawing/2014/main" id="{F9136EEB-6745-49BF-9FC1-2451C1611ACD}"/>
              </a:ext>
            </a:extLst>
          </p:cNvPr>
          <p:cNvSpPr>
            <a:spLocks noGrp="1"/>
          </p:cNvSpPr>
          <p:nvPr/>
        </p:nvSpPr>
        <p:spPr>
          <a:xfrm>
            <a:off x="4378718" y="3118186"/>
            <a:ext cx="9525" cy="9525"/>
          </a:xfrm>
          <a:custGeom>
            <a:avLst/>
            <a:gdLst/>
            <a:ahLst/>
            <a:cxnLst/>
            <a:rect l="0" t="0" r="0" b="0"/>
            <a:pathLst>
              <a:path w="9525" h="9525">
                <a:moveTo>
                  <a:pt x="0" y="0"/>
                </a:moveTo>
                <a:lnTo>
                  <a:pt x="1214" y="6199"/>
                </a:lnTo>
              </a:path>
            </a:pathLst>
          </a:custGeom>
          <a:noFill/>
          <a:ln w="19050">
            <a:solidFill>
              <a:srgbClr val="17698C"/>
            </a:solidFill>
          </a:ln>
        </p:spPr>
        <p:txBody>
          <a:bodyPr/>
          <a:lstStyle/>
          <a:p>
            <a:endParaRPr lang="en-US"/>
          </a:p>
        </p:txBody>
      </p:sp>
      <p:sp>
        <p:nvSpPr>
          <p:cNvPr id="50" name="line-47">
            <a:extLst>
              <a:ext uri="{FF2B5EF4-FFF2-40B4-BE49-F238E27FC236}">
                <a16:creationId xmlns:a16="http://schemas.microsoft.com/office/drawing/2014/main" id="{4CFAC1FB-6E1A-405F-AA28-489F6DA6DEDE}"/>
              </a:ext>
            </a:extLst>
          </p:cNvPr>
          <p:cNvSpPr>
            <a:spLocks noGrp="1"/>
          </p:cNvSpPr>
          <p:nvPr/>
        </p:nvSpPr>
        <p:spPr>
          <a:xfrm>
            <a:off x="4379932" y="3124385"/>
            <a:ext cx="9525" cy="9525"/>
          </a:xfrm>
          <a:custGeom>
            <a:avLst/>
            <a:gdLst/>
            <a:ahLst/>
            <a:cxnLst/>
            <a:rect l="0" t="0" r="0" b="0"/>
            <a:pathLst>
              <a:path w="9525" h="9525">
                <a:moveTo>
                  <a:pt x="0" y="0"/>
                </a:moveTo>
                <a:lnTo>
                  <a:pt x="870" y="6256"/>
                </a:lnTo>
              </a:path>
            </a:pathLst>
          </a:custGeom>
          <a:noFill/>
          <a:ln w="19050">
            <a:solidFill>
              <a:srgbClr val="17698C"/>
            </a:solidFill>
          </a:ln>
        </p:spPr>
        <p:txBody>
          <a:bodyPr/>
          <a:lstStyle/>
          <a:p>
            <a:endParaRPr lang="en-US"/>
          </a:p>
        </p:txBody>
      </p:sp>
      <p:sp>
        <p:nvSpPr>
          <p:cNvPr id="51" name="line-48">
            <a:extLst>
              <a:ext uri="{FF2B5EF4-FFF2-40B4-BE49-F238E27FC236}">
                <a16:creationId xmlns:a16="http://schemas.microsoft.com/office/drawing/2014/main" id="{5F0D72E4-3B32-42FE-82C3-02323B463605}"/>
              </a:ext>
            </a:extLst>
          </p:cNvPr>
          <p:cNvSpPr>
            <a:spLocks noGrp="1"/>
          </p:cNvSpPr>
          <p:nvPr/>
        </p:nvSpPr>
        <p:spPr>
          <a:xfrm>
            <a:off x="4380802" y="3130641"/>
            <a:ext cx="9525" cy="9525"/>
          </a:xfrm>
          <a:custGeom>
            <a:avLst/>
            <a:gdLst/>
            <a:ahLst/>
            <a:cxnLst/>
            <a:rect l="0" t="0" r="0" b="0"/>
            <a:pathLst>
              <a:path w="9525" h="9525">
                <a:moveTo>
                  <a:pt x="0" y="0"/>
                </a:moveTo>
                <a:lnTo>
                  <a:pt x="523" y="6295"/>
                </a:lnTo>
              </a:path>
            </a:pathLst>
          </a:custGeom>
          <a:noFill/>
          <a:ln w="19050">
            <a:solidFill>
              <a:srgbClr val="17698C"/>
            </a:solidFill>
          </a:ln>
        </p:spPr>
        <p:txBody>
          <a:bodyPr/>
          <a:lstStyle/>
          <a:p>
            <a:endParaRPr lang="en-US"/>
          </a:p>
        </p:txBody>
      </p:sp>
      <p:sp>
        <p:nvSpPr>
          <p:cNvPr id="52" name="line-49">
            <a:extLst>
              <a:ext uri="{FF2B5EF4-FFF2-40B4-BE49-F238E27FC236}">
                <a16:creationId xmlns:a16="http://schemas.microsoft.com/office/drawing/2014/main" id="{E9E7F742-E1B3-42D4-8D50-6A5380161445}"/>
              </a:ext>
            </a:extLst>
          </p:cNvPr>
          <p:cNvSpPr>
            <a:spLocks noGrp="1"/>
          </p:cNvSpPr>
          <p:nvPr/>
        </p:nvSpPr>
        <p:spPr>
          <a:xfrm>
            <a:off x="4381325" y="3136936"/>
            <a:ext cx="9525" cy="9525"/>
          </a:xfrm>
          <a:custGeom>
            <a:avLst/>
            <a:gdLst/>
            <a:ahLst/>
            <a:cxnLst/>
            <a:rect l="0" t="0" r="0" b="0"/>
            <a:pathLst>
              <a:path w="9525" h="9525">
                <a:moveTo>
                  <a:pt x="0" y="0"/>
                </a:moveTo>
                <a:lnTo>
                  <a:pt x="175" y="6314"/>
                </a:lnTo>
              </a:path>
            </a:pathLst>
          </a:custGeom>
          <a:noFill/>
          <a:ln w="19050">
            <a:solidFill>
              <a:srgbClr val="17698C"/>
            </a:solidFill>
          </a:ln>
        </p:spPr>
        <p:txBody>
          <a:bodyPr/>
          <a:lstStyle/>
          <a:p>
            <a:endParaRPr lang="en-US"/>
          </a:p>
        </p:txBody>
      </p:sp>
      <p:sp>
        <p:nvSpPr>
          <p:cNvPr id="53" name="line-50">
            <a:extLst>
              <a:ext uri="{FF2B5EF4-FFF2-40B4-BE49-F238E27FC236}">
                <a16:creationId xmlns:a16="http://schemas.microsoft.com/office/drawing/2014/main" id="{E6D13095-A4A8-4FD3-B123-8AB65DB910E2}"/>
              </a:ext>
            </a:extLst>
          </p:cNvPr>
          <p:cNvSpPr>
            <a:spLocks noGrp="1"/>
          </p:cNvSpPr>
          <p:nvPr/>
        </p:nvSpPr>
        <p:spPr>
          <a:xfrm>
            <a:off x="4381325" y="3143250"/>
            <a:ext cx="9525" cy="9525"/>
          </a:xfrm>
          <a:custGeom>
            <a:avLst/>
            <a:gdLst/>
            <a:ahLst/>
            <a:cxnLst/>
            <a:rect l="0" t="0" r="0" b="0"/>
            <a:pathLst>
              <a:path w="9525" h="9525">
                <a:moveTo>
                  <a:pt x="175" y="0"/>
                </a:moveTo>
                <a:lnTo>
                  <a:pt x="0" y="6314"/>
                </a:lnTo>
              </a:path>
            </a:pathLst>
          </a:custGeom>
          <a:noFill/>
          <a:ln w="19050">
            <a:solidFill>
              <a:srgbClr val="17698C"/>
            </a:solidFill>
          </a:ln>
        </p:spPr>
        <p:txBody>
          <a:bodyPr/>
          <a:lstStyle/>
          <a:p>
            <a:endParaRPr lang="en-US"/>
          </a:p>
        </p:txBody>
      </p:sp>
      <p:sp>
        <p:nvSpPr>
          <p:cNvPr id="54" name="line-51">
            <a:extLst>
              <a:ext uri="{FF2B5EF4-FFF2-40B4-BE49-F238E27FC236}">
                <a16:creationId xmlns:a16="http://schemas.microsoft.com/office/drawing/2014/main" id="{57E63953-F0D6-4166-8F24-45727A09A149}"/>
              </a:ext>
            </a:extLst>
          </p:cNvPr>
          <p:cNvSpPr>
            <a:spLocks noGrp="1"/>
          </p:cNvSpPr>
          <p:nvPr/>
        </p:nvSpPr>
        <p:spPr>
          <a:xfrm>
            <a:off x="4380802" y="3149564"/>
            <a:ext cx="9525" cy="9525"/>
          </a:xfrm>
          <a:custGeom>
            <a:avLst/>
            <a:gdLst/>
            <a:ahLst/>
            <a:cxnLst/>
            <a:rect l="0" t="0" r="0" b="0"/>
            <a:pathLst>
              <a:path w="9525" h="9525">
                <a:moveTo>
                  <a:pt x="523" y="0"/>
                </a:moveTo>
                <a:lnTo>
                  <a:pt x="0" y="6295"/>
                </a:lnTo>
              </a:path>
            </a:pathLst>
          </a:custGeom>
          <a:noFill/>
          <a:ln w="19050">
            <a:solidFill>
              <a:srgbClr val="17698C"/>
            </a:solidFill>
          </a:ln>
        </p:spPr>
        <p:txBody>
          <a:bodyPr/>
          <a:lstStyle/>
          <a:p>
            <a:endParaRPr lang="en-US"/>
          </a:p>
        </p:txBody>
      </p:sp>
      <p:sp>
        <p:nvSpPr>
          <p:cNvPr id="55" name="line-52">
            <a:extLst>
              <a:ext uri="{FF2B5EF4-FFF2-40B4-BE49-F238E27FC236}">
                <a16:creationId xmlns:a16="http://schemas.microsoft.com/office/drawing/2014/main" id="{0291F33E-CFE7-4531-B0AA-C4BFF7300444}"/>
              </a:ext>
            </a:extLst>
          </p:cNvPr>
          <p:cNvSpPr>
            <a:spLocks noGrp="1"/>
          </p:cNvSpPr>
          <p:nvPr/>
        </p:nvSpPr>
        <p:spPr>
          <a:xfrm>
            <a:off x="4379932" y="3155859"/>
            <a:ext cx="9525" cy="9525"/>
          </a:xfrm>
          <a:custGeom>
            <a:avLst/>
            <a:gdLst/>
            <a:ahLst/>
            <a:cxnLst/>
            <a:rect l="0" t="0" r="0" b="0"/>
            <a:pathLst>
              <a:path w="9525" h="9525">
                <a:moveTo>
                  <a:pt x="870" y="0"/>
                </a:moveTo>
                <a:lnTo>
                  <a:pt x="0" y="6256"/>
                </a:lnTo>
              </a:path>
            </a:pathLst>
          </a:custGeom>
          <a:noFill/>
          <a:ln w="19050">
            <a:solidFill>
              <a:srgbClr val="17698C"/>
            </a:solidFill>
          </a:ln>
        </p:spPr>
        <p:txBody>
          <a:bodyPr/>
          <a:lstStyle/>
          <a:p>
            <a:endParaRPr lang="en-US"/>
          </a:p>
        </p:txBody>
      </p:sp>
      <p:sp>
        <p:nvSpPr>
          <p:cNvPr id="56" name="line-53">
            <a:extLst>
              <a:ext uri="{FF2B5EF4-FFF2-40B4-BE49-F238E27FC236}">
                <a16:creationId xmlns:a16="http://schemas.microsoft.com/office/drawing/2014/main" id="{186BD50F-FF13-4434-B1E9-FB1BF1551B01}"/>
              </a:ext>
            </a:extLst>
          </p:cNvPr>
          <p:cNvSpPr>
            <a:spLocks noGrp="1"/>
          </p:cNvSpPr>
          <p:nvPr/>
        </p:nvSpPr>
        <p:spPr>
          <a:xfrm>
            <a:off x="4378718" y="3162115"/>
            <a:ext cx="9525" cy="9525"/>
          </a:xfrm>
          <a:custGeom>
            <a:avLst/>
            <a:gdLst/>
            <a:ahLst/>
            <a:cxnLst/>
            <a:rect l="0" t="0" r="0" b="0"/>
            <a:pathLst>
              <a:path w="9525" h="9525">
                <a:moveTo>
                  <a:pt x="1214" y="0"/>
                </a:moveTo>
                <a:lnTo>
                  <a:pt x="0" y="6199"/>
                </a:lnTo>
              </a:path>
            </a:pathLst>
          </a:custGeom>
          <a:noFill/>
          <a:ln w="19050">
            <a:solidFill>
              <a:srgbClr val="17698C"/>
            </a:solidFill>
          </a:ln>
        </p:spPr>
        <p:txBody>
          <a:bodyPr/>
          <a:lstStyle/>
          <a:p>
            <a:endParaRPr lang="en-US"/>
          </a:p>
        </p:txBody>
      </p:sp>
      <p:sp>
        <p:nvSpPr>
          <p:cNvPr id="57" name="line-54">
            <a:extLst>
              <a:ext uri="{FF2B5EF4-FFF2-40B4-BE49-F238E27FC236}">
                <a16:creationId xmlns:a16="http://schemas.microsoft.com/office/drawing/2014/main" id="{D90EFBA6-E021-445E-A32B-BD35A4D3A5DF}"/>
              </a:ext>
            </a:extLst>
          </p:cNvPr>
          <p:cNvSpPr>
            <a:spLocks noGrp="1"/>
          </p:cNvSpPr>
          <p:nvPr/>
        </p:nvSpPr>
        <p:spPr>
          <a:xfrm>
            <a:off x="4377163" y="3168314"/>
            <a:ext cx="9525" cy="9525"/>
          </a:xfrm>
          <a:custGeom>
            <a:avLst/>
            <a:gdLst/>
            <a:ahLst/>
            <a:cxnLst/>
            <a:rect l="0" t="0" r="0" b="0"/>
            <a:pathLst>
              <a:path w="9525" h="9525">
                <a:moveTo>
                  <a:pt x="1555" y="0"/>
                </a:moveTo>
                <a:lnTo>
                  <a:pt x="0" y="6122"/>
                </a:lnTo>
              </a:path>
            </a:pathLst>
          </a:custGeom>
          <a:noFill/>
          <a:ln w="19050">
            <a:solidFill>
              <a:srgbClr val="17698C"/>
            </a:solidFill>
          </a:ln>
        </p:spPr>
        <p:txBody>
          <a:bodyPr/>
          <a:lstStyle/>
          <a:p>
            <a:endParaRPr lang="en-US"/>
          </a:p>
        </p:txBody>
      </p:sp>
      <p:sp>
        <p:nvSpPr>
          <p:cNvPr id="58" name="line-55">
            <a:extLst>
              <a:ext uri="{FF2B5EF4-FFF2-40B4-BE49-F238E27FC236}">
                <a16:creationId xmlns:a16="http://schemas.microsoft.com/office/drawing/2014/main" id="{6AAD8D22-4051-41D6-8D90-5D31767B9CA1}"/>
              </a:ext>
            </a:extLst>
          </p:cNvPr>
          <p:cNvSpPr>
            <a:spLocks noGrp="1"/>
          </p:cNvSpPr>
          <p:nvPr/>
        </p:nvSpPr>
        <p:spPr>
          <a:xfrm>
            <a:off x="4375273" y="3174436"/>
            <a:ext cx="9525" cy="9525"/>
          </a:xfrm>
          <a:custGeom>
            <a:avLst/>
            <a:gdLst/>
            <a:ahLst/>
            <a:cxnLst/>
            <a:rect l="0" t="0" r="0" b="0"/>
            <a:pathLst>
              <a:path w="9525" h="9525">
                <a:moveTo>
                  <a:pt x="1891" y="0"/>
                </a:moveTo>
                <a:lnTo>
                  <a:pt x="0" y="6027"/>
                </a:lnTo>
              </a:path>
            </a:pathLst>
          </a:custGeom>
          <a:noFill/>
          <a:ln w="19050">
            <a:solidFill>
              <a:srgbClr val="17698C"/>
            </a:solidFill>
          </a:ln>
        </p:spPr>
        <p:txBody>
          <a:bodyPr/>
          <a:lstStyle/>
          <a:p>
            <a:endParaRPr lang="en-US"/>
          </a:p>
        </p:txBody>
      </p:sp>
      <p:sp>
        <p:nvSpPr>
          <p:cNvPr id="59" name="line-56">
            <a:extLst>
              <a:ext uri="{FF2B5EF4-FFF2-40B4-BE49-F238E27FC236}">
                <a16:creationId xmlns:a16="http://schemas.microsoft.com/office/drawing/2014/main" id="{57B86FCB-821D-43A9-9978-7DAF25BCEAA0}"/>
              </a:ext>
            </a:extLst>
          </p:cNvPr>
          <p:cNvSpPr>
            <a:spLocks noGrp="1"/>
          </p:cNvSpPr>
          <p:nvPr/>
        </p:nvSpPr>
        <p:spPr>
          <a:xfrm>
            <a:off x="4373052" y="3180462"/>
            <a:ext cx="9525" cy="9525"/>
          </a:xfrm>
          <a:custGeom>
            <a:avLst/>
            <a:gdLst/>
            <a:ahLst/>
            <a:cxnLst/>
            <a:rect l="0" t="0" r="0" b="0"/>
            <a:pathLst>
              <a:path w="9525" h="9525">
                <a:moveTo>
                  <a:pt x="2221" y="0"/>
                </a:moveTo>
                <a:lnTo>
                  <a:pt x="0" y="5913"/>
                </a:lnTo>
              </a:path>
            </a:pathLst>
          </a:custGeom>
          <a:noFill/>
          <a:ln w="19050">
            <a:solidFill>
              <a:srgbClr val="17698C"/>
            </a:solidFill>
          </a:ln>
        </p:spPr>
        <p:txBody>
          <a:bodyPr/>
          <a:lstStyle/>
          <a:p>
            <a:endParaRPr lang="en-US"/>
          </a:p>
        </p:txBody>
      </p:sp>
      <p:sp>
        <p:nvSpPr>
          <p:cNvPr id="60" name="line-57">
            <a:extLst>
              <a:ext uri="{FF2B5EF4-FFF2-40B4-BE49-F238E27FC236}">
                <a16:creationId xmlns:a16="http://schemas.microsoft.com/office/drawing/2014/main" id="{D6EE3100-5F41-46AD-BCCA-B5004BA6E5A3}"/>
              </a:ext>
            </a:extLst>
          </p:cNvPr>
          <p:cNvSpPr>
            <a:spLocks noGrp="1"/>
          </p:cNvSpPr>
          <p:nvPr/>
        </p:nvSpPr>
        <p:spPr>
          <a:xfrm>
            <a:off x="4370508" y="3186376"/>
            <a:ext cx="9525" cy="9525"/>
          </a:xfrm>
          <a:custGeom>
            <a:avLst/>
            <a:gdLst/>
            <a:ahLst/>
            <a:cxnLst/>
            <a:rect l="0" t="0" r="0" b="0"/>
            <a:pathLst>
              <a:path w="9525" h="9525">
                <a:moveTo>
                  <a:pt x="2544" y="0"/>
                </a:moveTo>
                <a:lnTo>
                  <a:pt x="0" y="5781"/>
                </a:lnTo>
              </a:path>
            </a:pathLst>
          </a:custGeom>
          <a:noFill/>
          <a:ln w="19050">
            <a:solidFill>
              <a:srgbClr val="17698C"/>
            </a:solidFill>
          </a:ln>
        </p:spPr>
        <p:txBody>
          <a:bodyPr/>
          <a:lstStyle/>
          <a:p>
            <a:endParaRPr lang="en-US"/>
          </a:p>
        </p:txBody>
      </p:sp>
      <p:sp>
        <p:nvSpPr>
          <p:cNvPr id="61" name="line-58">
            <a:extLst>
              <a:ext uri="{FF2B5EF4-FFF2-40B4-BE49-F238E27FC236}">
                <a16:creationId xmlns:a16="http://schemas.microsoft.com/office/drawing/2014/main" id="{BA5A728F-FD70-425B-8D8F-1CB353DD85E2}"/>
              </a:ext>
            </a:extLst>
          </p:cNvPr>
          <p:cNvSpPr>
            <a:spLocks noGrp="1"/>
          </p:cNvSpPr>
          <p:nvPr/>
        </p:nvSpPr>
        <p:spPr>
          <a:xfrm>
            <a:off x="4367649" y="3192157"/>
            <a:ext cx="9525" cy="9525"/>
          </a:xfrm>
          <a:custGeom>
            <a:avLst/>
            <a:gdLst/>
            <a:ahLst/>
            <a:cxnLst/>
            <a:rect l="0" t="0" r="0" b="0"/>
            <a:pathLst>
              <a:path w="9525" h="9525">
                <a:moveTo>
                  <a:pt x="2859" y="0"/>
                </a:moveTo>
                <a:lnTo>
                  <a:pt x="0" y="5632"/>
                </a:lnTo>
              </a:path>
            </a:pathLst>
          </a:custGeom>
          <a:noFill/>
          <a:ln w="19050">
            <a:solidFill>
              <a:srgbClr val="17698C"/>
            </a:solidFill>
          </a:ln>
        </p:spPr>
        <p:txBody>
          <a:bodyPr/>
          <a:lstStyle/>
          <a:p>
            <a:endParaRPr lang="en-US"/>
          </a:p>
        </p:txBody>
      </p:sp>
      <p:sp>
        <p:nvSpPr>
          <p:cNvPr id="62" name="line-59">
            <a:extLst>
              <a:ext uri="{FF2B5EF4-FFF2-40B4-BE49-F238E27FC236}">
                <a16:creationId xmlns:a16="http://schemas.microsoft.com/office/drawing/2014/main" id="{4C6A395F-9D0F-4F23-BDB7-8235C56319FB}"/>
              </a:ext>
            </a:extLst>
          </p:cNvPr>
          <p:cNvSpPr>
            <a:spLocks noGrp="1"/>
          </p:cNvSpPr>
          <p:nvPr/>
        </p:nvSpPr>
        <p:spPr>
          <a:xfrm>
            <a:off x="4364483" y="3197789"/>
            <a:ext cx="9525" cy="9525"/>
          </a:xfrm>
          <a:custGeom>
            <a:avLst/>
            <a:gdLst/>
            <a:ahLst/>
            <a:cxnLst/>
            <a:rect l="0" t="0" r="0" b="0"/>
            <a:pathLst>
              <a:path w="9525" h="9525">
                <a:moveTo>
                  <a:pt x="3166" y="0"/>
                </a:moveTo>
                <a:lnTo>
                  <a:pt x="0" y="5466"/>
                </a:lnTo>
              </a:path>
            </a:pathLst>
          </a:custGeom>
          <a:noFill/>
          <a:ln w="19050">
            <a:solidFill>
              <a:srgbClr val="17698C"/>
            </a:solidFill>
          </a:ln>
        </p:spPr>
        <p:txBody>
          <a:bodyPr/>
          <a:lstStyle/>
          <a:p>
            <a:endParaRPr lang="en-US"/>
          </a:p>
        </p:txBody>
      </p:sp>
      <p:sp>
        <p:nvSpPr>
          <p:cNvPr id="63" name="line-60">
            <a:extLst>
              <a:ext uri="{FF2B5EF4-FFF2-40B4-BE49-F238E27FC236}">
                <a16:creationId xmlns:a16="http://schemas.microsoft.com/office/drawing/2014/main" id="{FD413B15-B2A3-400F-9156-D1657A42381B}"/>
              </a:ext>
            </a:extLst>
          </p:cNvPr>
          <p:cNvSpPr>
            <a:spLocks noGrp="1"/>
          </p:cNvSpPr>
          <p:nvPr/>
        </p:nvSpPr>
        <p:spPr>
          <a:xfrm>
            <a:off x="4361019" y="3203255"/>
            <a:ext cx="9525" cy="9525"/>
          </a:xfrm>
          <a:custGeom>
            <a:avLst/>
            <a:gdLst/>
            <a:ahLst/>
            <a:cxnLst/>
            <a:rect l="0" t="0" r="0" b="0"/>
            <a:pathLst>
              <a:path w="9525" h="9525">
                <a:moveTo>
                  <a:pt x="3463" y="0"/>
                </a:moveTo>
                <a:lnTo>
                  <a:pt x="0" y="5282"/>
                </a:lnTo>
              </a:path>
            </a:pathLst>
          </a:custGeom>
          <a:noFill/>
          <a:ln w="19050">
            <a:solidFill>
              <a:srgbClr val="17698C"/>
            </a:solidFill>
          </a:ln>
        </p:spPr>
        <p:txBody>
          <a:bodyPr/>
          <a:lstStyle/>
          <a:p>
            <a:endParaRPr lang="en-US"/>
          </a:p>
        </p:txBody>
      </p:sp>
      <p:sp>
        <p:nvSpPr>
          <p:cNvPr id="64" name="line-61">
            <a:extLst>
              <a:ext uri="{FF2B5EF4-FFF2-40B4-BE49-F238E27FC236}">
                <a16:creationId xmlns:a16="http://schemas.microsoft.com/office/drawing/2014/main" id="{2B4EFDCD-00BC-4FE4-84F7-7A9CB5F67688}"/>
              </a:ext>
            </a:extLst>
          </p:cNvPr>
          <p:cNvSpPr>
            <a:spLocks noGrp="1"/>
          </p:cNvSpPr>
          <p:nvPr/>
        </p:nvSpPr>
        <p:spPr>
          <a:xfrm>
            <a:off x="4357270" y="3208537"/>
            <a:ext cx="9525" cy="9525"/>
          </a:xfrm>
          <a:custGeom>
            <a:avLst/>
            <a:gdLst/>
            <a:ahLst/>
            <a:cxnLst/>
            <a:rect l="0" t="0" r="0" b="0"/>
            <a:pathLst>
              <a:path w="9525" h="9525">
                <a:moveTo>
                  <a:pt x="3750" y="0"/>
                </a:moveTo>
                <a:lnTo>
                  <a:pt x="0" y="5083"/>
                </a:lnTo>
              </a:path>
            </a:pathLst>
          </a:custGeom>
          <a:noFill/>
          <a:ln w="19050">
            <a:solidFill>
              <a:srgbClr val="17698C"/>
            </a:solidFill>
          </a:ln>
        </p:spPr>
        <p:txBody>
          <a:bodyPr/>
          <a:lstStyle/>
          <a:p>
            <a:endParaRPr lang="en-US"/>
          </a:p>
        </p:txBody>
      </p:sp>
      <p:sp>
        <p:nvSpPr>
          <p:cNvPr id="65" name="line-62">
            <a:extLst>
              <a:ext uri="{FF2B5EF4-FFF2-40B4-BE49-F238E27FC236}">
                <a16:creationId xmlns:a16="http://schemas.microsoft.com/office/drawing/2014/main" id="{B855D838-C802-4CF4-8737-2B07D632230F}"/>
              </a:ext>
            </a:extLst>
          </p:cNvPr>
          <p:cNvSpPr>
            <a:spLocks noGrp="1"/>
          </p:cNvSpPr>
          <p:nvPr/>
        </p:nvSpPr>
        <p:spPr>
          <a:xfrm>
            <a:off x="4432328" y="3014238"/>
            <a:ext cx="9525" cy="9525"/>
          </a:xfrm>
          <a:custGeom>
            <a:avLst/>
            <a:gdLst/>
            <a:ahLst/>
            <a:cxnLst/>
            <a:rect l="0" t="0" r="0" b="0"/>
            <a:pathLst>
              <a:path w="9525" h="9525">
                <a:moveTo>
                  <a:pt x="0" y="0"/>
                </a:moveTo>
                <a:lnTo>
                  <a:pt x="6875" y="9319"/>
                </a:lnTo>
              </a:path>
            </a:pathLst>
          </a:custGeom>
          <a:noFill/>
          <a:ln w="19050">
            <a:solidFill>
              <a:srgbClr val="17698C"/>
            </a:solidFill>
          </a:ln>
        </p:spPr>
        <p:txBody>
          <a:bodyPr/>
          <a:lstStyle/>
          <a:p>
            <a:endParaRPr lang="en-US"/>
          </a:p>
        </p:txBody>
      </p:sp>
      <p:sp>
        <p:nvSpPr>
          <p:cNvPr id="66" name="line-63">
            <a:extLst>
              <a:ext uri="{FF2B5EF4-FFF2-40B4-BE49-F238E27FC236}">
                <a16:creationId xmlns:a16="http://schemas.microsoft.com/office/drawing/2014/main" id="{4082CAF4-908E-4BC6-8546-320F50B7E990}"/>
              </a:ext>
            </a:extLst>
          </p:cNvPr>
          <p:cNvSpPr>
            <a:spLocks noGrp="1"/>
          </p:cNvSpPr>
          <p:nvPr/>
        </p:nvSpPr>
        <p:spPr>
          <a:xfrm>
            <a:off x="4439202" y="3023557"/>
            <a:ext cx="9525" cy="9684"/>
          </a:xfrm>
          <a:custGeom>
            <a:avLst/>
            <a:gdLst/>
            <a:ahLst/>
            <a:cxnLst/>
            <a:rect l="0" t="0" r="0" b="0"/>
            <a:pathLst>
              <a:path w="9525" h="9684">
                <a:moveTo>
                  <a:pt x="0" y="0"/>
                </a:moveTo>
                <a:lnTo>
                  <a:pt x="6349" y="9684"/>
                </a:lnTo>
              </a:path>
            </a:pathLst>
          </a:custGeom>
          <a:noFill/>
          <a:ln w="19050">
            <a:solidFill>
              <a:srgbClr val="17698C"/>
            </a:solidFill>
          </a:ln>
        </p:spPr>
        <p:txBody>
          <a:bodyPr/>
          <a:lstStyle/>
          <a:p>
            <a:endParaRPr lang="en-US"/>
          </a:p>
        </p:txBody>
      </p:sp>
      <p:sp>
        <p:nvSpPr>
          <p:cNvPr id="67" name="line-64">
            <a:extLst>
              <a:ext uri="{FF2B5EF4-FFF2-40B4-BE49-F238E27FC236}">
                <a16:creationId xmlns:a16="http://schemas.microsoft.com/office/drawing/2014/main" id="{D3574DA4-3753-4EE0-B56B-334F22A1880C}"/>
              </a:ext>
            </a:extLst>
          </p:cNvPr>
          <p:cNvSpPr>
            <a:spLocks noGrp="1"/>
          </p:cNvSpPr>
          <p:nvPr/>
        </p:nvSpPr>
        <p:spPr>
          <a:xfrm>
            <a:off x="4445551" y="3033241"/>
            <a:ext cx="9525" cy="10020"/>
          </a:xfrm>
          <a:custGeom>
            <a:avLst/>
            <a:gdLst/>
            <a:ahLst/>
            <a:cxnLst/>
            <a:rect l="0" t="0" r="0" b="0"/>
            <a:pathLst>
              <a:path w="9525" h="10020">
                <a:moveTo>
                  <a:pt x="0" y="0"/>
                </a:moveTo>
                <a:lnTo>
                  <a:pt x="5805" y="10020"/>
                </a:lnTo>
              </a:path>
            </a:pathLst>
          </a:custGeom>
          <a:noFill/>
          <a:ln w="19050">
            <a:solidFill>
              <a:srgbClr val="17698C"/>
            </a:solidFill>
          </a:ln>
        </p:spPr>
        <p:txBody>
          <a:bodyPr/>
          <a:lstStyle/>
          <a:p>
            <a:endParaRPr lang="en-US"/>
          </a:p>
        </p:txBody>
      </p:sp>
      <p:sp>
        <p:nvSpPr>
          <p:cNvPr id="68" name="line-65">
            <a:extLst>
              <a:ext uri="{FF2B5EF4-FFF2-40B4-BE49-F238E27FC236}">
                <a16:creationId xmlns:a16="http://schemas.microsoft.com/office/drawing/2014/main" id="{123B58A9-6DF5-406C-8541-A560DD2DC9A8}"/>
              </a:ext>
            </a:extLst>
          </p:cNvPr>
          <p:cNvSpPr>
            <a:spLocks noGrp="1"/>
          </p:cNvSpPr>
          <p:nvPr/>
        </p:nvSpPr>
        <p:spPr>
          <a:xfrm>
            <a:off x="4451356" y="3043261"/>
            <a:ext cx="9525" cy="10326"/>
          </a:xfrm>
          <a:custGeom>
            <a:avLst/>
            <a:gdLst/>
            <a:ahLst/>
            <a:cxnLst/>
            <a:rect l="0" t="0" r="0" b="0"/>
            <a:pathLst>
              <a:path w="9525" h="10326">
                <a:moveTo>
                  <a:pt x="0" y="0"/>
                </a:moveTo>
                <a:lnTo>
                  <a:pt x="5242" y="10326"/>
                </a:lnTo>
              </a:path>
            </a:pathLst>
          </a:custGeom>
          <a:noFill/>
          <a:ln w="19050">
            <a:solidFill>
              <a:srgbClr val="17698C"/>
            </a:solidFill>
          </a:ln>
        </p:spPr>
        <p:txBody>
          <a:bodyPr/>
          <a:lstStyle/>
          <a:p>
            <a:endParaRPr lang="en-US"/>
          </a:p>
        </p:txBody>
      </p:sp>
      <p:sp>
        <p:nvSpPr>
          <p:cNvPr id="69" name="line-66">
            <a:extLst>
              <a:ext uri="{FF2B5EF4-FFF2-40B4-BE49-F238E27FC236}">
                <a16:creationId xmlns:a16="http://schemas.microsoft.com/office/drawing/2014/main" id="{029B6A63-5527-4788-857D-46D9F93B273A}"/>
              </a:ext>
            </a:extLst>
          </p:cNvPr>
          <p:cNvSpPr>
            <a:spLocks noGrp="1"/>
          </p:cNvSpPr>
          <p:nvPr/>
        </p:nvSpPr>
        <p:spPr>
          <a:xfrm>
            <a:off x="4456598" y="3053587"/>
            <a:ext cx="9525" cy="10599"/>
          </a:xfrm>
          <a:custGeom>
            <a:avLst/>
            <a:gdLst/>
            <a:ahLst/>
            <a:cxnLst/>
            <a:rect l="0" t="0" r="0" b="0"/>
            <a:pathLst>
              <a:path w="9525" h="10599">
                <a:moveTo>
                  <a:pt x="0" y="0"/>
                </a:moveTo>
                <a:lnTo>
                  <a:pt x="4664" y="10599"/>
                </a:lnTo>
              </a:path>
            </a:pathLst>
          </a:custGeom>
          <a:noFill/>
          <a:ln w="19050">
            <a:solidFill>
              <a:srgbClr val="17698C"/>
            </a:solidFill>
          </a:ln>
        </p:spPr>
        <p:txBody>
          <a:bodyPr/>
          <a:lstStyle/>
          <a:p>
            <a:endParaRPr lang="en-US"/>
          </a:p>
        </p:txBody>
      </p:sp>
      <p:sp>
        <p:nvSpPr>
          <p:cNvPr id="70" name="line-67">
            <a:extLst>
              <a:ext uri="{FF2B5EF4-FFF2-40B4-BE49-F238E27FC236}">
                <a16:creationId xmlns:a16="http://schemas.microsoft.com/office/drawing/2014/main" id="{CBF76B6E-3028-4333-9E2A-0785ACFCE07A}"/>
              </a:ext>
            </a:extLst>
          </p:cNvPr>
          <p:cNvSpPr>
            <a:spLocks noGrp="1"/>
          </p:cNvSpPr>
          <p:nvPr/>
        </p:nvSpPr>
        <p:spPr>
          <a:xfrm>
            <a:off x="4461262" y="3064186"/>
            <a:ext cx="9525" cy="10841"/>
          </a:xfrm>
          <a:custGeom>
            <a:avLst/>
            <a:gdLst/>
            <a:ahLst/>
            <a:cxnLst/>
            <a:rect l="0" t="0" r="0" b="0"/>
            <a:pathLst>
              <a:path w="9525" h="10841">
                <a:moveTo>
                  <a:pt x="0" y="0"/>
                </a:moveTo>
                <a:lnTo>
                  <a:pt x="4071" y="10841"/>
                </a:lnTo>
              </a:path>
            </a:pathLst>
          </a:custGeom>
          <a:noFill/>
          <a:ln w="19050">
            <a:solidFill>
              <a:srgbClr val="17698C"/>
            </a:solidFill>
          </a:ln>
        </p:spPr>
        <p:txBody>
          <a:bodyPr/>
          <a:lstStyle/>
          <a:p>
            <a:endParaRPr lang="en-US"/>
          </a:p>
        </p:txBody>
      </p:sp>
      <p:sp>
        <p:nvSpPr>
          <p:cNvPr id="71" name="line-68">
            <a:extLst>
              <a:ext uri="{FF2B5EF4-FFF2-40B4-BE49-F238E27FC236}">
                <a16:creationId xmlns:a16="http://schemas.microsoft.com/office/drawing/2014/main" id="{1E979003-B16E-491D-9713-A77D9CE247E6}"/>
              </a:ext>
            </a:extLst>
          </p:cNvPr>
          <p:cNvSpPr>
            <a:spLocks noGrp="1"/>
          </p:cNvSpPr>
          <p:nvPr/>
        </p:nvSpPr>
        <p:spPr>
          <a:xfrm>
            <a:off x="4465333" y="3075027"/>
            <a:ext cx="9525" cy="11049"/>
          </a:xfrm>
          <a:custGeom>
            <a:avLst/>
            <a:gdLst/>
            <a:ahLst/>
            <a:cxnLst/>
            <a:rect l="0" t="0" r="0" b="0"/>
            <a:pathLst>
              <a:path w="9525" h="11049">
                <a:moveTo>
                  <a:pt x="0" y="0"/>
                </a:moveTo>
                <a:lnTo>
                  <a:pt x="3466" y="11049"/>
                </a:lnTo>
              </a:path>
            </a:pathLst>
          </a:custGeom>
          <a:noFill/>
          <a:ln w="19050">
            <a:solidFill>
              <a:srgbClr val="17698C"/>
            </a:solidFill>
          </a:ln>
        </p:spPr>
        <p:txBody>
          <a:bodyPr/>
          <a:lstStyle/>
          <a:p>
            <a:endParaRPr lang="en-US"/>
          </a:p>
        </p:txBody>
      </p:sp>
      <p:sp>
        <p:nvSpPr>
          <p:cNvPr id="72" name="line-69">
            <a:extLst>
              <a:ext uri="{FF2B5EF4-FFF2-40B4-BE49-F238E27FC236}">
                <a16:creationId xmlns:a16="http://schemas.microsoft.com/office/drawing/2014/main" id="{446223F9-FBF9-47AD-8806-82DF1D98FBD0}"/>
              </a:ext>
            </a:extLst>
          </p:cNvPr>
          <p:cNvSpPr>
            <a:spLocks noGrp="1"/>
          </p:cNvSpPr>
          <p:nvPr/>
        </p:nvSpPr>
        <p:spPr>
          <a:xfrm>
            <a:off x="4468800" y="3086076"/>
            <a:ext cx="9525" cy="11224"/>
          </a:xfrm>
          <a:custGeom>
            <a:avLst/>
            <a:gdLst/>
            <a:ahLst/>
            <a:cxnLst/>
            <a:rect l="0" t="0" r="0" b="0"/>
            <a:pathLst>
              <a:path w="9525" h="11224">
                <a:moveTo>
                  <a:pt x="0" y="0"/>
                </a:moveTo>
                <a:lnTo>
                  <a:pt x="2850" y="11224"/>
                </a:lnTo>
              </a:path>
            </a:pathLst>
          </a:custGeom>
          <a:noFill/>
          <a:ln w="19050">
            <a:solidFill>
              <a:srgbClr val="17698C"/>
            </a:solidFill>
          </a:ln>
        </p:spPr>
        <p:txBody>
          <a:bodyPr/>
          <a:lstStyle/>
          <a:p>
            <a:endParaRPr lang="en-US"/>
          </a:p>
        </p:txBody>
      </p:sp>
      <p:sp>
        <p:nvSpPr>
          <p:cNvPr id="73" name="line-70">
            <a:extLst>
              <a:ext uri="{FF2B5EF4-FFF2-40B4-BE49-F238E27FC236}">
                <a16:creationId xmlns:a16="http://schemas.microsoft.com/office/drawing/2014/main" id="{40108209-7175-431C-93B8-7A8E835AC0EF}"/>
              </a:ext>
            </a:extLst>
          </p:cNvPr>
          <p:cNvSpPr>
            <a:spLocks noGrp="1"/>
          </p:cNvSpPr>
          <p:nvPr/>
        </p:nvSpPr>
        <p:spPr>
          <a:xfrm>
            <a:off x="4471650" y="3097300"/>
            <a:ext cx="9525" cy="11364"/>
          </a:xfrm>
          <a:custGeom>
            <a:avLst/>
            <a:gdLst/>
            <a:ahLst/>
            <a:cxnLst/>
            <a:rect l="0" t="0" r="0" b="0"/>
            <a:pathLst>
              <a:path w="9525" h="11364">
                <a:moveTo>
                  <a:pt x="0" y="0"/>
                </a:moveTo>
                <a:lnTo>
                  <a:pt x="2226" y="11364"/>
                </a:lnTo>
              </a:path>
            </a:pathLst>
          </a:custGeom>
          <a:noFill/>
          <a:ln w="19050">
            <a:solidFill>
              <a:srgbClr val="17698C"/>
            </a:solidFill>
          </a:ln>
        </p:spPr>
        <p:txBody>
          <a:bodyPr/>
          <a:lstStyle/>
          <a:p>
            <a:endParaRPr lang="en-US"/>
          </a:p>
        </p:txBody>
      </p:sp>
      <p:sp>
        <p:nvSpPr>
          <p:cNvPr id="74" name="line-71">
            <a:extLst>
              <a:ext uri="{FF2B5EF4-FFF2-40B4-BE49-F238E27FC236}">
                <a16:creationId xmlns:a16="http://schemas.microsoft.com/office/drawing/2014/main" id="{65DB330C-9CCA-4568-95AA-2EF371B89C1A}"/>
              </a:ext>
            </a:extLst>
          </p:cNvPr>
          <p:cNvSpPr>
            <a:spLocks noGrp="1"/>
          </p:cNvSpPr>
          <p:nvPr/>
        </p:nvSpPr>
        <p:spPr>
          <a:xfrm>
            <a:off x="4473876" y="3108664"/>
            <a:ext cx="9525" cy="11470"/>
          </a:xfrm>
          <a:custGeom>
            <a:avLst/>
            <a:gdLst/>
            <a:ahLst/>
            <a:cxnLst/>
            <a:rect l="0" t="0" r="0" b="0"/>
            <a:pathLst>
              <a:path w="9525" h="11470">
                <a:moveTo>
                  <a:pt x="0" y="0"/>
                </a:moveTo>
                <a:lnTo>
                  <a:pt x="1595" y="11470"/>
                </a:lnTo>
              </a:path>
            </a:pathLst>
          </a:custGeom>
          <a:noFill/>
          <a:ln w="19050">
            <a:solidFill>
              <a:srgbClr val="17698C"/>
            </a:solidFill>
          </a:ln>
        </p:spPr>
        <p:txBody>
          <a:bodyPr/>
          <a:lstStyle/>
          <a:p>
            <a:endParaRPr lang="en-US"/>
          </a:p>
        </p:txBody>
      </p:sp>
      <p:sp>
        <p:nvSpPr>
          <p:cNvPr id="75" name="line-72">
            <a:extLst>
              <a:ext uri="{FF2B5EF4-FFF2-40B4-BE49-F238E27FC236}">
                <a16:creationId xmlns:a16="http://schemas.microsoft.com/office/drawing/2014/main" id="{29087AF6-FB66-4213-81B7-FCB5F02AE2EE}"/>
              </a:ext>
            </a:extLst>
          </p:cNvPr>
          <p:cNvSpPr>
            <a:spLocks noGrp="1"/>
          </p:cNvSpPr>
          <p:nvPr/>
        </p:nvSpPr>
        <p:spPr>
          <a:xfrm>
            <a:off x="4475471" y="3120134"/>
            <a:ext cx="9525" cy="11540"/>
          </a:xfrm>
          <a:custGeom>
            <a:avLst/>
            <a:gdLst/>
            <a:ahLst/>
            <a:cxnLst/>
            <a:rect l="0" t="0" r="0" b="0"/>
            <a:pathLst>
              <a:path w="9525" h="11540">
                <a:moveTo>
                  <a:pt x="0" y="0"/>
                </a:moveTo>
                <a:lnTo>
                  <a:pt x="959" y="11540"/>
                </a:lnTo>
              </a:path>
            </a:pathLst>
          </a:custGeom>
          <a:noFill/>
          <a:ln w="19050">
            <a:solidFill>
              <a:srgbClr val="17698C"/>
            </a:solidFill>
          </a:ln>
        </p:spPr>
        <p:txBody>
          <a:bodyPr/>
          <a:lstStyle/>
          <a:p>
            <a:endParaRPr lang="en-US"/>
          </a:p>
        </p:txBody>
      </p:sp>
      <p:sp>
        <p:nvSpPr>
          <p:cNvPr id="76" name="line-73">
            <a:extLst>
              <a:ext uri="{FF2B5EF4-FFF2-40B4-BE49-F238E27FC236}">
                <a16:creationId xmlns:a16="http://schemas.microsoft.com/office/drawing/2014/main" id="{7B25CC50-1916-43BC-A1D8-BBFAC7A23334}"/>
              </a:ext>
            </a:extLst>
          </p:cNvPr>
          <p:cNvSpPr>
            <a:spLocks noGrp="1"/>
          </p:cNvSpPr>
          <p:nvPr/>
        </p:nvSpPr>
        <p:spPr>
          <a:xfrm>
            <a:off x="4476430" y="3131674"/>
            <a:ext cx="9525" cy="11576"/>
          </a:xfrm>
          <a:custGeom>
            <a:avLst/>
            <a:gdLst/>
            <a:ahLst/>
            <a:cxnLst/>
            <a:rect l="0" t="0" r="0" b="0"/>
            <a:pathLst>
              <a:path w="9525" h="11576">
                <a:moveTo>
                  <a:pt x="0" y="0"/>
                </a:moveTo>
                <a:lnTo>
                  <a:pt x="320" y="11576"/>
                </a:lnTo>
              </a:path>
            </a:pathLst>
          </a:custGeom>
          <a:noFill/>
          <a:ln w="19050">
            <a:solidFill>
              <a:srgbClr val="17698C"/>
            </a:solidFill>
          </a:ln>
        </p:spPr>
        <p:txBody>
          <a:bodyPr/>
          <a:lstStyle/>
          <a:p>
            <a:endParaRPr lang="en-US"/>
          </a:p>
        </p:txBody>
      </p:sp>
      <p:sp>
        <p:nvSpPr>
          <p:cNvPr id="77" name="line-74">
            <a:extLst>
              <a:ext uri="{FF2B5EF4-FFF2-40B4-BE49-F238E27FC236}">
                <a16:creationId xmlns:a16="http://schemas.microsoft.com/office/drawing/2014/main" id="{ED3B51D9-E4C5-44AA-9F9F-B6360125B3F9}"/>
              </a:ext>
            </a:extLst>
          </p:cNvPr>
          <p:cNvSpPr>
            <a:spLocks noGrp="1"/>
          </p:cNvSpPr>
          <p:nvPr/>
        </p:nvSpPr>
        <p:spPr>
          <a:xfrm>
            <a:off x="4476430" y="3143250"/>
            <a:ext cx="9525" cy="11576"/>
          </a:xfrm>
          <a:custGeom>
            <a:avLst/>
            <a:gdLst/>
            <a:ahLst/>
            <a:cxnLst/>
            <a:rect l="0" t="0" r="0" b="0"/>
            <a:pathLst>
              <a:path w="9525" h="11576">
                <a:moveTo>
                  <a:pt x="320" y="0"/>
                </a:moveTo>
                <a:lnTo>
                  <a:pt x="0" y="11576"/>
                </a:lnTo>
              </a:path>
            </a:pathLst>
          </a:custGeom>
          <a:noFill/>
          <a:ln w="19050">
            <a:solidFill>
              <a:srgbClr val="17698C"/>
            </a:solidFill>
          </a:ln>
        </p:spPr>
        <p:txBody>
          <a:bodyPr/>
          <a:lstStyle/>
          <a:p>
            <a:endParaRPr lang="en-US"/>
          </a:p>
        </p:txBody>
      </p:sp>
      <p:sp>
        <p:nvSpPr>
          <p:cNvPr id="78" name="line-75">
            <a:extLst>
              <a:ext uri="{FF2B5EF4-FFF2-40B4-BE49-F238E27FC236}">
                <a16:creationId xmlns:a16="http://schemas.microsoft.com/office/drawing/2014/main" id="{C832E827-B04B-42BE-B0C7-518A255E80D3}"/>
              </a:ext>
            </a:extLst>
          </p:cNvPr>
          <p:cNvSpPr>
            <a:spLocks noGrp="1"/>
          </p:cNvSpPr>
          <p:nvPr/>
        </p:nvSpPr>
        <p:spPr>
          <a:xfrm>
            <a:off x="4475471" y="3154826"/>
            <a:ext cx="9525" cy="11540"/>
          </a:xfrm>
          <a:custGeom>
            <a:avLst/>
            <a:gdLst/>
            <a:ahLst/>
            <a:cxnLst/>
            <a:rect l="0" t="0" r="0" b="0"/>
            <a:pathLst>
              <a:path w="9525" h="11540">
                <a:moveTo>
                  <a:pt x="959" y="0"/>
                </a:moveTo>
                <a:lnTo>
                  <a:pt x="0" y="11540"/>
                </a:lnTo>
              </a:path>
            </a:pathLst>
          </a:custGeom>
          <a:noFill/>
          <a:ln w="19050">
            <a:solidFill>
              <a:srgbClr val="17698C"/>
            </a:solidFill>
          </a:ln>
        </p:spPr>
        <p:txBody>
          <a:bodyPr/>
          <a:lstStyle/>
          <a:p>
            <a:endParaRPr lang="en-US"/>
          </a:p>
        </p:txBody>
      </p:sp>
      <p:sp>
        <p:nvSpPr>
          <p:cNvPr id="79" name="line-76">
            <a:extLst>
              <a:ext uri="{FF2B5EF4-FFF2-40B4-BE49-F238E27FC236}">
                <a16:creationId xmlns:a16="http://schemas.microsoft.com/office/drawing/2014/main" id="{AA2D7863-7310-4964-8BA1-2A12AB197BA8}"/>
              </a:ext>
            </a:extLst>
          </p:cNvPr>
          <p:cNvSpPr>
            <a:spLocks noGrp="1"/>
          </p:cNvSpPr>
          <p:nvPr/>
        </p:nvSpPr>
        <p:spPr>
          <a:xfrm>
            <a:off x="4473876" y="3166366"/>
            <a:ext cx="9525" cy="11470"/>
          </a:xfrm>
          <a:custGeom>
            <a:avLst/>
            <a:gdLst/>
            <a:ahLst/>
            <a:cxnLst/>
            <a:rect l="0" t="0" r="0" b="0"/>
            <a:pathLst>
              <a:path w="9525" h="11470">
                <a:moveTo>
                  <a:pt x="1595" y="0"/>
                </a:moveTo>
                <a:lnTo>
                  <a:pt x="0" y="11470"/>
                </a:lnTo>
              </a:path>
            </a:pathLst>
          </a:custGeom>
          <a:noFill/>
          <a:ln w="19050">
            <a:solidFill>
              <a:srgbClr val="17698C"/>
            </a:solidFill>
          </a:ln>
        </p:spPr>
        <p:txBody>
          <a:bodyPr/>
          <a:lstStyle/>
          <a:p>
            <a:endParaRPr lang="en-US"/>
          </a:p>
        </p:txBody>
      </p:sp>
      <p:sp>
        <p:nvSpPr>
          <p:cNvPr id="80" name="line-77">
            <a:extLst>
              <a:ext uri="{FF2B5EF4-FFF2-40B4-BE49-F238E27FC236}">
                <a16:creationId xmlns:a16="http://schemas.microsoft.com/office/drawing/2014/main" id="{232EAA79-6A3A-44B9-9859-C4EFF18448B0}"/>
              </a:ext>
            </a:extLst>
          </p:cNvPr>
          <p:cNvSpPr>
            <a:spLocks noGrp="1"/>
          </p:cNvSpPr>
          <p:nvPr/>
        </p:nvSpPr>
        <p:spPr>
          <a:xfrm>
            <a:off x="4471650" y="3177836"/>
            <a:ext cx="9525" cy="11364"/>
          </a:xfrm>
          <a:custGeom>
            <a:avLst/>
            <a:gdLst/>
            <a:ahLst/>
            <a:cxnLst/>
            <a:rect l="0" t="0" r="0" b="0"/>
            <a:pathLst>
              <a:path w="9525" h="11364">
                <a:moveTo>
                  <a:pt x="2226" y="0"/>
                </a:moveTo>
                <a:lnTo>
                  <a:pt x="0" y="11364"/>
                </a:lnTo>
              </a:path>
            </a:pathLst>
          </a:custGeom>
          <a:noFill/>
          <a:ln w="19050">
            <a:solidFill>
              <a:srgbClr val="17698C"/>
            </a:solidFill>
          </a:ln>
        </p:spPr>
        <p:txBody>
          <a:bodyPr/>
          <a:lstStyle/>
          <a:p>
            <a:endParaRPr lang="en-US"/>
          </a:p>
        </p:txBody>
      </p:sp>
      <p:sp>
        <p:nvSpPr>
          <p:cNvPr id="81" name="line-78">
            <a:extLst>
              <a:ext uri="{FF2B5EF4-FFF2-40B4-BE49-F238E27FC236}">
                <a16:creationId xmlns:a16="http://schemas.microsoft.com/office/drawing/2014/main" id="{D10F7BE1-7B4A-4EF4-A824-FFED354C2A97}"/>
              </a:ext>
            </a:extLst>
          </p:cNvPr>
          <p:cNvSpPr>
            <a:spLocks noGrp="1"/>
          </p:cNvSpPr>
          <p:nvPr/>
        </p:nvSpPr>
        <p:spPr>
          <a:xfrm>
            <a:off x="4468800" y="3189200"/>
            <a:ext cx="9525" cy="11224"/>
          </a:xfrm>
          <a:custGeom>
            <a:avLst/>
            <a:gdLst/>
            <a:ahLst/>
            <a:cxnLst/>
            <a:rect l="0" t="0" r="0" b="0"/>
            <a:pathLst>
              <a:path w="9525" h="11224">
                <a:moveTo>
                  <a:pt x="2850" y="0"/>
                </a:moveTo>
                <a:lnTo>
                  <a:pt x="0" y="11224"/>
                </a:lnTo>
              </a:path>
            </a:pathLst>
          </a:custGeom>
          <a:noFill/>
          <a:ln w="19050">
            <a:solidFill>
              <a:srgbClr val="17698C"/>
            </a:solidFill>
          </a:ln>
        </p:spPr>
        <p:txBody>
          <a:bodyPr/>
          <a:lstStyle/>
          <a:p>
            <a:endParaRPr lang="en-US"/>
          </a:p>
        </p:txBody>
      </p:sp>
      <p:sp>
        <p:nvSpPr>
          <p:cNvPr id="82" name="line-79">
            <a:extLst>
              <a:ext uri="{FF2B5EF4-FFF2-40B4-BE49-F238E27FC236}">
                <a16:creationId xmlns:a16="http://schemas.microsoft.com/office/drawing/2014/main" id="{A676D4F6-C56E-41F5-99B2-E57108EDFB27}"/>
              </a:ext>
            </a:extLst>
          </p:cNvPr>
          <p:cNvSpPr>
            <a:spLocks noGrp="1"/>
          </p:cNvSpPr>
          <p:nvPr/>
        </p:nvSpPr>
        <p:spPr>
          <a:xfrm>
            <a:off x="4465333" y="3200424"/>
            <a:ext cx="9525" cy="11049"/>
          </a:xfrm>
          <a:custGeom>
            <a:avLst/>
            <a:gdLst/>
            <a:ahLst/>
            <a:cxnLst/>
            <a:rect l="0" t="0" r="0" b="0"/>
            <a:pathLst>
              <a:path w="9525" h="11049">
                <a:moveTo>
                  <a:pt x="3466" y="0"/>
                </a:moveTo>
                <a:lnTo>
                  <a:pt x="0" y="11049"/>
                </a:lnTo>
              </a:path>
            </a:pathLst>
          </a:custGeom>
          <a:noFill/>
          <a:ln w="19050">
            <a:solidFill>
              <a:srgbClr val="17698C"/>
            </a:solidFill>
          </a:ln>
        </p:spPr>
        <p:txBody>
          <a:bodyPr/>
          <a:lstStyle/>
          <a:p>
            <a:endParaRPr lang="en-US"/>
          </a:p>
        </p:txBody>
      </p:sp>
      <p:sp>
        <p:nvSpPr>
          <p:cNvPr id="83" name="line-80">
            <a:extLst>
              <a:ext uri="{FF2B5EF4-FFF2-40B4-BE49-F238E27FC236}">
                <a16:creationId xmlns:a16="http://schemas.microsoft.com/office/drawing/2014/main" id="{E00D87B0-1800-4C37-B1CE-8F92AE32BB7E}"/>
              </a:ext>
            </a:extLst>
          </p:cNvPr>
          <p:cNvSpPr>
            <a:spLocks noGrp="1"/>
          </p:cNvSpPr>
          <p:nvPr/>
        </p:nvSpPr>
        <p:spPr>
          <a:xfrm>
            <a:off x="4461262" y="3211473"/>
            <a:ext cx="9525" cy="10841"/>
          </a:xfrm>
          <a:custGeom>
            <a:avLst/>
            <a:gdLst/>
            <a:ahLst/>
            <a:cxnLst/>
            <a:rect l="0" t="0" r="0" b="0"/>
            <a:pathLst>
              <a:path w="9525" h="10841">
                <a:moveTo>
                  <a:pt x="4071" y="0"/>
                </a:moveTo>
                <a:lnTo>
                  <a:pt x="0" y="10841"/>
                </a:lnTo>
              </a:path>
            </a:pathLst>
          </a:custGeom>
          <a:noFill/>
          <a:ln w="19050">
            <a:solidFill>
              <a:srgbClr val="17698C"/>
            </a:solidFill>
          </a:ln>
        </p:spPr>
        <p:txBody>
          <a:bodyPr/>
          <a:lstStyle/>
          <a:p>
            <a:endParaRPr lang="en-US"/>
          </a:p>
        </p:txBody>
      </p:sp>
      <p:sp>
        <p:nvSpPr>
          <p:cNvPr id="84" name="line-81">
            <a:extLst>
              <a:ext uri="{FF2B5EF4-FFF2-40B4-BE49-F238E27FC236}">
                <a16:creationId xmlns:a16="http://schemas.microsoft.com/office/drawing/2014/main" id="{1F4A5D5B-131E-415B-9F70-2B140D34F7C7}"/>
              </a:ext>
            </a:extLst>
          </p:cNvPr>
          <p:cNvSpPr>
            <a:spLocks noGrp="1"/>
          </p:cNvSpPr>
          <p:nvPr/>
        </p:nvSpPr>
        <p:spPr>
          <a:xfrm>
            <a:off x="4456598" y="3222314"/>
            <a:ext cx="9525" cy="10599"/>
          </a:xfrm>
          <a:custGeom>
            <a:avLst/>
            <a:gdLst/>
            <a:ahLst/>
            <a:cxnLst/>
            <a:rect l="0" t="0" r="0" b="0"/>
            <a:pathLst>
              <a:path w="9525" h="10599">
                <a:moveTo>
                  <a:pt x="4664" y="0"/>
                </a:moveTo>
                <a:lnTo>
                  <a:pt x="0" y="10599"/>
                </a:lnTo>
              </a:path>
            </a:pathLst>
          </a:custGeom>
          <a:noFill/>
          <a:ln w="19050">
            <a:solidFill>
              <a:srgbClr val="17698C"/>
            </a:solidFill>
          </a:ln>
        </p:spPr>
        <p:txBody>
          <a:bodyPr/>
          <a:lstStyle/>
          <a:p>
            <a:endParaRPr lang="en-US"/>
          </a:p>
        </p:txBody>
      </p:sp>
      <p:sp>
        <p:nvSpPr>
          <p:cNvPr id="85" name="line-82">
            <a:extLst>
              <a:ext uri="{FF2B5EF4-FFF2-40B4-BE49-F238E27FC236}">
                <a16:creationId xmlns:a16="http://schemas.microsoft.com/office/drawing/2014/main" id="{FC99718B-FD01-4AF0-91A8-43F66DC7FDE8}"/>
              </a:ext>
            </a:extLst>
          </p:cNvPr>
          <p:cNvSpPr>
            <a:spLocks noGrp="1"/>
          </p:cNvSpPr>
          <p:nvPr/>
        </p:nvSpPr>
        <p:spPr>
          <a:xfrm>
            <a:off x="4451356" y="3232913"/>
            <a:ext cx="9525" cy="10326"/>
          </a:xfrm>
          <a:custGeom>
            <a:avLst/>
            <a:gdLst/>
            <a:ahLst/>
            <a:cxnLst/>
            <a:rect l="0" t="0" r="0" b="0"/>
            <a:pathLst>
              <a:path w="9525" h="10326">
                <a:moveTo>
                  <a:pt x="5242" y="0"/>
                </a:moveTo>
                <a:lnTo>
                  <a:pt x="0" y="10326"/>
                </a:lnTo>
              </a:path>
            </a:pathLst>
          </a:custGeom>
          <a:noFill/>
          <a:ln w="19050">
            <a:solidFill>
              <a:srgbClr val="17698C"/>
            </a:solidFill>
          </a:ln>
        </p:spPr>
        <p:txBody>
          <a:bodyPr/>
          <a:lstStyle/>
          <a:p>
            <a:endParaRPr lang="en-US"/>
          </a:p>
        </p:txBody>
      </p:sp>
      <p:sp>
        <p:nvSpPr>
          <p:cNvPr id="86" name="line-83">
            <a:extLst>
              <a:ext uri="{FF2B5EF4-FFF2-40B4-BE49-F238E27FC236}">
                <a16:creationId xmlns:a16="http://schemas.microsoft.com/office/drawing/2014/main" id="{D925C06A-9FA6-48F0-9EC9-D4F432B3B8C4}"/>
              </a:ext>
            </a:extLst>
          </p:cNvPr>
          <p:cNvSpPr>
            <a:spLocks noGrp="1"/>
          </p:cNvSpPr>
          <p:nvPr/>
        </p:nvSpPr>
        <p:spPr>
          <a:xfrm>
            <a:off x="4445551" y="3243239"/>
            <a:ext cx="9525" cy="10020"/>
          </a:xfrm>
          <a:custGeom>
            <a:avLst/>
            <a:gdLst/>
            <a:ahLst/>
            <a:cxnLst/>
            <a:rect l="0" t="0" r="0" b="0"/>
            <a:pathLst>
              <a:path w="9525" h="10020">
                <a:moveTo>
                  <a:pt x="5805" y="0"/>
                </a:moveTo>
                <a:lnTo>
                  <a:pt x="0" y="10020"/>
                </a:lnTo>
              </a:path>
            </a:pathLst>
          </a:custGeom>
          <a:noFill/>
          <a:ln w="19050">
            <a:solidFill>
              <a:srgbClr val="17698C"/>
            </a:solidFill>
          </a:ln>
        </p:spPr>
        <p:txBody>
          <a:bodyPr/>
          <a:lstStyle/>
          <a:p>
            <a:endParaRPr lang="en-US"/>
          </a:p>
        </p:txBody>
      </p:sp>
      <p:sp>
        <p:nvSpPr>
          <p:cNvPr id="87" name="line-84">
            <a:extLst>
              <a:ext uri="{FF2B5EF4-FFF2-40B4-BE49-F238E27FC236}">
                <a16:creationId xmlns:a16="http://schemas.microsoft.com/office/drawing/2014/main" id="{F7FFE526-CBD5-465B-AACD-C6F48525FCCB}"/>
              </a:ext>
            </a:extLst>
          </p:cNvPr>
          <p:cNvSpPr>
            <a:spLocks noGrp="1"/>
          </p:cNvSpPr>
          <p:nvPr/>
        </p:nvSpPr>
        <p:spPr>
          <a:xfrm>
            <a:off x="4439202" y="3253259"/>
            <a:ext cx="9525" cy="9684"/>
          </a:xfrm>
          <a:custGeom>
            <a:avLst/>
            <a:gdLst/>
            <a:ahLst/>
            <a:cxnLst/>
            <a:rect l="0" t="0" r="0" b="0"/>
            <a:pathLst>
              <a:path w="9525" h="9684">
                <a:moveTo>
                  <a:pt x="6349" y="0"/>
                </a:moveTo>
                <a:lnTo>
                  <a:pt x="0" y="9684"/>
                </a:lnTo>
              </a:path>
            </a:pathLst>
          </a:custGeom>
          <a:noFill/>
          <a:ln w="19050">
            <a:solidFill>
              <a:srgbClr val="17698C"/>
            </a:solidFill>
          </a:ln>
        </p:spPr>
        <p:txBody>
          <a:bodyPr/>
          <a:lstStyle/>
          <a:p>
            <a:endParaRPr lang="en-US"/>
          </a:p>
        </p:txBody>
      </p:sp>
      <p:sp>
        <p:nvSpPr>
          <p:cNvPr id="88" name="line-85">
            <a:extLst>
              <a:ext uri="{FF2B5EF4-FFF2-40B4-BE49-F238E27FC236}">
                <a16:creationId xmlns:a16="http://schemas.microsoft.com/office/drawing/2014/main" id="{EA4B285B-A6BE-4EDB-9989-9CE9D0C7328A}"/>
              </a:ext>
            </a:extLst>
          </p:cNvPr>
          <p:cNvSpPr>
            <a:spLocks noGrp="1"/>
          </p:cNvSpPr>
          <p:nvPr/>
        </p:nvSpPr>
        <p:spPr>
          <a:xfrm>
            <a:off x="4432328" y="3262943"/>
            <a:ext cx="9525" cy="9525"/>
          </a:xfrm>
          <a:custGeom>
            <a:avLst/>
            <a:gdLst/>
            <a:ahLst/>
            <a:cxnLst/>
            <a:rect l="0" t="0" r="0" b="0"/>
            <a:pathLst>
              <a:path w="9525" h="9525">
                <a:moveTo>
                  <a:pt x="6875" y="0"/>
                </a:moveTo>
                <a:lnTo>
                  <a:pt x="0" y="9319"/>
                </a:lnTo>
              </a:path>
            </a:pathLst>
          </a:custGeom>
          <a:noFill/>
          <a:ln w="19050">
            <a:solidFill>
              <a:srgbClr val="17698C"/>
            </a:solidFill>
          </a:ln>
        </p:spPr>
        <p:txBody>
          <a:bodyPr/>
          <a:lstStyle/>
          <a:p>
            <a:endParaRPr lang="en-US"/>
          </a:p>
        </p:txBody>
      </p:sp>
      <p:sp>
        <p:nvSpPr>
          <p:cNvPr id="89" name="line-86">
            <a:extLst>
              <a:ext uri="{FF2B5EF4-FFF2-40B4-BE49-F238E27FC236}">
                <a16:creationId xmlns:a16="http://schemas.microsoft.com/office/drawing/2014/main" id="{E415701C-DE07-463E-85A2-BDB70E7D0CFD}"/>
              </a:ext>
            </a:extLst>
          </p:cNvPr>
          <p:cNvSpPr>
            <a:spLocks noGrp="1"/>
          </p:cNvSpPr>
          <p:nvPr/>
        </p:nvSpPr>
        <p:spPr>
          <a:xfrm>
            <a:off x="4507386" y="2955596"/>
            <a:ext cx="9999" cy="13555"/>
          </a:xfrm>
          <a:custGeom>
            <a:avLst/>
            <a:gdLst/>
            <a:ahLst/>
            <a:cxnLst/>
            <a:rect l="0" t="0" r="0" b="0"/>
            <a:pathLst>
              <a:path w="9999" h="13555">
                <a:moveTo>
                  <a:pt x="0" y="0"/>
                </a:moveTo>
                <a:lnTo>
                  <a:pt x="9999" y="13555"/>
                </a:lnTo>
              </a:path>
            </a:pathLst>
          </a:custGeom>
          <a:noFill/>
          <a:ln w="19050">
            <a:solidFill>
              <a:srgbClr val="17698C"/>
            </a:solidFill>
          </a:ln>
        </p:spPr>
        <p:txBody>
          <a:bodyPr/>
          <a:lstStyle/>
          <a:p>
            <a:endParaRPr lang="en-US"/>
          </a:p>
        </p:txBody>
      </p:sp>
      <p:sp>
        <p:nvSpPr>
          <p:cNvPr id="90" name="line-87">
            <a:extLst>
              <a:ext uri="{FF2B5EF4-FFF2-40B4-BE49-F238E27FC236}">
                <a16:creationId xmlns:a16="http://schemas.microsoft.com/office/drawing/2014/main" id="{44BA3315-F3E2-4674-8A0C-BAB4677E4F17}"/>
              </a:ext>
            </a:extLst>
          </p:cNvPr>
          <p:cNvSpPr>
            <a:spLocks noGrp="1"/>
          </p:cNvSpPr>
          <p:nvPr/>
        </p:nvSpPr>
        <p:spPr>
          <a:xfrm>
            <a:off x="4517385" y="2969151"/>
            <a:ext cx="9525" cy="14086"/>
          </a:xfrm>
          <a:custGeom>
            <a:avLst/>
            <a:gdLst/>
            <a:ahLst/>
            <a:cxnLst/>
            <a:rect l="0" t="0" r="0" b="0"/>
            <a:pathLst>
              <a:path w="9525" h="14086">
                <a:moveTo>
                  <a:pt x="0" y="0"/>
                </a:moveTo>
                <a:lnTo>
                  <a:pt x="9235" y="14086"/>
                </a:lnTo>
              </a:path>
            </a:pathLst>
          </a:custGeom>
          <a:noFill/>
          <a:ln w="19050">
            <a:solidFill>
              <a:srgbClr val="17698C"/>
            </a:solidFill>
          </a:ln>
        </p:spPr>
        <p:txBody>
          <a:bodyPr/>
          <a:lstStyle/>
          <a:p>
            <a:endParaRPr lang="en-US"/>
          </a:p>
        </p:txBody>
      </p:sp>
      <p:sp>
        <p:nvSpPr>
          <p:cNvPr id="91" name="line-88">
            <a:extLst>
              <a:ext uri="{FF2B5EF4-FFF2-40B4-BE49-F238E27FC236}">
                <a16:creationId xmlns:a16="http://schemas.microsoft.com/office/drawing/2014/main" id="{2DD989B4-39F0-4311-9232-40D9CA895D37}"/>
              </a:ext>
            </a:extLst>
          </p:cNvPr>
          <p:cNvSpPr>
            <a:spLocks noGrp="1"/>
          </p:cNvSpPr>
          <p:nvPr/>
        </p:nvSpPr>
        <p:spPr>
          <a:xfrm>
            <a:off x="4526620" y="2983237"/>
            <a:ext cx="9525" cy="14575"/>
          </a:xfrm>
          <a:custGeom>
            <a:avLst/>
            <a:gdLst/>
            <a:ahLst/>
            <a:cxnLst/>
            <a:rect l="0" t="0" r="0" b="0"/>
            <a:pathLst>
              <a:path w="9525" h="14575">
                <a:moveTo>
                  <a:pt x="0" y="0"/>
                </a:moveTo>
                <a:lnTo>
                  <a:pt x="8443" y="14575"/>
                </a:lnTo>
              </a:path>
            </a:pathLst>
          </a:custGeom>
          <a:noFill/>
          <a:ln w="19050">
            <a:solidFill>
              <a:srgbClr val="17698C"/>
            </a:solidFill>
          </a:ln>
        </p:spPr>
        <p:txBody>
          <a:bodyPr/>
          <a:lstStyle/>
          <a:p>
            <a:endParaRPr lang="en-US"/>
          </a:p>
        </p:txBody>
      </p:sp>
      <p:sp>
        <p:nvSpPr>
          <p:cNvPr id="92" name="line-89">
            <a:extLst>
              <a:ext uri="{FF2B5EF4-FFF2-40B4-BE49-F238E27FC236}">
                <a16:creationId xmlns:a16="http://schemas.microsoft.com/office/drawing/2014/main" id="{33BA2030-A24D-4981-A553-DB98E9C7F5AC}"/>
              </a:ext>
            </a:extLst>
          </p:cNvPr>
          <p:cNvSpPr>
            <a:spLocks noGrp="1"/>
          </p:cNvSpPr>
          <p:nvPr/>
        </p:nvSpPr>
        <p:spPr>
          <a:xfrm>
            <a:off x="4535063" y="2997812"/>
            <a:ext cx="9525" cy="15019"/>
          </a:xfrm>
          <a:custGeom>
            <a:avLst/>
            <a:gdLst/>
            <a:ahLst/>
            <a:cxnLst/>
            <a:rect l="0" t="0" r="0" b="0"/>
            <a:pathLst>
              <a:path w="9525" h="15019">
                <a:moveTo>
                  <a:pt x="0" y="0"/>
                </a:moveTo>
                <a:lnTo>
                  <a:pt x="7625" y="15019"/>
                </a:lnTo>
              </a:path>
            </a:pathLst>
          </a:custGeom>
          <a:noFill/>
          <a:ln w="19050">
            <a:solidFill>
              <a:srgbClr val="17698C"/>
            </a:solidFill>
          </a:ln>
        </p:spPr>
        <p:txBody>
          <a:bodyPr/>
          <a:lstStyle/>
          <a:p>
            <a:endParaRPr lang="en-US"/>
          </a:p>
        </p:txBody>
      </p:sp>
      <p:sp>
        <p:nvSpPr>
          <p:cNvPr id="93" name="line-90">
            <a:extLst>
              <a:ext uri="{FF2B5EF4-FFF2-40B4-BE49-F238E27FC236}">
                <a16:creationId xmlns:a16="http://schemas.microsoft.com/office/drawing/2014/main" id="{89FADA05-0C13-4420-AB6C-AE9A7FA2002C}"/>
              </a:ext>
            </a:extLst>
          </p:cNvPr>
          <p:cNvSpPr>
            <a:spLocks noGrp="1"/>
          </p:cNvSpPr>
          <p:nvPr/>
        </p:nvSpPr>
        <p:spPr>
          <a:xfrm>
            <a:off x="4542689" y="3012831"/>
            <a:ext cx="9525" cy="15417"/>
          </a:xfrm>
          <a:custGeom>
            <a:avLst/>
            <a:gdLst/>
            <a:ahLst/>
            <a:cxnLst/>
            <a:rect l="0" t="0" r="0" b="0"/>
            <a:pathLst>
              <a:path w="9525" h="15417">
                <a:moveTo>
                  <a:pt x="0" y="0"/>
                </a:moveTo>
                <a:lnTo>
                  <a:pt x="6784" y="15417"/>
                </a:lnTo>
              </a:path>
            </a:pathLst>
          </a:custGeom>
          <a:noFill/>
          <a:ln w="19050">
            <a:solidFill>
              <a:srgbClr val="17698C"/>
            </a:solidFill>
          </a:ln>
        </p:spPr>
        <p:txBody>
          <a:bodyPr/>
          <a:lstStyle/>
          <a:p>
            <a:endParaRPr lang="en-US"/>
          </a:p>
        </p:txBody>
      </p:sp>
      <p:sp>
        <p:nvSpPr>
          <p:cNvPr id="94" name="line-91">
            <a:extLst>
              <a:ext uri="{FF2B5EF4-FFF2-40B4-BE49-F238E27FC236}">
                <a16:creationId xmlns:a16="http://schemas.microsoft.com/office/drawing/2014/main" id="{EB05AA5F-745E-45F3-B0D0-342CAD305AB0}"/>
              </a:ext>
            </a:extLst>
          </p:cNvPr>
          <p:cNvSpPr>
            <a:spLocks noGrp="1"/>
          </p:cNvSpPr>
          <p:nvPr/>
        </p:nvSpPr>
        <p:spPr>
          <a:xfrm>
            <a:off x="4549472" y="3028248"/>
            <a:ext cx="9525" cy="15768"/>
          </a:xfrm>
          <a:custGeom>
            <a:avLst/>
            <a:gdLst/>
            <a:ahLst/>
            <a:cxnLst/>
            <a:rect l="0" t="0" r="0" b="0"/>
            <a:pathLst>
              <a:path w="9525" h="15768">
                <a:moveTo>
                  <a:pt x="0" y="0"/>
                </a:moveTo>
                <a:lnTo>
                  <a:pt x="5922" y="15768"/>
                </a:lnTo>
              </a:path>
            </a:pathLst>
          </a:custGeom>
          <a:noFill/>
          <a:ln w="19050">
            <a:solidFill>
              <a:srgbClr val="17698C"/>
            </a:solidFill>
          </a:ln>
        </p:spPr>
        <p:txBody>
          <a:bodyPr/>
          <a:lstStyle/>
          <a:p>
            <a:endParaRPr lang="en-US"/>
          </a:p>
        </p:txBody>
      </p:sp>
      <p:sp>
        <p:nvSpPr>
          <p:cNvPr id="95" name="line-92">
            <a:extLst>
              <a:ext uri="{FF2B5EF4-FFF2-40B4-BE49-F238E27FC236}">
                <a16:creationId xmlns:a16="http://schemas.microsoft.com/office/drawing/2014/main" id="{7A389C4B-3144-4A1E-801C-2ADF197DCD01}"/>
              </a:ext>
            </a:extLst>
          </p:cNvPr>
          <p:cNvSpPr>
            <a:spLocks noGrp="1"/>
          </p:cNvSpPr>
          <p:nvPr/>
        </p:nvSpPr>
        <p:spPr>
          <a:xfrm>
            <a:off x="4555394" y="3044017"/>
            <a:ext cx="9525" cy="16072"/>
          </a:xfrm>
          <a:custGeom>
            <a:avLst/>
            <a:gdLst/>
            <a:ahLst/>
            <a:cxnLst/>
            <a:rect l="0" t="0" r="0" b="0"/>
            <a:pathLst>
              <a:path w="9525" h="16072">
                <a:moveTo>
                  <a:pt x="0" y="0"/>
                </a:moveTo>
                <a:lnTo>
                  <a:pt x="5042" y="16072"/>
                </a:lnTo>
              </a:path>
            </a:pathLst>
          </a:custGeom>
          <a:noFill/>
          <a:ln w="19050">
            <a:solidFill>
              <a:srgbClr val="17698C"/>
            </a:solidFill>
          </a:ln>
        </p:spPr>
        <p:txBody>
          <a:bodyPr/>
          <a:lstStyle/>
          <a:p>
            <a:endParaRPr lang="en-US"/>
          </a:p>
        </p:txBody>
      </p:sp>
      <p:sp>
        <p:nvSpPr>
          <p:cNvPr id="96" name="line-93">
            <a:extLst>
              <a:ext uri="{FF2B5EF4-FFF2-40B4-BE49-F238E27FC236}">
                <a16:creationId xmlns:a16="http://schemas.microsoft.com/office/drawing/2014/main" id="{A9EFA4A2-4D2E-4254-A65E-51D2CF2B4866}"/>
              </a:ext>
            </a:extLst>
          </p:cNvPr>
          <p:cNvSpPr>
            <a:spLocks noGrp="1"/>
          </p:cNvSpPr>
          <p:nvPr/>
        </p:nvSpPr>
        <p:spPr>
          <a:xfrm>
            <a:off x="4560436" y="3060088"/>
            <a:ext cx="9525" cy="16326"/>
          </a:xfrm>
          <a:custGeom>
            <a:avLst/>
            <a:gdLst/>
            <a:ahLst/>
            <a:cxnLst/>
            <a:rect l="0" t="0" r="0" b="0"/>
            <a:pathLst>
              <a:path w="9525" h="16326">
                <a:moveTo>
                  <a:pt x="0" y="0"/>
                </a:moveTo>
                <a:lnTo>
                  <a:pt x="4146" y="16326"/>
                </a:lnTo>
              </a:path>
            </a:pathLst>
          </a:custGeom>
          <a:noFill/>
          <a:ln w="19050">
            <a:solidFill>
              <a:srgbClr val="17698C"/>
            </a:solidFill>
          </a:ln>
        </p:spPr>
        <p:txBody>
          <a:bodyPr/>
          <a:lstStyle/>
          <a:p>
            <a:endParaRPr lang="en-US"/>
          </a:p>
        </p:txBody>
      </p:sp>
      <p:sp>
        <p:nvSpPr>
          <p:cNvPr id="97" name="line-94">
            <a:extLst>
              <a:ext uri="{FF2B5EF4-FFF2-40B4-BE49-F238E27FC236}">
                <a16:creationId xmlns:a16="http://schemas.microsoft.com/office/drawing/2014/main" id="{775CDB59-202A-4F28-9162-9E1DDBED6C7E}"/>
              </a:ext>
            </a:extLst>
          </p:cNvPr>
          <p:cNvSpPr>
            <a:spLocks noGrp="1"/>
          </p:cNvSpPr>
          <p:nvPr/>
        </p:nvSpPr>
        <p:spPr>
          <a:xfrm>
            <a:off x="4564582" y="3076414"/>
            <a:ext cx="9525" cy="16530"/>
          </a:xfrm>
          <a:custGeom>
            <a:avLst/>
            <a:gdLst/>
            <a:ahLst/>
            <a:cxnLst/>
            <a:rect l="0" t="0" r="0" b="0"/>
            <a:pathLst>
              <a:path w="9525" h="16530">
                <a:moveTo>
                  <a:pt x="0" y="0"/>
                </a:moveTo>
                <a:lnTo>
                  <a:pt x="3238" y="16530"/>
                </a:lnTo>
              </a:path>
            </a:pathLst>
          </a:custGeom>
          <a:noFill/>
          <a:ln w="19050">
            <a:solidFill>
              <a:srgbClr val="17698C"/>
            </a:solidFill>
          </a:ln>
        </p:spPr>
        <p:txBody>
          <a:bodyPr/>
          <a:lstStyle/>
          <a:p>
            <a:endParaRPr lang="en-US"/>
          </a:p>
        </p:txBody>
      </p:sp>
      <p:sp>
        <p:nvSpPr>
          <p:cNvPr id="98" name="line-95">
            <a:extLst>
              <a:ext uri="{FF2B5EF4-FFF2-40B4-BE49-F238E27FC236}">
                <a16:creationId xmlns:a16="http://schemas.microsoft.com/office/drawing/2014/main" id="{9C792C75-2FEF-44C8-9B87-8ADD6C8B290C}"/>
              </a:ext>
            </a:extLst>
          </p:cNvPr>
          <p:cNvSpPr>
            <a:spLocks noGrp="1"/>
          </p:cNvSpPr>
          <p:nvPr/>
        </p:nvSpPr>
        <p:spPr>
          <a:xfrm>
            <a:off x="4567820" y="3092943"/>
            <a:ext cx="9525" cy="16683"/>
          </a:xfrm>
          <a:custGeom>
            <a:avLst/>
            <a:gdLst/>
            <a:ahLst/>
            <a:cxnLst/>
            <a:rect l="0" t="0" r="0" b="0"/>
            <a:pathLst>
              <a:path w="9525" h="16683">
                <a:moveTo>
                  <a:pt x="0" y="0"/>
                </a:moveTo>
                <a:lnTo>
                  <a:pt x="2320" y="16683"/>
                </a:lnTo>
              </a:path>
            </a:pathLst>
          </a:custGeom>
          <a:noFill/>
          <a:ln w="19050">
            <a:solidFill>
              <a:srgbClr val="17698C"/>
            </a:solidFill>
          </a:ln>
        </p:spPr>
        <p:txBody>
          <a:bodyPr/>
          <a:lstStyle/>
          <a:p>
            <a:endParaRPr lang="en-US"/>
          </a:p>
        </p:txBody>
      </p:sp>
      <p:sp>
        <p:nvSpPr>
          <p:cNvPr id="99" name="line-96">
            <a:extLst>
              <a:ext uri="{FF2B5EF4-FFF2-40B4-BE49-F238E27FC236}">
                <a16:creationId xmlns:a16="http://schemas.microsoft.com/office/drawing/2014/main" id="{92C1FC15-87F7-4FD3-8781-06FC488B4CE4}"/>
              </a:ext>
            </a:extLst>
          </p:cNvPr>
          <p:cNvSpPr>
            <a:spLocks noGrp="1"/>
          </p:cNvSpPr>
          <p:nvPr/>
        </p:nvSpPr>
        <p:spPr>
          <a:xfrm>
            <a:off x="4570140" y="3109627"/>
            <a:ext cx="9525" cy="16786"/>
          </a:xfrm>
          <a:custGeom>
            <a:avLst/>
            <a:gdLst/>
            <a:ahLst/>
            <a:cxnLst/>
            <a:rect l="0" t="0" r="0" b="0"/>
            <a:pathLst>
              <a:path w="9525" h="16786">
                <a:moveTo>
                  <a:pt x="0" y="0"/>
                </a:moveTo>
                <a:lnTo>
                  <a:pt x="1395" y="16786"/>
                </a:lnTo>
              </a:path>
            </a:pathLst>
          </a:custGeom>
          <a:noFill/>
          <a:ln w="19050">
            <a:solidFill>
              <a:srgbClr val="17698C"/>
            </a:solidFill>
          </a:ln>
        </p:spPr>
        <p:txBody>
          <a:bodyPr/>
          <a:lstStyle/>
          <a:p>
            <a:endParaRPr lang="en-US"/>
          </a:p>
        </p:txBody>
      </p:sp>
      <p:sp>
        <p:nvSpPr>
          <p:cNvPr id="100" name="line-97">
            <a:extLst>
              <a:ext uri="{FF2B5EF4-FFF2-40B4-BE49-F238E27FC236}">
                <a16:creationId xmlns:a16="http://schemas.microsoft.com/office/drawing/2014/main" id="{322FFF5C-88E3-49E7-B679-3548F57E2CB3}"/>
              </a:ext>
            </a:extLst>
          </p:cNvPr>
          <p:cNvSpPr>
            <a:spLocks noGrp="1"/>
          </p:cNvSpPr>
          <p:nvPr/>
        </p:nvSpPr>
        <p:spPr>
          <a:xfrm>
            <a:off x="4571535" y="3126413"/>
            <a:ext cx="9525" cy="16837"/>
          </a:xfrm>
          <a:custGeom>
            <a:avLst/>
            <a:gdLst/>
            <a:ahLst/>
            <a:cxnLst/>
            <a:rect l="0" t="0" r="0" b="0"/>
            <a:pathLst>
              <a:path w="9525" h="16837">
                <a:moveTo>
                  <a:pt x="0" y="0"/>
                </a:moveTo>
                <a:lnTo>
                  <a:pt x="465" y="16837"/>
                </a:lnTo>
              </a:path>
            </a:pathLst>
          </a:custGeom>
          <a:noFill/>
          <a:ln w="19050">
            <a:solidFill>
              <a:srgbClr val="17698C"/>
            </a:solidFill>
          </a:ln>
        </p:spPr>
        <p:txBody>
          <a:bodyPr/>
          <a:lstStyle/>
          <a:p>
            <a:endParaRPr lang="en-US"/>
          </a:p>
        </p:txBody>
      </p:sp>
      <p:sp>
        <p:nvSpPr>
          <p:cNvPr id="101" name="line-98">
            <a:extLst>
              <a:ext uri="{FF2B5EF4-FFF2-40B4-BE49-F238E27FC236}">
                <a16:creationId xmlns:a16="http://schemas.microsoft.com/office/drawing/2014/main" id="{2FD53D11-36F6-4FAB-82EF-9EF90EA06827}"/>
              </a:ext>
            </a:extLst>
          </p:cNvPr>
          <p:cNvSpPr>
            <a:spLocks noGrp="1"/>
          </p:cNvSpPr>
          <p:nvPr/>
        </p:nvSpPr>
        <p:spPr>
          <a:xfrm>
            <a:off x="4571535" y="3143250"/>
            <a:ext cx="9525" cy="16837"/>
          </a:xfrm>
          <a:custGeom>
            <a:avLst/>
            <a:gdLst/>
            <a:ahLst/>
            <a:cxnLst/>
            <a:rect l="0" t="0" r="0" b="0"/>
            <a:pathLst>
              <a:path w="9525" h="16837">
                <a:moveTo>
                  <a:pt x="465" y="0"/>
                </a:moveTo>
                <a:lnTo>
                  <a:pt x="0" y="16837"/>
                </a:lnTo>
              </a:path>
            </a:pathLst>
          </a:custGeom>
          <a:noFill/>
          <a:ln w="19050">
            <a:solidFill>
              <a:srgbClr val="17698C"/>
            </a:solidFill>
          </a:ln>
        </p:spPr>
        <p:txBody>
          <a:bodyPr/>
          <a:lstStyle/>
          <a:p>
            <a:endParaRPr lang="en-US"/>
          </a:p>
        </p:txBody>
      </p:sp>
      <p:sp>
        <p:nvSpPr>
          <p:cNvPr id="102" name="line-99">
            <a:extLst>
              <a:ext uri="{FF2B5EF4-FFF2-40B4-BE49-F238E27FC236}">
                <a16:creationId xmlns:a16="http://schemas.microsoft.com/office/drawing/2014/main" id="{BFA456F0-6778-43CC-A770-7627C69C6775}"/>
              </a:ext>
            </a:extLst>
          </p:cNvPr>
          <p:cNvSpPr>
            <a:spLocks noGrp="1"/>
          </p:cNvSpPr>
          <p:nvPr/>
        </p:nvSpPr>
        <p:spPr>
          <a:xfrm>
            <a:off x="4570140" y="3160087"/>
            <a:ext cx="9525" cy="16786"/>
          </a:xfrm>
          <a:custGeom>
            <a:avLst/>
            <a:gdLst/>
            <a:ahLst/>
            <a:cxnLst/>
            <a:rect l="0" t="0" r="0" b="0"/>
            <a:pathLst>
              <a:path w="9525" h="16786">
                <a:moveTo>
                  <a:pt x="1395" y="0"/>
                </a:moveTo>
                <a:lnTo>
                  <a:pt x="0" y="16786"/>
                </a:lnTo>
              </a:path>
            </a:pathLst>
          </a:custGeom>
          <a:noFill/>
          <a:ln w="19050">
            <a:solidFill>
              <a:srgbClr val="17698C"/>
            </a:solidFill>
          </a:ln>
        </p:spPr>
        <p:txBody>
          <a:bodyPr/>
          <a:lstStyle/>
          <a:p>
            <a:endParaRPr lang="en-US"/>
          </a:p>
        </p:txBody>
      </p:sp>
      <p:sp>
        <p:nvSpPr>
          <p:cNvPr id="103" name="line-100">
            <a:extLst>
              <a:ext uri="{FF2B5EF4-FFF2-40B4-BE49-F238E27FC236}">
                <a16:creationId xmlns:a16="http://schemas.microsoft.com/office/drawing/2014/main" id="{15850E69-A3AC-46B8-800A-1A02BA90A57E}"/>
              </a:ext>
            </a:extLst>
          </p:cNvPr>
          <p:cNvSpPr>
            <a:spLocks noGrp="1"/>
          </p:cNvSpPr>
          <p:nvPr/>
        </p:nvSpPr>
        <p:spPr>
          <a:xfrm>
            <a:off x="4567820" y="3176873"/>
            <a:ext cx="9525" cy="16683"/>
          </a:xfrm>
          <a:custGeom>
            <a:avLst/>
            <a:gdLst/>
            <a:ahLst/>
            <a:cxnLst/>
            <a:rect l="0" t="0" r="0" b="0"/>
            <a:pathLst>
              <a:path w="9525" h="16683">
                <a:moveTo>
                  <a:pt x="2320" y="0"/>
                </a:moveTo>
                <a:lnTo>
                  <a:pt x="0" y="16683"/>
                </a:lnTo>
              </a:path>
            </a:pathLst>
          </a:custGeom>
          <a:noFill/>
          <a:ln w="19050">
            <a:solidFill>
              <a:srgbClr val="17698C"/>
            </a:solidFill>
          </a:ln>
        </p:spPr>
        <p:txBody>
          <a:bodyPr/>
          <a:lstStyle/>
          <a:p>
            <a:endParaRPr lang="en-US"/>
          </a:p>
        </p:txBody>
      </p:sp>
      <p:sp>
        <p:nvSpPr>
          <p:cNvPr id="104" name="line-101">
            <a:extLst>
              <a:ext uri="{FF2B5EF4-FFF2-40B4-BE49-F238E27FC236}">
                <a16:creationId xmlns:a16="http://schemas.microsoft.com/office/drawing/2014/main" id="{F5DDF726-EFDE-42A7-AF21-DC329C076BA0}"/>
              </a:ext>
            </a:extLst>
          </p:cNvPr>
          <p:cNvSpPr>
            <a:spLocks noGrp="1"/>
          </p:cNvSpPr>
          <p:nvPr/>
        </p:nvSpPr>
        <p:spPr>
          <a:xfrm>
            <a:off x="4564582" y="3193557"/>
            <a:ext cx="9525" cy="16530"/>
          </a:xfrm>
          <a:custGeom>
            <a:avLst/>
            <a:gdLst/>
            <a:ahLst/>
            <a:cxnLst/>
            <a:rect l="0" t="0" r="0" b="0"/>
            <a:pathLst>
              <a:path w="9525" h="16530">
                <a:moveTo>
                  <a:pt x="3238" y="0"/>
                </a:moveTo>
                <a:lnTo>
                  <a:pt x="0" y="16530"/>
                </a:lnTo>
              </a:path>
            </a:pathLst>
          </a:custGeom>
          <a:noFill/>
          <a:ln w="19050">
            <a:solidFill>
              <a:srgbClr val="17698C"/>
            </a:solidFill>
          </a:ln>
        </p:spPr>
        <p:txBody>
          <a:bodyPr/>
          <a:lstStyle/>
          <a:p>
            <a:endParaRPr lang="en-US"/>
          </a:p>
        </p:txBody>
      </p:sp>
      <p:sp>
        <p:nvSpPr>
          <p:cNvPr id="105" name="line-102">
            <a:extLst>
              <a:ext uri="{FF2B5EF4-FFF2-40B4-BE49-F238E27FC236}">
                <a16:creationId xmlns:a16="http://schemas.microsoft.com/office/drawing/2014/main" id="{0213D956-579B-4DAB-B587-C0BDB6041C6E}"/>
              </a:ext>
            </a:extLst>
          </p:cNvPr>
          <p:cNvSpPr>
            <a:spLocks noGrp="1"/>
          </p:cNvSpPr>
          <p:nvPr/>
        </p:nvSpPr>
        <p:spPr>
          <a:xfrm>
            <a:off x="4560436" y="3210086"/>
            <a:ext cx="9525" cy="16326"/>
          </a:xfrm>
          <a:custGeom>
            <a:avLst/>
            <a:gdLst/>
            <a:ahLst/>
            <a:cxnLst/>
            <a:rect l="0" t="0" r="0" b="0"/>
            <a:pathLst>
              <a:path w="9525" h="16326">
                <a:moveTo>
                  <a:pt x="4146" y="0"/>
                </a:moveTo>
                <a:lnTo>
                  <a:pt x="0" y="16326"/>
                </a:lnTo>
              </a:path>
            </a:pathLst>
          </a:custGeom>
          <a:noFill/>
          <a:ln w="19050">
            <a:solidFill>
              <a:srgbClr val="17698C"/>
            </a:solidFill>
          </a:ln>
        </p:spPr>
        <p:txBody>
          <a:bodyPr/>
          <a:lstStyle/>
          <a:p>
            <a:endParaRPr lang="en-US"/>
          </a:p>
        </p:txBody>
      </p:sp>
      <p:sp>
        <p:nvSpPr>
          <p:cNvPr id="106" name="line-103">
            <a:extLst>
              <a:ext uri="{FF2B5EF4-FFF2-40B4-BE49-F238E27FC236}">
                <a16:creationId xmlns:a16="http://schemas.microsoft.com/office/drawing/2014/main" id="{2A26865C-FF6C-4C69-B228-AD03E50C041B}"/>
              </a:ext>
            </a:extLst>
          </p:cNvPr>
          <p:cNvSpPr>
            <a:spLocks noGrp="1"/>
          </p:cNvSpPr>
          <p:nvPr/>
        </p:nvSpPr>
        <p:spPr>
          <a:xfrm>
            <a:off x="4555394" y="3226412"/>
            <a:ext cx="9525" cy="16072"/>
          </a:xfrm>
          <a:custGeom>
            <a:avLst/>
            <a:gdLst/>
            <a:ahLst/>
            <a:cxnLst/>
            <a:rect l="0" t="0" r="0" b="0"/>
            <a:pathLst>
              <a:path w="9525" h="16072">
                <a:moveTo>
                  <a:pt x="5042" y="0"/>
                </a:moveTo>
                <a:lnTo>
                  <a:pt x="0" y="16072"/>
                </a:lnTo>
              </a:path>
            </a:pathLst>
          </a:custGeom>
          <a:noFill/>
          <a:ln w="19050">
            <a:solidFill>
              <a:srgbClr val="17698C"/>
            </a:solidFill>
          </a:ln>
        </p:spPr>
        <p:txBody>
          <a:bodyPr/>
          <a:lstStyle/>
          <a:p>
            <a:endParaRPr lang="en-US"/>
          </a:p>
        </p:txBody>
      </p:sp>
      <p:sp>
        <p:nvSpPr>
          <p:cNvPr id="107" name="line-104">
            <a:extLst>
              <a:ext uri="{FF2B5EF4-FFF2-40B4-BE49-F238E27FC236}">
                <a16:creationId xmlns:a16="http://schemas.microsoft.com/office/drawing/2014/main" id="{1D4ACE95-852B-45EC-A330-9E68716AB72E}"/>
              </a:ext>
            </a:extLst>
          </p:cNvPr>
          <p:cNvSpPr>
            <a:spLocks noGrp="1"/>
          </p:cNvSpPr>
          <p:nvPr/>
        </p:nvSpPr>
        <p:spPr>
          <a:xfrm>
            <a:off x="4549472" y="3242483"/>
            <a:ext cx="9525" cy="15768"/>
          </a:xfrm>
          <a:custGeom>
            <a:avLst/>
            <a:gdLst/>
            <a:ahLst/>
            <a:cxnLst/>
            <a:rect l="0" t="0" r="0" b="0"/>
            <a:pathLst>
              <a:path w="9525" h="15768">
                <a:moveTo>
                  <a:pt x="5922" y="0"/>
                </a:moveTo>
                <a:lnTo>
                  <a:pt x="0" y="15768"/>
                </a:lnTo>
              </a:path>
            </a:pathLst>
          </a:custGeom>
          <a:noFill/>
          <a:ln w="19050">
            <a:solidFill>
              <a:srgbClr val="17698C"/>
            </a:solidFill>
          </a:ln>
        </p:spPr>
        <p:txBody>
          <a:bodyPr/>
          <a:lstStyle/>
          <a:p>
            <a:endParaRPr lang="en-US"/>
          </a:p>
        </p:txBody>
      </p:sp>
      <p:sp>
        <p:nvSpPr>
          <p:cNvPr id="108" name="line-105">
            <a:extLst>
              <a:ext uri="{FF2B5EF4-FFF2-40B4-BE49-F238E27FC236}">
                <a16:creationId xmlns:a16="http://schemas.microsoft.com/office/drawing/2014/main" id="{0CF2AFF1-D100-4F1A-AFC7-CC5BBB6694E0}"/>
              </a:ext>
            </a:extLst>
          </p:cNvPr>
          <p:cNvSpPr>
            <a:spLocks noGrp="1"/>
          </p:cNvSpPr>
          <p:nvPr/>
        </p:nvSpPr>
        <p:spPr>
          <a:xfrm>
            <a:off x="4542689" y="3258252"/>
            <a:ext cx="9525" cy="15417"/>
          </a:xfrm>
          <a:custGeom>
            <a:avLst/>
            <a:gdLst/>
            <a:ahLst/>
            <a:cxnLst/>
            <a:rect l="0" t="0" r="0" b="0"/>
            <a:pathLst>
              <a:path w="9525" h="15417">
                <a:moveTo>
                  <a:pt x="6784" y="0"/>
                </a:moveTo>
                <a:lnTo>
                  <a:pt x="0" y="15417"/>
                </a:lnTo>
              </a:path>
            </a:pathLst>
          </a:custGeom>
          <a:noFill/>
          <a:ln w="19050">
            <a:solidFill>
              <a:srgbClr val="17698C"/>
            </a:solidFill>
          </a:ln>
        </p:spPr>
        <p:txBody>
          <a:bodyPr/>
          <a:lstStyle/>
          <a:p>
            <a:endParaRPr lang="en-US"/>
          </a:p>
        </p:txBody>
      </p:sp>
      <p:sp>
        <p:nvSpPr>
          <p:cNvPr id="109" name="line-106">
            <a:extLst>
              <a:ext uri="{FF2B5EF4-FFF2-40B4-BE49-F238E27FC236}">
                <a16:creationId xmlns:a16="http://schemas.microsoft.com/office/drawing/2014/main" id="{4755B618-0F6A-4077-A257-3008FA0EFB7D}"/>
              </a:ext>
            </a:extLst>
          </p:cNvPr>
          <p:cNvSpPr>
            <a:spLocks noGrp="1"/>
          </p:cNvSpPr>
          <p:nvPr/>
        </p:nvSpPr>
        <p:spPr>
          <a:xfrm>
            <a:off x="4535063" y="3273669"/>
            <a:ext cx="9525" cy="15019"/>
          </a:xfrm>
          <a:custGeom>
            <a:avLst/>
            <a:gdLst/>
            <a:ahLst/>
            <a:cxnLst/>
            <a:rect l="0" t="0" r="0" b="0"/>
            <a:pathLst>
              <a:path w="9525" h="15019">
                <a:moveTo>
                  <a:pt x="7625" y="0"/>
                </a:moveTo>
                <a:lnTo>
                  <a:pt x="0" y="15019"/>
                </a:lnTo>
              </a:path>
            </a:pathLst>
          </a:custGeom>
          <a:noFill/>
          <a:ln w="19050">
            <a:solidFill>
              <a:srgbClr val="17698C"/>
            </a:solidFill>
          </a:ln>
        </p:spPr>
        <p:txBody>
          <a:bodyPr/>
          <a:lstStyle/>
          <a:p>
            <a:endParaRPr lang="en-US"/>
          </a:p>
        </p:txBody>
      </p:sp>
      <p:sp>
        <p:nvSpPr>
          <p:cNvPr id="110" name="line-107">
            <a:extLst>
              <a:ext uri="{FF2B5EF4-FFF2-40B4-BE49-F238E27FC236}">
                <a16:creationId xmlns:a16="http://schemas.microsoft.com/office/drawing/2014/main" id="{B06C01DC-D619-46F7-B714-D23E798BA7EA}"/>
              </a:ext>
            </a:extLst>
          </p:cNvPr>
          <p:cNvSpPr>
            <a:spLocks noGrp="1"/>
          </p:cNvSpPr>
          <p:nvPr/>
        </p:nvSpPr>
        <p:spPr>
          <a:xfrm>
            <a:off x="4526620" y="3288688"/>
            <a:ext cx="9525" cy="14575"/>
          </a:xfrm>
          <a:custGeom>
            <a:avLst/>
            <a:gdLst/>
            <a:ahLst/>
            <a:cxnLst/>
            <a:rect l="0" t="0" r="0" b="0"/>
            <a:pathLst>
              <a:path w="9525" h="14575">
                <a:moveTo>
                  <a:pt x="8443" y="0"/>
                </a:moveTo>
                <a:lnTo>
                  <a:pt x="0" y="14575"/>
                </a:lnTo>
              </a:path>
            </a:pathLst>
          </a:custGeom>
          <a:noFill/>
          <a:ln w="19050">
            <a:solidFill>
              <a:srgbClr val="17698C"/>
            </a:solidFill>
          </a:ln>
        </p:spPr>
        <p:txBody>
          <a:bodyPr/>
          <a:lstStyle/>
          <a:p>
            <a:endParaRPr lang="en-US"/>
          </a:p>
        </p:txBody>
      </p:sp>
      <p:sp>
        <p:nvSpPr>
          <p:cNvPr id="111" name="line-108">
            <a:extLst>
              <a:ext uri="{FF2B5EF4-FFF2-40B4-BE49-F238E27FC236}">
                <a16:creationId xmlns:a16="http://schemas.microsoft.com/office/drawing/2014/main" id="{0E919EEE-F895-4283-BE6C-FA12B71F8B70}"/>
              </a:ext>
            </a:extLst>
          </p:cNvPr>
          <p:cNvSpPr>
            <a:spLocks noGrp="1"/>
          </p:cNvSpPr>
          <p:nvPr/>
        </p:nvSpPr>
        <p:spPr>
          <a:xfrm>
            <a:off x="4517385" y="3303263"/>
            <a:ext cx="9525" cy="14086"/>
          </a:xfrm>
          <a:custGeom>
            <a:avLst/>
            <a:gdLst/>
            <a:ahLst/>
            <a:cxnLst/>
            <a:rect l="0" t="0" r="0" b="0"/>
            <a:pathLst>
              <a:path w="9525" h="14086">
                <a:moveTo>
                  <a:pt x="9235" y="0"/>
                </a:moveTo>
                <a:lnTo>
                  <a:pt x="0" y="14086"/>
                </a:lnTo>
              </a:path>
            </a:pathLst>
          </a:custGeom>
          <a:noFill/>
          <a:ln w="19050">
            <a:solidFill>
              <a:srgbClr val="17698C"/>
            </a:solidFill>
          </a:ln>
        </p:spPr>
        <p:txBody>
          <a:bodyPr/>
          <a:lstStyle/>
          <a:p>
            <a:endParaRPr lang="en-US"/>
          </a:p>
        </p:txBody>
      </p:sp>
      <p:sp>
        <p:nvSpPr>
          <p:cNvPr id="112" name="line-109">
            <a:extLst>
              <a:ext uri="{FF2B5EF4-FFF2-40B4-BE49-F238E27FC236}">
                <a16:creationId xmlns:a16="http://schemas.microsoft.com/office/drawing/2014/main" id="{9AD0F9F1-653E-4314-898D-9CABE79B7BC4}"/>
              </a:ext>
            </a:extLst>
          </p:cNvPr>
          <p:cNvSpPr>
            <a:spLocks noGrp="1"/>
          </p:cNvSpPr>
          <p:nvPr/>
        </p:nvSpPr>
        <p:spPr>
          <a:xfrm>
            <a:off x="4507386" y="3317349"/>
            <a:ext cx="9999" cy="13555"/>
          </a:xfrm>
          <a:custGeom>
            <a:avLst/>
            <a:gdLst/>
            <a:ahLst/>
            <a:cxnLst/>
            <a:rect l="0" t="0" r="0" b="0"/>
            <a:pathLst>
              <a:path w="9999" h="13555">
                <a:moveTo>
                  <a:pt x="9999" y="0"/>
                </a:moveTo>
                <a:lnTo>
                  <a:pt x="0" y="13555"/>
                </a:lnTo>
              </a:path>
            </a:pathLst>
          </a:custGeom>
          <a:noFill/>
          <a:ln w="19050">
            <a:solidFill>
              <a:srgbClr val="17698C"/>
            </a:solidFill>
          </a:ln>
        </p:spPr>
        <p:txBody>
          <a:bodyPr/>
          <a:lstStyle/>
          <a:p>
            <a:endParaRPr lang="en-US"/>
          </a:p>
        </p:txBody>
      </p:sp>
      <p:sp>
        <p:nvSpPr>
          <p:cNvPr id="113" name="diagram-110">
            <a:extLst>
              <a:ext uri="{FF2B5EF4-FFF2-40B4-BE49-F238E27FC236}">
                <a16:creationId xmlns:a16="http://schemas.microsoft.com/office/drawing/2014/main" id="{F7B4A7A3-C9A4-4C3E-9556-A09B249B658D}"/>
              </a:ext>
            </a:extLst>
          </p:cNvPr>
          <p:cNvSpPr>
            <a:spLocks noGrp="1"/>
          </p:cNvSpPr>
          <p:nvPr/>
        </p:nvSpPr>
        <p:spPr>
          <a:xfrm>
            <a:off x="6238875" y="2009775"/>
            <a:ext cx="3905250" cy="666750"/>
          </a:xfrm>
          <a:prstGeom prst="rect">
            <a:avLst/>
          </a:prstGeom>
          <a:noFill/>
          <a:ln w="0">
            <a:noFill/>
          </a:ln>
        </p:spPr>
        <p:txBody>
          <a:bodyPr lIns="0" tIns="0" rIns="0" bIns="0" anchor="t">
            <a:noAutofit/>
          </a:bodyPr>
          <a:lstStyle/>
          <a:p>
            <a:pPr algn="l">
              <a:buNone/>
              <a:defRPr sz="1875" b="0">
                <a:solidFill>
                  <a:srgbClr val="17698C"/>
                </a:solidFill>
                <a:latin typeface="Aptos"/>
                <a:ea typeface="Aptos"/>
                <a:cs typeface="Aptos"/>
              </a:defRPr>
            </a:pPr>
            <a:r>
              <a:rPr sz="1875" b="0">
                <a:solidFill>
                  <a:srgbClr val="17698C"/>
                </a:solidFill>
                <a:latin typeface="Aptos"/>
                <a:ea typeface="Aptos"/>
                <a:cs typeface="Aptos"/>
              </a:rPr>
              <a:t>Labeled uplink CSI</a:t>
            </a:r>
          </a:p>
          <a:p>
            <a:pPr algn="l">
              <a:buNone/>
              <a:defRPr sz="1875" b="0">
                <a:solidFill>
                  <a:srgbClr val="17698C"/>
                </a:solidFill>
                <a:latin typeface="Aptos"/>
                <a:ea typeface="Aptos"/>
                <a:cs typeface="Aptos"/>
              </a:defRPr>
            </a:pPr>
            <a:r>
              <a:rPr sz="1875" b="0">
                <a:solidFill>
                  <a:srgbClr val="17698C"/>
                </a:solidFill>
                <a:latin typeface="Aptos"/>
                <a:ea typeface="Aptos"/>
                <a:cs typeface="Aptos"/>
              </a:rPr>
              <a:t>and service metrics</a:t>
            </a:r>
          </a:p>
        </p:txBody>
      </p:sp>
      <p:sp>
        <p:nvSpPr>
          <p:cNvPr id="114" name="diagram-111">
            <a:extLst>
              <a:ext uri="{FF2B5EF4-FFF2-40B4-BE49-F238E27FC236}">
                <a16:creationId xmlns:a16="http://schemas.microsoft.com/office/drawing/2014/main" id="{8CACA561-6860-4356-8A71-07625C4E02C9}"/>
              </a:ext>
            </a:extLst>
          </p:cNvPr>
          <p:cNvSpPr>
            <a:spLocks noGrp="1"/>
          </p:cNvSpPr>
          <p:nvPr/>
        </p:nvSpPr>
        <p:spPr>
          <a:xfrm>
            <a:off x="8743950" y="2914650"/>
            <a:ext cx="2571750" cy="600075"/>
          </a:xfrm>
          <a:prstGeom prst="rect">
            <a:avLst/>
          </a:prstGeom>
          <a:solidFill>
            <a:srgbClr val="FFFFFF"/>
          </a:solidFill>
          <a:ln w="19050">
            <a:solidFill>
              <a:srgbClr val="111111"/>
            </a:solidFill>
          </a:ln>
        </p:spPr>
        <p:txBody>
          <a:bodyPr/>
          <a:lstStyle/>
          <a:p>
            <a:endParaRPr lang="en-US"/>
          </a:p>
        </p:txBody>
      </p:sp>
      <p:sp>
        <p:nvSpPr>
          <p:cNvPr id="115" name="diagram-112">
            <a:extLst>
              <a:ext uri="{FF2B5EF4-FFF2-40B4-BE49-F238E27FC236}">
                <a16:creationId xmlns:a16="http://schemas.microsoft.com/office/drawing/2014/main" id="{C49EBF59-18AE-4407-A62C-9853282BC7A0}"/>
              </a:ext>
            </a:extLst>
          </p:cNvPr>
          <p:cNvSpPr>
            <a:spLocks noGrp="1"/>
          </p:cNvSpPr>
          <p:nvPr/>
        </p:nvSpPr>
        <p:spPr>
          <a:xfrm>
            <a:off x="8820150" y="3028950"/>
            <a:ext cx="2419350" cy="447675"/>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I. Estimate paths</a:t>
            </a:r>
          </a:p>
        </p:txBody>
      </p:sp>
      <p:sp>
        <p:nvSpPr>
          <p:cNvPr id="116" name="diagram-113">
            <a:extLst>
              <a:ext uri="{FF2B5EF4-FFF2-40B4-BE49-F238E27FC236}">
                <a16:creationId xmlns:a16="http://schemas.microsoft.com/office/drawing/2014/main" id="{803E44CF-D02E-42FF-9317-AAB317ED80AD}"/>
              </a:ext>
            </a:extLst>
          </p:cNvPr>
          <p:cNvSpPr>
            <a:spLocks noGrp="1"/>
          </p:cNvSpPr>
          <p:nvPr/>
        </p:nvSpPr>
        <p:spPr>
          <a:xfrm>
            <a:off x="8743950" y="3838575"/>
            <a:ext cx="2571750" cy="600075"/>
          </a:xfrm>
          <a:prstGeom prst="rect">
            <a:avLst/>
          </a:prstGeom>
          <a:solidFill>
            <a:srgbClr val="FFFFFF"/>
          </a:solidFill>
          <a:ln w="19050">
            <a:solidFill>
              <a:srgbClr val="111111"/>
            </a:solidFill>
          </a:ln>
        </p:spPr>
        <p:txBody>
          <a:bodyPr/>
          <a:lstStyle/>
          <a:p>
            <a:endParaRPr lang="en-US"/>
          </a:p>
        </p:txBody>
      </p:sp>
      <p:sp>
        <p:nvSpPr>
          <p:cNvPr id="117" name="diagram-114">
            <a:extLst>
              <a:ext uri="{FF2B5EF4-FFF2-40B4-BE49-F238E27FC236}">
                <a16:creationId xmlns:a16="http://schemas.microsoft.com/office/drawing/2014/main" id="{A42D09BA-FE15-4A02-B897-BA497BDB892D}"/>
              </a:ext>
            </a:extLst>
          </p:cNvPr>
          <p:cNvSpPr>
            <a:spLocks noGrp="1"/>
          </p:cNvSpPr>
          <p:nvPr/>
        </p:nvSpPr>
        <p:spPr>
          <a:xfrm>
            <a:off x="8820150" y="3952875"/>
            <a:ext cx="2419350" cy="447675"/>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II. Select orientation</a:t>
            </a:r>
          </a:p>
        </p:txBody>
      </p:sp>
      <p:sp>
        <p:nvSpPr>
          <p:cNvPr id="118" name="diagram-115">
            <a:extLst>
              <a:ext uri="{FF2B5EF4-FFF2-40B4-BE49-F238E27FC236}">
                <a16:creationId xmlns:a16="http://schemas.microsoft.com/office/drawing/2014/main" id="{08BCB3E5-CF65-477F-B901-3E4D102EBA38}"/>
              </a:ext>
            </a:extLst>
          </p:cNvPr>
          <p:cNvSpPr>
            <a:spLocks noGrp="1"/>
          </p:cNvSpPr>
          <p:nvPr/>
        </p:nvSpPr>
        <p:spPr>
          <a:xfrm>
            <a:off x="8743950" y="4762500"/>
            <a:ext cx="2571750" cy="600075"/>
          </a:xfrm>
          <a:prstGeom prst="rect">
            <a:avLst/>
          </a:prstGeom>
          <a:solidFill>
            <a:srgbClr val="FFFFFF"/>
          </a:solidFill>
          <a:ln w="19050">
            <a:solidFill>
              <a:srgbClr val="111111"/>
            </a:solidFill>
          </a:ln>
        </p:spPr>
        <p:txBody>
          <a:bodyPr/>
          <a:lstStyle/>
          <a:p>
            <a:endParaRPr lang="en-US"/>
          </a:p>
        </p:txBody>
      </p:sp>
      <p:sp>
        <p:nvSpPr>
          <p:cNvPr id="119" name="diagram-116">
            <a:extLst>
              <a:ext uri="{FF2B5EF4-FFF2-40B4-BE49-F238E27FC236}">
                <a16:creationId xmlns:a16="http://schemas.microsoft.com/office/drawing/2014/main" id="{AA6E2B3F-B4E0-4F01-AD49-2A852AAF74B9}"/>
              </a:ext>
            </a:extLst>
          </p:cNvPr>
          <p:cNvSpPr>
            <a:spLocks noGrp="1"/>
          </p:cNvSpPr>
          <p:nvPr/>
        </p:nvSpPr>
        <p:spPr>
          <a:xfrm>
            <a:off x="8820150" y="4876800"/>
            <a:ext cx="2419350" cy="447675"/>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III. Adapt over time</a:t>
            </a:r>
          </a:p>
        </p:txBody>
      </p:sp>
      <p:sp>
        <p:nvSpPr>
          <p:cNvPr id="120" name="line-117">
            <a:extLst>
              <a:ext uri="{FF2B5EF4-FFF2-40B4-BE49-F238E27FC236}">
                <a16:creationId xmlns:a16="http://schemas.microsoft.com/office/drawing/2014/main" id="{C4D03881-1773-4C05-BFC2-92DCCFB49E85}"/>
              </a:ext>
            </a:extLst>
          </p:cNvPr>
          <p:cNvSpPr>
            <a:spLocks noGrp="1"/>
          </p:cNvSpPr>
          <p:nvPr/>
        </p:nvSpPr>
        <p:spPr>
          <a:xfrm>
            <a:off x="10029825" y="3543300"/>
            <a:ext cx="9525" cy="238125"/>
          </a:xfrm>
          <a:custGeom>
            <a:avLst/>
            <a:gdLst/>
            <a:ahLst/>
            <a:cxnLst/>
            <a:rect l="0" t="0" r="0" b="0"/>
            <a:pathLst>
              <a:path w="9525" h="238125">
                <a:moveTo>
                  <a:pt x="0" y="0"/>
                </a:moveTo>
                <a:lnTo>
                  <a:pt x="0" y="238125"/>
                </a:lnTo>
              </a:path>
            </a:pathLst>
          </a:custGeom>
          <a:noFill/>
          <a:ln w="23813">
            <a:solidFill>
              <a:srgbClr val="17698C"/>
            </a:solidFill>
          </a:ln>
        </p:spPr>
        <p:txBody>
          <a:bodyPr/>
          <a:lstStyle/>
          <a:p>
            <a:endParaRPr lang="en-US"/>
          </a:p>
        </p:txBody>
      </p:sp>
      <p:sp>
        <p:nvSpPr>
          <p:cNvPr id="121" name="line-118">
            <a:extLst>
              <a:ext uri="{FF2B5EF4-FFF2-40B4-BE49-F238E27FC236}">
                <a16:creationId xmlns:a16="http://schemas.microsoft.com/office/drawing/2014/main" id="{D392A443-D440-4253-BF0A-ACECE0BEBFBF}"/>
              </a:ext>
            </a:extLst>
          </p:cNvPr>
          <p:cNvSpPr>
            <a:spLocks noGrp="1"/>
          </p:cNvSpPr>
          <p:nvPr/>
        </p:nvSpPr>
        <p:spPr>
          <a:xfrm>
            <a:off x="9988395" y="369565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22" name="line-119">
            <a:extLst>
              <a:ext uri="{FF2B5EF4-FFF2-40B4-BE49-F238E27FC236}">
                <a16:creationId xmlns:a16="http://schemas.microsoft.com/office/drawing/2014/main" id="{D19E4187-8DCF-4327-8950-368F2D77EC30}"/>
              </a:ext>
            </a:extLst>
          </p:cNvPr>
          <p:cNvSpPr>
            <a:spLocks noGrp="1"/>
          </p:cNvSpPr>
          <p:nvPr/>
        </p:nvSpPr>
        <p:spPr>
          <a:xfrm>
            <a:off x="10029825" y="369565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23" name="line-120">
            <a:extLst>
              <a:ext uri="{FF2B5EF4-FFF2-40B4-BE49-F238E27FC236}">
                <a16:creationId xmlns:a16="http://schemas.microsoft.com/office/drawing/2014/main" id="{C8812E32-AECE-46FA-B76E-F22B7628393B}"/>
              </a:ext>
            </a:extLst>
          </p:cNvPr>
          <p:cNvSpPr>
            <a:spLocks noGrp="1"/>
          </p:cNvSpPr>
          <p:nvPr/>
        </p:nvSpPr>
        <p:spPr>
          <a:xfrm>
            <a:off x="10029825" y="4467225"/>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124" name="line-121">
            <a:extLst>
              <a:ext uri="{FF2B5EF4-FFF2-40B4-BE49-F238E27FC236}">
                <a16:creationId xmlns:a16="http://schemas.microsoft.com/office/drawing/2014/main" id="{8AB6A60F-B556-4641-9B75-8AAD6BB377C5}"/>
              </a:ext>
            </a:extLst>
          </p:cNvPr>
          <p:cNvSpPr>
            <a:spLocks noGrp="1"/>
          </p:cNvSpPr>
          <p:nvPr/>
        </p:nvSpPr>
        <p:spPr>
          <a:xfrm>
            <a:off x="9988395" y="462910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25" name="line-122">
            <a:extLst>
              <a:ext uri="{FF2B5EF4-FFF2-40B4-BE49-F238E27FC236}">
                <a16:creationId xmlns:a16="http://schemas.microsoft.com/office/drawing/2014/main" id="{1E11B0B7-C7D2-410B-9009-6105331EB51E}"/>
              </a:ext>
            </a:extLst>
          </p:cNvPr>
          <p:cNvSpPr>
            <a:spLocks noGrp="1"/>
          </p:cNvSpPr>
          <p:nvPr/>
        </p:nvSpPr>
        <p:spPr>
          <a:xfrm>
            <a:off x="10029825" y="462910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26" name="diagram-123">
            <a:extLst>
              <a:ext uri="{FF2B5EF4-FFF2-40B4-BE49-F238E27FC236}">
                <a16:creationId xmlns:a16="http://schemas.microsoft.com/office/drawing/2014/main" id="{DDC76B84-B36A-4E7E-8982-526B475BA8EC}"/>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One shared orientation per data interval. Multiple paths may belong to one client.</a:t>
            </a:r>
          </a:p>
        </p:txBody>
      </p:sp>
      <p:sp>
        <p:nvSpPr>
          <p:cNvPr id="127" name="added-text-73">
            <a:extLst>
              <a:ext uri="{FF2B5EF4-FFF2-40B4-BE49-F238E27FC236}">
                <a16:creationId xmlns:a16="http://schemas.microsoft.com/office/drawing/2014/main" id="{3AC08913-16F1-4198-BBD7-DD25F734D0F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a:t>
            </a:r>
          </a:p>
        </p:txBody>
      </p:sp>
    </p:spTree>
    <p:extLst>
      <p:ext uri="{BB962C8B-B14F-4D97-AF65-F5344CB8AC3E}">
        <p14:creationId xmlns:p14="http://schemas.microsoft.com/office/powerpoint/2010/main" val="2955090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16">
            <a:extLst>
              <a:ext uri="{FF2B5EF4-FFF2-40B4-BE49-F238E27FC236}">
                <a16:creationId xmlns:a16="http://schemas.microsoft.com/office/drawing/2014/main" id="{306110D6-E3B1-4628-A9F7-D643DB850C58}"/>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Reading the mathematical notation</a:t>
            </a:r>
          </a:p>
        </p:txBody>
      </p:sp>
      <p:graphicFrame>
        <p:nvGraphicFramePr>
          <p:cNvPr id="6" name="Table 5"/>
          <p:cNvGraphicFramePr/>
          <p:nvPr/>
        </p:nvGraphicFramePr>
        <p:xfrm>
          <a:off x="933450" y="1895475"/>
          <a:ext cx="10382250" cy="351282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Bold symbols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Lower case: vector; upper case: matrix</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Shape stated locally</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Hat / bar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Estimate / normalized vector; d̂ and b̂ denote unit axes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Context-dependent</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 arg max</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Selected optimizer / argument giving the largest objective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Same type as argument</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T / H / † superscript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Transpose / conjugate transpose / Moore–Penrose pseudoinverse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Matrix operations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|z|, ‖x‖₂, ‖X‖F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Magnitude / Euclidean vector norm / Frobenius matrix norm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Input units</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Σ, exp, log</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Sum / exponential / natural log of a dimensionless argument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operation</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arg(z), eig(Ψ)</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phase of z / eigenvalues of Ψ</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rad / complex</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 j, ≈</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Kronecker product / imaginary unit / approximation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j² = −1</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17">
            <a:extLst>
              <a:ext uri="{FF2B5EF4-FFF2-40B4-BE49-F238E27FC236}">
                <a16:creationId xmlns:a16="http://schemas.microsoft.com/office/drawing/2014/main" id="{92B5892F-591A-49DC-9BBF-3906A0F2B7F2}"/>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Angles appear in degrees for actuator settings. Trigonometric and complex-phase calculations use radians.</a:t>
            </a:r>
          </a:p>
        </p:txBody>
      </p:sp>
      <p:sp>
        <p:nvSpPr>
          <p:cNvPr id="4" name="added-text-74">
            <a:extLst>
              <a:ext uri="{FF2B5EF4-FFF2-40B4-BE49-F238E27FC236}">
                <a16:creationId xmlns:a16="http://schemas.microsoft.com/office/drawing/2014/main" id="{57157286-8955-4843-AF3D-9D60B64EB7DE}"/>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a:t>
            </a:r>
          </a:p>
        </p:txBody>
      </p:sp>
    </p:spTree>
    <p:extLst>
      <p:ext uri="{BB962C8B-B14F-4D97-AF65-F5344CB8AC3E}">
        <p14:creationId xmlns:p14="http://schemas.microsoft.com/office/powerpoint/2010/main" val="132532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1-D rotation geometry</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86" name="Picture 85"/>
          <p:cNvPicPr>
            <a:picLocks noChangeAspect="1"/>
          </p:cNvPicPr>
          <p:nvPr/>
        </p:nvPicPr>
        <p:blipFill>
          <a:blip r:embed="rId3"/>
          <a:stretch/>
        </p:blipFill>
        <p:spPr>
          <a:xfrm>
            <a:off x="933450" y="1952625"/>
            <a:ext cx="3581810" cy="358181"/>
          </a:xfrm>
          <a:prstGeom prst="rect">
            <a:avLst/>
          </a:prstGeom>
        </p:spPr>
      </p:pic>
      <p:pic>
        <p:nvPicPr>
          <p:cNvPr id="87" name="Picture 86"/>
          <p:cNvPicPr>
            <a:picLocks noChangeAspect="1"/>
          </p:cNvPicPr>
          <p:nvPr/>
        </p:nvPicPr>
        <p:blipFill>
          <a:blip r:embed="rId4"/>
          <a:stretch/>
        </p:blipFill>
        <p:spPr>
          <a:xfrm>
            <a:off x="933450" y="2548931"/>
            <a:ext cx="4336686" cy="423655"/>
          </a:xfrm>
          <a:prstGeom prst="rect">
            <a:avLst/>
          </a:prstGeom>
        </p:spPr>
      </p:pic>
      <p:sp>
        <p:nvSpPr>
          <p:cNvPr id="6" name="diagram-124">
            <a:extLst>
              <a:ext uri="{FF2B5EF4-FFF2-40B4-BE49-F238E27FC236}">
                <a16:creationId xmlns:a16="http://schemas.microsoft.com/office/drawing/2014/main" id="{D40B3C45-DB0B-43F2-8633-B32224C53B55}"/>
              </a:ext>
            </a:extLst>
          </p:cNvPr>
          <p:cNvSpPr>
            <a:spLocks noGrp="1"/>
          </p:cNvSpPr>
          <p:nvPr/>
        </p:nvSpPr>
        <p:spPr>
          <a:xfrm>
            <a:off x="933450" y="3790950"/>
            <a:ext cx="6191250" cy="2600325"/>
          </a:xfrm>
          <a:prstGeom prst="rect">
            <a:avLst/>
          </a:prstGeom>
          <a:noFill/>
          <a:ln w="0">
            <a:noFill/>
          </a:ln>
        </p:spPr>
        <p:txBody>
          <a:bodyPr lIns="0" tIns="0" rIns="0" bIns="0" anchor="t">
            <a:noAutofit/>
          </a:bodyPr>
          <a:lstStyle/>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β = 0°…180° with 5° spacing: 37 samples.</a:t>
            </a:r>
          </a:p>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Phase-center displacement creates a synthetic aperture.</a:t>
            </a:r>
          </a:p>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Dipole gain peaks broadside to its axis.</a:t>
            </a:r>
          </a:p>
        </p:txBody>
      </p:sp>
      <p:sp>
        <p:nvSpPr>
          <p:cNvPr id="7" name="line-125">
            <a:extLst>
              <a:ext uri="{FF2B5EF4-FFF2-40B4-BE49-F238E27FC236}">
                <a16:creationId xmlns:a16="http://schemas.microsoft.com/office/drawing/2014/main" id="{DD3B4DF6-7DEC-41C0-AC22-0C6C4CD92769}"/>
              </a:ext>
            </a:extLst>
          </p:cNvPr>
          <p:cNvSpPr>
            <a:spLocks noGrp="1"/>
          </p:cNvSpPr>
          <p:nvPr/>
        </p:nvSpPr>
        <p:spPr>
          <a:xfrm>
            <a:off x="9001125" y="4714875"/>
            <a:ext cx="2333625" cy="9525"/>
          </a:xfrm>
          <a:custGeom>
            <a:avLst/>
            <a:gdLst/>
            <a:ahLst/>
            <a:cxnLst/>
            <a:rect l="0" t="0" r="0" b="0"/>
            <a:pathLst>
              <a:path w="2333625" h="9525">
                <a:moveTo>
                  <a:pt x="0" y="0"/>
                </a:moveTo>
                <a:lnTo>
                  <a:pt x="2333625" y="0"/>
                </a:lnTo>
              </a:path>
            </a:pathLst>
          </a:custGeom>
          <a:noFill/>
          <a:ln w="23813">
            <a:solidFill>
              <a:srgbClr val="62676D"/>
            </a:solidFill>
          </a:ln>
        </p:spPr>
        <p:txBody>
          <a:bodyPr/>
          <a:lstStyle/>
          <a:p>
            <a:endParaRPr lang="en-US"/>
          </a:p>
        </p:txBody>
      </p:sp>
      <p:sp>
        <p:nvSpPr>
          <p:cNvPr id="8" name="line-126">
            <a:extLst>
              <a:ext uri="{FF2B5EF4-FFF2-40B4-BE49-F238E27FC236}">
                <a16:creationId xmlns:a16="http://schemas.microsoft.com/office/drawing/2014/main" id="{5A419FA7-2DA0-4CD3-8E6A-798E3CB239DF}"/>
              </a:ext>
            </a:extLst>
          </p:cNvPr>
          <p:cNvSpPr>
            <a:spLocks noGrp="1"/>
          </p:cNvSpPr>
          <p:nvPr/>
        </p:nvSpPr>
        <p:spPr>
          <a:xfrm>
            <a:off x="11248982" y="4714875"/>
            <a:ext cx="85768" cy="41430"/>
          </a:xfrm>
          <a:custGeom>
            <a:avLst/>
            <a:gdLst/>
            <a:ahLst/>
            <a:cxnLst/>
            <a:rect l="0" t="0" r="0" b="0"/>
            <a:pathLst>
              <a:path w="85768" h="41430">
                <a:moveTo>
                  <a:pt x="85768" y="0"/>
                </a:moveTo>
                <a:lnTo>
                  <a:pt x="0" y="41430"/>
                </a:lnTo>
              </a:path>
            </a:pathLst>
          </a:custGeom>
          <a:noFill/>
          <a:ln w="23813">
            <a:solidFill>
              <a:srgbClr val="62676D"/>
            </a:solidFill>
          </a:ln>
        </p:spPr>
        <p:txBody>
          <a:bodyPr/>
          <a:lstStyle/>
          <a:p>
            <a:endParaRPr lang="en-US"/>
          </a:p>
        </p:txBody>
      </p:sp>
      <p:sp>
        <p:nvSpPr>
          <p:cNvPr id="9" name="line-127">
            <a:extLst>
              <a:ext uri="{FF2B5EF4-FFF2-40B4-BE49-F238E27FC236}">
                <a16:creationId xmlns:a16="http://schemas.microsoft.com/office/drawing/2014/main" id="{77E41ED6-AF93-480B-A18C-68CB1BA84022}"/>
              </a:ext>
            </a:extLst>
          </p:cNvPr>
          <p:cNvSpPr>
            <a:spLocks noGrp="1"/>
          </p:cNvSpPr>
          <p:nvPr/>
        </p:nvSpPr>
        <p:spPr>
          <a:xfrm>
            <a:off x="11248982" y="4673445"/>
            <a:ext cx="85768" cy="41430"/>
          </a:xfrm>
          <a:custGeom>
            <a:avLst/>
            <a:gdLst/>
            <a:ahLst/>
            <a:cxnLst/>
            <a:rect l="0" t="0" r="0" b="0"/>
            <a:pathLst>
              <a:path w="85768" h="41430">
                <a:moveTo>
                  <a:pt x="85768" y="41430"/>
                </a:moveTo>
                <a:lnTo>
                  <a:pt x="0" y="0"/>
                </a:lnTo>
              </a:path>
            </a:pathLst>
          </a:custGeom>
          <a:noFill/>
          <a:ln w="23813">
            <a:solidFill>
              <a:srgbClr val="62676D"/>
            </a:solidFill>
          </a:ln>
        </p:spPr>
        <p:txBody>
          <a:bodyPr/>
          <a:lstStyle/>
          <a:p>
            <a:endParaRPr lang="en-US"/>
          </a:p>
        </p:txBody>
      </p:sp>
      <p:sp>
        <p:nvSpPr>
          <p:cNvPr id="10" name="line-128">
            <a:extLst>
              <a:ext uri="{FF2B5EF4-FFF2-40B4-BE49-F238E27FC236}">
                <a16:creationId xmlns:a16="http://schemas.microsoft.com/office/drawing/2014/main" id="{9A38C5CB-7DF0-4B9C-B923-67C36F6CFFB1}"/>
              </a:ext>
            </a:extLst>
          </p:cNvPr>
          <p:cNvSpPr>
            <a:spLocks noGrp="1"/>
          </p:cNvSpPr>
          <p:nvPr/>
        </p:nvSpPr>
        <p:spPr>
          <a:xfrm>
            <a:off x="9001125" y="2190750"/>
            <a:ext cx="9525" cy="2524125"/>
          </a:xfrm>
          <a:custGeom>
            <a:avLst/>
            <a:gdLst/>
            <a:ahLst/>
            <a:cxnLst/>
            <a:rect l="0" t="0" r="0" b="0"/>
            <a:pathLst>
              <a:path w="9525" h="2524125">
                <a:moveTo>
                  <a:pt x="0" y="2524125"/>
                </a:moveTo>
                <a:lnTo>
                  <a:pt x="0" y="0"/>
                </a:lnTo>
              </a:path>
            </a:pathLst>
          </a:custGeom>
          <a:noFill/>
          <a:ln w="23813">
            <a:solidFill>
              <a:srgbClr val="62676D"/>
            </a:solidFill>
          </a:ln>
        </p:spPr>
        <p:txBody>
          <a:bodyPr/>
          <a:lstStyle/>
          <a:p>
            <a:endParaRPr lang="en-US"/>
          </a:p>
        </p:txBody>
      </p:sp>
      <p:sp>
        <p:nvSpPr>
          <p:cNvPr id="11" name="line-129">
            <a:extLst>
              <a:ext uri="{FF2B5EF4-FFF2-40B4-BE49-F238E27FC236}">
                <a16:creationId xmlns:a16="http://schemas.microsoft.com/office/drawing/2014/main" id="{FCFF79A9-A904-477A-A4B7-6054BFA71EED}"/>
              </a:ext>
            </a:extLst>
          </p:cNvPr>
          <p:cNvSpPr>
            <a:spLocks noGrp="1"/>
          </p:cNvSpPr>
          <p:nvPr/>
        </p:nvSpPr>
        <p:spPr>
          <a:xfrm>
            <a:off x="9001125" y="2190750"/>
            <a:ext cx="41430" cy="85768"/>
          </a:xfrm>
          <a:custGeom>
            <a:avLst/>
            <a:gdLst/>
            <a:ahLst/>
            <a:cxnLst/>
            <a:rect l="0" t="0" r="0" b="0"/>
            <a:pathLst>
              <a:path w="41430" h="85768">
                <a:moveTo>
                  <a:pt x="0" y="0"/>
                </a:moveTo>
                <a:lnTo>
                  <a:pt x="41430" y="85768"/>
                </a:lnTo>
              </a:path>
            </a:pathLst>
          </a:custGeom>
          <a:noFill/>
          <a:ln w="23813">
            <a:solidFill>
              <a:srgbClr val="62676D"/>
            </a:solidFill>
          </a:ln>
        </p:spPr>
        <p:txBody>
          <a:bodyPr/>
          <a:lstStyle/>
          <a:p>
            <a:endParaRPr lang="en-US"/>
          </a:p>
        </p:txBody>
      </p:sp>
      <p:sp>
        <p:nvSpPr>
          <p:cNvPr id="12" name="line-130">
            <a:extLst>
              <a:ext uri="{FF2B5EF4-FFF2-40B4-BE49-F238E27FC236}">
                <a16:creationId xmlns:a16="http://schemas.microsoft.com/office/drawing/2014/main" id="{42E63832-146E-4014-81F5-1D8951111806}"/>
              </a:ext>
            </a:extLst>
          </p:cNvPr>
          <p:cNvSpPr>
            <a:spLocks noGrp="1"/>
          </p:cNvSpPr>
          <p:nvPr/>
        </p:nvSpPr>
        <p:spPr>
          <a:xfrm>
            <a:off x="8959695" y="2190750"/>
            <a:ext cx="41430" cy="85768"/>
          </a:xfrm>
          <a:custGeom>
            <a:avLst/>
            <a:gdLst/>
            <a:ahLst/>
            <a:cxnLst/>
            <a:rect l="0" t="0" r="0" b="0"/>
            <a:pathLst>
              <a:path w="41430" h="85768">
                <a:moveTo>
                  <a:pt x="41430" y="0"/>
                </a:moveTo>
                <a:lnTo>
                  <a:pt x="0" y="85768"/>
                </a:lnTo>
              </a:path>
            </a:pathLst>
          </a:custGeom>
          <a:noFill/>
          <a:ln w="23813">
            <a:solidFill>
              <a:srgbClr val="62676D"/>
            </a:solidFill>
          </a:ln>
        </p:spPr>
        <p:txBody>
          <a:bodyPr/>
          <a:lstStyle/>
          <a:p>
            <a:endParaRPr lang="en-US"/>
          </a:p>
        </p:txBody>
      </p:sp>
      <p:sp>
        <p:nvSpPr>
          <p:cNvPr id="13" name="diagram-131">
            <a:extLst>
              <a:ext uri="{FF2B5EF4-FFF2-40B4-BE49-F238E27FC236}">
                <a16:creationId xmlns:a16="http://schemas.microsoft.com/office/drawing/2014/main" id="{C8FCF8A1-D287-4A5B-8AC1-91D0733391AF}"/>
              </a:ext>
            </a:extLst>
          </p:cNvPr>
          <p:cNvSpPr>
            <a:spLocks noGrp="1"/>
          </p:cNvSpPr>
          <p:nvPr/>
        </p:nvSpPr>
        <p:spPr>
          <a:xfrm>
            <a:off x="11334750" y="4676775"/>
            <a:ext cx="238125" cy="285750"/>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x</a:t>
            </a:r>
          </a:p>
        </p:txBody>
      </p:sp>
      <p:sp>
        <p:nvSpPr>
          <p:cNvPr id="14" name="diagram-132">
            <a:extLst>
              <a:ext uri="{FF2B5EF4-FFF2-40B4-BE49-F238E27FC236}">
                <a16:creationId xmlns:a16="http://schemas.microsoft.com/office/drawing/2014/main" id="{7310C950-E1CD-4715-931A-6DDDDB8E8044}"/>
              </a:ext>
            </a:extLst>
          </p:cNvPr>
          <p:cNvSpPr>
            <a:spLocks noGrp="1"/>
          </p:cNvSpPr>
          <p:nvPr/>
        </p:nvSpPr>
        <p:spPr>
          <a:xfrm>
            <a:off x="8915400" y="1876425"/>
            <a:ext cx="238125" cy="285750"/>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z</a:t>
            </a:r>
          </a:p>
        </p:txBody>
      </p:sp>
      <p:sp>
        <p:nvSpPr>
          <p:cNvPr id="15" name="line-133">
            <a:extLst>
              <a:ext uri="{FF2B5EF4-FFF2-40B4-BE49-F238E27FC236}">
                <a16:creationId xmlns:a16="http://schemas.microsoft.com/office/drawing/2014/main" id="{7062D0B2-632F-4A48-9B71-4CA07C708EF5}"/>
              </a:ext>
            </a:extLst>
          </p:cNvPr>
          <p:cNvSpPr>
            <a:spLocks noGrp="1"/>
          </p:cNvSpPr>
          <p:nvPr/>
        </p:nvSpPr>
        <p:spPr>
          <a:xfrm>
            <a:off x="7572375" y="4528386"/>
            <a:ext cx="12223" cy="186489"/>
          </a:xfrm>
          <a:custGeom>
            <a:avLst/>
            <a:gdLst/>
            <a:ahLst/>
            <a:cxnLst/>
            <a:rect l="0" t="0" r="0" b="0"/>
            <a:pathLst>
              <a:path w="12223" h="186489">
                <a:moveTo>
                  <a:pt x="0" y="186489"/>
                </a:moveTo>
                <a:lnTo>
                  <a:pt x="12223" y="0"/>
                </a:lnTo>
              </a:path>
            </a:pathLst>
          </a:custGeom>
          <a:noFill/>
          <a:ln w="19050">
            <a:solidFill>
              <a:srgbClr val="C9CDD0"/>
            </a:solidFill>
          </a:ln>
        </p:spPr>
        <p:txBody>
          <a:bodyPr/>
          <a:lstStyle/>
          <a:p>
            <a:endParaRPr lang="en-US"/>
          </a:p>
        </p:txBody>
      </p:sp>
      <p:sp>
        <p:nvSpPr>
          <p:cNvPr id="16" name="line-134">
            <a:extLst>
              <a:ext uri="{FF2B5EF4-FFF2-40B4-BE49-F238E27FC236}">
                <a16:creationId xmlns:a16="http://schemas.microsoft.com/office/drawing/2014/main" id="{81FF9DBA-3C5E-43FC-9C9D-CCBB3195DDB0}"/>
              </a:ext>
            </a:extLst>
          </p:cNvPr>
          <p:cNvSpPr>
            <a:spLocks noGrp="1"/>
          </p:cNvSpPr>
          <p:nvPr/>
        </p:nvSpPr>
        <p:spPr>
          <a:xfrm>
            <a:off x="7584598" y="4345087"/>
            <a:ext cx="36460" cy="183298"/>
          </a:xfrm>
          <a:custGeom>
            <a:avLst/>
            <a:gdLst/>
            <a:ahLst/>
            <a:cxnLst/>
            <a:rect l="0" t="0" r="0" b="0"/>
            <a:pathLst>
              <a:path w="36460" h="183298">
                <a:moveTo>
                  <a:pt x="0" y="183298"/>
                </a:moveTo>
                <a:lnTo>
                  <a:pt x="36460" y="0"/>
                </a:lnTo>
              </a:path>
            </a:pathLst>
          </a:custGeom>
          <a:noFill/>
          <a:ln w="19050">
            <a:solidFill>
              <a:srgbClr val="C9CDD0"/>
            </a:solidFill>
          </a:ln>
        </p:spPr>
        <p:txBody>
          <a:bodyPr/>
          <a:lstStyle/>
          <a:p>
            <a:endParaRPr lang="en-US"/>
          </a:p>
        </p:txBody>
      </p:sp>
      <p:sp>
        <p:nvSpPr>
          <p:cNvPr id="17" name="line-135">
            <a:extLst>
              <a:ext uri="{FF2B5EF4-FFF2-40B4-BE49-F238E27FC236}">
                <a16:creationId xmlns:a16="http://schemas.microsoft.com/office/drawing/2014/main" id="{C28F00BB-AC4C-4B8B-9A2A-B815287C93C3}"/>
              </a:ext>
            </a:extLst>
          </p:cNvPr>
          <p:cNvSpPr>
            <a:spLocks noGrp="1"/>
          </p:cNvSpPr>
          <p:nvPr/>
        </p:nvSpPr>
        <p:spPr>
          <a:xfrm>
            <a:off x="7621058" y="4168116"/>
            <a:ext cx="60074" cy="176971"/>
          </a:xfrm>
          <a:custGeom>
            <a:avLst/>
            <a:gdLst/>
            <a:ahLst/>
            <a:cxnLst/>
            <a:rect l="0" t="0" r="0" b="0"/>
            <a:pathLst>
              <a:path w="60074" h="176971">
                <a:moveTo>
                  <a:pt x="0" y="176971"/>
                </a:moveTo>
                <a:lnTo>
                  <a:pt x="60074" y="0"/>
                </a:lnTo>
              </a:path>
            </a:pathLst>
          </a:custGeom>
          <a:noFill/>
          <a:ln w="19050">
            <a:solidFill>
              <a:srgbClr val="C9CDD0"/>
            </a:solidFill>
          </a:ln>
        </p:spPr>
        <p:txBody>
          <a:bodyPr/>
          <a:lstStyle/>
          <a:p>
            <a:endParaRPr lang="en-US"/>
          </a:p>
        </p:txBody>
      </p:sp>
      <p:sp>
        <p:nvSpPr>
          <p:cNvPr id="18" name="line-136">
            <a:extLst>
              <a:ext uri="{FF2B5EF4-FFF2-40B4-BE49-F238E27FC236}">
                <a16:creationId xmlns:a16="http://schemas.microsoft.com/office/drawing/2014/main" id="{DA3F0EF3-D2A3-4E62-A30E-9A8859A706AA}"/>
              </a:ext>
            </a:extLst>
          </p:cNvPr>
          <p:cNvSpPr>
            <a:spLocks noGrp="1"/>
          </p:cNvSpPr>
          <p:nvPr/>
        </p:nvSpPr>
        <p:spPr>
          <a:xfrm>
            <a:off x="7681132" y="4000500"/>
            <a:ext cx="82659" cy="167616"/>
          </a:xfrm>
          <a:custGeom>
            <a:avLst/>
            <a:gdLst/>
            <a:ahLst/>
            <a:cxnLst/>
            <a:rect l="0" t="0" r="0" b="0"/>
            <a:pathLst>
              <a:path w="82659" h="167616">
                <a:moveTo>
                  <a:pt x="0" y="167616"/>
                </a:moveTo>
                <a:lnTo>
                  <a:pt x="82659" y="0"/>
                </a:lnTo>
              </a:path>
            </a:pathLst>
          </a:custGeom>
          <a:noFill/>
          <a:ln w="19050">
            <a:solidFill>
              <a:srgbClr val="C9CDD0"/>
            </a:solidFill>
          </a:ln>
        </p:spPr>
        <p:txBody>
          <a:bodyPr/>
          <a:lstStyle/>
          <a:p>
            <a:endParaRPr lang="en-US"/>
          </a:p>
        </p:txBody>
      </p:sp>
      <p:sp>
        <p:nvSpPr>
          <p:cNvPr id="19" name="line-137">
            <a:extLst>
              <a:ext uri="{FF2B5EF4-FFF2-40B4-BE49-F238E27FC236}">
                <a16:creationId xmlns:a16="http://schemas.microsoft.com/office/drawing/2014/main" id="{F3E77320-02BD-4AC7-A78F-ACD133C0E0EE}"/>
              </a:ext>
            </a:extLst>
          </p:cNvPr>
          <p:cNvSpPr>
            <a:spLocks noGrp="1"/>
          </p:cNvSpPr>
          <p:nvPr/>
        </p:nvSpPr>
        <p:spPr>
          <a:xfrm>
            <a:off x="7763791" y="3845107"/>
            <a:ext cx="103830" cy="155393"/>
          </a:xfrm>
          <a:custGeom>
            <a:avLst/>
            <a:gdLst/>
            <a:ahLst/>
            <a:cxnLst/>
            <a:rect l="0" t="0" r="0" b="0"/>
            <a:pathLst>
              <a:path w="103830" h="155393">
                <a:moveTo>
                  <a:pt x="0" y="155393"/>
                </a:moveTo>
                <a:lnTo>
                  <a:pt x="103830" y="0"/>
                </a:lnTo>
              </a:path>
            </a:pathLst>
          </a:custGeom>
          <a:noFill/>
          <a:ln w="19050">
            <a:solidFill>
              <a:srgbClr val="C9CDD0"/>
            </a:solidFill>
          </a:ln>
        </p:spPr>
        <p:txBody>
          <a:bodyPr/>
          <a:lstStyle/>
          <a:p>
            <a:endParaRPr lang="en-US"/>
          </a:p>
        </p:txBody>
      </p:sp>
      <p:sp>
        <p:nvSpPr>
          <p:cNvPr id="20" name="line-138">
            <a:extLst>
              <a:ext uri="{FF2B5EF4-FFF2-40B4-BE49-F238E27FC236}">
                <a16:creationId xmlns:a16="http://schemas.microsoft.com/office/drawing/2014/main" id="{5498F047-D0DE-4580-851C-81F11F1E056B}"/>
              </a:ext>
            </a:extLst>
          </p:cNvPr>
          <p:cNvSpPr>
            <a:spLocks noGrp="1"/>
          </p:cNvSpPr>
          <p:nvPr/>
        </p:nvSpPr>
        <p:spPr>
          <a:xfrm>
            <a:off x="7867621" y="3704596"/>
            <a:ext cx="123225" cy="140511"/>
          </a:xfrm>
          <a:custGeom>
            <a:avLst/>
            <a:gdLst/>
            <a:ahLst/>
            <a:cxnLst/>
            <a:rect l="0" t="0" r="0" b="0"/>
            <a:pathLst>
              <a:path w="123225" h="140511">
                <a:moveTo>
                  <a:pt x="0" y="140511"/>
                </a:moveTo>
                <a:lnTo>
                  <a:pt x="123225" y="0"/>
                </a:lnTo>
              </a:path>
            </a:pathLst>
          </a:custGeom>
          <a:noFill/>
          <a:ln w="19050">
            <a:solidFill>
              <a:srgbClr val="C9CDD0"/>
            </a:solidFill>
          </a:ln>
        </p:spPr>
        <p:txBody>
          <a:bodyPr/>
          <a:lstStyle/>
          <a:p>
            <a:endParaRPr lang="en-US"/>
          </a:p>
        </p:txBody>
      </p:sp>
      <p:sp>
        <p:nvSpPr>
          <p:cNvPr id="21" name="line-139">
            <a:extLst>
              <a:ext uri="{FF2B5EF4-FFF2-40B4-BE49-F238E27FC236}">
                <a16:creationId xmlns:a16="http://schemas.microsoft.com/office/drawing/2014/main" id="{7AD66BDD-D098-460C-AB11-88C3E7DDACCF}"/>
              </a:ext>
            </a:extLst>
          </p:cNvPr>
          <p:cNvSpPr>
            <a:spLocks noGrp="1"/>
          </p:cNvSpPr>
          <p:nvPr/>
        </p:nvSpPr>
        <p:spPr>
          <a:xfrm>
            <a:off x="7990846" y="3581371"/>
            <a:ext cx="140511" cy="123225"/>
          </a:xfrm>
          <a:custGeom>
            <a:avLst/>
            <a:gdLst/>
            <a:ahLst/>
            <a:cxnLst/>
            <a:rect l="0" t="0" r="0" b="0"/>
            <a:pathLst>
              <a:path w="140511" h="123225">
                <a:moveTo>
                  <a:pt x="0" y="123225"/>
                </a:moveTo>
                <a:lnTo>
                  <a:pt x="140511" y="0"/>
                </a:lnTo>
              </a:path>
            </a:pathLst>
          </a:custGeom>
          <a:noFill/>
          <a:ln w="19050">
            <a:solidFill>
              <a:srgbClr val="C9CDD0"/>
            </a:solidFill>
          </a:ln>
        </p:spPr>
        <p:txBody>
          <a:bodyPr/>
          <a:lstStyle/>
          <a:p>
            <a:endParaRPr lang="en-US"/>
          </a:p>
        </p:txBody>
      </p:sp>
      <p:sp>
        <p:nvSpPr>
          <p:cNvPr id="22" name="line-140">
            <a:extLst>
              <a:ext uri="{FF2B5EF4-FFF2-40B4-BE49-F238E27FC236}">
                <a16:creationId xmlns:a16="http://schemas.microsoft.com/office/drawing/2014/main" id="{89CEA683-EDE3-49A2-B513-D97C58EB7712}"/>
              </a:ext>
            </a:extLst>
          </p:cNvPr>
          <p:cNvSpPr>
            <a:spLocks noGrp="1"/>
          </p:cNvSpPr>
          <p:nvPr/>
        </p:nvSpPr>
        <p:spPr>
          <a:xfrm>
            <a:off x="8131357" y="3477541"/>
            <a:ext cx="155393" cy="103830"/>
          </a:xfrm>
          <a:custGeom>
            <a:avLst/>
            <a:gdLst/>
            <a:ahLst/>
            <a:cxnLst/>
            <a:rect l="0" t="0" r="0" b="0"/>
            <a:pathLst>
              <a:path w="155393" h="103830">
                <a:moveTo>
                  <a:pt x="0" y="103830"/>
                </a:moveTo>
                <a:lnTo>
                  <a:pt x="155393" y="0"/>
                </a:lnTo>
              </a:path>
            </a:pathLst>
          </a:custGeom>
          <a:noFill/>
          <a:ln w="19050">
            <a:solidFill>
              <a:srgbClr val="C9CDD0"/>
            </a:solidFill>
          </a:ln>
        </p:spPr>
        <p:txBody>
          <a:bodyPr/>
          <a:lstStyle/>
          <a:p>
            <a:endParaRPr lang="en-US"/>
          </a:p>
        </p:txBody>
      </p:sp>
      <p:sp>
        <p:nvSpPr>
          <p:cNvPr id="23" name="line-141">
            <a:extLst>
              <a:ext uri="{FF2B5EF4-FFF2-40B4-BE49-F238E27FC236}">
                <a16:creationId xmlns:a16="http://schemas.microsoft.com/office/drawing/2014/main" id="{A8A8A337-2221-4442-86CB-017740D00D84}"/>
              </a:ext>
            </a:extLst>
          </p:cNvPr>
          <p:cNvSpPr>
            <a:spLocks noGrp="1"/>
          </p:cNvSpPr>
          <p:nvPr/>
        </p:nvSpPr>
        <p:spPr>
          <a:xfrm>
            <a:off x="8286750" y="3394882"/>
            <a:ext cx="167616" cy="82659"/>
          </a:xfrm>
          <a:custGeom>
            <a:avLst/>
            <a:gdLst/>
            <a:ahLst/>
            <a:cxnLst/>
            <a:rect l="0" t="0" r="0" b="0"/>
            <a:pathLst>
              <a:path w="167616" h="82659">
                <a:moveTo>
                  <a:pt x="0" y="82659"/>
                </a:moveTo>
                <a:lnTo>
                  <a:pt x="167616" y="0"/>
                </a:lnTo>
              </a:path>
            </a:pathLst>
          </a:custGeom>
          <a:noFill/>
          <a:ln w="19050">
            <a:solidFill>
              <a:srgbClr val="C9CDD0"/>
            </a:solidFill>
          </a:ln>
        </p:spPr>
        <p:txBody>
          <a:bodyPr/>
          <a:lstStyle/>
          <a:p>
            <a:endParaRPr lang="en-US"/>
          </a:p>
        </p:txBody>
      </p:sp>
      <p:sp>
        <p:nvSpPr>
          <p:cNvPr id="24" name="line-142">
            <a:extLst>
              <a:ext uri="{FF2B5EF4-FFF2-40B4-BE49-F238E27FC236}">
                <a16:creationId xmlns:a16="http://schemas.microsoft.com/office/drawing/2014/main" id="{B6DB87D0-DE24-496B-B6DF-43A4F922DB22}"/>
              </a:ext>
            </a:extLst>
          </p:cNvPr>
          <p:cNvSpPr>
            <a:spLocks noGrp="1"/>
          </p:cNvSpPr>
          <p:nvPr/>
        </p:nvSpPr>
        <p:spPr>
          <a:xfrm>
            <a:off x="8454366" y="3334808"/>
            <a:ext cx="176971" cy="60074"/>
          </a:xfrm>
          <a:custGeom>
            <a:avLst/>
            <a:gdLst/>
            <a:ahLst/>
            <a:cxnLst/>
            <a:rect l="0" t="0" r="0" b="0"/>
            <a:pathLst>
              <a:path w="176971" h="60074">
                <a:moveTo>
                  <a:pt x="0" y="60074"/>
                </a:moveTo>
                <a:lnTo>
                  <a:pt x="176971" y="0"/>
                </a:lnTo>
              </a:path>
            </a:pathLst>
          </a:custGeom>
          <a:noFill/>
          <a:ln w="19050">
            <a:solidFill>
              <a:srgbClr val="C9CDD0"/>
            </a:solidFill>
          </a:ln>
        </p:spPr>
        <p:txBody>
          <a:bodyPr/>
          <a:lstStyle/>
          <a:p>
            <a:endParaRPr lang="en-US"/>
          </a:p>
        </p:txBody>
      </p:sp>
      <p:sp>
        <p:nvSpPr>
          <p:cNvPr id="25" name="line-143">
            <a:extLst>
              <a:ext uri="{FF2B5EF4-FFF2-40B4-BE49-F238E27FC236}">
                <a16:creationId xmlns:a16="http://schemas.microsoft.com/office/drawing/2014/main" id="{2D80FBA2-282E-465C-AB63-91828FA404CD}"/>
              </a:ext>
            </a:extLst>
          </p:cNvPr>
          <p:cNvSpPr>
            <a:spLocks noGrp="1"/>
          </p:cNvSpPr>
          <p:nvPr/>
        </p:nvSpPr>
        <p:spPr>
          <a:xfrm>
            <a:off x="8631337" y="3298348"/>
            <a:ext cx="183298" cy="36460"/>
          </a:xfrm>
          <a:custGeom>
            <a:avLst/>
            <a:gdLst/>
            <a:ahLst/>
            <a:cxnLst/>
            <a:rect l="0" t="0" r="0" b="0"/>
            <a:pathLst>
              <a:path w="183298" h="36460">
                <a:moveTo>
                  <a:pt x="0" y="36460"/>
                </a:moveTo>
                <a:lnTo>
                  <a:pt x="183298" y="0"/>
                </a:lnTo>
              </a:path>
            </a:pathLst>
          </a:custGeom>
          <a:noFill/>
          <a:ln w="19050">
            <a:solidFill>
              <a:srgbClr val="C9CDD0"/>
            </a:solidFill>
          </a:ln>
        </p:spPr>
        <p:txBody>
          <a:bodyPr/>
          <a:lstStyle/>
          <a:p>
            <a:endParaRPr lang="en-US"/>
          </a:p>
        </p:txBody>
      </p:sp>
      <p:sp>
        <p:nvSpPr>
          <p:cNvPr id="26" name="line-144">
            <a:extLst>
              <a:ext uri="{FF2B5EF4-FFF2-40B4-BE49-F238E27FC236}">
                <a16:creationId xmlns:a16="http://schemas.microsoft.com/office/drawing/2014/main" id="{30437805-3EB3-4210-B93A-90698DD76EC3}"/>
              </a:ext>
            </a:extLst>
          </p:cNvPr>
          <p:cNvSpPr>
            <a:spLocks noGrp="1"/>
          </p:cNvSpPr>
          <p:nvPr/>
        </p:nvSpPr>
        <p:spPr>
          <a:xfrm>
            <a:off x="8814636" y="3286125"/>
            <a:ext cx="186489" cy="12223"/>
          </a:xfrm>
          <a:custGeom>
            <a:avLst/>
            <a:gdLst/>
            <a:ahLst/>
            <a:cxnLst/>
            <a:rect l="0" t="0" r="0" b="0"/>
            <a:pathLst>
              <a:path w="186489" h="12223">
                <a:moveTo>
                  <a:pt x="0" y="12223"/>
                </a:moveTo>
                <a:lnTo>
                  <a:pt x="186489" y="0"/>
                </a:lnTo>
              </a:path>
            </a:pathLst>
          </a:custGeom>
          <a:noFill/>
          <a:ln w="19050">
            <a:solidFill>
              <a:srgbClr val="C9CDD0"/>
            </a:solidFill>
          </a:ln>
        </p:spPr>
        <p:txBody>
          <a:bodyPr/>
          <a:lstStyle/>
          <a:p>
            <a:endParaRPr lang="en-US"/>
          </a:p>
        </p:txBody>
      </p:sp>
      <p:sp>
        <p:nvSpPr>
          <p:cNvPr id="27" name="line-145">
            <a:extLst>
              <a:ext uri="{FF2B5EF4-FFF2-40B4-BE49-F238E27FC236}">
                <a16:creationId xmlns:a16="http://schemas.microsoft.com/office/drawing/2014/main" id="{8D1A867C-1EB6-4C85-AD85-11997769BCD6}"/>
              </a:ext>
            </a:extLst>
          </p:cNvPr>
          <p:cNvSpPr>
            <a:spLocks noGrp="1"/>
          </p:cNvSpPr>
          <p:nvPr/>
        </p:nvSpPr>
        <p:spPr>
          <a:xfrm>
            <a:off x="9001125" y="3286125"/>
            <a:ext cx="186489" cy="12223"/>
          </a:xfrm>
          <a:custGeom>
            <a:avLst/>
            <a:gdLst/>
            <a:ahLst/>
            <a:cxnLst/>
            <a:rect l="0" t="0" r="0" b="0"/>
            <a:pathLst>
              <a:path w="186489" h="12223">
                <a:moveTo>
                  <a:pt x="0" y="0"/>
                </a:moveTo>
                <a:lnTo>
                  <a:pt x="186489" y="12223"/>
                </a:lnTo>
              </a:path>
            </a:pathLst>
          </a:custGeom>
          <a:noFill/>
          <a:ln w="19050">
            <a:solidFill>
              <a:srgbClr val="C9CDD0"/>
            </a:solidFill>
          </a:ln>
        </p:spPr>
        <p:txBody>
          <a:bodyPr/>
          <a:lstStyle/>
          <a:p>
            <a:endParaRPr lang="en-US"/>
          </a:p>
        </p:txBody>
      </p:sp>
      <p:sp>
        <p:nvSpPr>
          <p:cNvPr id="28" name="line-146">
            <a:extLst>
              <a:ext uri="{FF2B5EF4-FFF2-40B4-BE49-F238E27FC236}">
                <a16:creationId xmlns:a16="http://schemas.microsoft.com/office/drawing/2014/main" id="{24D62AAC-4D90-43F7-BDD4-7884D54B2DB5}"/>
              </a:ext>
            </a:extLst>
          </p:cNvPr>
          <p:cNvSpPr>
            <a:spLocks noGrp="1"/>
          </p:cNvSpPr>
          <p:nvPr/>
        </p:nvSpPr>
        <p:spPr>
          <a:xfrm>
            <a:off x="9187614" y="3298348"/>
            <a:ext cx="183298" cy="36460"/>
          </a:xfrm>
          <a:custGeom>
            <a:avLst/>
            <a:gdLst/>
            <a:ahLst/>
            <a:cxnLst/>
            <a:rect l="0" t="0" r="0" b="0"/>
            <a:pathLst>
              <a:path w="183298" h="36460">
                <a:moveTo>
                  <a:pt x="0" y="0"/>
                </a:moveTo>
                <a:lnTo>
                  <a:pt x="183298" y="36460"/>
                </a:lnTo>
              </a:path>
            </a:pathLst>
          </a:custGeom>
          <a:noFill/>
          <a:ln w="19050">
            <a:solidFill>
              <a:srgbClr val="C9CDD0"/>
            </a:solidFill>
          </a:ln>
        </p:spPr>
        <p:txBody>
          <a:bodyPr/>
          <a:lstStyle/>
          <a:p>
            <a:endParaRPr lang="en-US"/>
          </a:p>
        </p:txBody>
      </p:sp>
      <p:sp>
        <p:nvSpPr>
          <p:cNvPr id="29" name="line-147">
            <a:extLst>
              <a:ext uri="{FF2B5EF4-FFF2-40B4-BE49-F238E27FC236}">
                <a16:creationId xmlns:a16="http://schemas.microsoft.com/office/drawing/2014/main" id="{652B727D-86DA-4D34-A51A-790888D734C2}"/>
              </a:ext>
            </a:extLst>
          </p:cNvPr>
          <p:cNvSpPr>
            <a:spLocks noGrp="1"/>
          </p:cNvSpPr>
          <p:nvPr/>
        </p:nvSpPr>
        <p:spPr>
          <a:xfrm>
            <a:off x="9370913" y="3334808"/>
            <a:ext cx="176971" cy="60074"/>
          </a:xfrm>
          <a:custGeom>
            <a:avLst/>
            <a:gdLst/>
            <a:ahLst/>
            <a:cxnLst/>
            <a:rect l="0" t="0" r="0" b="0"/>
            <a:pathLst>
              <a:path w="176971" h="60074">
                <a:moveTo>
                  <a:pt x="0" y="0"/>
                </a:moveTo>
                <a:lnTo>
                  <a:pt x="176971" y="60074"/>
                </a:lnTo>
              </a:path>
            </a:pathLst>
          </a:custGeom>
          <a:noFill/>
          <a:ln w="19050">
            <a:solidFill>
              <a:srgbClr val="C9CDD0"/>
            </a:solidFill>
          </a:ln>
        </p:spPr>
        <p:txBody>
          <a:bodyPr/>
          <a:lstStyle/>
          <a:p>
            <a:endParaRPr lang="en-US"/>
          </a:p>
        </p:txBody>
      </p:sp>
      <p:sp>
        <p:nvSpPr>
          <p:cNvPr id="30" name="line-148">
            <a:extLst>
              <a:ext uri="{FF2B5EF4-FFF2-40B4-BE49-F238E27FC236}">
                <a16:creationId xmlns:a16="http://schemas.microsoft.com/office/drawing/2014/main" id="{D25B92A5-3A8F-4D23-B9BB-2238C88BF6D6}"/>
              </a:ext>
            </a:extLst>
          </p:cNvPr>
          <p:cNvSpPr>
            <a:spLocks noGrp="1"/>
          </p:cNvSpPr>
          <p:nvPr/>
        </p:nvSpPr>
        <p:spPr>
          <a:xfrm>
            <a:off x="9547884" y="3394882"/>
            <a:ext cx="167616" cy="82659"/>
          </a:xfrm>
          <a:custGeom>
            <a:avLst/>
            <a:gdLst/>
            <a:ahLst/>
            <a:cxnLst/>
            <a:rect l="0" t="0" r="0" b="0"/>
            <a:pathLst>
              <a:path w="167616" h="82659">
                <a:moveTo>
                  <a:pt x="0" y="0"/>
                </a:moveTo>
                <a:lnTo>
                  <a:pt x="167616" y="82659"/>
                </a:lnTo>
              </a:path>
            </a:pathLst>
          </a:custGeom>
          <a:noFill/>
          <a:ln w="19050">
            <a:solidFill>
              <a:srgbClr val="C9CDD0"/>
            </a:solidFill>
          </a:ln>
        </p:spPr>
        <p:txBody>
          <a:bodyPr/>
          <a:lstStyle/>
          <a:p>
            <a:endParaRPr lang="en-US"/>
          </a:p>
        </p:txBody>
      </p:sp>
      <p:sp>
        <p:nvSpPr>
          <p:cNvPr id="31" name="line-149">
            <a:extLst>
              <a:ext uri="{FF2B5EF4-FFF2-40B4-BE49-F238E27FC236}">
                <a16:creationId xmlns:a16="http://schemas.microsoft.com/office/drawing/2014/main" id="{DDDD9229-A934-453F-B018-BA66841F0F12}"/>
              </a:ext>
            </a:extLst>
          </p:cNvPr>
          <p:cNvSpPr>
            <a:spLocks noGrp="1"/>
          </p:cNvSpPr>
          <p:nvPr/>
        </p:nvSpPr>
        <p:spPr>
          <a:xfrm>
            <a:off x="9715500" y="3477541"/>
            <a:ext cx="155393" cy="103830"/>
          </a:xfrm>
          <a:custGeom>
            <a:avLst/>
            <a:gdLst/>
            <a:ahLst/>
            <a:cxnLst/>
            <a:rect l="0" t="0" r="0" b="0"/>
            <a:pathLst>
              <a:path w="155393" h="103830">
                <a:moveTo>
                  <a:pt x="0" y="0"/>
                </a:moveTo>
                <a:lnTo>
                  <a:pt x="155393" y="103830"/>
                </a:lnTo>
              </a:path>
            </a:pathLst>
          </a:custGeom>
          <a:noFill/>
          <a:ln w="19050">
            <a:solidFill>
              <a:srgbClr val="C9CDD0"/>
            </a:solidFill>
          </a:ln>
        </p:spPr>
        <p:txBody>
          <a:bodyPr/>
          <a:lstStyle/>
          <a:p>
            <a:endParaRPr lang="en-US"/>
          </a:p>
        </p:txBody>
      </p:sp>
      <p:sp>
        <p:nvSpPr>
          <p:cNvPr id="32" name="line-150">
            <a:extLst>
              <a:ext uri="{FF2B5EF4-FFF2-40B4-BE49-F238E27FC236}">
                <a16:creationId xmlns:a16="http://schemas.microsoft.com/office/drawing/2014/main" id="{DE85AC1E-BC5F-4501-9D17-F1AA5B680CF3}"/>
              </a:ext>
            </a:extLst>
          </p:cNvPr>
          <p:cNvSpPr>
            <a:spLocks noGrp="1"/>
          </p:cNvSpPr>
          <p:nvPr/>
        </p:nvSpPr>
        <p:spPr>
          <a:xfrm>
            <a:off x="9870893" y="3581371"/>
            <a:ext cx="140511" cy="123225"/>
          </a:xfrm>
          <a:custGeom>
            <a:avLst/>
            <a:gdLst/>
            <a:ahLst/>
            <a:cxnLst/>
            <a:rect l="0" t="0" r="0" b="0"/>
            <a:pathLst>
              <a:path w="140511" h="123225">
                <a:moveTo>
                  <a:pt x="0" y="0"/>
                </a:moveTo>
                <a:lnTo>
                  <a:pt x="140511" y="123225"/>
                </a:lnTo>
              </a:path>
            </a:pathLst>
          </a:custGeom>
          <a:noFill/>
          <a:ln w="19050">
            <a:solidFill>
              <a:srgbClr val="C9CDD0"/>
            </a:solidFill>
          </a:ln>
        </p:spPr>
        <p:txBody>
          <a:bodyPr/>
          <a:lstStyle/>
          <a:p>
            <a:endParaRPr lang="en-US"/>
          </a:p>
        </p:txBody>
      </p:sp>
      <p:sp>
        <p:nvSpPr>
          <p:cNvPr id="33" name="line-151">
            <a:extLst>
              <a:ext uri="{FF2B5EF4-FFF2-40B4-BE49-F238E27FC236}">
                <a16:creationId xmlns:a16="http://schemas.microsoft.com/office/drawing/2014/main" id="{6869204B-0DF1-4A3D-9385-36C2AF6AF1CF}"/>
              </a:ext>
            </a:extLst>
          </p:cNvPr>
          <p:cNvSpPr>
            <a:spLocks noGrp="1"/>
          </p:cNvSpPr>
          <p:nvPr/>
        </p:nvSpPr>
        <p:spPr>
          <a:xfrm>
            <a:off x="10011404" y="3704596"/>
            <a:ext cx="123225" cy="140511"/>
          </a:xfrm>
          <a:custGeom>
            <a:avLst/>
            <a:gdLst/>
            <a:ahLst/>
            <a:cxnLst/>
            <a:rect l="0" t="0" r="0" b="0"/>
            <a:pathLst>
              <a:path w="123225" h="140511">
                <a:moveTo>
                  <a:pt x="0" y="0"/>
                </a:moveTo>
                <a:lnTo>
                  <a:pt x="123225" y="140511"/>
                </a:lnTo>
              </a:path>
            </a:pathLst>
          </a:custGeom>
          <a:noFill/>
          <a:ln w="19050">
            <a:solidFill>
              <a:srgbClr val="C9CDD0"/>
            </a:solidFill>
          </a:ln>
        </p:spPr>
        <p:txBody>
          <a:bodyPr/>
          <a:lstStyle/>
          <a:p>
            <a:endParaRPr lang="en-US"/>
          </a:p>
        </p:txBody>
      </p:sp>
      <p:sp>
        <p:nvSpPr>
          <p:cNvPr id="34" name="line-152">
            <a:extLst>
              <a:ext uri="{FF2B5EF4-FFF2-40B4-BE49-F238E27FC236}">
                <a16:creationId xmlns:a16="http://schemas.microsoft.com/office/drawing/2014/main" id="{C52B55E6-8D47-45E8-97A6-7FE95F3A1D9E}"/>
              </a:ext>
            </a:extLst>
          </p:cNvPr>
          <p:cNvSpPr>
            <a:spLocks noGrp="1"/>
          </p:cNvSpPr>
          <p:nvPr/>
        </p:nvSpPr>
        <p:spPr>
          <a:xfrm>
            <a:off x="10134629" y="3845107"/>
            <a:ext cx="103830" cy="155393"/>
          </a:xfrm>
          <a:custGeom>
            <a:avLst/>
            <a:gdLst/>
            <a:ahLst/>
            <a:cxnLst/>
            <a:rect l="0" t="0" r="0" b="0"/>
            <a:pathLst>
              <a:path w="103830" h="155393">
                <a:moveTo>
                  <a:pt x="0" y="0"/>
                </a:moveTo>
                <a:lnTo>
                  <a:pt x="103830" y="155393"/>
                </a:lnTo>
              </a:path>
            </a:pathLst>
          </a:custGeom>
          <a:noFill/>
          <a:ln w="19050">
            <a:solidFill>
              <a:srgbClr val="C9CDD0"/>
            </a:solidFill>
          </a:ln>
        </p:spPr>
        <p:txBody>
          <a:bodyPr/>
          <a:lstStyle/>
          <a:p>
            <a:endParaRPr lang="en-US"/>
          </a:p>
        </p:txBody>
      </p:sp>
      <p:sp>
        <p:nvSpPr>
          <p:cNvPr id="35" name="line-153">
            <a:extLst>
              <a:ext uri="{FF2B5EF4-FFF2-40B4-BE49-F238E27FC236}">
                <a16:creationId xmlns:a16="http://schemas.microsoft.com/office/drawing/2014/main" id="{83BC17A8-7047-41ED-8007-E42B1402FAE1}"/>
              </a:ext>
            </a:extLst>
          </p:cNvPr>
          <p:cNvSpPr>
            <a:spLocks noGrp="1"/>
          </p:cNvSpPr>
          <p:nvPr/>
        </p:nvSpPr>
        <p:spPr>
          <a:xfrm>
            <a:off x="10238459" y="4000500"/>
            <a:ext cx="82659" cy="167616"/>
          </a:xfrm>
          <a:custGeom>
            <a:avLst/>
            <a:gdLst/>
            <a:ahLst/>
            <a:cxnLst/>
            <a:rect l="0" t="0" r="0" b="0"/>
            <a:pathLst>
              <a:path w="82659" h="167616">
                <a:moveTo>
                  <a:pt x="0" y="0"/>
                </a:moveTo>
                <a:lnTo>
                  <a:pt x="82659" y="167616"/>
                </a:lnTo>
              </a:path>
            </a:pathLst>
          </a:custGeom>
          <a:noFill/>
          <a:ln w="19050">
            <a:solidFill>
              <a:srgbClr val="C9CDD0"/>
            </a:solidFill>
          </a:ln>
        </p:spPr>
        <p:txBody>
          <a:bodyPr/>
          <a:lstStyle/>
          <a:p>
            <a:endParaRPr lang="en-US"/>
          </a:p>
        </p:txBody>
      </p:sp>
      <p:sp>
        <p:nvSpPr>
          <p:cNvPr id="36" name="line-154">
            <a:extLst>
              <a:ext uri="{FF2B5EF4-FFF2-40B4-BE49-F238E27FC236}">
                <a16:creationId xmlns:a16="http://schemas.microsoft.com/office/drawing/2014/main" id="{78CED5A5-A8BE-40A9-B238-1935416B4959}"/>
              </a:ext>
            </a:extLst>
          </p:cNvPr>
          <p:cNvSpPr>
            <a:spLocks noGrp="1"/>
          </p:cNvSpPr>
          <p:nvPr/>
        </p:nvSpPr>
        <p:spPr>
          <a:xfrm>
            <a:off x="10321118" y="4168116"/>
            <a:ext cx="60074" cy="176971"/>
          </a:xfrm>
          <a:custGeom>
            <a:avLst/>
            <a:gdLst/>
            <a:ahLst/>
            <a:cxnLst/>
            <a:rect l="0" t="0" r="0" b="0"/>
            <a:pathLst>
              <a:path w="60074" h="176971">
                <a:moveTo>
                  <a:pt x="0" y="0"/>
                </a:moveTo>
                <a:lnTo>
                  <a:pt x="60074" y="176971"/>
                </a:lnTo>
              </a:path>
            </a:pathLst>
          </a:custGeom>
          <a:noFill/>
          <a:ln w="19050">
            <a:solidFill>
              <a:srgbClr val="C9CDD0"/>
            </a:solidFill>
          </a:ln>
        </p:spPr>
        <p:txBody>
          <a:bodyPr/>
          <a:lstStyle/>
          <a:p>
            <a:endParaRPr lang="en-US"/>
          </a:p>
        </p:txBody>
      </p:sp>
      <p:sp>
        <p:nvSpPr>
          <p:cNvPr id="37" name="line-155">
            <a:extLst>
              <a:ext uri="{FF2B5EF4-FFF2-40B4-BE49-F238E27FC236}">
                <a16:creationId xmlns:a16="http://schemas.microsoft.com/office/drawing/2014/main" id="{8C796D37-D23E-415A-9E7E-FD987BD2738D}"/>
              </a:ext>
            </a:extLst>
          </p:cNvPr>
          <p:cNvSpPr>
            <a:spLocks noGrp="1"/>
          </p:cNvSpPr>
          <p:nvPr/>
        </p:nvSpPr>
        <p:spPr>
          <a:xfrm>
            <a:off x="10381192" y="4345087"/>
            <a:ext cx="36460" cy="183298"/>
          </a:xfrm>
          <a:custGeom>
            <a:avLst/>
            <a:gdLst/>
            <a:ahLst/>
            <a:cxnLst/>
            <a:rect l="0" t="0" r="0" b="0"/>
            <a:pathLst>
              <a:path w="36460" h="183298">
                <a:moveTo>
                  <a:pt x="0" y="0"/>
                </a:moveTo>
                <a:lnTo>
                  <a:pt x="36460" y="183298"/>
                </a:lnTo>
              </a:path>
            </a:pathLst>
          </a:custGeom>
          <a:noFill/>
          <a:ln w="19050">
            <a:solidFill>
              <a:srgbClr val="C9CDD0"/>
            </a:solidFill>
          </a:ln>
        </p:spPr>
        <p:txBody>
          <a:bodyPr/>
          <a:lstStyle/>
          <a:p>
            <a:endParaRPr lang="en-US"/>
          </a:p>
        </p:txBody>
      </p:sp>
      <p:sp>
        <p:nvSpPr>
          <p:cNvPr id="38" name="line-156">
            <a:extLst>
              <a:ext uri="{FF2B5EF4-FFF2-40B4-BE49-F238E27FC236}">
                <a16:creationId xmlns:a16="http://schemas.microsoft.com/office/drawing/2014/main" id="{C46D02BA-7633-458C-8E5E-61A3B6B0B3C5}"/>
              </a:ext>
            </a:extLst>
          </p:cNvPr>
          <p:cNvSpPr>
            <a:spLocks noGrp="1"/>
          </p:cNvSpPr>
          <p:nvPr/>
        </p:nvSpPr>
        <p:spPr>
          <a:xfrm>
            <a:off x="10417652" y="4528386"/>
            <a:ext cx="12223" cy="186489"/>
          </a:xfrm>
          <a:custGeom>
            <a:avLst/>
            <a:gdLst/>
            <a:ahLst/>
            <a:cxnLst/>
            <a:rect l="0" t="0" r="0" b="0"/>
            <a:pathLst>
              <a:path w="12223" h="186489">
                <a:moveTo>
                  <a:pt x="0" y="0"/>
                </a:moveTo>
                <a:lnTo>
                  <a:pt x="12223" y="186489"/>
                </a:lnTo>
              </a:path>
            </a:pathLst>
          </a:custGeom>
          <a:noFill/>
          <a:ln w="19050">
            <a:solidFill>
              <a:srgbClr val="C9CDD0"/>
            </a:solidFill>
          </a:ln>
        </p:spPr>
        <p:txBody>
          <a:bodyPr/>
          <a:lstStyle/>
          <a:p>
            <a:endParaRPr lang="en-US"/>
          </a:p>
        </p:txBody>
      </p:sp>
      <p:sp>
        <p:nvSpPr>
          <p:cNvPr id="39" name="line-157">
            <a:extLst>
              <a:ext uri="{FF2B5EF4-FFF2-40B4-BE49-F238E27FC236}">
                <a16:creationId xmlns:a16="http://schemas.microsoft.com/office/drawing/2014/main" id="{21E20C27-DA9C-4541-8F4D-5D9FE526729B}"/>
              </a:ext>
            </a:extLst>
          </p:cNvPr>
          <p:cNvSpPr>
            <a:spLocks noGrp="1"/>
          </p:cNvSpPr>
          <p:nvPr/>
        </p:nvSpPr>
        <p:spPr>
          <a:xfrm>
            <a:off x="9001125" y="4226214"/>
            <a:ext cx="1342586" cy="488661"/>
          </a:xfrm>
          <a:custGeom>
            <a:avLst/>
            <a:gdLst/>
            <a:ahLst/>
            <a:cxnLst/>
            <a:rect l="0" t="0" r="0" b="0"/>
            <a:pathLst>
              <a:path w="1342586" h="488661">
                <a:moveTo>
                  <a:pt x="0" y="488661"/>
                </a:moveTo>
                <a:lnTo>
                  <a:pt x="1342586" y="0"/>
                </a:lnTo>
              </a:path>
            </a:pathLst>
          </a:custGeom>
          <a:noFill/>
          <a:ln w="28575">
            <a:solidFill>
              <a:srgbClr val="C9CDD0"/>
            </a:solidFill>
          </a:ln>
        </p:spPr>
        <p:txBody>
          <a:bodyPr/>
          <a:lstStyle/>
          <a:p>
            <a:endParaRPr lang="en-US"/>
          </a:p>
        </p:txBody>
      </p:sp>
      <p:sp>
        <p:nvSpPr>
          <p:cNvPr id="40" name="line-158">
            <a:extLst>
              <a:ext uri="{FF2B5EF4-FFF2-40B4-BE49-F238E27FC236}">
                <a16:creationId xmlns:a16="http://schemas.microsoft.com/office/drawing/2014/main" id="{AF007240-718C-4BD9-8134-192E8309894B}"/>
              </a:ext>
            </a:extLst>
          </p:cNvPr>
          <p:cNvSpPr>
            <a:spLocks noGrp="1"/>
          </p:cNvSpPr>
          <p:nvPr/>
        </p:nvSpPr>
        <p:spPr>
          <a:xfrm>
            <a:off x="9001125" y="3477541"/>
            <a:ext cx="714375" cy="1237334"/>
          </a:xfrm>
          <a:custGeom>
            <a:avLst/>
            <a:gdLst/>
            <a:ahLst/>
            <a:cxnLst/>
            <a:rect l="0" t="0" r="0" b="0"/>
            <a:pathLst>
              <a:path w="714375" h="1237334">
                <a:moveTo>
                  <a:pt x="0" y="1237334"/>
                </a:moveTo>
                <a:lnTo>
                  <a:pt x="714375" y="0"/>
                </a:lnTo>
              </a:path>
            </a:pathLst>
          </a:custGeom>
          <a:noFill/>
          <a:ln w="57150">
            <a:solidFill>
              <a:srgbClr val="C76520"/>
            </a:solidFill>
          </a:ln>
        </p:spPr>
        <p:txBody>
          <a:bodyPr/>
          <a:lstStyle/>
          <a:p>
            <a:endParaRPr lang="en-US"/>
          </a:p>
        </p:txBody>
      </p:sp>
      <p:sp>
        <p:nvSpPr>
          <p:cNvPr id="41" name="line-159">
            <a:extLst>
              <a:ext uri="{FF2B5EF4-FFF2-40B4-BE49-F238E27FC236}">
                <a16:creationId xmlns:a16="http://schemas.microsoft.com/office/drawing/2014/main" id="{53E151DE-6528-477C-ABB6-51822733D405}"/>
              </a:ext>
            </a:extLst>
          </p:cNvPr>
          <p:cNvSpPr>
            <a:spLocks noGrp="1"/>
          </p:cNvSpPr>
          <p:nvPr/>
        </p:nvSpPr>
        <p:spPr>
          <a:xfrm>
            <a:off x="8753025" y="3307831"/>
            <a:ext cx="248100" cy="1407044"/>
          </a:xfrm>
          <a:custGeom>
            <a:avLst/>
            <a:gdLst/>
            <a:ahLst/>
            <a:cxnLst/>
            <a:rect l="0" t="0" r="0" b="0"/>
            <a:pathLst>
              <a:path w="248100" h="1407044">
                <a:moveTo>
                  <a:pt x="248100" y="1407044"/>
                </a:moveTo>
                <a:lnTo>
                  <a:pt x="0" y="0"/>
                </a:lnTo>
              </a:path>
            </a:pathLst>
          </a:custGeom>
          <a:noFill/>
          <a:ln w="28575">
            <a:solidFill>
              <a:srgbClr val="C9CDD0"/>
            </a:solidFill>
          </a:ln>
        </p:spPr>
        <p:txBody>
          <a:bodyPr/>
          <a:lstStyle/>
          <a:p>
            <a:endParaRPr lang="en-US"/>
          </a:p>
        </p:txBody>
      </p:sp>
      <p:sp>
        <p:nvSpPr>
          <p:cNvPr id="42" name="line-160">
            <a:extLst>
              <a:ext uri="{FF2B5EF4-FFF2-40B4-BE49-F238E27FC236}">
                <a16:creationId xmlns:a16="http://schemas.microsoft.com/office/drawing/2014/main" id="{B38AB131-3853-4B8D-94C7-79AACEC4A4EF}"/>
              </a:ext>
            </a:extLst>
          </p:cNvPr>
          <p:cNvSpPr>
            <a:spLocks noGrp="1"/>
          </p:cNvSpPr>
          <p:nvPr/>
        </p:nvSpPr>
        <p:spPr>
          <a:xfrm>
            <a:off x="7906639" y="3796492"/>
            <a:ext cx="1094486" cy="918383"/>
          </a:xfrm>
          <a:custGeom>
            <a:avLst/>
            <a:gdLst/>
            <a:ahLst/>
            <a:cxnLst/>
            <a:rect l="0" t="0" r="0" b="0"/>
            <a:pathLst>
              <a:path w="1094486" h="918383">
                <a:moveTo>
                  <a:pt x="1094486" y="918383"/>
                </a:moveTo>
                <a:lnTo>
                  <a:pt x="0" y="0"/>
                </a:lnTo>
              </a:path>
            </a:pathLst>
          </a:custGeom>
          <a:noFill/>
          <a:ln w="28575">
            <a:solidFill>
              <a:srgbClr val="C9CDD0"/>
            </a:solidFill>
          </a:ln>
        </p:spPr>
        <p:txBody>
          <a:bodyPr/>
          <a:lstStyle/>
          <a:p>
            <a:endParaRPr lang="en-US"/>
          </a:p>
        </p:txBody>
      </p:sp>
      <p:sp>
        <p:nvSpPr>
          <p:cNvPr id="43" name="line-161">
            <a:extLst>
              <a:ext uri="{FF2B5EF4-FFF2-40B4-BE49-F238E27FC236}">
                <a16:creationId xmlns:a16="http://schemas.microsoft.com/office/drawing/2014/main" id="{CFC691DA-E192-4594-9784-F4739F7E661A}"/>
              </a:ext>
            </a:extLst>
          </p:cNvPr>
          <p:cNvSpPr>
            <a:spLocks noGrp="1"/>
          </p:cNvSpPr>
          <p:nvPr/>
        </p:nvSpPr>
        <p:spPr>
          <a:xfrm>
            <a:off x="7572375" y="4714875"/>
            <a:ext cx="1428750" cy="9525"/>
          </a:xfrm>
          <a:custGeom>
            <a:avLst/>
            <a:gdLst/>
            <a:ahLst/>
            <a:cxnLst/>
            <a:rect l="0" t="0" r="0" b="0"/>
            <a:pathLst>
              <a:path w="1428750" h="9525">
                <a:moveTo>
                  <a:pt x="1428750" y="0"/>
                </a:moveTo>
                <a:lnTo>
                  <a:pt x="0" y="0"/>
                </a:lnTo>
              </a:path>
            </a:pathLst>
          </a:custGeom>
          <a:noFill/>
          <a:ln w="28575">
            <a:solidFill>
              <a:srgbClr val="C9CDD0"/>
            </a:solidFill>
          </a:ln>
        </p:spPr>
        <p:txBody>
          <a:bodyPr/>
          <a:lstStyle/>
          <a:p>
            <a:endParaRPr lang="en-US"/>
          </a:p>
        </p:txBody>
      </p:sp>
      <p:sp>
        <p:nvSpPr>
          <p:cNvPr id="44" name="line-162">
            <a:extLst>
              <a:ext uri="{FF2B5EF4-FFF2-40B4-BE49-F238E27FC236}">
                <a16:creationId xmlns:a16="http://schemas.microsoft.com/office/drawing/2014/main" id="{A9194583-C36E-4C8B-B805-CBBF4B7ECBF4}"/>
              </a:ext>
            </a:extLst>
          </p:cNvPr>
          <p:cNvSpPr>
            <a:spLocks noGrp="1"/>
          </p:cNvSpPr>
          <p:nvPr/>
        </p:nvSpPr>
        <p:spPr>
          <a:xfrm>
            <a:off x="9263063" y="4261186"/>
            <a:ext cx="19540" cy="11857"/>
          </a:xfrm>
          <a:custGeom>
            <a:avLst/>
            <a:gdLst/>
            <a:ahLst/>
            <a:cxnLst/>
            <a:rect l="0" t="0" r="0" b="0"/>
            <a:pathLst>
              <a:path w="19540" h="11857">
                <a:moveTo>
                  <a:pt x="0" y="0"/>
                </a:moveTo>
                <a:lnTo>
                  <a:pt x="19540" y="11857"/>
                </a:lnTo>
              </a:path>
            </a:pathLst>
          </a:custGeom>
          <a:noFill/>
          <a:ln w="19050">
            <a:solidFill>
              <a:srgbClr val="C76520"/>
            </a:solidFill>
          </a:ln>
        </p:spPr>
        <p:txBody>
          <a:bodyPr/>
          <a:lstStyle/>
          <a:p>
            <a:endParaRPr lang="en-US"/>
          </a:p>
        </p:txBody>
      </p:sp>
      <p:sp>
        <p:nvSpPr>
          <p:cNvPr id="45" name="line-163">
            <a:extLst>
              <a:ext uri="{FF2B5EF4-FFF2-40B4-BE49-F238E27FC236}">
                <a16:creationId xmlns:a16="http://schemas.microsoft.com/office/drawing/2014/main" id="{B8326801-58C6-4D66-87FE-BA850B9E2AFE}"/>
              </a:ext>
            </a:extLst>
          </p:cNvPr>
          <p:cNvSpPr>
            <a:spLocks noGrp="1"/>
          </p:cNvSpPr>
          <p:nvPr/>
        </p:nvSpPr>
        <p:spPr>
          <a:xfrm>
            <a:off x="9282603" y="4273043"/>
            <a:ext cx="19005" cy="12698"/>
          </a:xfrm>
          <a:custGeom>
            <a:avLst/>
            <a:gdLst/>
            <a:ahLst/>
            <a:cxnLst/>
            <a:rect l="0" t="0" r="0" b="0"/>
            <a:pathLst>
              <a:path w="19005" h="12698">
                <a:moveTo>
                  <a:pt x="0" y="0"/>
                </a:moveTo>
                <a:lnTo>
                  <a:pt x="19005" y="12698"/>
                </a:lnTo>
              </a:path>
            </a:pathLst>
          </a:custGeom>
          <a:noFill/>
          <a:ln w="19050">
            <a:solidFill>
              <a:srgbClr val="C76520"/>
            </a:solidFill>
          </a:ln>
        </p:spPr>
        <p:txBody>
          <a:bodyPr/>
          <a:lstStyle/>
          <a:p>
            <a:endParaRPr lang="en-US"/>
          </a:p>
        </p:txBody>
      </p:sp>
      <p:sp>
        <p:nvSpPr>
          <p:cNvPr id="46" name="line-164">
            <a:extLst>
              <a:ext uri="{FF2B5EF4-FFF2-40B4-BE49-F238E27FC236}">
                <a16:creationId xmlns:a16="http://schemas.microsoft.com/office/drawing/2014/main" id="{337EB18F-71A4-4E39-8B4E-50A078FA4599}"/>
              </a:ext>
            </a:extLst>
          </p:cNvPr>
          <p:cNvSpPr>
            <a:spLocks noGrp="1"/>
          </p:cNvSpPr>
          <p:nvPr/>
        </p:nvSpPr>
        <p:spPr>
          <a:xfrm>
            <a:off x="9301607" y="4285742"/>
            <a:ext cx="18433" cy="13515"/>
          </a:xfrm>
          <a:custGeom>
            <a:avLst/>
            <a:gdLst/>
            <a:ahLst/>
            <a:cxnLst/>
            <a:rect l="0" t="0" r="0" b="0"/>
            <a:pathLst>
              <a:path w="18433" h="13515">
                <a:moveTo>
                  <a:pt x="0" y="0"/>
                </a:moveTo>
                <a:lnTo>
                  <a:pt x="18433" y="13515"/>
                </a:lnTo>
              </a:path>
            </a:pathLst>
          </a:custGeom>
          <a:noFill/>
          <a:ln w="19050">
            <a:solidFill>
              <a:srgbClr val="C76520"/>
            </a:solidFill>
          </a:ln>
        </p:spPr>
        <p:txBody>
          <a:bodyPr/>
          <a:lstStyle/>
          <a:p>
            <a:endParaRPr lang="en-US"/>
          </a:p>
        </p:txBody>
      </p:sp>
      <p:sp>
        <p:nvSpPr>
          <p:cNvPr id="47" name="line-165">
            <a:extLst>
              <a:ext uri="{FF2B5EF4-FFF2-40B4-BE49-F238E27FC236}">
                <a16:creationId xmlns:a16="http://schemas.microsoft.com/office/drawing/2014/main" id="{06383CA8-C60F-4FCF-A296-990630B2D081}"/>
              </a:ext>
            </a:extLst>
          </p:cNvPr>
          <p:cNvSpPr>
            <a:spLocks noGrp="1"/>
          </p:cNvSpPr>
          <p:nvPr/>
        </p:nvSpPr>
        <p:spPr>
          <a:xfrm>
            <a:off x="9320040" y="4299257"/>
            <a:ext cx="17825" cy="14306"/>
          </a:xfrm>
          <a:custGeom>
            <a:avLst/>
            <a:gdLst/>
            <a:ahLst/>
            <a:cxnLst/>
            <a:rect l="0" t="0" r="0" b="0"/>
            <a:pathLst>
              <a:path w="17825" h="14306">
                <a:moveTo>
                  <a:pt x="0" y="0"/>
                </a:moveTo>
                <a:lnTo>
                  <a:pt x="17825" y="14306"/>
                </a:lnTo>
              </a:path>
            </a:pathLst>
          </a:custGeom>
          <a:noFill/>
          <a:ln w="19050">
            <a:solidFill>
              <a:srgbClr val="C76520"/>
            </a:solidFill>
          </a:ln>
        </p:spPr>
        <p:txBody>
          <a:bodyPr/>
          <a:lstStyle/>
          <a:p>
            <a:endParaRPr lang="en-US"/>
          </a:p>
        </p:txBody>
      </p:sp>
      <p:sp>
        <p:nvSpPr>
          <p:cNvPr id="48" name="line-166">
            <a:extLst>
              <a:ext uri="{FF2B5EF4-FFF2-40B4-BE49-F238E27FC236}">
                <a16:creationId xmlns:a16="http://schemas.microsoft.com/office/drawing/2014/main" id="{46368585-DE6C-4865-A272-2098A5DF6CC8}"/>
              </a:ext>
            </a:extLst>
          </p:cNvPr>
          <p:cNvSpPr>
            <a:spLocks noGrp="1"/>
          </p:cNvSpPr>
          <p:nvPr/>
        </p:nvSpPr>
        <p:spPr>
          <a:xfrm>
            <a:off x="9337865" y="4313563"/>
            <a:ext cx="17184" cy="15070"/>
          </a:xfrm>
          <a:custGeom>
            <a:avLst/>
            <a:gdLst/>
            <a:ahLst/>
            <a:cxnLst/>
            <a:rect l="0" t="0" r="0" b="0"/>
            <a:pathLst>
              <a:path w="17184" h="15070">
                <a:moveTo>
                  <a:pt x="0" y="0"/>
                </a:moveTo>
                <a:lnTo>
                  <a:pt x="17184" y="15070"/>
                </a:lnTo>
              </a:path>
            </a:pathLst>
          </a:custGeom>
          <a:noFill/>
          <a:ln w="19050">
            <a:solidFill>
              <a:srgbClr val="C76520"/>
            </a:solidFill>
          </a:ln>
        </p:spPr>
        <p:txBody>
          <a:bodyPr/>
          <a:lstStyle/>
          <a:p>
            <a:endParaRPr lang="en-US"/>
          </a:p>
        </p:txBody>
      </p:sp>
      <p:sp>
        <p:nvSpPr>
          <p:cNvPr id="49" name="line-167">
            <a:extLst>
              <a:ext uri="{FF2B5EF4-FFF2-40B4-BE49-F238E27FC236}">
                <a16:creationId xmlns:a16="http://schemas.microsoft.com/office/drawing/2014/main" id="{C2F04565-3DA8-4A72-94AF-C9AD92C50E53}"/>
              </a:ext>
            </a:extLst>
          </p:cNvPr>
          <p:cNvSpPr>
            <a:spLocks noGrp="1"/>
          </p:cNvSpPr>
          <p:nvPr/>
        </p:nvSpPr>
        <p:spPr>
          <a:xfrm>
            <a:off x="9355050" y="4328634"/>
            <a:ext cx="16511" cy="15806"/>
          </a:xfrm>
          <a:custGeom>
            <a:avLst/>
            <a:gdLst/>
            <a:ahLst/>
            <a:cxnLst/>
            <a:rect l="0" t="0" r="0" b="0"/>
            <a:pathLst>
              <a:path w="16511" h="15806">
                <a:moveTo>
                  <a:pt x="0" y="0"/>
                </a:moveTo>
                <a:lnTo>
                  <a:pt x="16511" y="15806"/>
                </a:lnTo>
              </a:path>
            </a:pathLst>
          </a:custGeom>
          <a:noFill/>
          <a:ln w="19050">
            <a:solidFill>
              <a:srgbClr val="C76520"/>
            </a:solidFill>
          </a:ln>
        </p:spPr>
        <p:txBody>
          <a:bodyPr/>
          <a:lstStyle/>
          <a:p>
            <a:endParaRPr lang="en-US"/>
          </a:p>
        </p:txBody>
      </p:sp>
      <p:sp>
        <p:nvSpPr>
          <p:cNvPr id="50" name="line-168">
            <a:extLst>
              <a:ext uri="{FF2B5EF4-FFF2-40B4-BE49-F238E27FC236}">
                <a16:creationId xmlns:a16="http://schemas.microsoft.com/office/drawing/2014/main" id="{4308F106-AE13-440F-AE02-1F088844A69F}"/>
              </a:ext>
            </a:extLst>
          </p:cNvPr>
          <p:cNvSpPr>
            <a:spLocks noGrp="1"/>
          </p:cNvSpPr>
          <p:nvPr/>
        </p:nvSpPr>
        <p:spPr>
          <a:xfrm>
            <a:off x="9371561" y="4344439"/>
            <a:ext cx="15806" cy="16511"/>
          </a:xfrm>
          <a:custGeom>
            <a:avLst/>
            <a:gdLst/>
            <a:ahLst/>
            <a:cxnLst/>
            <a:rect l="0" t="0" r="0" b="0"/>
            <a:pathLst>
              <a:path w="15806" h="16511">
                <a:moveTo>
                  <a:pt x="0" y="0"/>
                </a:moveTo>
                <a:lnTo>
                  <a:pt x="15806" y="16511"/>
                </a:lnTo>
              </a:path>
            </a:pathLst>
          </a:custGeom>
          <a:noFill/>
          <a:ln w="19050">
            <a:solidFill>
              <a:srgbClr val="C76520"/>
            </a:solidFill>
          </a:ln>
        </p:spPr>
        <p:txBody>
          <a:bodyPr/>
          <a:lstStyle/>
          <a:p>
            <a:endParaRPr lang="en-US"/>
          </a:p>
        </p:txBody>
      </p:sp>
      <p:sp>
        <p:nvSpPr>
          <p:cNvPr id="51" name="line-169">
            <a:extLst>
              <a:ext uri="{FF2B5EF4-FFF2-40B4-BE49-F238E27FC236}">
                <a16:creationId xmlns:a16="http://schemas.microsoft.com/office/drawing/2014/main" id="{C4904823-2BBE-4CB6-B8F7-8CF9C6672A95}"/>
              </a:ext>
            </a:extLst>
          </p:cNvPr>
          <p:cNvSpPr>
            <a:spLocks noGrp="1"/>
          </p:cNvSpPr>
          <p:nvPr/>
        </p:nvSpPr>
        <p:spPr>
          <a:xfrm>
            <a:off x="9387366" y="4360950"/>
            <a:ext cx="15070" cy="17184"/>
          </a:xfrm>
          <a:custGeom>
            <a:avLst/>
            <a:gdLst/>
            <a:ahLst/>
            <a:cxnLst/>
            <a:rect l="0" t="0" r="0" b="0"/>
            <a:pathLst>
              <a:path w="15070" h="17184">
                <a:moveTo>
                  <a:pt x="0" y="0"/>
                </a:moveTo>
                <a:lnTo>
                  <a:pt x="15070" y="17184"/>
                </a:lnTo>
              </a:path>
            </a:pathLst>
          </a:custGeom>
          <a:noFill/>
          <a:ln w="19050">
            <a:solidFill>
              <a:srgbClr val="C76520"/>
            </a:solidFill>
          </a:ln>
        </p:spPr>
        <p:txBody>
          <a:bodyPr/>
          <a:lstStyle/>
          <a:p>
            <a:endParaRPr lang="en-US"/>
          </a:p>
        </p:txBody>
      </p:sp>
      <p:sp>
        <p:nvSpPr>
          <p:cNvPr id="52" name="line-170">
            <a:extLst>
              <a:ext uri="{FF2B5EF4-FFF2-40B4-BE49-F238E27FC236}">
                <a16:creationId xmlns:a16="http://schemas.microsoft.com/office/drawing/2014/main" id="{E3D474FC-A874-4E40-A97F-176B25986118}"/>
              </a:ext>
            </a:extLst>
          </p:cNvPr>
          <p:cNvSpPr>
            <a:spLocks noGrp="1"/>
          </p:cNvSpPr>
          <p:nvPr/>
        </p:nvSpPr>
        <p:spPr>
          <a:xfrm>
            <a:off x="9402437" y="4378135"/>
            <a:ext cx="14306" cy="17825"/>
          </a:xfrm>
          <a:custGeom>
            <a:avLst/>
            <a:gdLst/>
            <a:ahLst/>
            <a:cxnLst/>
            <a:rect l="0" t="0" r="0" b="0"/>
            <a:pathLst>
              <a:path w="14306" h="17825">
                <a:moveTo>
                  <a:pt x="0" y="0"/>
                </a:moveTo>
                <a:lnTo>
                  <a:pt x="14306" y="17825"/>
                </a:lnTo>
              </a:path>
            </a:pathLst>
          </a:custGeom>
          <a:noFill/>
          <a:ln w="19050">
            <a:solidFill>
              <a:srgbClr val="C76520"/>
            </a:solidFill>
          </a:ln>
        </p:spPr>
        <p:txBody>
          <a:bodyPr/>
          <a:lstStyle/>
          <a:p>
            <a:endParaRPr lang="en-US"/>
          </a:p>
        </p:txBody>
      </p:sp>
      <p:sp>
        <p:nvSpPr>
          <p:cNvPr id="53" name="line-171">
            <a:extLst>
              <a:ext uri="{FF2B5EF4-FFF2-40B4-BE49-F238E27FC236}">
                <a16:creationId xmlns:a16="http://schemas.microsoft.com/office/drawing/2014/main" id="{F3F4AD00-CF70-4084-B16B-235CBCFD3E06}"/>
              </a:ext>
            </a:extLst>
          </p:cNvPr>
          <p:cNvSpPr>
            <a:spLocks noGrp="1"/>
          </p:cNvSpPr>
          <p:nvPr/>
        </p:nvSpPr>
        <p:spPr>
          <a:xfrm>
            <a:off x="9416743" y="4395960"/>
            <a:ext cx="13515" cy="18433"/>
          </a:xfrm>
          <a:custGeom>
            <a:avLst/>
            <a:gdLst/>
            <a:ahLst/>
            <a:cxnLst/>
            <a:rect l="0" t="0" r="0" b="0"/>
            <a:pathLst>
              <a:path w="13515" h="18433">
                <a:moveTo>
                  <a:pt x="0" y="0"/>
                </a:moveTo>
                <a:lnTo>
                  <a:pt x="13515" y="18433"/>
                </a:lnTo>
              </a:path>
            </a:pathLst>
          </a:custGeom>
          <a:noFill/>
          <a:ln w="19050">
            <a:solidFill>
              <a:srgbClr val="C76520"/>
            </a:solidFill>
          </a:ln>
        </p:spPr>
        <p:txBody>
          <a:bodyPr/>
          <a:lstStyle/>
          <a:p>
            <a:endParaRPr lang="en-US"/>
          </a:p>
        </p:txBody>
      </p:sp>
      <p:sp>
        <p:nvSpPr>
          <p:cNvPr id="54" name="line-172">
            <a:extLst>
              <a:ext uri="{FF2B5EF4-FFF2-40B4-BE49-F238E27FC236}">
                <a16:creationId xmlns:a16="http://schemas.microsoft.com/office/drawing/2014/main" id="{503A66FB-EDF5-4775-AB37-4DCC05A6EFD9}"/>
              </a:ext>
            </a:extLst>
          </p:cNvPr>
          <p:cNvSpPr>
            <a:spLocks noGrp="1"/>
          </p:cNvSpPr>
          <p:nvPr/>
        </p:nvSpPr>
        <p:spPr>
          <a:xfrm>
            <a:off x="9430258" y="4414393"/>
            <a:ext cx="12698" cy="19005"/>
          </a:xfrm>
          <a:custGeom>
            <a:avLst/>
            <a:gdLst/>
            <a:ahLst/>
            <a:cxnLst/>
            <a:rect l="0" t="0" r="0" b="0"/>
            <a:pathLst>
              <a:path w="12698" h="19005">
                <a:moveTo>
                  <a:pt x="0" y="0"/>
                </a:moveTo>
                <a:lnTo>
                  <a:pt x="12698" y="19005"/>
                </a:lnTo>
              </a:path>
            </a:pathLst>
          </a:custGeom>
          <a:noFill/>
          <a:ln w="19050">
            <a:solidFill>
              <a:srgbClr val="C76520"/>
            </a:solidFill>
          </a:ln>
        </p:spPr>
        <p:txBody>
          <a:bodyPr/>
          <a:lstStyle/>
          <a:p>
            <a:endParaRPr lang="en-US"/>
          </a:p>
        </p:txBody>
      </p:sp>
      <p:sp>
        <p:nvSpPr>
          <p:cNvPr id="55" name="line-173">
            <a:extLst>
              <a:ext uri="{FF2B5EF4-FFF2-40B4-BE49-F238E27FC236}">
                <a16:creationId xmlns:a16="http://schemas.microsoft.com/office/drawing/2014/main" id="{C2FF791E-C4ED-4DF7-9E40-B2563A0F6967}"/>
              </a:ext>
            </a:extLst>
          </p:cNvPr>
          <p:cNvSpPr>
            <a:spLocks noGrp="1"/>
          </p:cNvSpPr>
          <p:nvPr/>
        </p:nvSpPr>
        <p:spPr>
          <a:xfrm>
            <a:off x="9442957" y="4433397"/>
            <a:ext cx="11857" cy="19540"/>
          </a:xfrm>
          <a:custGeom>
            <a:avLst/>
            <a:gdLst/>
            <a:ahLst/>
            <a:cxnLst/>
            <a:rect l="0" t="0" r="0" b="0"/>
            <a:pathLst>
              <a:path w="11857" h="19540">
                <a:moveTo>
                  <a:pt x="0" y="0"/>
                </a:moveTo>
                <a:lnTo>
                  <a:pt x="11857" y="19540"/>
                </a:lnTo>
              </a:path>
            </a:pathLst>
          </a:custGeom>
          <a:noFill/>
          <a:ln w="19050">
            <a:solidFill>
              <a:srgbClr val="C76520"/>
            </a:solidFill>
          </a:ln>
        </p:spPr>
        <p:txBody>
          <a:bodyPr/>
          <a:lstStyle/>
          <a:p>
            <a:endParaRPr lang="en-US"/>
          </a:p>
        </p:txBody>
      </p:sp>
      <p:sp>
        <p:nvSpPr>
          <p:cNvPr id="56" name="line-174">
            <a:extLst>
              <a:ext uri="{FF2B5EF4-FFF2-40B4-BE49-F238E27FC236}">
                <a16:creationId xmlns:a16="http://schemas.microsoft.com/office/drawing/2014/main" id="{38877744-4945-4A2D-BFB3-406EA1DF560B}"/>
              </a:ext>
            </a:extLst>
          </p:cNvPr>
          <p:cNvSpPr>
            <a:spLocks noGrp="1"/>
          </p:cNvSpPr>
          <p:nvPr/>
        </p:nvSpPr>
        <p:spPr>
          <a:xfrm>
            <a:off x="9454814" y="4452938"/>
            <a:ext cx="10994" cy="20039"/>
          </a:xfrm>
          <a:custGeom>
            <a:avLst/>
            <a:gdLst/>
            <a:ahLst/>
            <a:cxnLst/>
            <a:rect l="0" t="0" r="0" b="0"/>
            <a:pathLst>
              <a:path w="10994" h="20039">
                <a:moveTo>
                  <a:pt x="0" y="0"/>
                </a:moveTo>
                <a:lnTo>
                  <a:pt x="10994" y="20039"/>
                </a:lnTo>
              </a:path>
            </a:pathLst>
          </a:custGeom>
          <a:noFill/>
          <a:ln w="19050">
            <a:solidFill>
              <a:srgbClr val="C76520"/>
            </a:solidFill>
          </a:ln>
        </p:spPr>
        <p:txBody>
          <a:bodyPr/>
          <a:lstStyle/>
          <a:p>
            <a:endParaRPr lang="en-US"/>
          </a:p>
        </p:txBody>
      </p:sp>
      <p:sp>
        <p:nvSpPr>
          <p:cNvPr id="57" name="line-175">
            <a:extLst>
              <a:ext uri="{FF2B5EF4-FFF2-40B4-BE49-F238E27FC236}">
                <a16:creationId xmlns:a16="http://schemas.microsoft.com/office/drawing/2014/main" id="{DADCCF19-B7F4-4DEC-888D-2E3CE3C2D8D3}"/>
              </a:ext>
            </a:extLst>
          </p:cNvPr>
          <p:cNvSpPr>
            <a:spLocks noGrp="1"/>
          </p:cNvSpPr>
          <p:nvPr/>
        </p:nvSpPr>
        <p:spPr>
          <a:xfrm>
            <a:off x="9465808" y="4472976"/>
            <a:ext cx="10109" cy="20499"/>
          </a:xfrm>
          <a:custGeom>
            <a:avLst/>
            <a:gdLst/>
            <a:ahLst/>
            <a:cxnLst/>
            <a:rect l="0" t="0" r="0" b="0"/>
            <a:pathLst>
              <a:path w="10109" h="20499">
                <a:moveTo>
                  <a:pt x="0" y="0"/>
                </a:moveTo>
                <a:lnTo>
                  <a:pt x="10109" y="20499"/>
                </a:lnTo>
              </a:path>
            </a:pathLst>
          </a:custGeom>
          <a:noFill/>
          <a:ln w="19050">
            <a:solidFill>
              <a:srgbClr val="C76520"/>
            </a:solidFill>
          </a:ln>
        </p:spPr>
        <p:txBody>
          <a:bodyPr/>
          <a:lstStyle/>
          <a:p>
            <a:endParaRPr lang="en-US"/>
          </a:p>
        </p:txBody>
      </p:sp>
      <p:sp>
        <p:nvSpPr>
          <p:cNvPr id="58" name="line-176">
            <a:extLst>
              <a:ext uri="{FF2B5EF4-FFF2-40B4-BE49-F238E27FC236}">
                <a16:creationId xmlns:a16="http://schemas.microsoft.com/office/drawing/2014/main" id="{51081695-AF70-4A0A-9B7E-3D0C7D077B82}"/>
              </a:ext>
            </a:extLst>
          </p:cNvPr>
          <p:cNvSpPr>
            <a:spLocks noGrp="1"/>
          </p:cNvSpPr>
          <p:nvPr/>
        </p:nvSpPr>
        <p:spPr>
          <a:xfrm>
            <a:off x="9475917" y="4493476"/>
            <a:ext cx="9525" cy="20921"/>
          </a:xfrm>
          <a:custGeom>
            <a:avLst/>
            <a:gdLst/>
            <a:ahLst/>
            <a:cxnLst/>
            <a:rect l="0" t="0" r="0" b="0"/>
            <a:pathLst>
              <a:path w="9525" h="20921">
                <a:moveTo>
                  <a:pt x="0" y="0"/>
                </a:moveTo>
                <a:lnTo>
                  <a:pt x="9205" y="20921"/>
                </a:lnTo>
              </a:path>
            </a:pathLst>
          </a:custGeom>
          <a:noFill/>
          <a:ln w="19050">
            <a:solidFill>
              <a:srgbClr val="C76520"/>
            </a:solidFill>
          </a:ln>
        </p:spPr>
        <p:txBody>
          <a:bodyPr/>
          <a:lstStyle/>
          <a:p>
            <a:endParaRPr lang="en-US"/>
          </a:p>
        </p:txBody>
      </p:sp>
      <p:sp>
        <p:nvSpPr>
          <p:cNvPr id="59" name="line-177">
            <a:extLst>
              <a:ext uri="{FF2B5EF4-FFF2-40B4-BE49-F238E27FC236}">
                <a16:creationId xmlns:a16="http://schemas.microsoft.com/office/drawing/2014/main" id="{C024D375-8C2B-4847-B7B9-7F902D85D677}"/>
              </a:ext>
            </a:extLst>
          </p:cNvPr>
          <p:cNvSpPr>
            <a:spLocks noGrp="1"/>
          </p:cNvSpPr>
          <p:nvPr/>
        </p:nvSpPr>
        <p:spPr>
          <a:xfrm>
            <a:off x="9485122" y="4514397"/>
            <a:ext cx="9525" cy="21302"/>
          </a:xfrm>
          <a:custGeom>
            <a:avLst/>
            <a:gdLst/>
            <a:ahLst/>
            <a:cxnLst/>
            <a:rect l="0" t="0" r="0" b="0"/>
            <a:pathLst>
              <a:path w="9525" h="21302">
                <a:moveTo>
                  <a:pt x="0" y="0"/>
                </a:moveTo>
                <a:lnTo>
                  <a:pt x="8284" y="21302"/>
                </a:lnTo>
              </a:path>
            </a:pathLst>
          </a:custGeom>
          <a:noFill/>
          <a:ln w="19050">
            <a:solidFill>
              <a:srgbClr val="C76520"/>
            </a:solidFill>
          </a:ln>
        </p:spPr>
        <p:txBody>
          <a:bodyPr/>
          <a:lstStyle/>
          <a:p>
            <a:endParaRPr lang="en-US"/>
          </a:p>
        </p:txBody>
      </p:sp>
      <p:sp>
        <p:nvSpPr>
          <p:cNvPr id="60" name="line-178">
            <a:extLst>
              <a:ext uri="{FF2B5EF4-FFF2-40B4-BE49-F238E27FC236}">
                <a16:creationId xmlns:a16="http://schemas.microsoft.com/office/drawing/2014/main" id="{BA53BB08-4641-49AC-80E8-8963426BA936}"/>
              </a:ext>
            </a:extLst>
          </p:cNvPr>
          <p:cNvSpPr>
            <a:spLocks noGrp="1"/>
          </p:cNvSpPr>
          <p:nvPr/>
        </p:nvSpPr>
        <p:spPr>
          <a:xfrm>
            <a:off x="9493406" y="4535699"/>
            <a:ext cx="9525" cy="21644"/>
          </a:xfrm>
          <a:custGeom>
            <a:avLst/>
            <a:gdLst/>
            <a:ahLst/>
            <a:cxnLst/>
            <a:rect l="0" t="0" r="0" b="0"/>
            <a:pathLst>
              <a:path w="9525" h="21644">
                <a:moveTo>
                  <a:pt x="0" y="0"/>
                </a:moveTo>
                <a:lnTo>
                  <a:pt x="7347" y="21644"/>
                </a:lnTo>
              </a:path>
            </a:pathLst>
          </a:custGeom>
          <a:noFill/>
          <a:ln w="19050">
            <a:solidFill>
              <a:srgbClr val="C76520"/>
            </a:solidFill>
          </a:ln>
        </p:spPr>
        <p:txBody>
          <a:bodyPr/>
          <a:lstStyle/>
          <a:p>
            <a:endParaRPr lang="en-US"/>
          </a:p>
        </p:txBody>
      </p:sp>
      <p:sp>
        <p:nvSpPr>
          <p:cNvPr id="61" name="line-179">
            <a:extLst>
              <a:ext uri="{FF2B5EF4-FFF2-40B4-BE49-F238E27FC236}">
                <a16:creationId xmlns:a16="http://schemas.microsoft.com/office/drawing/2014/main" id="{C41CF87F-E106-4868-9370-931EDF801812}"/>
              </a:ext>
            </a:extLst>
          </p:cNvPr>
          <p:cNvSpPr>
            <a:spLocks noGrp="1"/>
          </p:cNvSpPr>
          <p:nvPr/>
        </p:nvSpPr>
        <p:spPr>
          <a:xfrm>
            <a:off x="9500753" y="4557343"/>
            <a:ext cx="9525" cy="21943"/>
          </a:xfrm>
          <a:custGeom>
            <a:avLst/>
            <a:gdLst/>
            <a:ahLst/>
            <a:cxnLst/>
            <a:rect l="0" t="0" r="0" b="0"/>
            <a:pathLst>
              <a:path w="9525" h="21943">
                <a:moveTo>
                  <a:pt x="0" y="0"/>
                </a:moveTo>
                <a:lnTo>
                  <a:pt x="6396" y="21943"/>
                </a:lnTo>
              </a:path>
            </a:pathLst>
          </a:custGeom>
          <a:noFill/>
          <a:ln w="19050">
            <a:solidFill>
              <a:srgbClr val="C76520"/>
            </a:solidFill>
          </a:ln>
        </p:spPr>
        <p:txBody>
          <a:bodyPr/>
          <a:lstStyle/>
          <a:p>
            <a:endParaRPr lang="en-US"/>
          </a:p>
        </p:txBody>
      </p:sp>
      <p:sp>
        <p:nvSpPr>
          <p:cNvPr id="62" name="line-180">
            <a:extLst>
              <a:ext uri="{FF2B5EF4-FFF2-40B4-BE49-F238E27FC236}">
                <a16:creationId xmlns:a16="http://schemas.microsoft.com/office/drawing/2014/main" id="{4AE86FA9-E8FF-4C23-BD8F-DF8E75AE3DB7}"/>
              </a:ext>
            </a:extLst>
          </p:cNvPr>
          <p:cNvSpPr>
            <a:spLocks noGrp="1"/>
          </p:cNvSpPr>
          <p:nvPr/>
        </p:nvSpPr>
        <p:spPr>
          <a:xfrm>
            <a:off x="9507149" y="4579286"/>
            <a:ext cx="9525" cy="22202"/>
          </a:xfrm>
          <a:custGeom>
            <a:avLst/>
            <a:gdLst/>
            <a:ahLst/>
            <a:cxnLst/>
            <a:rect l="0" t="0" r="0" b="0"/>
            <a:pathLst>
              <a:path w="9525" h="22202">
                <a:moveTo>
                  <a:pt x="0" y="0"/>
                </a:moveTo>
                <a:lnTo>
                  <a:pt x="5433" y="22202"/>
                </a:lnTo>
              </a:path>
            </a:pathLst>
          </a:custGeom>
          <a:noFill/>
          <a:ln w="19050">
            <a:solidFill>
              <a:srgbClr val="C76520"/>
            </a:solidFill>
          </a:ln>
        </p:spPr>
        <p:txBody>
          <a:bodyPr/>
          <a:lstStyle/>
          <a:p>
            <a:endParaRPr lang="en-US"/>
          </a:p>
        </p:txBody>
      </p:sp>
      <p:sp>
        <p:nvSpPr>
          <p:cNvPr id="63" name="line-181">
            <a:extLst>
              <a:ext uri="{FF2B5EF4-FFF2-40B4-BE49-F238E27FC236}">
                <a16:creationId xmlns:a16="http://schemas.microsoft.com/office/drawing/2014/main" id="{5A71B768-CABF-4133-A192-7BCC8DC79DCC}"/>
              </a:ext>
            </a:extLst>
          </p:cNvPr>
          <p:cNvSpPr>
            <a:spLocks noGrp="1"/>
          </p:cNvSpPr>
          <p:nvPr/>
        </p:nvSpPr>
        <p:spPr>
          <a:xfrm>
            <a:off x="9512582" y="4601488"/>
            <a:ext cx="9525" cy="22417"/>
          </a:xfrm>
          <a:custGeom>
            <a:avLst/>
            <a:gdLst/>
            <a:ahLst/>
            <a:cxnLst/>
            <a:rect l="0" t="0" r="0" b="0"/>
            <a:pathLst>
              <a:path w="9525" h="22417">
                <a:moveTo>
                  <a:pt x="0" y="0"/>
                </a:moveTo>
                <a:lnTo>
                  <a:pt x="4459" y="22417"/>
                </a:lnTo>
              </a:path>
            </a:pathLst>
          </a:custGeom>
          <a:noFill/>
          <a:ln w="19050">
            <a:solidFill>
              <a:srgbClr val="C76520"/>
            </a:solidFill>
          </a:ln>
        </p:spPr>
        <p:txBody>
          <a:bodyPr/>
          <a:lstStyle/>
          <a:p>
            <a:endParaRPr lang="en-US"/>
          </a:p>
        </p:txBody>
      </p:sp>
      <p:sp>
        <p:nvSpPr>
          <p:cNvPr id="64" name="line-182">
            <a:extLst>
              <a:ext uri="{FF2B5EF4-FFF2-40B4-BE49-F238E27FC236}">
                <a16:creationId xmlns:a16="http://schemas.microsoft.com/office/drawing/2014/main" id="{86CBB55C-4413-4638-91DA-EBD008E238E6}"/>
              </a:ext>
            </a:extLst>
          </p:cNvPr>
          <p:cNvSpPr>
            <a:spLocks noGrp="1"/>
          </p:cNvSpPr>
          <p:nvPr/>
        </p:nvSpPr>
        <p:spPr>
          <a:xfrm>
            <a:off x="9517041" y="4623905"/>
            <a:ext cx="9525" cy="22591"/>
          </a:xfrm>
          <a:custGeom>
            <a:avLst/>
            <a:gdLst/>
            <a:ahLst/>
            <a:cxnLst/>
            <a:rect l="0" t="0" r="0" b="0"/>
            <a:pathLst>
              <a:path w="9525" h="22591">
                <a:moveTo>
                  <a:pt x="0" y="0"/>
                </a:moveTo>
                <a:lnTo>
                  <a:pt x="3477" y="22591"/>
                </a:lnTo>
              </a:path>
            </a:pathLst>
          </a:custGeom>
          <a:noFill/>
          <a:ln w="19050">
            <a:solidFill>
              <a:srgbClr val="C76520"/>
            </a:solidFill>
          </a:ln>
        </p:spPr>
        <p:txBody>
          <a:bodyPr/>
          <a:lstStyle/>
          <a:p>
            <a:endParaRPr lang="en-US"/>
          </a:p>
        </p:txBody>
      </p:sp>
      <p:sp>
        <p:nvSpPr>
          <p:cNvPr id="65" name="line-183">
            <a:extLst>
              <a:ext uri="{FF2B5EF4-FFF2-40B4-BE49-F238E27FC236}">
                <a16:creationId xmlns:a16="http://schemas.microsoft.com/office/drawing/2014/main" id="{A4D07937-FE2E-4ED5-9284-63AFCE2C70F6}"/>
              </a:ext>
            </a:extLst>
          </p:cNvPr>
          <p:cNvSpPr>
            <a:spLocks noGrp="1"/>
          </p:cNvSpPr>
          <p:nvPr/>
        </p:nvSpPr>
        <p:spPr>
          <a:xfrm>
            <a:off x="9520518" y="4646496"/>
            <a:ext cx="9525" cy="22721"/>
          </a:xfrm>
          <a:custGeom>
            <a:avLst/>
            <a:gdLst/>
            <a:ahLst/>
            <a:cxnLst/>
            <a:rect l="0" t="0" r="0" b="0"/>
            <a:pathLst>
              <a:path w="9525" h="22721">
                <a:moveTo>
                  <a:pt x="0" y="0"/>
                </a:moveTo>
                <a:lnTo>
                  <a:pt x="2488" y="22721"/>
                </a:lnTo>
              </a:path>
            </a:pathLst>
          </a:custGeom>
          <a:noFill/>
          <a:ln w="19050">
            <a:solidFill>
              <a:srgbClr val="C76520"/>
            </a:solidFill>
          </a:ln>
        </p:spPr>
        <p:txBody>
          <a:bodyPr/>
          <a:lstStyle/>
          <a:p>
            <a:endParaRPr lang="en-US"/>
          </a:p>
        </p:txBody>
      </p:sp>
      <p:sp>
        <p:nvSpPr>
          <p:cNvPr id="66" name="line-184">
            <a:extLst>
              <a:ext uri="{FF2B5EF4-FFF2-40B4-BE49-F238E27FC236}">
                <a16:creationId xmlns:a16="http://schemas.microsoft.com/office/drawing/2014/main" id="{24E340B4-F1C2-48B8-A53E-621292BEB3B8}"/>
              </a:ext>
            </a:extLst>
          </p:cNvPr>
          <p:cNvSpPr>
            <a:spLocks noGrp="1"/>
          </p:cNvSpPr>
          <p:nvPr/>
        </p:nvSpPr>
        <p:spPr>
          <a:xfrm>
            <a:off x="9523006" y="4669216"/>
            <a:ext cx="9525" cy="22808"/>
          </a:xfrm>
          <a:custGeom>
            <a:avLst/>
            <a:gdLst/>
            <a:ahLst/>
            <a:cxnLst/>
            <a:rect l="0" t="0" r="0" b="0"/>
            <a:pathLst>
              <a:path w="9525" h="22808">
                <a:moveTo>
                  <a:pt x="0" y="0"/>
                </a:moveTo>
                <a:lnTo>
                  <a:pt x="1495" y="22808"/>
                </a:lnTo>
              </a:path>
            </a:pathLst>
          </a:custGeom>
          <a:noFill/>
          <a:ln w="19050">
            <a:solidFill>
              <a:srgbClr val="C76520"/>
            </a:solidFill>
          </a:ln>
        </p:spPr>
        <p:txBody>
          <a:bodyPr/>
          <a:lstStyle/>
          <a:p>
            <a:endParaRPr lang="en-US"/>
          </a:p>
        </p:txBody>
      </p:sp>
      <p:sp>
        <p:nvSpPr>
          <p:cNvPr id="67" name="line-185">
            <a:extLst>
              <a:ext uri="{FF2B5EF4-FFF2-40B4-BE49-F238E27FC236}">
                <a16:creationId xmlns:a16="http://schemas.microsoft.com/office/drawing/2014/main" id="{8AD2DC6F-C3B3-4F80-B3D4-B741F45DA8E7}"/>
              </a:ext>
            </a:extLst>
          </p:cNvPr>
          <p:cNvSpPr>
            <a:spLocks noGrp="1"/>
          </p:cNvSpPr>
          <p:nvPr/>
        </p:nvSpPr>
        <p:spPr>
          <a:xfrm>
            <a:off x="9524501" y="4692024"/>
            <a:ext cx="9525" cy="22851"/>
          </a:xfrm>
          <a:custGeom>
            <a:avLst/>
            <a:gdLst/>
            <a:ahLst/>
            <a:cxnLst/>
            <a:rect l="0" t="0" r="0" b="0"/>
            <a:pathLst>
              <a:path w="9525" h="22851">
                <a:moveTo>
                  <a:pt x="0" y="0"/>
                </a:moveTo>
                <a:lnTo>
                  <a:pt x="499" y="22851"/>
                </a:lnTo>
              </a:path>
            </a:pathLst>
          </a:custGeom>
          <a:noFill/>
          <a:ln w="19050">
            <a:solidFill>
              <a:srgbClr val="C76520"/>
            </a:solidFill>
          </a:ln>
        </p:spPr>
        <p:txBody>
          <a:bodyPr/>
          <a:lstStyle/>
          <a:p>
            <a:endParaRPr lang="en-US"/>
          </a:p>
        </p:txBody>
      </p:sp>
      <p:sp>
        <p:nvSpPr>
          <p:cNvPr id="68" name="diagram-186">
            <a:extLst>
              <a:ext uri="{FF2B5EF4-FFF2-40B4-BE49-F238E27FC236}">
                <a16:creationId xmlns:a16="http://schemas.microsoft.com/office/drawing/2014/main" id="{E6707388-CC43-421A-A07C-EA4EE3214E4D}"/>
              </a:ext>
            </a:extLst>
          </p:cNvPr>
          <p:cNvSpPr>
            <a:spLocks noGrp="1"/>
          </p:cNvSpPr>
          <p:nvPr/>
        </p:nvSpPr>
        <p:spPr>
          <a:xfrm>
            <a:off x="9496425" y="4191000"/>
            <a:ext cx="285750" cy="381000"/>
          </a:xfrm>
          <a:prstGeom prst="rect">
            <a:avLst/>
          </a:prstGeom>
          <a:noFill/>
          <a:ln w="0">
            <a:noFill/>
          </a:ln>
        </p:spPr>
        <p:txBody>
          <a:bodyPr lIns="0" tIns="0" rIns="0" bIns="0" anchor="t">
            <a:noAutofit/>
          </a:bodyPr>
          <a:lstStyle/>
          <a:p>
            <a:pPr algn="l">
              <a:buNone/>
              <a:defRPr sz="2025" b="0">
                <a:solidFill>
                  <a:srgbClr val="C76520"/>
                </a:solidFill>
                <a:latin typeface="Aptos"/>
                <a:ea typeface="Aptos"/>
                <a:cs typeface="Aptos"/>
              </a:defRPr>
            </a:pPr>
            <a:r>
              <a:rPr sz="2025" b="0">
                <a:solidFill>
                  <a:srgbClr val="C76520"/>
                </a:solidFill>
                <a:latin typeface="Aptos"/>
                <a:ea typeface="Aptos"/>
                <a:cs typeface="Aptos"/>
              </a:rPr>
              <a:t>β</a:t>
            </a:r>
          </a:p>
        </p:txBody>
      </p:sp>
      <p:sp>
        <p:nvSpPr>
          <p:cNvPr id="69" name="diagram-187">
            <a:extLst>
              <a:ext uri="{FF2B5EF4-FFF2-40B4-BE49-F238E27FC236}">
                <a16:creationId xmlns:a16="http://schemas.microsoft.com/office/drawing/2014/main" id="{8942F8A4-58A3-4500-A9E9-2B12E241B7FE}"/>
              </a:ext>
            </a:extLst>
          </p:cNvPr>
          <p:cNvSpPr>
            <a:spLocks noGrp="1"/>
          </p:cNvSpPr>
          <p:nvPr/>
        </p:nvSpPr>
        <p:spPr>
          <a:xfrm>
            <a:off x="10668000" y="2247900"/>
            <a:ext cx="325755" cy="600075"/>
          </a:xfrm>
          <a:prstGeom prst="roundRect">
            <a:avLst>
              <a:gd name="adj" fmla="val 23392"/>
            </a:avLst>
          </a:prstGeom>
          <a:solidFill>
            <a:srgbClr val="FFFFFF"/>
          </a:solidFill>
          <a:ln w="19050">
            <a:solidFill>
              <a:srgbClr val="111111"/>
            </a:solidFill>
          </a:ln>
        </p:spPr>
        <p:txBody>
          <a:bodyPr/>
          <a:lstStyle/>
          <a:p>
            <a:endParaRPr lang="en-US"/>
          </a:p>
        </p:txBody>
      </p:sp>
      <p:sp>
        <p:nvSpPr>
          <p:cNvPr id="70" name="diagram-188">
            <a:extLst>
              <a:ext uri="{FF2B5EF4-FFF2-40B4-BE49-F238E27FC236}">
                <a16:creationId xmlns:a16="http://schemas.microsoft.com/office/drawing/2014/main" id="{D498B52F-5E45-4B7E-A329-D798A6BBC66A}"/>
              </a:ext>
            </a:extLst>
          </p:cNvPr>
          <p:cNvSpPr>
            <a:spLocks noGrp="1"/>
          </p:cNvSpPr>
          <p:nvPr/>
        </p:nvSpPr>
        <p:spPr>
          <a:xfrm>
            <a:off x="10710863" y="2325053"/>
            <a:ext cx="240030" cy="428625"/>
          </a:xfrm>
          <a:prstGeom prst="rect">
            <a:avLst/>
          </a:prstGeom>
          <a:solidFill>
            <a:srgbClr val="F1F4F5"/>
          </a:solidFill>
          <a:ln w="9525">
            <a:solidFill>
              <a:srgbClr val="C9CDD0"/>
            </a:solidFill>
          </a:ln>
        </p:spPr>
        <p:txBody>
          <a:bodyPr/>
          <a:lstStyle/>
          <a:p>
            <a:endParaRPr lang="en-US"/>
          </a:p>
        </p:txBody>
      </p:sp>
      <p:sp>
        <p:nvSpPr>
          <p:cNvPr id="71" name="diagram-189">
            <a:extLst>
              <a:ext uri="{FF2B5EF4-FFF2-40B4-BE49-F238E27FC236}">
                <a16:creationId xmlns:a16="http://schemas.microsoft.com/office/drawing/2014/main" id="{C847B0FB-5951-4FB8-985F-F872893A0B33}"/>
              </a:ext>
            </a:extLst>
          </p:cNvPr>
          <p:cNvSpPr>
            <a:spLocks noGrp="1"/>
          </p:cNvSpPr>
          <p:nvPr/>
        </p:nvSpPr>
        <p:spPr>
          <a:xfrm>
            <a:off x="10805160" y="2770823"/>
            <a:ext cx="42863" cy="42863"/>
          </a:xfrm>
          <a:prstGeom prst="ellipse">
            <a:avLst/>
          </a:prstGeom>
          <a:solidFill>
            <a:srgbClr val="C9CDD0"/>
          </a:solidFill>
          <a:ln w="19050">
            <a:noFill/>
          </a:ln>
        </p:spPr>
        <p:txBody>
          <a:bodyPr/>
          <a:lstStyle/>
          <a:p>
            <a:endParaRPr lang="en-US"/>
          </a:p>
        </p:txBody>
      </p:sp>
      <p:sp>
        <p:nvSpPr>
          <p:cNvPr id="72" name="diagram-190">
            <a:extLst>
              <a:ext uri="{FF2B5EF4-FFF2-40B4-BE49-F238E27FC236}">
                <a16:creationId xmlns:a16="http://schemas.microsoft.com/office/drawing/2014/main" id="{570AF112-20DB-42B9-9FAD-00CD20A73D83}"/>
              </a:ext>
            </a:extLst>
          </p:cNvPr>
          <p:cNvSpPr>
            <a:spLocks noGrp="1"/>
          </p:cNvSpPr>
          <p:nvPr/>
        </p:nvSpPr>
        <p:spPr>
          <a:xfrm>
            <a:off x="10001250" y="3036570"/>
            <a:ext cx="1659255"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a:t>
            </a:r>
          </a:p>
        </p:txBody>
      </p:sp>
      <p:sp>
        <p:nvSpPr>
          <p:cNvPr id="73" name="line-191">
            <a:extLst>
              <a:ext uri="{FF2B5EF4-FFF2-40B4-BE49-F238E27FC236}">
                <a16:creationId xmlns:a16="http://schemas.microsoft.com/office/drawing/2014/main" id="{74789584-F798-4944-AD58-A07B990CB661}"/>
              </a:ext>
            </a:extLst>
          </p:cNvPr>
          <p:cNvSpPr>
            <a:spLocks noGrp="1"/>
          </p:cNvSpPr>
          <p:nvPr/>
        </p:nvSpPr>
        <p:spPr>
          <a:xfrm>
            <a:off x="9791700" y="2914650"/>
            <a:ext cx="790575" cy="428625"/>
          </a:xfrm>
          <a:custGeom>
            <a:avLst/>
            <a:gdLst/>
            <a:ahLst/>
            <a:cxnLst/>
            <a:rect l="0" t="0" r="0" b="0"/>
            <a:pathLst>
              <a:path w="790575" h="428625">
                <a:moveTo>
                  <a:pt x="790575" y="0"/>
                </a:moveTo>
                <a:lnTo>
                  <a:pt x="0" y="428625"/>
                </a:lnTo>
              </a:path>
            </a:pathLst>
          </a:custGeom>
          <a:noFill/>
          <a:ln w="23813">
            <a:solidFill>
              <a:srgbClr val="17698C"/>
            </a:solidFill>
          </a:ln>
        </p:spPr>
        <p:txBody>
          <a:bodyPr/>
          <a:lstStyle/>
          <a:p>
            <a:endParaRPr lang="en-US"/>
          </a:p>
        </p:txBody>
      </p:sp>
      <p:sp>
        <p:nvSpPr>
          <p:cNvPr id="74" name="line-192">
            <a:extLst>
              <a:ext uri="{FF2B5EF4-FFF2-40B4-BE49-F238E27FC236}">
                <a16:creationId xmlns:a16="http://schemas.microsoft.com/office/drawing/2014/main" id="{DD92716F-810C-446B-9C3B-32E6D31616D9}"/>
              </a:ext>
            </a:extLst>
          </p:cNvPr>
          <p:cNvSpPr>
            <a:spLocks noGrp="1"/>
          </p:cNvSpPr>
          <p:nvPr/>
        </p:nvSpPr>
        <p:spPr>
          <a:xfrm>
            <a:off x="9791700" y="3265974"/>
            <a:ext cx="55652" cy="77301"/>
          </a:xfrm>
          <a:custGeom>
            <a:avLst/>
            <a:gdLst/>
            <a:ahLst/>
            <a:cxnLst/>
            <a:rect l="0" t="0" r="0" b="0"/>
            <a:pathLst>
              <a:path w="55652" h="77301">
                <a:moveTo>
                  <a:pt x="0" y="77301"/>
                </a:moveTo>
                <a:lnTo>
                  <a:pt x="55652" y="0"/>
                </a:lnTo>
              </a:path>
            </a:pathLst>
          </a:custGeom>
          <a:noFill/>
          <a:ln w="23813">
            <a:solidFill>
              <a:srgbClr val="17698C"/>
            </a:solidFill>
          </a:ln>
        </p:spPr>
        <p:txBody>
          <a:bodyPr/>
          <a:lstStyle/>
          <a:p>
            <a:endParaRPr lang="en-US"/>
          </a:p>
        </p:txBody>
      </p:sp>
      <p:sp>
        <p:nvSpPr>
          <p:cNvPr id="75" name="line-193">
            <a:extLst>
              <a:ext uri="{FF2B5EF4-FFF2-40B4-BE49-F238E27FC236}">
                <a16:creationId xmlns:a16="http://schemas.microsoft.com/office/drawing/2014/main" id="{5017052F-1362-4AAA-9DAF-CF1A39D04B7E}"/>
              </a:ext>
            </a:extLst>
          </p:cNvPr>
          <p:cNvSpPr>
            <a:spLocks noGrp="1"/>
          </p:cNvSpPr>
          <p:nvPr/>
        </p:nvSpPr>
        <p:spPr>
          <a:xfrm>
            <a:off x="9791700" y="3338818"/>
            <a:ext cx="95146" cy="9525"/>
          </a:xfrm>
          <a:custGeom>
            <a:avLst/>
            <a:gdLst/>
            <a:ahLst/>
            <a:cxnLst/>
            <a:rect l="0" t="0" r="0" b="0"/>
            <a:pathLst>
              <a:path w="95146" h="9525">
                <a:moveTo>
                  <a:pt x="0" y="4457"/>
                </a:moveTo>
                <a:lnTo>
                  <a:pt x="95146" y="0"/>
                </a:lnTo>
              </a:path>
            </a:pathLst>
          </a:custGeom>
          <a:noFill/>
          <a:ln w="23813">
            <a:solidFill>
              <a:srgbClr val="17698C"/>
            </a:solidFill>
          </a:ln>
        </p:spPr>
        <p:txBody>
          <a:bodyPr/>
          <a:lstStyle/>
          <a:p>
            <a:endParaRPr lang="en-US"/>
          </a:p>
        </p:txBody>
      </p:sp>
      <p:sp>
        <p:nvSpPr>
          <p:cNvPr id="76" name="diagram-194">
            <a:extLst>
              <a:ext uri="{FF2B5EF4-FFF2-40B4-BE49-F238E27FC236}">
                <a16:creationId xmlns:a16="http://schemas.microsoft.com/office/drawing/2014/main" id="{2641A447-934E-47D1-97B8-64E0B45F81E7}"/>
              </a:ext>
            </a:extLst>
          </p:cNvPr>
          <p:cNvSpPr>
            <a:spLocks noGrp="1"/>
          </p:cNvSpPr>
          <p:nvPr/>
        </p:nvSpPr>
        <p:spPr>
          <a:xfrm>
            <a:off x="10020300" y="3495675"/>
            <a:ext cx="1238250" cy="333375"/>
          </a:xfrm>
          <a:prstGeom prst="rect">
            <a:avLst/>
          </a:prstGeom>
          <a:noFill/>
          <a:ln w="0">
            <a:noFill/>
          </a:ln>
        </p:spPr>
        <p:txBody>
          <a:bodyPr lIns="0" tIns="0" rIns="0" bIns="0" anchor="t">
            <a:noAutofit/>
          </a:bodyPr>
          <a:lstStyle/>
          <a:p>
            <a:pPr algn="l">
              <a:buNone/>
              <a:defRPr sz="1650" b="0">
                <a:solidFill>
                  <a:srgbClr val="17698C"/>
                </a:solidFill>
                <a:latin typeface="Aptos"/>
                <a:ea typeface="Aptos"/>
                <a:cs typeface="Aptos"/>
              </a:defRPr>
            </a:pPr>
            <a:r>
              <a:rPr sz="1650" b="0">
                <a:solidFill>
                  <a:srgbClr val="17698C"/>
                </a:solidFill>
                <a:latin typeface="Aptos"/>
                <a:ea typeface="Aptos"/>
                <a:cs typeface="Aptos"/>
              </a:rPr>
              <a:t>arrival ψ</a:t>
            </a:r>
          </a:p>
        </p:txBody>
      </p:sp>
      <p:sp>
        <p:nvSpPr>
          <p:cNvPr id="77" name="diagram-195">
            <a:extLst>
              <a:ext uri="{FF2B5EF4-FFF2-40B4-BE49-F238E27FC236}">
                <a16:creationId xmlns:a16="http://schemas.microsoft.com/office/drawing/2014/main" id="{B4EBABC5-4CEA-4398-9817-1D6308A0F2AA}"/>
              </a:ext>
            </a:extLst>
          </p:cNvPr>
          <p:cNvSpPr>
            <a:spLocks noGrp="1"/>
          </p:cNvSpPr>
          <p:nvPr/>
        </p:nvSpPr>
        <p:spPr>
          <a:xfrm>
            <a:off x="8924925" y="4638675"/>
            <a:ext cx="152400" cy="152400"/>
          </a:xfrm>
          <a:prstGeom prst="ellipse">
            <a:avLst/>
          </a:prstGeom>
          <a:solidFill>
            <a:srgbClr val="111111"/>
          </a:solidFill>
          <a:ln w="19050">
            <a:solidFill>
              <a:srgbClr val="111111"/>
            </a:solidFill>
          </a:ln>
        </p:spPr>
        <p:txBody>
          <a:bodyPr/>
          <a:lstStyle/>
          <a:p>
            <a:endParaRPr lang="en-US"/>
          </a:p>
        </p:txBody>
      </p:sp>
      <p:sp>
        <p:nvSpPr>
          <p:cNvPr id="78" name="diagram-196">
            <a:extLst>
              <a:ext uri="{FF2B5EF4-FFF2-40B4-BE49-F238E27FC236}">
                <a16:creationId xmlns:a16="http://schemas.microsoft.com/office/drawing/2014/main" id="{F16D6095-7E35-4D41-BEBF-13F2CCF51F3C}"/>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The actuator controls β. The estimator infers arrival ψ. These angles serve different roles.</a:t>
            </a:r>
          </a:p>
        </p:txBody>
      </p:sp>
      <p:sp>
        <p:nvSpPr>
          <p:cNvPr id="82" name="added-text-1">
            <a:extLst>
              <a:ext uri="{FF2B5EF4-FFF2-40B4-BE49-F238E27FC236}">
                <a16:creationId xmlns:a16="http://schemas.microsoft.com/office/drawing/2014/main" id="{4B550FA8-BA8F-4C66-928B-04CAF62D3383}"/>
              </a:ext>
            </a:extLst>
          </p:cNvPr>
          <p:cNvSpPr>
            <a:spLocks noGrp="1"/>
          </p:cNvSpPr>
          <p:nvPr/>
        </p:nvSpPr>
        <p:spPr>
          <a:xfrm>
            <a:off x="933450" y="3190875"/>
            <a:ext cx="6619875" cy="4572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β: commanded tilt    ψ: arrival angle    ρ: phase-center offset</a:t>
            </a:r>
          </a:p>
        </p:txBody>
      </p:sp>
      <p:sp>
        <p:nvSpPr>
          <p:cNvPr id="83" name="added-text-75">
            <a:extLst>
              <a:ext uri="{FF2B5EF4-FFF2-40B4-BE49-F238E27FC236}">
                <a16:creationId xmlns:a16="http://schemas.microsoft.com/office/drawing/2014/main" id="{BFE24D21-4865-4B98-97F4-B484111CB181}"/>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a:t>
            </a:r>
          </a:p>
        </p:txBody>
      </p:sp>
    </p:spTree>
    <p:extLst>
      <p:ext uri="{BB962C8B-B14F-4D97-AF65-F5344CB8AC3E}">
        <p14:creationId xmlns:p14="http://schemas.microsoft.com/office/powerpoint/2010/main" val="2955090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18">
            <a:extLst>
              <a:ext uri="{FF2B5EF4-FFF2-40B4-BE49-F238E27FC236}">
                <a16:creationId xmlns:a16="http://schemas.microsoft.com/office/drawing/2014/main" id="{FD8C144C-F8F4-4CEE-8154-A356DCB5BC05}"/>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1-D geometry notation</a:t>
            </a:r>
          </a:p>
        </p:txBody>
      </p:sp>
      <p:graphicFrame>
        <p:nvGraphicFramePr>
          <p:cNvPr id="6" name="Table 5"/>
          <p:cNvGraphicFramePr/>
          <p:nvPr/>
        </p:nvGraphicFramePr>
        <p:xfrm>
          <a:off x="933450" y="1895475"/>
          <a:ext cx="10382250" cy="334327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βk, β, Δ</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Tilt at sample k / candidate tilt / angular sampling step</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degrees; Δ = 5°</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k, K</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Sample index and total orientation count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 = 0…36; K = 37</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ψ, ξ</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In-plane arrival angle; ξ is generic arrival direction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degrees / radians</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d̂(β), x–z plane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 antenna-axis vector; scan plane in the coordinate frame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3 × 1; unitless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ρ, p(β)</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Distance from pivot to phase center; phase-center position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 p is 3 × 1</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λ, g(β − ψ)</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Wavelength; calibrated complex field response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 relative field gain</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ak(ψ), a(ψ)</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Response at sample k; response vector across all K positions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K × 1</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j, 2πρ cos(β−ψ)/λ</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Imaginary unit; geometry-induced phase term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dimensionless phase</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19">
            <a:extLst>
              <a:ext uri="{FF2B5EF4-FFF2-40B4-BE49-F238E27FC236}">
                <a16:creationId xmlns:a16="http://schemas.microsoft.com/office/drawing/2014/main" id="{4FCD310C-2C33-4957-AFF0-13D516C38A34}"/>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The simple in-plane model assumes paths lie in the scan plane. Out-of-plane paths require the full geometry.</a:t>
            </a:r>
          </a:p>
        </p:txBody>
      </p:sp>
      <p:sp>
        <p:nvSpPr>
          <p:cNvPr id="4" name="added-text-76">
            <a:extLst>
              <a:ext uri="{FF2B5EF4-FFF2-40B4-BE49-F238E27FC236}">
                <a16:creationId xmlns:a16="http://schemas.microsoft.com/office/drawing/2014/main" id="{63B3CCC0-74A1-46C7-9C07-EE27B4500878}"/>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5</a:t>
            </a:r>
          </a:p>
        </p:txBody>
      </p:sp>
    </p:spTree>
    <p:extLst>
      <p:ext uri="{BB962C8B-B14F-4D97-AF65-F5344CB8AC3E}">
        <p14:creationId xmlns:p14="http://schemas.microsoft.com/office/powerpoint/2010/main" val="1418695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dirty="0">
                <a:solidFill>
                  <a:srgbClr val="111111"/>
                </a:solidFill>
                <a:latin typeface="Aptos Display"/>
                <a:ea typeface="Aptos Display"/>
                <a:cs typeface="Aptos Display"/>
              </a:rPr>
              <a:t>I. 2-D pan–tilt geometry</a:t>
            </a:r>
          </a:p>
        </p:txBody>
      </p:sp>
      <p:pic>
        <p:nvPicPr>
          <p:cNvPr id="58" name="Picture 57"/>
          <p:cNvPicPr>
            <a:picLocks noChangeAspect="1"/>
          </p:cNvPicPr>
          <p:nvPr/>
        </p:nvPicPr>
        <p:blipFill>
          <a:blip r:embed="rId3"/>
          <a:stretch/>
        </p:blipFill>
        <p:spPr>
          <a:xfrm>
            <a:off x="1002911" y="2290453"/>
            <a:ext cx="4073797" cy="346627"/>
          </a:xfrm>
          <a:prstGeom prst="rect">
            <a:avLst/>
          </a:prstGeom>
        </p:spPr>
      </p:pic>
      <p:pic>
        <p:nvPicPr>
          <p:cNvPr id="59" name="Picture 58"/>
          <p:cNvPicPr>
            <a:picLocks noChangeAspect="1"/>
          </p:cNvPicPr>
          <p:nvPr/>
        </p:nvPicPr>
        <p:blipFill>
          <a:blip r:embed="rId4"/>
          <a:stretch/>
        </p:blipFill>
        <p:spPr>
          <a:xfrm>
            <a:off x="973001" y="2725186"/>
            <a:ext cx="3999253" cy="346627"/>
          </a:xfrm>
          <a:prstGeom prst="rect">
            <a:avLst/>
          </a:prstGeom>
        </p:spPr>
      </p:pic>
      <p:sp>
        <p:nvSpPr>
          <p:cNvPr id="6" name="diagram-197">
            <a:extLst>
              <a:ext uri="{FF2B5EF4-FFF2-40B4-BE49-F238E27FC236}">
                <a16:creationId xmlns:a16="http://schemas.microsoft.com/office/drawing/2014/main" id="{ACCCD6A1-42DA-4C75-8F5E-BCF6BC2FAE8C}"/>
              </a:ext>
            </a:extLst>
          </p:cNvPr>
          <p:cNvSpPr>
            <a:spLocks noGrp="1"/>
          </p:cNvSpPr>
          <p:nvPr/>
        </p:nvSpPr>
        <p:spPr>
          <a:xfrm>
            <a:off x="933450" y="3867150"/>
            <a:ext cx="6048375" cy="2524125"/>
          </a:xfrm>
          <a:prstGeom prst="rect">
            <a:avLst/>
          </a:prstGeom>
          <a:noFill/>
          <a:ln w="0">
            <a:noFill/>
          </a:ln>
        </p:spPr>
        <p:txBody>
          <a:bodyPr lIns="0" tIns="0" rIns="0" bIns="0" anchor="t">
            <a:noAutofit/>
          </a:bodyPr>
          <a:lstStyle/>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Control q = (γ, α): pan and polar tilt.</a:t>
            </a:r>
          </a:p>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Search joint arrival (θ, φ), plus delay if used.</a:t>
            </a:r>
          </a:p>
          <a:p>
            <a:pPr marL="228600" indent="-165100" algn="l">
              <a:spcAft>
                <a:spcPts val="1400"/>
              </a:spcAft>
              <a:buChar char="•"/>
              <a:defRPr sz="1875" b="0">
                <a:solidFill>
                  <a:srgbClr val="111111"/>
                </a:solidFill>
                <a:latin typeface="Aptos"/>
                <a:ea typeface="Aptos"/>
                <a:cs typeface="Aptos"/>
              </a:defRPr>
            </a:pPr>
            <a:r>
              <a:rPr sz="1875" b="0">
                <a:solidFill>
                  <a:srgbClr val="111111"/>
                </a:solidFill>
                <a:latin typeface="Aptos"/>
                <a:ea typeface="Aptos"/>
                <a:cs typeface="Aptos"/>
              </a:rPr>
              <a:t>Use reachable states and avoid redundant pole samples.</a:t>
            </a:r>
          </a:p>
        </p:txBody>
      </p:sp>
      <p:sp>
        <p:nvSpPr>
          <p:cNvPr id="7" name="line-198">
            <a:extLst>
              <a:ext uri="{FF2B5EF4-FFF2-40B4-BE49-F238E27FC236}">
                <a16:creationId xmlns:a16="http://schemas.microsoft.com/office/drawing/2014/main" id="{AD5D160D-BF13-479D-BE8D-527804B50C1D}"/>
              </a:ext>
            </a:extLst>
          </p:cNvPr>
          <p:cNvSpPr>
            <a:spLocks noGrp="1"/>
          </p:cNvSpPr>
          <p:nvPr/>
        </p:nvSpPr>
        <p:spPr>
          <a:xfrm>
            <a:off x="9077325" y="4667250"/>
            <a:ext cx="2095500" cy="9525"/>
          </a:xfrm>
          <a:custGeom>
            <a:avLst/>
            <a:gdLst/>
            <a:ahLst/>
            <a:cxnLst/>
            <a:rect l="0" t="0" r="0" b="0"/>
            <a:pathLst>
              <a:path w="2095500" h="9525">
                <a:moveTo>
                  <a:pt x="0" y="0"/>
                </a:moveTo>
                <a:lnTo>
                  <a:pt x="2095500" y="0"/>
                </a:lnTo>
              </a:path>
            </a:pathLst>
          </a:custGeom>
          <a:noFill/>
          <a:ln w="23813">
            <a:solidFill>
              <a:srgbClr val="62676D"/>
            </a:solidFill>
          </a:ln>
        </p:spPr>
        <p:txBody>
          <a:bodyPr/>
          <a:lstStyle/>
          <a:p>
            <a:endParaRPr lang="en-US"/>
          </a:p>
        </p:txBody>
      </p:sp>
      <p:sp>
        <p:nvSpPr>
          <p:cNvPr id="8" name="line-199">
            <a:extLst>
              <a:ext uri="{FF2B5EF4-FFF2-40B4-BE49-F238E27FC236}">
                <a16:creationId xmlns:a16="http://schemas.microsoft.com/office/drawing/2014/main" id="{DE979199-EF54-465C-B789-B899D7C037E4}"/>
              </a:ext>
            </a:extLst>
          </p:cNvPr>
          <p:cNvSpPr>
            <a:spLocks noGrp="1"/>
          </p:cNvSpPr>
          <p:nvPr/>
        </p:nvSpPr>
        <p:spPr>
          <a:xfrm>
            <a:off x="11087057" y="4667250"/>
            <a:ext cx="85768" cy="41430"/>
          </a:xfrm>
          <a:custGeom>
            <a:avLst/>
            <a:gdLst/>
            <a:ahLst/>
            <a:cxnLst/>
            <a:rect l="0" t="0" r="0" b="0"/>
            <a:pathLst>
              <a:path w="85768" h="41430">
                <a:moveTo>
                  <a:pt x="85768" y="0"/>
                </a:moveTo>
                <a:lnTo>
                  <a:pt x="0" y="41430"/>
                </a:lnTo>
              </a:path>
            </a:pathLst>
          </a:custGeom>
          <a:noFill/>
          <a:ln w="23813">
            <a:solidFill>
              <a:srgbClr val="62676D"/>
            </a:solidFill>
          </a:ln>
        </p:spPr>
        <p:txBody>
          <a:bodyPr/>
          <a:lstStyle/>
          <a:p>
            <a:endParaRPr lang="en-US"/>
          </a:p>
        </p:txBody>
      </p:sp>
      <p:sp>
        <p:nvSpPr>
          <p:cNvPr id="9" name="line-200">
            <a:extLst>
              <a:ext uri="{FF2B5EF4-FFF2-40B4-BE49-F238E27FC236}">
                <a16:creationId xmlns:a16="http://schemas.microsoft.com/office/drawing/2014/main" id="{EE83CCC8-3E9D-4A11-8460-317EBE81B8CD}"/>
              </a:ext>
            </a:extLst>
          </p:cNvPr>
          <p:cNvSpPr>
            <a:spLocks noGrp="1"/>
          </p:cNvSpPr>
          <p:nvPr/>
        </p:nvSpPr>
        <p:spPr>
          <a:xfrm>
            <a:off x="11087057" y="4625820"/>
            <a:ext cx="85768" cy="41430"/>
          </a:xfrm>
          <a:custGeom>
            <a:avLst/>
            <a:gdLst/>
            <a:ahLst/>
            <a:cxnLst/>
            <a:rect l="0" t="0" r="0" b="0"/>
            <a:pathLst>
              <a:path w="85768" h="41430">
                <a:moveTo>
                  <a:pt x="85768" y="41430"/>
                </a:moveTo>
                <a:lnTo>
                  <a:pt x="0" y="0"/>
                </a:lnTo>
              </a:path>
            </a:pathLst>
          </a:custGeom>
          <a:noFill/>
          <a:ln w="23813">
            <a:solidFill>
              <a:srgbClr val="62676D"/>
            </a:solidFill>
          </a:ln>
        </p:spPr>
        <p:txBody>
          <a:bodyPr/>
          <a:lstStyle/>
          <a:p>
            <a:endParaRPr lang="en-US"/>
          </a:p>
        </p:txBody>
      </p:sp>
      <p:sp>
        <p:nvSpPr>
          <p:cNvPr id="10" name="line-201">
            <a:extLst>
              <a:ext uri="{FF2B5EF4-FFF2-40B4-BE49-F238E27FC236}">
                <a16:creationId xmlns:a16="http://schemas.microsoft.com/office/drawing/2014/main" id="{8229C89D-DE53-4F8C-A667-93DFAFF7C93D}"/>
              </a:ext>
            </a:extLst>
          </p:cNvPr>
          <p:cNvSpPr>
            <a:spLocks noGrp="1"/>
          </p:cNvSpPr>
          <p:nvPr/>
        </p:nvSpPr>
        <p:spPr>
          <a:xfrm>
            <a:off x="7867650" y="4667250"/>
            <a:ext cx="1209675" cy="800100"/>
          </a:xfrm>
          <a:custGeom>
            <a:avLst/>
            <a:gdLst/>
            <a:ahLst/>
            <a:cxnLst/>
            <a:rect l="0" t="0" r="0" b="0"/>
            <a:pathLst>
              <a:path w="1209675" h="800100">
                <a:moveTo>
                  <a:pt x="1209675" y="0"/>
                </a:moveTo>
                <a:lnTo>
                  <a:pt x="0" y="800100"/>
                </a:lnTo>
              </a:path>
            </a:pathLst>
          </a:custGeom>
          <a:noFill/>
          <a:ln w="23813">
            <a:solidFill>
              <a:srgbClr val="62676D"/>
            </a:solidFill>
          </a:ln>
        </p:spPr>
        <p:txBody>
          <a:bodyPr/>
          <a:lstStyle/>
          <a:p>
            <a:endParaRPr lang="en-US"/>
          </a:p>
        </p:txBody>
      </p:sp>
      <p:sp>
        <p:nvSpPr>
          <p:cNvPr id="11" name="line-202">
            <a:extLst>
              <a:ext uri="{FF2B5EF4-FFF2-40B4-BE49-F238E27FC236}">
                <a16:creationId xmlns:a16="http://schemas.microsoft.com/office/drawing/2014/main" id="{0ED21A34-AC1F-4138-80FA-0E257695BEF0}"/>
              </a:ext>
            </a:extLst>
          </p:cNvPr>
          <p:cNvSpPr>
            <a:spLocks noGrp="1"/>
          </p:cNvSpPr>
          <p:nvPr/>
        </p:nvSpPr>
        <p:spPr>
          <a:xfrm>
            <a:off x="7867650" y="5385479"/>
            <a:ext cx="48680" cy="81871"/>
          </a:xfrm>
          <a:custGeom>
            <a:avLst/>
            <a:gdLst/>
            <a:ahLst/>
            <a:cxnLst/>
            <a:rect l="0" t="0" r="0" b="0"/>
            <a:pathLst>
              <a:path w="48680" h="81871">
                <a:moveTo>
                  <a:pt x="0" y="81871"/>
                </a:moveTo>
                <a:lnTo>
                  <a:pt x="48680" y="0"/>
                </a:lnTo>
              </a:path>
            </a:pathLst>
          </a:custGeom>
          <a:noFill/>
          <a:ln w="23813">
            <a:solidFill>
              <a:srgbClr val="62676D"/>
            </a:solidFill>
          </a:ln>
        </p:spPr>
        <p:txBody>
          <a:bodyPr/>
          <a:lstStyle/>
          <a:p>
            <a:endParaRPr lang="en-US"/>
          </a:p>
        </p:txBody>
      </p:sp>
      <p:sp>
        <p:nvSpPr>
          <p:cNvPr id="12" name="line-203">
            <a:extLst>
              <a:ext uri="{FF2B5EF4-FFF2-40B4-BE49-F238E27FC236}">
                <a16:creationId xmlns:a16="http://schemas.microsoft.com/office/drawing/2014/main" id="{258C5FF6-CBB6-4271-89F6-E7A6AD2E04A7}"/>
              </a:ext>
            </a:extLst>
          </p:cNvPr>
          <p:cNvSpPr>
            <a:spLocks noGrp="1"/>
          </p:cNvSpPr>
          <p:nvPr/>
        </p:nvSpPr>
        <p:spPr>
          <a:xfrm>
            <a:off x="7867650" y="5454591"/>
            <a:ext cx="94392" cy="12759"/>
          </a:xfrm>
          <a:custGeom>
            <a:avLst/>
            <a:gdLst/>
            <a:ahLst/>
            <a:cxnLst/>
            <a:rect l="0" t="0" r="0" b="0"/>
            <a:pathLst>
              <a:path w="94392" h="12759">
                <a:moveTo>
                  <a:pt x="0" y="12759"/>
                </a:moveTo>
                <a:lnTo>
                  <a:pt x="94392" y="0"/>
                </a:lnTo>
              </a:path>
            </a:pathLst>
          </a:custGeom>
          <a:noFill/>
          <a:ln w="23813">
            <a:solidFill>
              <a:srgbClr val="62676D"/>
            </a:solidFill>
          </a:ln>
        </p:spPr>
        <p:txBody>
          <a:bodyPr/>
          <a:lstStyle/>
          <a:p>
            <a:endParaRPr lang="en-US"/>
          </a:p>
        </p:txBody>
      </p:sp>
      <p:sp>
        <p:nvSpPr>
          <p:cNvPr id="13" name="line-204">
            <a:extLst>
              <a:ext uri="{FF2B5EF4-FFF2-40B4-BE49-F238E27FC236}">
                <a16:creationId xmlns:a16="http://schemas.microsoft.com/office/drawing/2014/main" id="{E32A09EF-C20F-46EF-A875-E1FDE0CAE440}"/>
              </a:ext>
            </a:extLst>
          </p:cNvPr>
          <p:cNvSpPr>
            <a:spLocks noGrp="1"/>
          </p:cNvSpPr>
          <p:nvPr/>
        </p:nvSpPr>
        <p:spPr>
          <a:xfrm>
            <a:off x="9077325" y="2209800"/>
            <a:ext cx="9525" cy="2457450"/>
          </a:xfrm>
          <a:custGeom>
            <a:avLst/>
            <a:gdLst/>
            <a:ahLst/>
            <a:cxnLst/>
            <a:rect l="0" t="0" r="0" b="0"/>
            <a:pathLst>
              <a:path w="9525" h="2457450">
                <a:moveTo>
                  <a:pt x="0" y="2457450"/>
                </a:moveTo>
                <a:lnTo>
                  <a:pt x="0" y="0"/>
                </a:lnTo>
              </a:path>
            </a:pathLst>
          </a:custGeom>
          <a:noFill/>
          <a:ln w="23813">
            <a:solidFill>
              <a:srgbClr val="62676D"/>
            </a:solidFill>
          </a:ln>
        </p:spPr>
        <p:txBody>
          <a:bodyPr/>
          <a:lstStyle/>
          <a:p>
            <a:endParaRPr lang="en-US"/>
          </a:p>
        </p:txBody>
      </p:sp>
      <p:sp>
        <p:nvSpPr>
          <p:cNvPr id="14" name="line-205">
            <a:extLst>
              <a:ext uri="{FF2B5EF4-FFF2-40B4-BE49-F238E27FC236}">
                <a16:creationId xmlns:a16="http://schemas.microsoft.com/office/drawing/2014/main" id="{526307C7-5FC4-441E-B7E4-DA5615FDADDC}"/>
              </a:ext>
            </a:extLst>
          </p:cNvPr>
          <p:cNvSpPr>
            <a:spLocks noGrp="1"/>
          </p:cNvSpPr>
          <p:nvPr/>
        </p:nvSpPr>
        <p:spPr>
          <a:xfrm>
            <a:off x="9077325" y="2209800"/>
            <a:ext cx="41430" cy="85768"/>
          </a:xfrm>
          <a:custGeom>
            <a:avLst/>
            <a:gdLst/>
            <a:ahLst/>
            <a:cxnLst/>
            <a:rect l="0" t="0" r="0" b="0"/>
            <a:pathLst>
              <a:path w="41430" h="85768">
                <a:moveTo>
                  <a:pt x="0" y="0"/>
                </a:moveTo>
                <a:lnTo>
                  <a:pt x="41430" y="85768"/>
                </a:lnTo>
              </a:path>
            </a:pathLst>
          </a:custGeom>
          <a:noFill/>
          <a:ln w="23813">
            <a:solidFill>
              <a:srgbClr val="62676D"/>
            </a:solidFill>
          </a:ln>
        </p:spPr>
        <p:txBody>
          <a:bodyPr/>
          <a:lstStyle/>
          <a:p>
            <a:endParaRPr lang="en-US"/>
          </a:p>
        </p:txBody>
      </p:sp>
      <p:sp>
        <p:nvSpPr>
          <p:cNvPr id="15" name="line-206">
            <a:extLst>
              <a:ext uri="{FF2B5EF4-FFF2-40B4-BE49-F238E27FC236}">
                <a16:creationId xmlns:a16="http://schemas.microsoft.com/office/drawing/2014/main" id="{DF9A83EB-92FB-4953-928D-7921EA67EBF7}"/>
              </a:ext>
            </a:extLst>
          </p:cNvPr>
          <p:cNvSpPr>
            <a:spLocks noGrp="1"/>
          </p:cNvSpPr>
          <p:nvPr/>
        </p:nvSpPr>
        <p:spPr>
          <a:xfrm>
            <a:off x="9035895" y="2209800"/>
            <a:ext cx="41430" cy="85768"/>
          </a:xfrm>
          <a:custGeom>
            <a:avLst/>
            <a:gdLst/>
            <a:ahLst/>
            <a:cxnLst/>
            <a:rect l="0" t="0" r="0" b="0"/>
            <a:pathLst>
              <a:path w="41430" h="85768">
                <a:moveTo>
                  <a:pt x="41430" y="0"/>
                </a:moveTo>
                <a:lnTo>
                  <a:pt x="0" y="85768"/>
                </a:lnTo>
              </a:path>
            </a:pathLst>
          </a:custGeom>
          <a:noFill/>
          <a:ln w="23813">
            <a:solidFill>
              <a:srgbClr val="62676D"/>
            </a:solidFill>
          </a:ln>
        </p:spPr>
        <p:txBody>
          <a:bodyPr/>
          <a:lstStyle/>
          <a:p>
            <a:endParaRPr lang="en-US"/>
          </a:p>
        </p:txBody>
      </p:sp>
      <p:sp>
        <p:nvSpPr>
          <p:cNvPr id="16" name="diagram-207">
            <a:extLst>
              <a:ext uri="{FF2B5EF4-FFF2-40B4-BE49-F238E27FC236}">
                <a16:creationId xmlns:a16="http://schemas.microsoft.com/office/drawing/2014/main" id="{F3ADBC4A-4291-490E-8EC3-735CCA879124}"/>
              </a:ext>
            </a:extLst>
          </p:cNvPr>
          <p:cNvSpPr>
            <a:spLocks noGrp="1"/>
          </p:cNvSpPr>
          <p:nvPr/>
        </p:nvSpPr>
        <p:spPr>
          <a:xfrm>
            <a:off x="11229975" y="4543425"/>
            <a:ext cx="190500" cy="285750"/>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x</a:t>
            </a:r>
          </a:p>
        </p:txBody>
      </p:sp>
      <p:sp>
        <p:nvSpPr>
          <p:cNvPr id="17" name="diagram-208">
            <a:extLst>
              <a:ext uri="{FF2B5EF4-FFF2-40B4-BE49-F238E27FC236}">
                <a16:creationId xmlns:a16="http://schemas.microsoft.com/office/drawing/2014/main" id="{5935BC7B-1A96-4BD5-AADD-F7415A29E107}"/>
              </a:ext>
            </a:extLst>
          </p:cNvPr>
          <p:cNvSpPr>
            <a:spLocks noGrp="1"/>
          </p:cNvSpPr>
          <p:nvPr/>
        </p:nvSpPr>
        <p:spPr>
          <a:xfrm>
            <a:off x="7610475" y="5438775"/>
            <a:ext cx="190500" cy="285750"/>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y</a:t>
            </a:r>
          </a:p>
        </p:txBody>
      </p:sp>
      <p:sp>
        <p:nvSpPr>
          <p:cNvPr id="18" name="diagram-209">
            <a:extLst>
              <a:ext uri="{FF2B5EF4-FFF2-40B4-BE49-F238E27FC236}">
                <a16:creationId xmlns:a16="http://schemas.microsoft.com/office/drawing/2014/main" id="{6241861B-CF28-468B-8A72-6FD92B05C791}"/>
              </a:ext>
            </a:extLst>
          </p:cNvPr>
          <p:cNvSpPr>
            <a:spLocks noGrp="1"/>
          </p:cNvSpPr>
          <p:nvPr/>
        </p:nvSpPr>
        <p:spPr>
          <a:xfrm>
            <a:off x="8991600" y="1914525"/>
            <a:ext cx="190500" cy="285750"/>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z</a:t>
            </a:r>
          </a:p>
        </p:txBody>
      </p:sp>
      <p:sp>
        <p:nvSpPr>
          <p:cNvPr id="19" name="diagram-210">
            <a:extLst>
              <a:ext uri="{FF2B5EF4-FFF2-40B4-BE49-F238E27FC236}">
                <a16:creationId xmlns:a16="http://schemas.microsoft.com/office/drawing/2014/main" id="{057C970C-FF77-4D67-B09D-5CA8DE96111B}"/>
              </a:ext>
            </a:extLst>
          </p:cNvPr>
          <p:cNvSpPr>
            <a:spLocks noGrp="1"/>
          </p:cNvSpPr>
          <p:nvPr/>
        </p:nvSpPr>
        <p:spPr>
          <a:xfrm>
            <a:off x="7810500" y="4152900"/>
            <a:ext cx="3048000" cy="1047750"/>
          </a:xfrm>
          <a:prstGeom prst="ellipse">
            <a:avLst/>
          </a:prstGeom>
          <a:noFill/>
          <a:ln w="19050">
            <a:solidFill>
              <a:srgbClr val="C9CDD0"/>
            </a:solidFill>
          </a:ln>
        </p:spPr>
        <p:txBody>
          <a:bodyPr/>
          <a:lstStyle/>
          <a:p>
            <a:endParaRPr lang="en-US"/>
          </a:p>
        </p:txBody>
      </p:sp>
      <p:sp>
        <p:nvSpPr>
          <p:cNvPr id="20" name="line-211">
            <a:extLst>
              <a:ext uri="{FF2B5EF4-FFF2-40B4-BE49-F238E27FC236}">
                <a16:creationId xmlns:a16="http://schemas.microsoft.com/office/drawing/2014/main" id="{6A59065B-0DFB-4321-AB75-9260437DBBA7}"/>
              </a:ext>
            </a:extLst>
          </p:cNvPr>
          <p:cNvSpPr>
            <a:spLocks noGrp="1"/>
          </p:cNvSpPr>
          <p:nvPr/>
        </p:nvSpPr>
        <p:spPr>
          <a:xfrm>
            <a:off x="9077325" y="2714625"/>
            <a:ext cx="1228725" cy="1952625"/>
          </a:xfrm>
          <a:custGeom>
            <a:avLst/>
            <a:gdLst/>
            <a:ahLst/>
            <a:cxnLst/>
            <a:rect l="0" t="0" r="0" b="0"/>
            <a:pathLst>
              <a:path w="1228725" h="1952625">
                <a:moveTo>
                  <a:pt x="0" y="1952625"/>
                </a:moveTo>
                <a:lnTo>
                  <a:pt x="1228725" y="0"/>
                </a:lnTo>
              </a:path>
            </a:pathLst>
          </a:custGeom>
          <a:noFill/>
          <a:ln w="57150">
            <a:solidFill>
              <a:srgbClr val="C76520"/>
            </a:solidFill>
          </a:ln>
        </p:spPr>
        <p:txBody>
          <a:bodyPr/>
          <a:lstStyle/>
          <a:p>
            <a:endParaRPr lang="en-US"/>
          </a:p>
        </p:txBody>
      </p:sp>
      <p:sp>
        <p:nvSpPr>
          <p:cNvPr id="21" name="diagram-212">
            <a:extLst>
              <a:ext uri="{FF2B5EF4-FFF2-40B4-BE49-F238E27FC236}">
                <a16:creationId xmlns:a16="http://schemas.microsoft.com/office/drawing/2014/main" id="{B0D11040-8807-4158-AFA0-68E44465A87A}"/>
              </a:ext>
            </a:extLst>
          </p:cNvPr>
          <p:cNvSpPr>
            <a:spLocks noGrp="1"/>
          </p:cNvSpPr>
          <p:nvPr/>
        </p:nvSpPr>
        <p:spPr>
          <a:xfrm>
            <a:off x="10229850" y="2638425"/>
            <a:ext cx="142875" cy="142875"/>
          </a:xfrm>
          <a:prstGeom prst="ellipse">
            <a:avLst/>
          </a:prstGeom>
          <a:solidFill>
            <a:srgbClr val="C76520"/>
          </a:solidFill>
          <a:ln w="19050">
            <a:noFill/>
          </a:ln>
        </p:spPr>
        <p:txBody>
          <a:bodyPr/>
          <a:lstStyle/>
          <a:p>
            <a:endParaRPr lang="en-US"/>
          </a:p>
        </p:txBody>
      </p:sp>
      <p:sp>
        <p:nvSpPr>
          <p:cNvPr id="22" name="diagram-213">
            <a:extLst>
              <a:ext uri="{FF2B5EF4-FFF2-40B4-BE49-F238E27FC236}">
                <a16:creationId xmlns:a16="http://schemas.microsoft.com/office/drawing/2014/main" id="{12D30DE1-200A-40DD-8D23-ED9C0D003381}"/>
              </a:ext>
            </a:extLst>
          </p:cNvPr>
          <p:cNvSpPr>
            <a:spLocks noGrp="1"/>
          </p:cNvSpPr>
          <p:nvPr/>
        </p:nvSpPr>
        <p:spPr>
          <a:xfrm>
            <a:off x="9991725" y="2362200"/>
            <a:ext cx="1428750" cy="333375"/>
          </a:xfrm>
          <a:prstGeom prst="rect">
            <a:avLst/>
          </a:prstGeom>
          <a:noFill/>
          <a:ln w="0">
            <a:noFill/>
          </a:ln>
        </p:spPr>
        <p:txBody>
          <a:bodyPr lIns="0" tIns="0" rIns="0" bIns="0" anchor="t">
            <a:noAutofit/>
          </a:bodyPr>
          <a:lstStyle/>
          <a:p>
            <a:pPr algn="l">
              <a:buNone/>
              <a:defRPr sz="1575" b="0">
                <a:solidFill>
                  <a:srgbClr val="C76520"/>
                </a:solidFill>
                <a:latin typeface="Aptos"/>
                <a:ea typeface="Aptos"/>
                <a:cs typeface="Aptos"/>
              </a:defRPr>
            </a:pPr>
            <a:r>
              <a:rPr sz="1575" b="0">
                <a:solidFill>
                  <a:srgbClr val="C76520"/>
                </a:solidFill>
                <a:latin typeface="Aptos"/>
                <a:ea typeface="Aptos"/>
                <a:cs typeface="Aptos"/>
              </a:rPr>
              <a:t>phase center</a:t>
            </a:r>
          </a:p>
        </p:txBody>
      </p:sp>
      <p:sp>
        <p:nvSpPr>
          <p:cNvPr id="23" name="line-214">
            <a:extLst>
              <a:ext uri="{FF2B5EF4-FFF2-40B4-BE49-F238E27FC236}">
                <a16:creationId xmlns:a16="http://schemas.microsoft.com/office/drawing/2014/main" id="{B1B99E89-6521-4238-BEF6-840D4D4029A1}"/>
              </a:ext>
            </a:extLst>
          </p:cNvPr>
          <p:cNvSpPr>
            <a:spLocks noGrp="1"/>
          </p:cNvSpPr>
          <p:nvPr/>
        </p:nvSpPr>
        <p:spPr>
          <a:xfrm>
            <a:off x="9077325" y="3962400"/>
            <a:ext cx="16401" cy="9525"/>
          </a:xfrm>
          <a:custGeom>
            <a:avLst/>
            <a:gdLst/>
            <a:ahLst/>
            <a:cxnLst/>
            <a:rect l="0" t="0" r="0" b="0"/>
            <a:pathLst>
              <a:path w="16401" h="9525">
                <a:moveTo>
                  <a:pt x="0" y="0"/>
                </a:moveTo>
                <a:lnTo>
                  <a:pt x="16401" y="191"/>
                </a:lnTo>
              </a:path>
            </a:pathLst>
          </a:custGeom>
          <a:noFill/>
          <a:ln w="19050">
            <a:solidFill>
              <a:srgbClr val="C76520"/>
            </a:solidFill>
          </a:ln>
        </p:spPr>
        <p:txBody>
          <a:bodyPr/>
          <a:lstStyle/>
          <a:p>
            <a:endParaRPr lang="en-US"/>
          </a:p>
        </p:txBody>
      </p:sp>
      <p:sp>
        <p:nvSpPr>
          <p:cNvPr id="24" name="line-215">
            <a:extLst>
              <a:ext uri="{FF2B5EF4-FFF2-40B4-BE49-F238E27FC236}">
                <a16:creationId xmlns:a16="http://schemas.microsoft.com/office/drawing/2014/main" id="{D3B3C1DD-9E17-4CB8-A6D5-04BEE833DD4A}"/>
              </a:ext>
            </a:extLst>
          </p:cNvPr>
          <p:cNvSpPr>
            <a:spLocks noGrp="1"/>
          </p:cNvSpPr>
          <p:nvPr/>
        </p:nvSpPr>
        <p:spPr>
          <a:xfrm>
            <a:off x="9093726" y="3962591"/>
            <a:ext cx="16392" cy="9525"/>
          </a:xfrm>
          <a:custGeom>
            <a:avLst/>
            <a:gdLst/>
            <a:ahLst/>
            <a:cxnLst/>
            <a:rect l="0" t="0" r="0" b="0"/>
            <a:pathLst>
              <a:path w="16392" h="9525">
                <a:moveTo>
                  <a:pt x="0" y="0"/>
                </a:moveTo>
                <a:lnTo>
                  <a:pt x="16392" y="572"/>
                </a:lnTo>
              </a:path>
            </a:pathLst>
          </a:custGeom>
          <a:noFill/>
          <a:ln w="19050">
            <a:solidFill>
              <a:srgbClr val="C76520"/>
            </a:solidFill>
          </a:ln>
        </p:spPr>
        <p:txBody>
          <a:bodyPr/>
          <a:lstStyle/>
          <a:p>
            <a:endParaRPr lang="en-US"/>
          </a:p>
        </p:txBody>
      </p:sp>
      <p:sp>
        <p:nvSpPr>
          <p:cNvPr id="25" name="line-216">
            <a:extLst>
              <a:ext uri="{FF2B5EF4-FFF2-40B4-BE49-F238E27FC236}">
                <a16:creationId xmlns:a16="http://schemas.microsoft.com/office/drawing/2014/main" id="{D1438AD5-1099-473F-8CE3-CBF3E3578221}"/>
              </a:ext>
            </a:extLst>
          </p:cNvPr>
          <p:cNvSpPr>
            <a:spLocks noGrp="1"/>
          </p:cNvSpPr>
          <p:nvPr/>
        </p:nvSpPr>
        <p:spPr>
          <a:xfrm>
            <a:off x="9110118" y="3963163"/>
            <a:ext cx="16374" cy="9525"/>
          </a:xfrm>
          <a:custGeom>
            <a:avLst/>
            <a:gdLst/>
            <a:ahLst/>
            <a:cxnLst/>
            <a:rect l="0" t="0" r="0" b="0"/>
            <a:pathLst>
              <a:path w="16374" h="9525">
                <a:moveTo>
                  <a:pt x="0" y="0"/>
                </a:moveTo>
                <a:lnTo>
                  <a:pt x="16374" y="954"/>
                </a:lnTo>
              </a:path>
            </a:pathLst>
          </a:custGeom>
          <a:noFill/>
          <a:ln w="19050">
            <a:solidFill>
              <a:srgbClr val="C76520"/>
            </a:solidFill>
          </a:ln>
        </p:spPr>
        <p:txBody>
          <a:bodyPr/>
          <a:lstStyle/>
          <a:p>
            <a:endParaRPr lang="en-US"/>
          </a:p>
        </p:txBody>
      </p:sp>
      <p:sp>
        <p:nvSpPr>
          <p:cNvPr id="26" name="line-217">
            <a:extLst>
              <a:ext uri="{FF2B5EF4-FFF2-40B4-BE49-F238E27FC236}">
                <a16:creationId xmlns:a16="http://schemas.microsoft.com/office/drawing/2014/main" id="{046B99D1-E8F9-446C-8552-84F3EEFDD74B}"/>
              </a:ext>
            </a:extLst>
          </p:cNvPr>
          <p:cNvSpPr>
            <a:spLocks noGrp="1"/>
          </p:cNvSpPr>
          <p:nvPr/>
        </p:nvSpPr>
        <p:spPr>
          <a:xfrm>
            <a:off x="9126493" y="3964117"/>
            <a:ext cx="16348" cy="9525"/>
          </a:xfrm>
          <a:custGeom>
            <a:avLst/>
            <a:gdLst/>
            <a:ahLst/>
            <a:cxnLst/>
            <a:rect l="0" t="0" r="0" b="0"/>
            <a:pathLst>
              <a:path w="16348" h="9525">
                <a:moveTo>
                  <a:pt x="0" y="0"/>
                </a:moveTo>
                <a:lnTo>
                  <a:pt x="16348" y="1334"/>
                </a:lnTo>
              </a:path>
            </a:pathLst>
          </a:custGeom>
          <a:noFill/>
          <a:ln w="19050">
            <a:solidFill>
              <a:srgbClr val="C76520"/>
            </a:solidFill>
          </a:ln>
        </p:spPr>
        <p:txBody>
          <a:bodyPr/>
          <a:lstStyle/>
          <a:p>
            <a:endParaRPr lang="en-US"/>
          </a:p>
        </p:txBody>
      </p:sp>
      <p:sp>
        <p:nvSpPr>
          <p:cNvPr id="27" name="line-218">
            <a:extLst>
              <a:ext uri="{FF2B5EF4-FFF2-40B4-BE49-F238E27FC236}">
                <a16:creationId xmlns:a16="http://schemas.microsoft.com/office/drawing/2014/main" id="{41F7F93F-F70D-4CE9-A41B-E25EC49B894E}"/>
              </a:ext>
            </a:extLst>
          </p:cNvPr>
          <p:cNvSpPr>
            <a:spLocks noGrp="1"/>
          </p:cNvSpPr>
          <p:nvPr/>
        </p:nvSpPr>
        <p:spPr>
          <a:xfrm>
            <a:off x="9142841" y="3965451"/>
            <a:ext cx="16312" cy="9525"/>
          </a:xfrm>
          <a:custGeom>
            <a:avLst/>
            <a:gdLst/>
            <a:ahLst/>
            <a:cxnLst/>
            <a:rect l="0" t="0" r="0" b="0"/>
            <a:pathLst>
              <a:path w="16312" h="9525">
                <a:moveTo>
                  <a:pt x="0" y="0"/>
                </a:moveTo>
                <a:lnTo>
                  <a:pt x="16312" y="1715"/>
                </a:lnTo>
              </a:path>
            </a:pathLst>
          </a:custGeom>
          <a:noFill/>
          <a:ln w="19050">
            <a:solidFill>
              <a:srgbClr val="C76520"/>
            </a:solidFill>
          </a:ln>
        </p:spPr>
        <p:txBody>
          <a:bodyPr/>
          <a:lstStyle/>
          <a:p>
            <a:endParaRPr lang="en-US"/>
          </a:p>
        </p:txBody>
      </p:sp>
      <p:sp>
        <p:nvSpPr>
          <p:cNvPr id="28" name="line-219">
            <a:extLst>
              <a:ext uri="{FF2B5EF4-FFF2-40B4-BE49-F238E27FC236}">
                <a16:creationId xmlns:a16="http://schemas.microsoft.com/office/drawing/2014/main" id="{0F77D4DE-03E5-481F-B65C-AD79D5FBE36F}"/>
              </a:ext>
            </a:extLst>
          </p:cNvPr>
          <p:cNvSpPr>
            <a:spLocks noGrp="1"/>
          </p:cNvSpPr>
          <p:nvPr/>
        </p:nvSpPr>
        <p:spPr>
          <a:xfrm>
            <a:off x="9159153" y="3967166"/>
            <a:ext cx="16268" cy="9525"/>
          </a:xfrm>
          <a:custGeom>
            <a:avLst/>
            <a:gdLst/>
            <a:ahLst/>
            <a:cxnLst/>
            <a:rect l="0" t="0" r="0" b="0"/>
            <a:pathLst>
              <a:path w="16268" h="9525">
                <a:moveTo>
                  <a:pt x="0" y="0"/>
                </a:moveTo>
                <a:lnTo>
                  <a:pt x="16268" y="2094"/>
                </a:lnTo>
              </a:path>
            </a:pathLst>
          </a:custGeom>
          <a:noFill/>
          <a:ln w="19050">
            <a:solidFill>
              <a:srgbClr val="C76520"/>
            </a:solidFill>
          </a:ln>
        </p:spPr>
        <p:txBody>
          <a:bodyPr/>
          <a:lstStyle/>
          <a:p>
            <a:endParaRPr lang="en-US"/>
          </a:p>
        </p:txBody>
      </p:sp>
      <p:sp>
        <p:nvSpPr>
          <p:cNvPr id="29" name="line-220">
            <a:extLst>
              <a:ext uri="{FF2B5EF4-FFF2-40B4-BE49-F238E27FC236}">
                <a16:creationId xmlns:a16="http://schemas.microsoft.com/office/drawing/2014/main" id="{4C127352-2A84-4F24-8ADB-AD0D9C27F106}"/>
              </a:ext>
            </a:extLst>
          </p:cNvPr>
          <p:cNvSpPr>
            <a:spLocks noGrp="1"/>
          </p:cNvSpPr>
          <p:nvPr/>
        </p:nvSpPr>
        <p:spPr>
          <a:xfrm>
            <a:off x="9175421" y="3969260"/>
            <a:ext cx="16215" cy="9525"/>
          </a:xfrm>
          <a:custGeom>
            <a:avLst/>
            <a:gdLst/>
            <a:ahLst/>
            <a:cxnLst/>
            <a:rect l="0" t="0" r="0" b="0"/>
            <a:pathLst>
              <a:path w="16215" h="9525">
                <a:moveTo>
                  <a:pt x="0" y="0"/>
                </a:moveTo>
                <a:lnTo>
                  <a:pt x="16215" y="2472"/>
                </a:lnTo>
              </a:path>
            </a:pathLst>
          </a:custGeom>
          <a:noFill/>
          <a:ln w="19050">
            <a:solidFill>
              <a:srgbClr val="C76520"/>
            </a:solidFill>
          </a:ln>
        </p:spPr>
        <p:txBody>
          <a:bodyPr/>
          <a:lstStyle/>
          <a:p>
            <a:endParaRPr lang="en-US"/>
          </a:p>
        </p:txBody>
      </p:sp>
      <p:sp>
        <p:nvSpPr>
          <p:cNvPr id="30" name="line-221">
            <a:extLst>
              <a:ext uri="{FF2B5EF4-FFF2-40B4-BE49-F238E27FC236}">
                <a16:creationId xmlns:a16="http://schemas.microsoft.com/office/drawing/2014/main" id="{0B8DBF98-6F66-450E-88CB-E6362EA06D89}"/>
              </a:ext>
            </a:extLst>
          </p:cNvPr>
          <p:cNvSpPr>
            <a:spLocks noGrp="1"/>
          </p:cNvSpPr>
          <p:nvPr/>
        </p:nvSpPr>
        <p:spPr>
          <a:xfrm>
            <a:off x="9191636" y="3971731"/>
            <a:ext cx="16153" cy="9525"/>
          </a:xfrm>
          <a:custGeom>
            <a:avLst/>
            <a:gdLst/>
            <a:ahLst/>
            <a:cxnLst/>
            <a:rect l="0" t="0" r="0" b="0"/>
            <a:pathLst>
              <a:path w="16153" h="9525">
                <a:moveTo>
                  <a:pt x="0" y="0"/>
                </a:moveTo>
                <a:lnTo>
                  <a:pt x="16153" y="2848"/>
                </a:lnTo>
              </a:path>
            </a:pathLst>
          </a:custGeom>
          <a:noFill/>
          <a:ln w="19050">
            <a:solidFill>
              <a:srgbClr val="C76520"/>
            </a:solidFill>
          </a:ln>
        </p:spPr>
        <p:txBody>
          <a:bodyPr/>
          <a:lstStyle/>
          <a:p>
            <a:endParaRPr lang="en-US"/>
          </a:p>
        </p:txBody>
      </p:sp>
      <p:sp>
        <p:nvSpPr>
          <p:cNvPr id="31" name="line-222">
            <a:extLst>
              <a:ext uri="{FF2B5EF4-FFF2-40B4-BE49-F238E27FC236}">
                <a16:creationId xmlns:a16="http://schemas.microsoft.com/office/drawing/2014/main" id="{A5DAE799-E336-4134-809C-766ED1E057FF}"/>
              </a:ext>
            </a:extLst>
          </p:cNvPr>
          <p:cNvSpPr>
            <a:spLocks noGrp="1"/>
          </p:cNvSpPr>
          <p:nvPr/>
        </p:nvSpPr>
        <p:spPr>
          <a:xfrm>
            <a:off x="9207789" y="3974579"/>
            <a:ext cx="16082" cy="9525"/>
          </a:xfrm>
          <a:custGeom>
            <a:avLst/>
            <a:gdLst/>
            <a:ahLst/>
            <a:cxnLst/>
            <a:rect l="0" t="0" r="0" b="0"/>
            <a:pathLst>
              <a:path w="16082" h="9525">
                <a:moveTo>
                  <a:pt x="0" y="0"/>
                </a:moveTo>
                <a:lnTo>
                  <a:pt x="16082" y="3223"/>
                </a:lnTo>
              </a:path>
            </a:pathLst>
          </a:custGeom>
          <a:noFill/>
          <a:ln w="19050">
            <a:solidFill>
              <a:srgbClr val="C76520"/>
            </a:solidFill>
          </a:ln>
        </p:spPr>
        <p:txBody>
          <a:bodyPr/>
          <a:lstStyle/>
          <a:p>
            <a:endParaRPr lang="en-US"/>
          </a:p>
        </p:txBody>
      </p:sp>
      <p:sp>
        <p:nvSpPr>
          <p:cNvPr id="32" name="line-223">
            <a:extLst>
              <a:ext uri="{FF2B5EF4-FFF2-40B4-BE49-F238E27FC236}">
                <a16:creationId xmlns:a16="http://schemas.microsoft.com/office/drawing/2014/main" id="{5F653A7C-77B6-43D5-AB67-5E9F4EA5D94B}"/>
              </a:ext>
            </a:extLst>
          </p:cNvPr>
          <p:cNvSpPr>
            <a:spLocks noGrp="1"/>
          </p:cNvSpPr>
          <p:nvPr/>
        </p:nvSpPr>
        <p:spPr>
          <a:xfrm>
            <a:off x="9223872" y="3977803"/>
            <a:ext cx="16003" cy="9525"/>
          </a:xfrm>
          <a:custGeom>
            <a:avLst/>
            <a:gdLst/>
            <a:ahLst/>
            <a:cxnLst/>
            <a:rect l="0" t="0" r="0" b="0"/>
            <a:pathLst>
              <a:path w="16003" h="9525">
                <a:moveTo>
                  <a:pt x="0" y="0"/>
                </a:moveTo>
                <a:lnTo>
                  <a:pt x="16003" y="3597"/>
                </a:lnTo>
              </a:path>
            </a:pathLst>
          </a:custGeom>
          <a:noFill/>
          <a:ln w="19050">
            <a:solidFill>
              <a:srgbClr val="C76520"/>
            </a:solidFill>
          </a:ln>
        </p:spPr>
        <p:txBody>
          <a:bodyPr/>
          <a:lstStyle/>
          <a:p>
            <a:endParaRPr lang="en-US"/>
          </a:p>
        </p:txBody>
      </p:sp>
      <p:sp>
        <p:nvSpPr>
          <p:cNvPr id="33" name="line-224">
            <a:extLst>
              <a:ext uri="{FF2B5EF4-FFF2-40B4-BE49-F238E27FC236}">
                <a16:creationId xmlns:a16="http://schemas.microsoft.com/office/drawing/2014/main" id="{65119693-56F3-4338-B6A9-D0A6E261E434}"/>
              </a:ext>
            </a:extLst>
          </p:cNvPr>
          <p:cNvSpPr>
            <a:spLocks noGrp="1"/>
          </p:cNvSpPr>
          <p:nvPr/>
        </p:nvSpPr>
        <p:spPr>
          <a:xfrm>
            <a:off x="9239875" y="3981399"/>
            <a:ext cx="15915" cy="9525"/>
          </a:xfrm>
          <a:custGeom>
            <a:avLst/>
            <a:gdLst/>
            <a:ahLst/>
            <a:cxnLst/>
            <a:rect l="0" t="0" r="0" b="0"/>
            <a:pathLst>
              <a:path w="15915" h="9525">
                <a:moveTo>
                  <a:pt x="0" y="0"/>
                </a:moveTo>
                <a:lnTo>
                  <a:pt x="15915" y="3968"/>
                </a:lnTo>
              </a:path>
            </a:pathLst>
          </a:custGeom>
          <a:noFill/>
          <a:ln w="19050">
            <a:solidFill>
              <a:srgbClr val="C76520"/>
            </a:solidFill>
          </a:ln>
        </p:spPr>
        <p:txBody>
          <a:bodyPr/>
          <a:lstStyle/>
          <a:p>
            <a:endParaRPr lang="en-US"/>
          </a:p>
        </p:txBody>
      </p:sp>
      <p:sp>
        <p:nvSpPr>
          <p:cNvPr id="34" name="line-225">
            <a:extLst>
              <a:ext uri="{FF2B5EF4-FFF2-40B4-BE49-F238E27FC236}">
                <a16:creationId xmlns:a16="http://schemas.microsoft.com/office/drawing/2014/main" id="{8B85FDBE-E914-42A5-B849-CC8A13AEF39A}"/>
              </a:ext>
            </a:extLst>
          </p:cNvPr>
          <p:cNvSpPr>
            <a:spLocks noGrp="1"/>
          </p:cNvSpPr>
          <p:nvPr/>
        </p:nvSpPr>
        <p:spPr>
          <a:xfrm>
            <a:off x="9255790" y="3985367"/>
            <a:ext cx="15818" cy="9525"/>
          </a:xfrm>
          <a:custGeom>
            <a:avLst/>
            <a:gdLst/>
            <a:ahLst/>
            <a:cxnLst/>
            <a:rect l="0" t="0" r="0" b="0"/>
            <a:pathLst>
              <a:path w="15818" h="9525">
                <a:moveTo>
                  <a:pt x="0" y="0"/>
                </a:moveTo>
                <a:lnTo>
                  <a:pt x="15818" y="4337"/>
                </a:lnTo>
              </a:path>
            </a:pathLst>
          </a:custGeom>
          <a:noFill/>
          <a:ln w="19050">
            <a:solidFill>
              <a:srgbClr val="C76520"/>
            </a:solidFill>
          </a:ln>
        </p:spPr>
        <p:txBody>
          <a:bodyPr/>
          <a:lstStyle/>
          <a:p>
            <a:endParaRPr lang="en-US"/>
          </a:p>
        </p:txBody>
      </p:sp>
      <p:sp>
        <p:nvSpPr>
          <p:cNvPr id="35" name="line-226">
            <a:extLst>
              <a:ext uri="{FF2B5EF4-FFF2-40B4-BE49-F238E27FC236}">
                <a16:creationId xmlns:a16="http://schemas.microsoft.com/office/drawing/2014/main" id="{F73DAB54-6023-424A-9567-A6124DFC7684}"/>
              </a:ext>
            </a:extLst>
          </p:cNvPr>
          <p:cNvSpPr>
            <a:spLocks noGrp="1"/>
          </p:cNvSpPr>
          <p:nvPr/>
        </p:nvSpPr>
        <p:spPr>
          <a:xfrm>
            <a:off x="9271608" y="3989705"/>
            <a:ext cx="15713" cy="9525"/>
          </a:xfrm>
          <a:custGeom>
            <a:avLst/>
            <a:gdLst/>
            <a:ahLst/>
            <a:cxnLst/>
            <a:rect l="0" t="0" r="0" b="0"/>
            <a:pathLst>
              <a:path w="15713" h="9525">
                <a:moveTo>
                  <a:pt x="0" y="0"/>
                </a:moveTo>
                <a:lnTo>
                  <a:pt x="15713" y="4704"/>
                </a:lnTo>
              </a:path>
            </a:pathLst>
          </a:custGeom>
          <a:noFill/>
          <a:ln w="19050">
            <a:solidFill>
              <a:srgbClr val="C76520"/>
            </a:solidFill>
          </a:ln>
        </p:spPr>
        <p:txBody>
          <a:bodyPr/>
          <a:lstStyle/>
          <a:p>
            <a:endParaRPr lang="en-US"/>
          </a:p>
        </p:txBody>
      </p:sp>
      <p:sp>
        <p:nvSpPr>
          <p:cNvPr id="36" name="line-227">
            <a:extLst>
              <a:ext uri="{FF2B5EF4-FFF2-40B4-BE49-F238E27FC236}">
                <a16:creationId xmlns:a16="http://schemas.microsoft.com/office/drawing/2014/main" id="{3D2EF78F-6E15-4236-8F35-C20DF9E623BA}"/>
              </a:ext>
            </a:extLst>
          </p:cNvPr>
          <p:cNvSpPr>
            <a:spLocks noGrp="1"/>
          </p:cNvSpPr>
          <p:nvPr/>
        </p:nvSpPr>
        <p:spPr>
          <a:xfrm>
            <a:off x="9287321" y="3994409"/>
            <a:ext cx="15599" cy="9525"/>
          </a:xfrm>
          <a:custGeom>
            <a:avLst/>
            <a:gdLst/>
            <a:ahLst/>
            <a:cxnLst/>
            <a:rect l="0" t="0" r="0" b="0"/>
            <a:pathLst>
              <a:path w="15599" h="9525">
                <a:moveTo>
                  <a:pt x="0" y="0"/>
                </a:moveTo>
                <a:lnTo>
                  <a:pt x="15599" y="5069"/>
                </a:lnTo>
              </a:path>
            </a:pathLst>
          </a:custGeom>
          <a:noFill/>
          <a:ln w="19050">
            <a:solidFill>
              <a:srgbClr val="C76520"/>
            </a:solidFill>
          </a:ln>
        </p:spPr>
        <p:txBody>
          <a:bodyPr/>
          <a:lstStyle/>
          <a:p>
            <a:endParaRPr lang="en-US"/>
          </a:p>
        </p:txBody>
      </p:sp>
      <p:sp>
        <p:nvSpPr>
          <p:cNvPr id="37" name="line-228">
            <a:extLst>
              <a:ext uri="{FF2B5EF4-FFF2-40B4-BE49-F238E27FC236}">
                <a16:creationId xmlns:a16="http://schemas.microsoft.com/office/drawing/2014/main" id="{DEC566D1-37CD-4721-AAFD-95B644D516C4}"/>
              </a:ext>
            </a:extLst>
          </p:cNvPr>
          <p:cNvSpPr>
            <a:spLocks noGrp="1"/>
          </p:cNvSpPr>
          <p:nvPr/>
        </p:nvSpPr>
        <p:spPr>
          <a:xfrm>
            <a:off x="9302921" y="3999477"/>
            <a:ext cx="15477" cy="9525"/>
          </a:xfrm>
          <a:custGeom>
            <a:avLst/>
            <a:gdLst/>
            <a:ahLst/>
            <a:cxnLst/>
            <a:rect l="0" t="0" r="0" b="0"/>
            <a:pathLst>
              <a:path w="15477" h="9525">
                <a:moveTo>
                  <a:pt x="0" y="0"/>
                </a:moveTo>
                <a:lnTo>
                  <a:pt x="15477" y="5430"/>
                </a:lnTo>
              </a:path>
            </a:pathLst>
          </a:custGeom>
          <a:noFill/>
          <a:ln w="19050">
            <a:solidFill>
              <a:srgbClr val="C76520"/>
            </a:solidFill>
          </a:ln>
        </p:spPr>
        <p:txBody>
          <a:bodyPr/>
          <a:lstStyle/>
          <a:p>
            <a:endParaRPr lang="en-US"/>
          </a:p>
        </p:txBody>
      </p:sp>
      <p:sp>
        <p:nvSpPr>
          <p:cNvPr id="38" name="line-229">
            <a:extLst>
              <a:ext uri="{FF2B5EF4-FFF2-40B4-BE49-F238E27FC236}">
                <a16:creationId xmlns:a16="http://schemas.microsoft.com/office/drawing/2014/main" id="{880CFF09-0975-4510-AFB6-16BE4D2043B3}"/>
              </a:ext>
            </a:extLst>
          </p:cNvPr>
          <p:cNvSpPr>
            <a:spLocks noGrp="1"/>
          </p:cNvSpPr>
          <p:nvPr/>
        </p:nvSpPr>
        <p:spPr>
          <a:xfrm>
            <a:off x="9318398" y="4004908"/>
            <a:ext cx="15347" cy="9525"/>
          </a:xfrm>
          <a:custGeom>
            <a:avLst/>
            <a:gdLst/>
            <a:ahLst/>
            <a:cxnLst/>
            <a:rect l="0" t="0" r="0" b="0"/>
            <a:pathLst>
              <a:path w="15347" h="9525">
                <a:moveTo>
                  <a:pt x="0" y="0"/>
                </a:moveTo>
                <a:lnTo>
                  <a:pt x="15347" y="5789"/>
                </a:lnTo>
              </a:path>
            </a:pathLst>
          </a:custGeom>
          <a:noFill/>
          <a:ln w="19050">
            <a:solidFill>
              <a:srgbClr val="C76520"/>
            </a:solidFill>
          </a:ln>
        </p:spPr>
        <p:txBody>
          <a:bodyPr/>
          <a:lstStyle/>
          <a:p>
            <a:endParaRPr lang="en-US"/>
          </a:p>
        </p:txBody>
      </p:sp>
      <p:sp>
        <p:nvSpPr>
          <p:cNvPr id="39" name="line-230">
            <a:extLst>
              <a:ext uri="{FF2B5EF4-FFF2-40B4-BE49-F238E27FC236}">
                <a16:creationId xmlns:a16="http://schemas.microsoft.com/office/drawing/2014/main" id="{CD9C0C2F-B882-4C28-8ECF-D4FD4614A753}"/>
              </a:ext>
            </a:extLst>
          </p:cNvPr>
          <p:cNvSpPr>
            <a:spLocks noGrp="1"/>
          </p:cNvSpPr>
          <p:nvPr/>
        </p:nvSpPr>
        <p:spPr>
          <a:xfrm>
            <a:off x="9333745" y="4010697"/>
            <a:ext cx="15208" cy="9525"/>
          </a:xfrm>
          <a:custGeom>
            <a:avLst/>
            <a:gdLst/>
            <a:ahLst/>
            <a:cxnLst/>
            <a:rect l="0" t="0" r="0" b="0"/>
            <a:pathLst>
              <a:path w="15208" h="9525">
                <a:moveTo>
                  <a:pt x="0" y="0"/>
                </a:moveTo>
                <a:lnTo>
                  <a:pt x="15208" y="6144"/>
                </a:lnTo>
              </a:path>
            </a:pathLst>
          </a:custGeom>
          <a:noFill/>
          <a:ln w="19050">
            <a:solidFill>
              <a:srgbClr val="C76520"/>
            </a:solidFill>
          </a:ln>
        </p:spPr>
        <p:txBody>
          <a:bodyPr/>
          <a:lstStyle/>
          <a:p>
            <a:endParaRPr lang="en-US"/>
          </a:p>
        </p:txBody>
      </p:sp>
      <p:sp>
        <p:nvSpPr>
          <p:cNvPr id="40" name="line-231">
            <a:extLst>
              <a:ext uri="{FF2B5EF4-FFF2-40B4-BE49-F238E27FC236}">
                <a16:creationId xmlns:a16="http://schemas.microsoft.com/office/drawing/2014/main" id="{2CA799AE-4ECC-4909-BBBD-CC868754CA7F}"/>
              </a:ext>
            </a:extLst>
          </p:cNvPr>
          <p:cNvSpPr>
            <a:spLocks noGrp="1"/>
          </p:cNvSpPr>
          <p:nvPr/>
        </p:nvSpPr>
        <p:spPr>
          <a:xfrm>
            <a:off x="9348953" y="4016841"/>
            <a:ext cx="15061" cy="9525"/>
          </a:xfrm>
          <a:custGeom>
            <a:avLst/>
            <a:gdLst/>
            <a:ahLst/>
            <a:cxnLst/>
            <a:rect l="0" t="0" r="0" b="0"/>
            <a:pathLst>
              <a:path w="15061" h="9525">
                <a:moveTo>
                  <a:pt x="0" y="0"/>
                </a:moveTo>
                <a:lnTo>
                  <a:pt x="15061" y="6497"/>
                </a:lnTo>
              </a:path>
            </a:pathLst>
          </a:custGeom>
          <a:noFill/>
          <a:ln w="19050">
            <a:solidFill>
              <a:srgbClr val="C76520"/>
            </a:solidFill>
          </a:ln>
        </p:spPr>
        <p:txBody>
          <a:bodyPr/>
          <a:lstStyle/>
          <a:p>
            <a:endParaRPr lang="en-US"/>
          </a:p>
        </p:txBody>
      </p:sp>
      <p:sp>
        <p:nvSpPr>
          <p:cNvPr id="41" name="line-232">
            <a:extLst>
              <a:ext uri="{FF2B5EF4-FFF2-40B4-BE49-F238E27FC236}">
                <a16:creationId xmlns:a16="http://schemas.microsoft.com/office/drawing/2014/main" id="{3E9D9636-5686-4B56-8EC0-5FD23AAFB64D}"/>
              </a:ext>
            </a:extLst>
          </p:cNvPr>
          <p:cNvSpPr>
            <a:spLocks noGrp="1"/>
          </p:cNvSpPr>
          <p:nvPr/>
        </p:nvSpPr>
        <p:spPr>
          <a:xfrm>
            <a:off x="9364013" y="4023337"/>
            <a:ext cx="14906" cy="9525"/>
          </a:xfrm>
          <a:custGeom>
            <a:avLst/>
            <a:gdLst/>
            <a:ahLst/>
            <a:cxnLst/>
            <a:rect l="0" t="0" r="0" b="0"/>
            <a:pathLst>
              <a:path w="14906" h="9525">
                <a:moveTo>
                  <a:pt x="0" y="0"/>
                </a:moveTo>
                <a:lnTo>
                  <a:pt x="14906" y="6845"/>
                </a:lnTo>
              </a:path>
            </a:pathLst>
          </a:custGeom>
          <a:noFill/>
          <a:ln w="19050">
            <a:solidFill>
              <a:srgbClr val="C76520"/>
            </a:solidFill>
          </a:ln>
        </p:spPr>
        <p:txBody>
          <a:bodyPr/>
          <a:lstStyle/>
          <a:p>
            <a:endParaRPr lang="en-US"/>
          </a:p>
        </p:txBody>
      </p:sp>
      <p:sp>
        <p:nvSpPr>
          <p:cNvPr id="42" name="line-233">
            <a:extLst>
              <a:ext uri="{FF2B5EF4-FFF2-40B4-BE49-F238E27FC236}">
                <a16:creationId xmlns:a16="http://schemas.microsoft.com/office/drawing/2014/main" id="{29B50687-2485-4E27-AD1D-A8F71E29B2DA}"/>
              </a:ext>
            </a:extLst>
          </p:cNvPr>
          <p:cNvSpPr>
            <a:spLocks noGrp="1"/>
          </p:cNvSpPr>
          <p:nvPr/>
        </p:nvSpPr>
        <p:spPr>
          <a:xfrm>
            <a:off x="9378919" y="4030183"/>
            <a:ext cx="14742" cy="9525"/>
          </a:xfrm>
          <a:custGeom>
            <a:avLst/>
            <a:gdLst/>
            <a:ahLst/>
            <a:cxnLst/>
            <a:rect l="0" t="0" r="0" b="0"/>
            <a:pathLst>
              <a:path w="14742" h="9525">
                <a:moveTo>
                  <a:pt x="0" y="0"/>
                </a:moveTo>
                <a:lnTo>
                  <a:pt x="14742" y="7190"/>
                </a:lnTo>
              </a:path>
            </a:pathLst>
          </a:custGeom>
          <a:noFill/>
          <a:ln w="19050">
            <a:solidFill>
              <a:srgbClr val="C76520"/>
            </a:solidFill>
          </a:ln>
        </p:spPr>
        <p:txBody>
          <a:bodyPr/>
          <a:lstStyle/>
          <a:p>
            <a:endParaRPr lang="en-US"/>
          </a:p>
        </p:txBody>
      </p:sp>
      <p:sp>
        <p:nvSpPr>
          <p:cNvPr id="43" name="line-234">
            <a:extLst>
              <a:ext uri="{FF2B5EF4-FFF2-40B4-BE49-F238E27FC236}">
                <a16:creationId xmlns:a16="http://schemas.microsoft.com/office/drawing/2014/main" id="{B5F12BDE-22DC-438F-AF14-3C9930BB4581}"/>
              </a:ext>
            </a:extLst>
          </p:cNvPr>
          <p:cNvSpPr>
            <a:spLocks noGrp="1"/>
          </p:cNvSpPr>
          <p:nvPr/>
        </p:nvSpPr>
        <p:spPr>
          <a:xfrm>
            <a:off x="9393661" y="4037373"/>
            <a:ext cx="14571" cy="9525"/>
          </a:xfrm>
          <a:custGeom>
            <a:avLst/>
            <a:gdLst/>
            <a:ahLst/>
            <a:cxnLst/>
            <a:rect l="0" t="0" r="0" b="0"/>
            <a:pathLst>
              <a:path w="14571" h="9525">
                <a:moveTo>
                  <a:pt x="0" y="0"/>
                </a:moveTo>
                <a:lnTo>
                  <a:pt x="14571" y="7531"/>
                </a:lnTo>
              </a:path>
            </a:pathLst>
          </a:custGeom>
          <a:noFill/>
          <a:ln w="19050">
            <a:solidFill>
              <a:srgbClr val="C76520"/>
            </a:solidFill>
          </a:ln>
        </p:spPr>
        <p:txBody>
          <a:bodyPr/>
          <a:lstStyle/>
          <a:p>
            <a:endParaRPr lang="en-US"/>
          </a:p>
        </p:txBody>
      </p:sp>
      <p:sp>
        <p:nvSpPr>
          <p:cNvPr id="44" name="line-235">
            <a:extLst>
              <a:ext uri="{FF2B5EF4-FFF2-40B4-BE49-F238E27FC236}">
                <a16:creationId xmlns:a16="http://schemas.microsoft.com/office/drawing/2014/main" id="{BCE34DD2-76E2-4CD8-B277-CC34A86C62F1}"/>
              </a:ext>
            </a:extLst>
          </p:cNvPr>
          <p:cNvSpPr>
            <a:spLocks noGrp="1"/>
          </p:cNvSpPr>
          <p:nvPr/>
        </p:nvSpPr>
        <p:spPr>
          <a:xfrm>
            <a:off x="9408232" y="4044904"/>
            <a:ext cx="14392" cy="9525"/>
          </a:xfrm>
          <a:custGeom>
            <a:avLst/>
            <a:gdLst/>
            <a:ahLst/>
            <a:cxnLst/>
            <a:rect l="0" t="0" r="0" b="0"/>
            <a:pathLst>
              <a:path w="14392" h="9525">
                <a:moveTo>
                  <a:pt x="0" y="0"/>
                </a:moveTo>
                <a:lnTo>
                  <a:pt x="14392" y="7868"/>
                </a:lnTo>
              </a:path>
            </a:pathLst>
          </a:custGeom>
          <a:noFill/>
          <a:ln w="19050">
            <a:solidFill>
              <a:srgbClr val="C76520"/>
            </a:solidFill>
          </a:ln>
        </p:spPr>
        <p:txBody>
          <a:bodyPr/>
          <a:lstStyle/>
          <a:p>
            <a:endParaRPr lang="en-US"/>
          </a:p>
        </p:txBody>
      </p:sp>
      <p:sp>
        <p:nvSpPr>
          <p:cNvPr id="45" name="line-236">
            <a:extLst>
              <a:ext uri="{FF2B5EF4-FFF2-40B4-BE49-F238E27FC236}">
                <a16:creationId xmlns:a16="http://schemas.microsoft.com/office/drawing/2014/main" id="{9AABB29E-F7C3-4C36-8C26-0F13A931D63F}"/>
              </a:ext>
            </a:extLst>
          </p:cNvPr>
          <p:cNvSpPr>
            <a:spLocks noGrp="1"/>
          </p:cNvSpPr>
          <p:nvPr/>
        </p:nvSpPr>
        <p:spPr>
          <a:xfrm>
            <a:off x="9422624" y="4052773"/>
            <a:ext cx="14205" cy="9525"/>
          </a:xfrm>
          <a:custGeom>
            <a:avLst/>
            <a:gdLst/>
            <a:ahLst/>
            <a:cxnLst/>
            <a:rect l="0" t="0" r="0" b="0"/>
            <a:pathLst>
              <a:path w="14205" h="9525">
                <a:moveTo>
                  <a:pt x="0" y="0"/>
                </a:moveTo>
                <a:lnTo>
                  <a:pt x="14205" y="8201"/>
                </a:lnTo>
              </a:path>
            </a:pathLst>
          </a:custGeom>
          <a:noFill/>
          <a:ln w="19050">
            <a:solidFill>
              <a:srgbClr val="C76520"/>
            </a:solidFill>
          </a:ln>
        </p:spPr>
        <p:txBody>
          <a:bodyPr/>
          <a:lstStyle/>
          <a:p>
            <a:endParaRPr lang="en-US"/>
          </a:p>
        </p:txBody>
      </p:sp>
      <p:sp>
        <p:nvSpPr>
          <p:cNvPr id="46" name="line-237">
            <a:extLst>
              <a:ext uri="{FF2B5EF4-FFF2-40B4-BE49-F238E27FC236}">
                <a16:creationId xmlns:a16="http://schemas.microsoft.com/office/drawing/2014/main" id="{C2E9EC52-652B-4A10-871D-4A87474031A3}"/>
              </a:ext>
            </a:extLst>
          </p:cNvPr>
          <p:cNvSpPr>
            <a:spLocks noGrp="1"/>
          </p:cNvSpPr>
          <p:nvPr/>
        </p:nvSpPr>
        <p:spPr>
          <a:xfrm>
            <a:off x="9436829" y="4060974"/>
            <a:ext cx="14010" cy="9525"/>
          </a:xfrm>
          <a:custGeom>
            <a:avLst/>
            <a:gdLst/>
            <a:ahLst/>
            <a:cxnLst/>
            <a:rect l="0" t="0" r="0" b="0"/>
            <a:pathLst>
              <a:path w="14010" h="9525">
                <a:moveTo>
                  <a:pt x="0" y="0"/>
                </a:moveTo>
                <a:lnTo>
                  <a:pt x="14010" y="8529"/>
                </a:lnTo>
              </a:path>
            </a:pathLst>
          </a:custGeom>
          <a:noFill/>
          <a:ln w="19050">
            <a:solidFill>
              <a:srgbClr val="C76520"/>
            </a:solidFill>
          </a:ln>
        </p:spPr>
        <p:txBody>
          <a:bodyPr/>
          <a:lstStyle/>
          <a:p>
            <a:endParaRPr lang="en-US"/>
          </a:p>
        </p:txBody>
      </p:sp>
      <p:sp>
        <p:nvSpPr>
          <p:cNvPr id="47" name="diagram-238">
            <a:extLst>
              <a:ext uri="{FF2B5EF4-FFF2-40B4-BE49-F238E27FC236}">
                <a16:creationId xmlns:a16="http://schemas.microsoft.com/office/drawing/2014/main" id="{2466E5F9-BC17-44F2-9323-A6250222F9AE}"/>
              </a:ext>
            </a:extLst>
          </p:cNvPr>
          <p:cNvSpPr>
            <a:spLocks noGrp="1"/>
          </p:cNvSpPr>
          <p:nvPr/>
        </p:nvSpPr>
        <p:spPr>
          <a:xfrm>
            <a:off x="9239250" y="3781425"/>
            <a:ext cx="285750" cy="333375"/>
          </a:xfrm>
          <a:prstGeom prst="rect">
            <a:avLst/>
          </a:prstGeom>
          <a:noFill/>
          <a:ln w="0">
            <a:noFill/>
          </a:ln>
        </p:spPr>
        <p:txBody>
          <a:bodyPr lIns="0" tIns="0" rIns="0" bIns="0" anchor="t">
            <a:noAutofit/>
          </a:bodyPr>
          <a:lstStyle/>
          <a:p>
            <a:pPr algn="l">
              <a:buNone/>
              <a:defRPr sz="1950" b="0">
                <a:solidFill>
                  <a:srgbClr val="C76520"/>
                </a:solidFill>
                <a:latin typeface="Aptos"/>
                <a:ea typeface="Aptos"/>
                <a:cs typeface="Aptos"/>
              </a:defRPr>
            </a:pPr>
            <a:r>
              <a:rPr sz="1950" b="0">
                <a:solidFill>
                  <a:srgbClr val="C76520"/>
                </a:solidFill>
                <a:latin typeface="Aptos"/>
                <a:ea typeface="Aptos"/>
                <a:cs typeface="Aptos"/>
              </a:rPr>
              <a:t>α</a:t>
            </a:r>
          </a:p>
        </p:txBody>
      </p:sp>
      <p:sp>
        <p:nvSpPr>
          <p:cNvPr id="48" name="diagram-239">
            <a:extLst>
              <a:ext uri="{FF2B5EF4-FFF2-40B4-BE49-F238E27FC236}">
                <a16:creationId xmlns:a16="http://schemas.microsoft.com/office/drawing/2014/main" id="{13531569-4893-43AD-A7C7-B822D65E92CC}"/>
              </a:ext>
            </a:extLst>
          </p:cNvPr>
          <p:cNvSpPr>
            <a:spLocks noGrp="1"/>
          </p:cNvSpPr>
          <p:nvPr/>
        </p:nvSpPr>
        <p:spPr>
          <a:xfrm>
            <a:off x="9820275" y="4791075"/>
            <a:ext cx="285750" cy="333375"/>
          </a:xfrm>
          <a:prstGeom prst="rect">
            <a:avLst/>
          </a:prstGeom>
          <a:noFill/>
          <a:ln w="0">
            <a:noFill/>
          </a:ln>
        </p:spPr>
        <p:txBody>
          <a:bodyPr lIns="0" tIns="0" rIns="0" bIns="0" anchor="t">
            <a:noAutofit/>
          </a:bodyPr>
          <a:lstStyle/>
          <a:p>
            <a:pPr algn="l">
              <a:buNone/>
              <a:defRPr sz="1950" b="0">
                <a:solidFill>
                  <a:srgbClr val="17698C"/>
                </a:solidFill>
                <a:latin typeface="Aptos"/>
                <a:ea typeface="Aptos"/>
                <a:cs typeface="Aptos"/>
              </a:defRPr>
            </a:pPr>
            <a:r>
              <a:rPr sz="1950" b="0">
                <a:solidFill>
                  <a:srgbClr val="17698C"/>
                </a:solidFill>
                <a:latin typeface="Aptos"/>
                <a:ea typeface="Aptos"/>
                <a:cs typeface="Aptos"/>
              </a:rPr>
              <a:t>γ</a:t>
            </a:r>
          </a:p>
        </p:txBody>
      </p:sp>
      <p:sp>
        <p:nvSpPr>
          <p:cNvPr id="49" name="diagram-240">
            <a:extLst>
              <a:ext uri="{FF2B5EF4-FFF2-40B4-BE49-F238E27FC236}">
                <a16:creationId xmlns:a16="http://schemas.microsoft.com/office/drawing/2014/main" id="{600C96FC-7793-4051-A2D4-9113DC281412}"/>
              </a:ext>
            </a:extLst>
          </p:cNvPr>
          <p:cNvSpPr>
            <a:spLocks noGrp="1"/>
          </p:cNvSpPr>
          <p:nvPr/>
        </p:nvSpPr>
        <p:spPr>
          <a:xfrm>
            <a:off x="9058275" y="3209925"/>
            <a:ext cx="1238250" cy="333375"/>
          </a:xfrm>
          <a:prstGeom prst="rect">
            <a:avLst/>
          </a:prstGeom>
          <a:noFill/>
          <a:ln w="0">
            <a:noFill/>
          </a:ln>
        </p:spPr>
        <p:txBody>
          <a:bodyPr lIns="0" tIns="0" rIns="0" bIns="0" anchor="t">
            <a:noAutofit/>
          </a:bodyPr>
          <a:lstStyle/>
          <a:p>
            <a:pPr algn="l">
              <a:buNone/>
              <a:defRPr sz="1875" b="0">
                <a:solidFill>
                  <a:srgbClr val="111111"/>
                </a:solidFill>
                <a:latin typeface="Aptos"/>
                <a:ea typeface="Aptos"/>
                <a:cs typeface="Aptos"/>
              </a:defRPr>
            </a:pPr>
            <a:r>
              <a:rPr sz="1875" b="0">
                <a:solidFill>
                  <a:srgbClr val="111111"/>
                </a:solidFill>
                <a:latin typeface="Aptos"/>
                <a:ea typeface="Aptos"/>
                <a:cs typeface="Aptos"/>
              </a:rPr>
              <a:t>p = ρ b̂</a:t>
            </a:r>
          </a:p>
        </p:txBody>
      </p:sp>
      <p:sp>
        <p:nvSpPr>
          <p:cNvPr id="50" name="diagram-241">
            <a:extLst>
              <a:ext uri="{FF2B5EF4-FFF2-40B4-BE49-F238E27FC236}">
                <a16:creationId xmlns:a16="http://schemas.microsoft.com/office/drawing/2014/main" id="{BC900D9C-E797-4659-809D-5C7AADA01220}"/>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Pan–tilt supports a joint spatial search. Two independent 1-D peaks do not define a paired AoA.</a:t>
            </a:r>
          </a:p>
        </p:txBody>
      </p:sp>
      <p:sp>
        <p:nvSpPr>
          <p:cNvPr id="54" name="added-text-2">
            <a:extLst>
              <a:ext uri="{FF2B5EF4-FFF2-40B4-BE49-F238E27FC236}">
                <a16:creationId xmlns:a16="http://schemas.microsoft.com/office/drawing/2014/main" id="{2807D3A8-A6F9-4BCA-9930-027E89FF0E0F}"/>
              </a:ext>
            </a:extLst>
          </p:cNvPr>
          <p:cNvSpPr>
            <a:spLocks noGrp="1"/>
          </p:cNvSpPr>
          <p:nvPr/>
        </p:nvSpPr>
        <p:spPr>
          <a:xfrm>
            <a:off x="933450" y="3248025"/>
            <a:ext cx="6743700" cy="466725"/>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γ: pan    α: polar tilt    ξ = (θ, φ): source direction</a:t>
            </a:r>
          </a:p>
        </p:txBody>
      </p:sp>
      <p:sp>
        <p:nvSpPr>
          <p:cNvPr id="55" name="added-text-77">
            <a:extLst>
              <a:ext uri="{FF2B5EF4-FFF2-40B4-BE49-F238E27FC236}">
                <a16:creationId xmlns:a16="http://schemas.microsoft.com/office/drawing/2014/main" id="{1D82062B-995A-44CA-B218-02825AC62D75}"/>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6</a:t>
            </a:r>
          </a:p>
        </p:txBody>
      </p:sp>
    </p:spTree>
    <p:extLst>
      <p:ext uri="{BB962C8B-B14F-4D97-AF65-F5344CB8AC3E}">
        <p14:creationId xmlns:p14="http://schemas.microsoft.com/office/powerpoint/2010/main" val="2955090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20">
            <a:extLst>
              <a:ext uri="{FF2B5EF4-FFF2-40B4-BE49-F238E27FC236}">
                <a16:creationId xmlns:a16="http://schemas.microsoft.com/office/drawing/2014/main" id="{DC972F29-0117-42E0-86C9-A65F4922410F}"/>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2-D geometry notation</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q = (γ, α)</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Commanded pan–tilt orientation of the antenna</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actuator state</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γ, α</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Pan around +z; polar tilt measured down from +z</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γ: [0°,360°); α: [0°,90°]</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ξ = (θ, φ)</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Arrival direction: source polar angle and azimuth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θ: [0°,180°]; φ: [0°,360°)</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b̂(q), u(ξ)</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 antenna-axis vector; unit vector toward arriving path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3 × 1 each; unitless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μ = b̂T u</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Cosine of angle between axis and arrival direction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unitless; [−1,1]</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χ = arccos μ</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Axis-to-arrival angle that controls an ideal dipole pattern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radians / degrees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gn(q;ξ), an(q;ξ)</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Calibrated complex field gain; complete response on tone 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relative response</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ρ, λn, p(q)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Phase-center radius; tone wavelength; position ρb̂(q)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21">
            <a:extLst>
              <a:ext uri="{FF2B5EF4-FFF2-40B4-BE49-F238E27FC236}">
                <a16:creationId xmlns:a16="http://schemas.microsoft.com/office/drawing/2014/main" id="{25D4401D-5D3F-4E4F-A718-B2D8FBCA4125}"/>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α and θ are polar angles, not elevation above the horizontal. Elevation equals 90° minus polar angle.</a:t>
            </a:r>
          </a:p>
        </p:txBody>
      </p:sp>
      <p:sp>
        <p:nvSpPr>
          <p:cNvPr id="4" name="added-text-78">
            <a:extLst>
              <a:ext uri="{FF2B5EF4-FFF2-40B4-BE49-F238E27FC236}">
                <a16:creationId xmlns:a16="http://schemas.microsoft.com/office/drawing/2014/main" id="{39F84995-7B47-4F85-9600-E9FB8D71C27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7</a:t>
            </a:r>
          </a:p>
        </p:txBody>
      </p:sp>
    </p:spTree>
    <p:extLst>
      <p:ext uri="{BB962C8B-B14F-4D97-AF65-F5344CB8AC3E}">
        <p14:creationId xmlns:p14="http://schemas.microsoft.com/office/powerpoint/2010/main" val="76976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CSI and signal model</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26" name="Picture 25"/>
          <p:cNvPicPr>
            <a:picLocks noChangeAspect="1"/>
          </p:cNvPicPr>
          <p:nvPr/>
        </p:nvPicPr>
        <p:blipFill>
          <a:blip r:embed="rId3"/>
          <a:stretch/>
        </p:blipFill>
        <p:spPr>
          <a:xfrm>
            <a:off x="933450" y="1943100"/>
            <a:ext cx="5419553" cy="773015"/>
          </a:xfrm>
          <a:prstGeom prst="rect">
            <a:avLst/>
          </a:prstGeom>
        </p:spPr>
      </p:pic>
      <p:pic>
        <p:nvPicPr>
          <p:cNvPr id="27" name="Picture 26"/>
          <p:cNvPicPr>
            <a:picLocks noChangeAspect="1"/>
          </p:cNvPicPr>
          <p:nvPr/>
        </p:nvPicPr>
        <p:blipFill>
          <a:blip r:embed="rId4"/>
          <a:stretch/>
        </p:blipFill>
        <p:spPr>
          <a:xfrm>
            <a:off x="933450" y="3020915"/>
            <a:ext cx="5968690" cy="380171"/>
          </a:xfrm>
          <a:prstGeom prst="rect">
            <a:avLst/>
          </a:prstGeom>
        </p:spPr>
      </p:pic>
      <p:sp>
        <p:nvSpPr>
          <p:cNvPr id="6" name="diagram-242">
            <a:extLst>
              <a:ext uri="{FF2B5EF4-FFF2-40B4-BE49-F238E27FC236}">
                <a16:creationId xmlns:a16="http://schemas.microsoft.com/office/drawing/2014/main" id="{C7A7F47F-90EB-4F5F-A356-D0A77E9A2159}"/>
              </a:ext>
            </a:extLst>
          </p:cNvPr>
          <p:cNvSpPr>
            <a:spLocks noGrp="1"/>
          </p:cNvSpPr>
          <p:nvPr/>
        </p:nvSpPr>
        <p:spPr>
          <a:xfrm>
            <a:off x="933450" y="4124325"/>
            <a:ext cx="2190750" cy="609600"/>
          </a:xfrm>
          <a:prstGeom prst="rect">
            <a:avLst/>
          </a:prstGeom>
          <a:solidFill>
            <a:srgbClr val="FFFFFF"/>
          </a:solidFill>
          <a:ln w="19050">
            <a:solidFill>
              <a:srgbClr val="111111"/>
            </a:solidFill>
          </a:ln>
        </p:spPr>
        <p:txBody>
          <a:bodyPr/>
          <a:lstStyle/>
          <a:p>
            <a:endParaRPr lang="en-US"/>
          </a:p>
        </p:txBody>
      </p:sp>
      <p:sp>
        <p:nvSpPr>
          <p:cNvPr id="7" name="diagram-243">
            <a:extLst>
              <a:ext uri="{FF2B5EF4-FFF2-40B4-BE49-F238E27FC236}">
                <a16:creationId xmlns:a16="http://schemas.microsoft.com/office/drawing/2014/main" id="{2EF82E22-34CD-4359-8DAB-926E354F9743}"/>
              </a:ext>
            </a:extLst>
          </p:cNvPr>
          <p:cNvSpPr>
            <a:spLocks noGrp="1"/>
          </p:cNvSpPr>
          <p:nvPr/>
        </p:nvSpPr>
        <p:spPr>
          <a:xfrm>
            <a:off x="1009650" y="4238625"/>
            <a:ext cx="2038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Known client pilots</a:t>
            </a:r>
          </a:p>
        </p:txBody>
      </p:sp>
      <p:sp>
        <p:nvSpPr>
          <p:cNvPr id="8" name="diagram-244">
            <a:extLst>
              <a:ext uri="{FF2B5EF4-FFF2-40B4-BE49-F238E27FC236}">
                <a16:creationId xmlns:a16="http://schemas.microsoft.com/office/drawing/2014/main" id="{9B792E2D-B8FA-4AAD-9556-A29C714D5F68}"/>
              </a:ext>
            </a:extLst>
          </p:cNvPr>
          <p:cNvSpPr>
            <a:spLocks noGrp="1"/>
          </p:cNvSpPr>
          <p:nvPr/>
        </p:nvSpPr>
        <p:spPr>
          <a:xfrm>
            <a:off x="3714750" y="4124325"/>
            <a:ext cx="2333625" cy="609600"/>
          </a:xfrm>
          <a:prstGeom prst="rect">
            <a:avLst/>
          </a:prstGeom>
          <a:solidFill>
            <a:srgbClr val="FFFFFF"/>
          </a:solidFill>
          <a:ln w="19050">
            <a:solidFill>
              <a:srgbClr val="111111"/>
            </a:solidFill>
          </a:ln>
        </p:spPr>
        <p:txBody>
          <a:bodyPr/>
          <a:lstStyle/>
          <a:p>
            <a:endParaRPr lang="en-US"/>
          </a:p>
        </p:txBody>
      </p:sp>
      <p:sp>
        <p:nvSpPr>
          <p:cNvPr id="9" name="diagram-245">
            <a:extLst>
              <a:ext uri="{FF2B5EF4-FFF2-40B4-BE49-F238E27FC236}">
                <a16:creationId xmlns:a16="http://schemas.microsoft.com/office/drawing/2014/main" id="{FB95418D-9B48-413C-9F9B-C737A7C5B4E4}"/>
              </a:ext>
            </a:extLst>
          </p:cNvPr>
          <p:cNvSpPr>
            <a:spLocks noGrp="1"/>
          </p:cNvSpPr>
          <p:nvPr/>
        </p:nvSpPr>
        <p:spPr>
          <a:xfrm>
            <a:off x="3790950" y="4238625"/>
            <a:ext cx="2181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CSI at orientations</a:t>
            </a:r>
          </a:p>
        </p:txBody>
      </p:sp>
      <p:sp>
        <p:nvSpPr>
          <p:cNvPr id="10" name="diagram-246">
            <a:extLst>
              <a:ext uri="{FF2B5EF4-FFF2-40B4-BE49-F238E27FC236}">
                <a16:creationId xmlns:a16="http://schemas.microsoft.com/office/drawing/2014/main" id="{4EA0482E-9CE0-4E3D-B443-317538DDB0E8}"/>
              </a:ext>
            </a:extLst>
          </p:cNvPr>
          <p:cNvSpPr>
            <a:spLocks noGrp="1"/>
          </p:cNvSpPr>
          <p:nvPr/>
        </p:nvSpPr>
        <p:spPr>
          <a:xfrm>
            <a:off x="6667500" y="4124325"/>
            <a:ext cx="2762250" cy="609600"/>
          </a:xfrm>
          <a:prstGeom prst="rect">
            <a:avLst/>
          </a:prstGeom>
          <a:solidFill>
            <a:srgbClr val="FFFFFF"/>
          </a:solidFill>
          <a:ln w="19050">
            <a:solidFill>
              <a:srgbClr val="111111"/>
            </a:solidFill>
          </a:ln>
        </p:spPr>
        <p:txBody>
          <a:bodyPr/>
          <a:lstStyle/>
          <a:p>
            <a:endParaRPr lang="en-US"/>
          </a:p>
        </p:txBody>
      </p:sp>
      <p:sp>
        <p:nvSpPr>
          <p:cNvPr id="11" name="diagram-247">
            <a:extLst>
              <a:ext uri="{FF2B5EF4-FFF2-40B4-BE49-F238E27FC236}">
                <a16:creationId xmlns:a16="http://schemas.microsoft.com/office/drawing/2014/main" id="{03C4192E-EC8B-4209-8AAD-D905B668EF2F}"/>
              </a:ext>
            </a:extLst>
          </p:cNvPr>
          <p:cNvSpPr>
            <a:spLocks noGrp="1"/>
          </p:cNvSpPr>
          <p:nvPr/>
        </p:nvSpPr>
        <p:spPr>
          <a:xfrm>
            <a:off x="6743700" y="4238625"/>
            <a:ext cx="26098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Phase + gain correction</a:t>
            </a:r>
          </a:p>
        </p:txBody>
      </p:sp>
      <p:sp>
        <p:nvSpPr>
          <p:cNvPr id="12" name="line-248">
            <a:extLst>
              <a:ext uri="{FF2B5EF4-FFF2-40B4-BE49-F238E27FC236}">
                <a16:creationId xmlns:a16="http://schemas.microsoft.com/office/drawing/2014/main" id="{F5F78696-0EDA-4F97-BFD6-3303CA4007BB}"/>
              </a:ext>
            </a:extLst>
          </p:cNvPr>
          <p:cNvSpPr>
            <a:spLocks noGrp="1"/>
          </p:cNvSpPr>
          <p:nvPr/>
        </p:nvSpPr>
        <p:spPr>
          <a:xfrm>
            <a:off x="3190875" y="4429125"/>
            <a:ext cx="447675" cy="9525"/>
          </a:xfrm>
          <a:custGeom>
            <a:avLst/>
            <a:gdLst/>
            <a:ahLst/>
            <a:cxnLst/>
            <a:rect l="0" t="0" r="0" b="0"/>
            <a:pathLst>
              <a:path w="447675" h="9525">
                <a:moveTo>
                  <a:pt x="0" y="0"/>
                </a:moveTo>
                <a:lnTo>
                  <a:pt x="447675" y="0"/>
                </a:lnTo>
              </a:path>
            </a:pathLst>
          </a:custGeom>
          <a:noFill/>
          <a:ln w="23813">
            <a:solidFill>
              <a:srgbClr val="17698C"/>
            </a:solidFill>
          </a:ln>
        </p:spPr>
        <p:txBody>
          <a:bodyPr/>
          <a:lstStyle/>
          <a:p>
            <a:endParaRPr lang="en-US"/>
          </a:p>
        </p:txBody>
      </p:sp>
      <p:sp>
        <p:nvSpPr>
          <p:cNvPr id="13" name="line-249">
            <a:extLst>
              <a:ext uri="{FF2B5EF4-FFF2-40B4-BE49-F238E27FC236}">
                <a16:creationId xmlns:a16="http://schemas.microsoft.com/office/drawing/2014/main" id="{170D82C6-F93A-4750-8E28-82298BD5C41E}"/>
              </a:ext>
            </a:extLst>
          </p:cNvPr>
          <p:cNvSpPr>
            <a:spLocks noGrp="1"/>
          </p:cNvSpPr>
          <p:nvPr/>
        </p:nvSpPr>
        <p:spPr>
          <a:xfrm>
            <a:off x="3552782" y="442912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4" name="line-250">
            <a:extLst>
              <a:ext uri="{FF2B5EF4-FFF2-40B4-BE49-F238E27FC236}">
                <a16:creationId xmlns:a16="http://schemas.microsoft.com/office/drawing/2014/main" id="{D63C1677-C4B8-489F-BACE-F656803F22DE}"/>
              </a:ext>
            </a:extLst>
          </p:cNvPr>
          <p:cNvSpPr>
            <a:spLocks noGrp="1"/>
          </p:cNvSpPr>
          <p:nvPr/>
        </p:nvSpPr>
        <p:spPr>
          <a:xfrm>
            <a:off x="3552782" y="438769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5" name="line-251">
            <a:extLst>
              <a:ext uri="{FF2B5EF4-FFF2-40B4-BE49-F238E27FC236}">
                <a16:creationId xmlns:a16="http://schemas.microsoft.com/office/drawing/2014/main" id="{3F2EE369-78E5-4A08-8AC9-76662F67BEED}"/>
              </a:ext>
            </a:extLst>
          </p:cNvPr>
          <p:cNvSpPr>
            <a:spLocks noGrp="1"/>
          </p:cNvSpPr>
          <p:nvPr/>
        </p:nvSpPr>
        <p:spPr>
          <a:xfrm>
            <a:off x="6115050" y="4429125"/>
            <a:ext cx="476250" cy="9525"/>
          </a:xfrm>
          <a:custGeom>
            <a:avLst/>
            <a:gdLst/>
            <a:ahLst/>
            <a:cxnLst/>
            <a:rect l="0" t="0" r="0" b="0"/>
            <a:pathLst>
              <a:path w="476250" h="9525">
                <a:moveTo>
                  <a:pt x="0" y="0"/>
                </a:moveTo>
                <a:lnTo>
                  <a:pt x="476250" y="0"/>
                </a:lnTo>
              </a:path>
            </a:pathLst>
          </a:custGeom>
          <a:noFill/>
          <a:ln w="23813">
            <a:solidFill>
              <a:srgbClr val="17698C"/>
            </a:solidFill>
          </a:ln>
        </p:spPr>
        <p:txBody>
          <a:bodyPr/>
          <a:lstStyle/>
          <a:p>
            <a:endParaRPr lang="en-US"/>
          </a:p>
        </p:txBody>
      </p:sp>
      <p:sp>
        <p:nvSpPr>
          <p:cNvPr id="16" name="line-252">
            <a:extLst>
              <a:ext uri="{FF2B5EF4-FFF2-40B4-BE49-F238E27FC236}">
                <a16:creationId xmlns:a16="http://schemas.microsoft.com/office/drawing/2014/main" id="{A4EBE90D-15E6-40D6-8A45-9E7D36068E63}"/>
              </a:ext>
            </a:extLst>
          </p:cNvPr>
          <p:cNvSpPr>
            <a:spLocks noGrp="1"/>
          </p:cNvSpPr>
          <p:nvPr/>
        </p:nvSpPr>
        <p:spPr>
          <a:xfrm>
            <a:off x="6505532" y="442912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7" name="line-253">
            <a:extLst>
              <a:ext uri="{FF2B5EF4-FFF2-40B4-BE49-F238E27FC236}">
                <a16:creationId xmlns:a16="http://schemas.microsoft.com/office/drawing/2014/main" id="{8DD5C42C-8D48-4271-99A9-B06AE8C2C824}"/>
              </a:ext>
            </a:extLst>
          </p:cNvPr>
          <p:cNvSpPr>
            <a:spLocks noGrp="1"/>
          </p:cNvSpPr>
          <p:nvPr/>
        </p:nvSpPr>
        <p:spPr>
          <a:xfrm>
            <a:off x="6505532" y="438769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8" name="diagram-254">
            <a:extLst>
              <a:ext uri="{FF2B5EF4-FFF2-40B4-BE49-F238E27FC236}">
                <a16:creationId xmlns:a16="http://schemas.microsoft.com/office/drawing/2014/main" id="{0D0F0D6B-BC49-44AA-9FE1-C29A2CC83A33}"/>
              </a:ext>
            </a:extLst>
          </p:cNvPr>
          <p:cNvSpPr>
            <a:spLocks noGrp="1"/>
          </p:cNvSpPr>
          <p:nvPr/>
        </p:nvSpPr>
        <p:spPr>
          <a:xfrm>
            <a:off x="933450" y="3524250"/>
            <a:ext cx="10287000" cy="361950"/>
          </a:xfrm>
          <a:prstGeom prst="rect">
            <a:avLst/>
          </a:prstGeom>
          <a:noFill/>
          <a:ln w="0">
            <a:noFill/>
          </a:ln>
        </p:spPr>
        <p:txBody>
          <a:bodyPr lIns="0" tIns="0" rIns="0" bIns="0" anchor="t">
            <a:noAutofit/>
          </a:bodyPr>
          <a:lstStyle/>
          <a:p>
            <a:pPr algn="l">
              <a:buNone/>
              <a:defRPr sz="1725" b="0">
                <a:solidFill>
                  <a:srgbClr val="62676D"/>
                </a:solidFill>
                <a:latin typeface="Aptos"/>
                <a:ea typeface="Aptos"/>
                <a:cs typeface="Aptos"/>
              </a:defRPr>
            </a:pPr>
            <a:r>
              <a:rPr sz="1725" b="0">
                <a:solidFill>
                  <a:srgbClr val="62676D"/>
                </a:solidFill>
                <a:latin typeface="Aptos"/>
                <a:ea typeface="Aptos"/>
                <a:cs typeface="Aptos"/>
              </a:rPr>
              <a:t>k: orientation    n: subcarrier    d: path    ξ: arrival direction    τ: path delay</a:t>
            </a:r>
          </a:p>
        </p:txBody>
      </p:sp>
      <p:sp>
        <p:nvSpPr>
          <p:cNvPr id="19" name="diagram-255">
            <a:extLst>
              <a:ext uri="{FF2B5EF4-FFF2-40B4-BE49-F238E27FC236}">
                <a16:creationId xmlns:a16="http://schemas.microsoft.com/office/drawing/2014/main" id="{FC52401F-BC18-4AEA-A601-A0F510795D65}"/>
              </a:ext>
            </a:extLst>
          </p:cNvPr>
          <p:cNvSpPr>
            <a:spLocks noGrp="1"/>
          </p:cNvSpPr>
          <p:nvPr/>
        </p:nvSpPr>
        <p:spPr>
          <a:xfrm>
            <a:off x="933450" y="5172075"/>
            <a:ext cx="10287000" cy="1219200"/>
          </a:xfrm>
          <a:prstGeom prst="rect">
            <a:avLst/>
          </a:prstGeom>
          <a:noFill/>
          <a:ln w="0">
            <a:noFill/>
          </a:ln>
        </p:spPr>
        <p:txBody>
          <a:bodyPr lIns="0" tIns="0" rIns="0" bIns="0" anchor="t">
            <a:noAutofit/>
          </a:bodyPr>
          <a:lstStyle/>
          <a:p>
            <a:pPr marL="228600" indent="-165100" algn="l">
              <a:spcAft>
                <a:spcPts val="900"/>
              </a:spcAft>
              <a:buChar char="•"/>
              <a:defRPr sz="1875" b="0">
                <a:solidFill>
                  <a:srgbClr val="111111"/>
                </a:solidFill>
                <a:latin typeface="Aptos"/>
                <a:ea typeface="Aptos"/>
                <a:cs typeface="Aptos"/>
              </a:defRPr>
            </a:pPr>
            <a:r>
              <a:rPr sz="1875" b="0">
                <a:solidFill>
                  <a:srgbClr val="111111"/>
                </a:solidFill>
                <a:latin typeface="Aptos"/>
                <a:ea typeface="Aptos"/>
                <a:cs typeface="Aptos"/>
              </a:rPr>
              <a:t>Combine only measurements within a valid coherence window.</a:t>
            </a:r>
          </a:p>
          <a:p>
            <a:pPr marL="228600" indent="-165100" algn="l">
              <a:spcAft>
                <a:spcPts val="900"/>
              </a:spcAft>
              <a:buChar char="•"/>
              <a:defRPr sz="1875" b="0">
                <a:solidFill>
                  <a:srgbClr val="111111"/>
                </a:solidFill>
                <a:latin typeface="Aptos"/>
                <a:ea typeface="Aptos"/>
                <a:cs typeface="Aptos"/>
              </a:defRPr>
            </a:pPr>
            <a:r>
              <a:rPr sz="1875" b="0">
                <a:solidFill>
                  <a:srgbClr val="111111"/>
                </a:solidFill>
                <a:latin typeface="Aptos"/>
                <a:ea typeface="Aptos"/>
                <a:cs typeface="Aptos"/>
              </a:rPr>
              <a:t>A reference CSI ratio needs calibration before predicting absolute power.</a:t>
            </a:r>
          </a:p>
        </p:txBody>
      </p:sp>
      <p:sp>
        <p:nvSpPr>
          <p:cNvPr id="23" name="added-text-79">
            <a:extLst>
              <a:ext uri="{FF2B5EF4-FFF2-40B4-BE49-F238E27FC236}">
                <a16:creationId xmlns:a16="http://schemas.microsoft.com/office/drawing/2014/main" id="{7202DF43-3536-4798-88A8-1F63C26FE3A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8</a:t>
            </a:r>
          </a:p>
        </p:txBody>
      </p:sp>
    </p:spTree>
    <p:extLst>
      <p:ext uri="{BB962C8B-B14F-4D97-AF65-F5344CB8AC3E}">
        <p14:creationId xmlns:p14="http://schemas.microsoft.com/office/powerpoint/2010/main" val="2955090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22">
            <a:extLst>
              <a:ext uri="{FF2B5EF4-FFF2-40B4-BE49-F238E27FC236}">
                <a16:creationId xmlns:a16="http://schemas.microsoft.com/office/drawing/2014/main" id="{DB97E1ED-4081-4FAA-9BD7-BF4E5FBBEC6D}"/>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Measurement notation</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i, d, Di</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Client index; propagation-path index; path count of client i</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client count ≠ path count</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k, n, 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Orientation, subcarrier and valid snapshot/sweep indices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discrete indices</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K, L, 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Counts of positions, valid subcarriers and snapshots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positive integers</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fn, f0, Δf, λn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Tone frequency, reference frequency, spacing, wavelength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Hz, Hz, Hz, m</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ξi,d, τi,d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Arrival direction and delay of path d from client i</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angle(s), s</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ci,d, xk[n], wk[n]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path gain, calibrated CSI sample and additive noise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consistent channel units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x, A, c, w</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Single-tone stacked CSI, manifold, path gains and noise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K×1; K×D; D×1; K×1</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X, B</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Multi-tone data and full response matrix for gain fitting</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KL×M; KL×D</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23">
            <a:extLst>
              <a:ext uri="{FF2B5EF4-FFF2-40B4-BE49-F238E27FC236}">
                <a16:creationId xmlns:a16="http://schemas.microsoft.com/office/drawing/2014/main" id="{D4FAB65B-87DC-40DE-884D-2A182D1FDB6A}"/>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At one tone, absorb the relative delay phase into its gain. Full-frequency B retains each tone’s explicit delay phase.</a:t>
            </a:r>
          </a:p>
        </p:txBody>
      </p:sp>
      <p:sp>
        <p:nvSpPr>
          <p:cNvPr id="4" name="added-text-80">
            <a:extLst>
              <a:ext uri="{FF2B5EF4-FFF2-40B4-BE49-F238E27FC236}">
                <a16:creationId xmlns:a16="http://schemas.microsoft.com/office/drawing/2014/main" id="{F4053BC5-5A36-41AF-8F85-859357C60841}"/>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9</a:t>
            </a:r>
          </a:p>
        </p:txBody>
      </p:sp>
    </p:spTree>
    <p:extLst>
      <p:ext uri="{BB962C8B-B14F-4D97-AF65-F5344CB8AC3E}">
        <p14:creationId xmlns:p14="http://schemas.microsoft.com/office/powerpoint/2010/main" val="1252129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24">
            <a:extLst>
              <a:ext uri="{FF2B5EF4-FFF2-40B4-BE49-F238E27FC236}">
                <a16:creationId xmlns:a16="http://schemas.microsoft.com/office/drawing/2014/main" id="{C95D88F6-BC06-4866-AB97-6ADEBC9072B1}"/>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Acquisition and calibration</a:t>
            </a:r>
          </a:p>
        </p:txBody>
      </p:sp>
      <p:sp>
        <p:nvSpPr>
          <p:cNvPr id="2" name="added-text-25">
            <a:extLst>
              <a:ext uri="{FF2B5EF4-FFF2-40B4-BE49-F238E27FC236}">
                <a16:creationId xmlns:a16="http://schemas.microsoft.com/office/drawing/2014/main" id="{E66358D9-9110-4C66-AF7F-03263ACD44B9}"/>
              </a:ext>
            </a:extLst>
          </p:cNvPr>
          <p:cNvSpPr>
            <a:spLocks noGrp="1"/>
          </p:cNvSpPr>
          <p:nvPr/>
        </p:nvSpPr>
        <p:spPr>
          <a:xfrm>
            <a:off x="933450" y="2009775"/>
            <a:ext cx="10287000" cy="4010025"/>
          </a:xfrm>
          <a:prstGeom prst="rect">
            <a:avLst/>
          </a:prstGeom>
          <a:noFill/>
          <a:ln w="0">
            <a:noFill/>
          </a:ln>
        </p:spPr>
        <p:txBody>
          <a:bodyPr lIns="0" tIns="0" rIns="0" bIns="0" anchor="t">
            <a:noAutofit/>
          </a:bodyPr>
          <a:lstStyle/>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INPUT: scan states, client IDs, calibration, timing budget</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for each scan state:</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move, settle, and record the actual actuator state</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sound identified clients and retain tone/time metadata</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correct receiver gain, timing offset, and phase drift</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revisit a reference state to test consistency</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if coherent measurement window is valid:</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build compatible snapshots for MUSIC or SAGE</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else:</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use magnitude likelihood or direct performance probes</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OUTPUT: calibrated observations plus validity flags</a:t>
            </a:r>
          </a:p>
        </p:txBody>
      </p:sp>
      <p:sp>
        <p:nvSpPr>
          <p:cNvPr id="3" name="added-text-26">
            <a:extLst>
              <a:ext uri="{FF2B5EF4-FFF2-40B4-BE49-F238E27FC236}">
                <a16:creationId xmlns:a16="http://schemas.microsoft.com/office/drawing/2014/main" id="{BCE4BF7E-70B6-43F2-9601-ADF2EDCD7B8F}"/>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 stable nonzero reference supports relative phase. Its frequency response and gain still need calibration.</a:t>
            </a:r>
          </a:p>
        </p:txBody>
      </p:sp>
      <p:sp>
        <p:nvSpPr>
          <p:cNvPr id="4" name="added-text-81">
            <a:extLst>
              <a:ext uri="{FF2B5EF4-FFF2-40B4-BE49-F238E27FC236}">
                <a16:creationId xmlns:a16="http://schemas.microsoft.com/office/drawing/2014/main" id="{93445672-A928-4F1E-A7E9-E236E8EF79B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10</a:t>
            </a:r>
          </a:p>
        </p:txBody>
      </p:sp>
    </p:spTree>
    <p:extLst>
      <p:ext uri="{BB962C8B-B14F-4D97-AF65-F5344CB8AC3E}">
        <p14:creationId xmlns:p14="http://schemas.microsoft.com/office/powerpoint/2010/main" val="1574815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MUSIC estimation</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34" name="Picture 33"/>
          <p:cNvPicPr>
            <a:picLocks noChangeAspect="1"/>
          </p:cNvPicPr>
          <p:nvPr/>
        </p:nvPicPr>
        <p:blipFill>
          <a:blip r:embed="rId3"/>
          <a:stretch/>
        </p:blipFill>
        <p:spPr>
          <a:xfrm>
            <a:off x="933450" y="1885950"/>
            <a:ext cx="1833768" cy="608274"/>
          </a:xfrm>
          <a:prstGeom prst="rect">
            <a:avLst/>
          </a:prstGeom>
        </p:spPr>
      </p:pic>
      <p:pic>
        <p:nvPicPr>
          <p:cNvPr id="35" name="Picture 34"/>
          <p:cNvPicPr>
            <a:picLocks noChangeAspect="1"/>
          </p:cNvPicPr>
          <p:nvPr/>
        </p:nvPicPr>
        <p:blipFill>
          <a:blip r:embed="rId4"/>
          <a:stretch/>
        </p:blipFill>
        <p:spPr>
          <a:xfrm>
            <a:off x="933450" y="2722824"/>
            <a:ext cx="3291836" cy="447260"/>
          </a:xfrm>
          <a:prstGeom prst="rect">
            <a:avLst/>
          </a:prstGeom>
        </p:spPr>
      </p:pic>
      <p:pic>
        <p:nvPicPr>
          <p:cNvPr id="36" name="Picture 35"/>
          <p:cNvPicPr>
            <a:picLocks noChangeAspect="1"/>
          </p:cNvPicPr>
          <p:nvPr/>
        </p:nvPicPr>
        <p:blipFill>
          <a:blip r:embed="rId5"/>
          <a:stretch/>
        </p:blipFill>
        <p:spPr>
          <a:xfrm>
            <a:off x="933450" y="3398685"/>
            <a:ext cx="4338426" cy="536712"/>
          </a:xfrm>
          <a:prstGeom prst="rect">
            <a:avLst/>
          </a:prstGeom>
        </p:spPr>
      </p:pic>
      <p:sp>
        <p:nvSpPr>
          <p:cNvPr id="7" name="diagram-256">
            <a:extLst>
              <a:ext uri="{FF2B5EF4-FFF2-40B4-BE49-F238E27FC236}">
                <a16:creationId xmlns:a16="http://schemas.microsoft.com/office/drawing/2014/main" id="{B5D472FD-FC36-4012-AB5A-8FEA4210992A}"/>
              </a:ext>
            </a:extLst>
          </p:cNvPr>
          <p:cNvSpPr>
            <a:spLocks noGrp="1"/>
          </p:cNvSpPr>
          <p:nvPr/>
        </p:nvSpPr>
        <p:spPr>
          <a:xfrm>
            <a:off x="8058150" y="2105025"/>
            <a:ext cx="2714625" cy="609600"/>
          </a:xfrm>
          <a:prstGeom prst="rect">
            <a:avLst/>
          </a:prstGeom>
          <a:solidFill>
            <a:srgbClr val="FFFFFF"/>
          </a:solidFill>
          <a:ln w="19050">
            <a:solidFill>
              <a:srgbClr val="111111"/>
            </a:solidFill>
          </a:ln>
        </p:spPr>
        <p:txBody>
          <a:bodyPr/>
          <a:lstStyle/>
          <a:p>
            <a:endParaRPr lang="en-US"/>
          </a:p>
        </p:txBody>
      </p:sp>
      <p:sp>
        <p:nvSpPr>
          <p:cNvPr id="8" name="diagram-257">
            <a:extLst>
              <a:ext uri="{FF2B5EF4-FFF2-40B4-BE49-F238E27FC236}">
                <a16:creationId xmlns:a16="http://schemas.microsoft.com/office/drawing/2014/main" id="{94CF1EBE-FB08-420F-A429-38A8BDD2DAD7}"/>
              </a:ext>
            </a:extLst>
          </p:cNvPr>
          <p:cNvSpPr>
            <a:spLocks noGrp="1"/>
          </p:cNvSpPr>
          <p:nvPr/>
        </p:nvSpPr>
        <p:spPr>
          <a:xfrm>
            <a:off x="8134350" y="2219325"/>
            <a:ext cx="2562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Valid snapshots</a:t>
            </a:r>
          </a:p>
        </p:txBody>
      </p:sp>
      <p:sp>
        <p:nvSpPr>
          <p:cNvPr id="9" name="diagram-258">
            <a:extLst>
              <a:ext uri="{FF2B5EF4-FFF2-40B4-BE49-F238E27FC236}">
                <a16:creationId xmlns:a16="http://schemas.microsoft.com/office/drawing/2014/main" id="{1842DD79-695D-4E38-9A5C-AED0FBD6C710}"/>
              </a:ext>
            </a:extLst>
          </p:cNvPr>
          <p:cNvSpPr>
            <a:spLocks noGrp="1"/>
          </p:cNvSpPr>
          <p:nvPr/>
        </p:nvSpPr>
        <p:spPr>
          <a:xfrm>
            <a:off x="8058150" y="3076575"/>
            <a:ext cx="2714625" cy="609600"/>
          </a:xfrm>
          <a:prstGeom prst="rect">
            <a:avLst/>
          </a:prstGeom>
          <a:solidFill>
            <a:srgbClr val="FFFFFF"/>
          </a:solidFill>
          <a:ln w="19050">
            <a:solidFill>
              <a:srgbClr val="111111"/>
            </a:solidFill>
          </a:ln>
        </p:spPr>
        <p:txBody>
          <a:bodyPr/>
          <a:lstStyle/>
          <a:p>
            <a:endParaRPr lang="en-US"/>
          </a:p>
        </p:txBody>
      </p:sp>
      <p:sp>
        <p:nvSpPr>
          <p:cNvPr id="10" name="diagram-259">
            <a:extLst>
              <a:ext uri="{FF2B5EF4-FFF2-40B4-BE49-F238E27FC236}">
                <a16:creationId xmlns:a16="http://schemas.microsoft.com/office/drawing/2014/main" id="{CF7CA49B-97FE-45BD-883A-162C5CE4CD44}"/>
              </a:ext>
            </a:extLst>
          </p:cNvPr>
          <p:cNvSpPr>
            <a:spLocks noGrp="1"/>
          </p:cNvSpPr>
          <p:nvPr/>
        </p:nvSpPr>
        <p:spPr>
          <a:xfrm>
            <a:off x="8134350" y="3190875"/>
            <a:ext cx="2562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Covariance + eigenvectors</a:t>
            </a:r>
          </a:p>
        </p:txBody>
      </p:sp>
      <p:sp>
        <p:nvSpPr>
          <p:cNvPr id="11" name="diagram-260">
            <a:extLst>
              <a:ext uri="{FF2B5EF4-FFF2-40B4-BE49-F238E27FC236}">
                <a16:creationId xmlns:a16="http://schemas.microsoft.com/office/drawing/2014/main" id="{FE7B7C75-57F4-4D10-B1D7-BA4573F4EB0C}"/>
              </a:ext>
            </a:extLst>
          </p:cNvPr>
          <p:cNvSpPr>
            <a:spLocks noGrp="1"/>
          </p:cNvSpPr>
          <p:nvPr/>
        </p:nvSpPr>
        <p:spPr>
          <a:xfrm>
            <a:off x="8058150" y="4048125"/>
            <a:ext cx="2714625" cy="609600"/>
          </a:xfrm>
          <a:prstGeom prst="rect">
            <a:avLst/>
          </a:prstGeom>
          <a:solidFill>
            <a:srgbClr val="FFFFFF"/>
          </a:solidFill>
          <a:ln w="19050">
            <a:solidFill>
              <a:srgbClr val="111111"/>
            </a:solidFill>
          </a:ln>
        </p:spPr>
        <p:txBody>
          <a:bodyPr/>
          <a:lstStyle/>
          <a:p>
            <a:endParaRPr lang="en-US"/>
          </a:p>
        </p:txBody>
      </p:sp>
      <p:sp>
        <p:nvSpPr>
          <p:cNvPr id="12" name="diagram-261">
            <a:extLst>
              <a:ext uri="{FF2B5EF4-FFF2-40B4-BE49-F238E27FC236}">
                <a16:creationId xmlns:a16="http://schemas.microsoft.com/office/drawing/2014/main" id="{A784C363-B914-4920-A60B-B205F7D2E43B}"/>
              </a:ext>
            </a:extLst>
          </p:cNvPr>
          <p:cNvSpPr>
            <a:spLocks noGrp="1"/>
          </p:cNvSpPr>
          <p:nvPr/>
        </p:nvSpPr>
        <p:spPr>
          <a:xfrm>
            <a:off x="8134350" y="4162425"/>
            <a:ext cx="2562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Search normalized spectrum</a:t>
            </a:r>
          </a:p>
        </p:txBody>
      </p:sp>
      <p:sp>
        <p:nvSpPr>
          <p:cNvPr id="13" name="diagram-262">
            <a:extLst>
              <a:ext uri="{FF2B5EF4-FFF2-40B4-BE49-F238E27FC236}">
                <a16:creationId xmlns:a16="http://schemas.microsoft.com/office/drawing/2014/main" id="{6DA41362-5B38-4A62-B52F-5267EF487D82}"/>
              </a:ext>
            </a:extLst>
          </p:cNvPr>
          <p:cNvSpPr>
            <a:spLocks noGrp="1"/>
          </p:cNvSpPr>
          <p:nvPr/>
        </p:nvSpPr>
        <p:spPr>
          <a:xfrm>
            <a:off x="8058150" y="5019675"/>
            <a:ext cx="2714625" cy="609600"/>
          </a:xfrm>
          <a:prstGeom prst="rect">
            <a:avLst/>
          </a:prstGeom>
          <a:solidFill>
            <a:srgbClr val="FFFFFF"/>
          </a:solidFill>
          <a:ln w="19050">
            <a:solidFill>
              <a:srgbClr val="111111"/>
            </a:solidFill>
          </a:ln>
        </p:spPr>
        <p:txBody>
          <a:bodyPr/>
          <a:lstStyle/>
          <a:p>
            <a:endParaRPr lang="en-US"/>
          </a:p>
        </p:txBody>
      </p:sp>
      <p:sp>
        <p:nvSpPr>
          <p:cNvPr id="14" name="diagram-263">
            <a:extLst>
              <a:ext uri="{FF2B5EF4-FFF2-40B4-BE49-F238E27FC236}">
                <a16:creationId xmlns:a16="http://schemas.microsoft.com/office/drawing/2014/main" id="{41441DFE-C1E9-44A7-A02D-688DA4B81F0F}"/>
              </a:ext>
            </a:extLst>
          </p:cNvPr>
          <p:cNvSpPr>
            <a:spLocks noGrp="1"/>
          </p:cNvSpPr>
          <p:nvPr/>
        </p:nvSpPr>
        <p:spPr>
          <a:xfrm>
            <a:off x="8134350" y="5133975"/>
            <a:ext cx="2562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Separated direction peaks</a:t>
            </a:r>
          </a:p>
        </p:txBody>
      </p:sp>
      <p:sp>
        <p:nvSpPr>
          <p:cNvPr id="15" name="line-264">
            <a:extLst>
              <a:ext uri="{FF2B5EF4-FFF2-40B4-BE49-F238E27FC236}">
                <a16:creationId xmlns:a16="http://schemas.microsoft.com/office/drawing/2014/main" id="{F9C47CBC-001C-4D6F-B83A-F16FCCECC8F0}"/>
              </a:ext>
            </a:extLst>
          </p:cNvPr>
          <p:cNvSpPr>
            <a:spLocks noGrp="1"/>
          </p:cNvSpPr>
          <p:nvPr/>
        </p:nvSpPr>
        <p:spPr>
          <a:xfrm>
            <a:off x="9420225" y="2752725"/>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16" name="line-265">
            <a:extLst>
              <a:ext uri="{FF2B5EF4-FFF2-40B4-BE49-F238E27FC236}">
                <a16:creationId xmlns:a16="http://schemas.microsoft.com/office/drawing/2014/main" id="{5E8270D7-EC07-4CBA-84EA-2B4B109A0B5C}"/>
              </a:ext>
            </a:extLst>
          </p:cNvPr>
          <p:cNvSpPr>
            <a:spLocks noGrp="1"/>
          </p:cNvSpPr>
          <p:nvPr/>
        </p:nvSpPr>
        <p:spPr>
          <a:xfrm>
            <a:off x="9378795" y="291460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7" name="line-266">
            <a:extLst>
              <a:ext uri="{FF2B5EF4-FFF2-40B4-BE49-F238E27FC236}">
                <a16:creationId xmlns:a16="http://schemas.microsoft.com/office/drawing/2014/main" id="{8E8E6817-CDB0-41A9-ADCD-CA727C0EBE72}"/>
              </a:ext>
            </a:extLst>
          </p:cNvPr>
          <p:cNvSpPr>
            <a:spLocks noGrp="1"/>
          </p:cNvSpPr>
          <p:nvPr/>
        </p:nvSpPr>
        <p:spPr>
          <a:xfrm>
            <a:off x="9420225" y="291460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8" name="line-267">
            <a:extLst>
              <a:ext uri="{FF2B5EF4-FFF2-40B4-BE49-F238E27FC236}">
                <a16:creationId xmlns:a16="http://schemas.microsoft.com/office/drawing/2014/main" id="{51189823-0844-4EFF-803D-2900090755AC}"/>
              </a:ext>
            </a:extLst>
          </p:cNvPr>
          <p:cNvSpPr>
            <a:spLocks noGrp="1"/>
          </p:cNvSpPr>
          <p:nvPr/>
        </p:nvSpPr>
        <p:spPr>
          <a:xfrm>
            <a:off x="9420225" y="3724275"/>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19" name="line-268">
            <a:extLst>
              <a:ext uri="{FF2B5EF4-FFF2-40B4-BE49-F238E27FC236}">
                <a16:creationId xmlns:a16="http://schemas.microsoft.com/office/drawing/2014/main" id="{5E1CD17F-D17E-4218-BCC7-0853298321A0}"/>
              </a:ext>
            </a:extLst>
          </p:cNvPr>
          <p:cNvSpPr>
            <a:spLocks noGrp="1"/>
          </p:cNvSpPr>
          <p:nvPr/>
        </p:nvSpPr>
        <p:spPr>
          <a:xfrm>
            <a:off x="9378795" y="388615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20" name="line-269">
            <a:extLst>
              <a:ext uri="{FF2B5EF4-FFF2-40B4-BE49-F238E27FC236}">
                <a16:creationId xmlns:a16="http://schemas.microsoft.com/office/drawing/2014/main" id="{3FE020C7-76DA-4F6E-8AFF-49B4E0824D36}"/>
              </a:ext>
            </a:extLst>
          </p:cNvPr>
          <p:cNvSpPr>
            <a:spLocks noGrp="1"/>
          </p:cNvSpPr>
          <p:nvPr/>
        </p:nvSpPr>
        <p:spPr>
          <a:xfrm>
            <a:off x="9420225" y="388615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21" name="line-270">
            <a:extLst>
              <a:ext uri="{FF2B5EF4-FFF2-40B4-BE49-F238E27FC236}">
                <a16:creationId xmlns:a16="http://schemas.microsoft.com/office/drawing/2014/main" id="{2C2EF4C8-AE61-43BE-B81B-73B5F4CAFD79}"/>
              </a:ext>
            </a:extLst>
          </p:cNvPr>
          <p:cNvSpPr>
            <a:spLocks noGrp="1"/>
          </p:cNvSpPr>
          <p:nvPr/>
        </p:nvSpPr>
        <p:spPr>
          <a:xfrm>
            <a:off x="9420225" y="4695825"/>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22" name="line-271">
            <a:extLst>
              <a:ext uri="{FF2B5EF4-FFF2-40B4-BE49-F238E27FC236}">
                <a16:creationId xmlns:a16="http://schemas.microsoft.com/office/drawing/2014/main" id="{EF99B968-C537-4264-8DA7-F4BDA77A47AE}"/>
              </a:ext>
            </a:extLst>
          </p:cNvPr>
          <p:cNvSpPr>
            <a:spLocks noGrp="1"/>
          </p:cNvSpPr>
          <p:nvPr/>
        </p:nvSpPr>
        <p:spPr>
          <a:xfrm>
            <a:off x="9378795" y="485770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23" name="line-272">
            <a:extLst>
              <a:ext uri="{FF2B5EF4-FFF2-40B4-BE49-F238E27FC236}">
                <a16:creationId xmlns:a16="http://schemas.microsoft.com/office/drawing/2014/main" id="{0D32C799-4D83-4F96-A53F-259C55BB082B}"/>
              </a:ext>
            </a:extLst>
          </p:cNvPr>
          <p:cNvSpPr>
            <a:spLocks noGrp="1"/>
          </p:cNvSpPr>
          <p:nvPr/>
        </p:nvSpPr>
        <p:spPr>
          <a:xfrm>
            <a:off x="9420225" y="485770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24" name="diagram-273">
            <a:extLst>
              <a:ext uri="{FF2B5EF4-FFF2-40B4-BE49-F238E27FC236}">
                <a16:creationId xmlns:a16="http://schemas.microsoft.com/office/drawing/2014/main" id="{58F74ED8-FDD5-4C19-81D3-A3DED0B8ED55}"/>
              </a:ext>
            </a:extLst>
          </p:cNvPr>
          <p:cNvSpPr>
            <a:spLocks noGrp="1"/>
          </p:cNvSpPr>
          <p:nvPr/>
        </p:nvSpPr>
        <p:spPr>
          <a:xfrm>
            <a:off x="933450" y="5219700"/>
            <a:ext cx="6477000" cy="361950"/>
          </a:xfrm>
          <a:prstGeom prst="rect">
            <a:avLst/>
          </a:prstGeom>
          <a:noFill/>
          <a:ln w="0">
            <a:noFill/>
          </a:ln>
        </p:spPr>
        <p:txBody>
          <a:bodyPr lIns="0" tIns="0" rIns="0" bIns="0" anchor="t">
            <a:noAutofit/>
          </a:bodyPr>
          <a:lstStyle/>
          <a:p>
            <a:pPr algn="l">
              <a:buNone/>
              <a:defRPr sz="2025" b="1">
                <a:solidFill>
                  <a:srgbClr val="111111"/>
                </a:solidFill>
                <a:latin typeface="Aptos"/>
                <a:ea typeface="Aptos"/>
                <a:cs typeface="Aptos"/>
              </a:defRPr>
            </a:pPr>
            <a:r>
              <a:rPr sz="2025" b="1">
                <a:solidFill>
                  <a:srgbClr val="111111"/>
                </a:solidFill>
                <a:latin typeface="Aptos"/>
                <a:ea typeface="Aptos"/>
                <a:cs typeface="Aptos"/>
              </a:rPr>
              <a:t>Noise-subspace orthogonality</a:t>
            </a:r>
          </a:p>
        </p:txBody>
      </p:sp>
      <p:sp>
        <p:nvSpPr>
          <p:cNvPr id="25" name="diagram-274">
            <a:extLst>
              <a:ext uri="{FF2B5EF4-FFF2-40B4-BE49-F238E27FC236}">
                <a16:creationId xmlns:a16="http://schemas.microsoft.com/office/drawing/2014/main" id="{06504D7D-78CC-40F7-A863-74DD7CF4DFAE}"/>
              </a:ext>
            </a:extLst>
          </p:cNvPr>
          <p:cNvSpPr>
            <a:spLocks noGrp="1"/>
          </p:cNvSpPr>
          <p:nvPr/>
        </p:nvSpPr>
        <p:spPr>
          <a:xfrm>
            <a:off x="933450" y="5610225"/>
            <a:ext cx="6477000" cy="619125"/>
          </a:xfrm>
          <a:prstGeom prst="rect">
            <a:avLst/>
          </a:prstGeom>
          <a:noFill/>
          <a:ln w="0">
            <a:noFill/>
          </a:ln>
        </p:spPr>
        <p:txBody>
          <a:bodyPr lIns="0" tIns="0" rIns="0" bIns="0" anchor="t">
            <a:noAutofit/>
          </a:bodyPr>
          <a:lstStyle/>
          <a:p>
            <a:pPr algn="l">
              <a:buNone/>
              <a:defRPr sz="1800" b="0">
                <a:solidFill>
                  <a:srgbClr val="111111"/>
                </a:solidFill>
                <a:latin typeface="Aptos"/>
                <a:ea typeface="Aptos"/>
                <a:cs typeface="Aptos"/>
              </a:defRPr>
            </a:pPr>
            <a:r>
              <a:rPr sz="1800" b="0">
                <a:solidFill>
                  <a:srgbClr val="111111"/>
                </a:solidFill>
                <a:latin typeface="Aptos"/>
                <a:ea typeface="Aptos"/>
                <a:cs typeface="Aptos"/>
              </a:rPr>
              <a:t>Normalize the manifold, select supported path count D,</a:t>
            </a:r>
          </a:p>
          <a:p>
            <a:pPr algn="l">
              <a:buNone/>
              <a:defRPr sz="1800" b="0">
                <a:solidFill>
                  <a:srgbClr val="111111"/>
                </a:solidFill>
                <a:latin typeface="Aptos"/>
                <a:ea typeface="Aptos"/>
                <a:cs typeface="Aptos"/>
              </a:defRPr>
            </a:pPr>
            <a:r>
              <a:rPr sz="1800" b="0">
                <a:solidFill>
                  <a:srgbClr val="111111"/>
                </a:solidFill>
                <a:latin typeface="Aptos"/>
                <a:ea typeface="Aptos"/>
                <a:cs typeface="Aptos"/>
              </a:rPr>
              <a:t>and recover complex gains after locating peaks.</a:t>
            </a:r>
          </a:p>
        </p:txBody>
      </p:sp>
      <p:sp>
        <p:nvSpPr>
          <p:cNvPr id="30" name="added-text-3">
            <a:extLst>
              <a:ext uri="{FF2B5EF4-FFF2-40B4-BE49-F238E27FC236}">
                <a16:creationId xmlns:a16="http://schemas.microsoft.com/office/drawing/2014/main" id="{AC26769B-C533-4BBD-A32E-4C64EED3F853}"/>
              </a:ext>
            </a:extLst>
          </p:cNvPr>
          <p:cNvSpPr>
            <a:spLocks noGrp="1"/>
          </p:cNvSpPr>
          <p:nvPr/>
        </p:nvSpPr>
        <p:spPr>
          <a:xfrm>
            <a:off x="933450" y="4133850"/>
            <a:ext cx="6715125" cy="6477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R̂: covariance    Us / Un: signal / noise eigenvectors</a:t>
            </a:r>
          </a:p>
          <a:p>
            <a:pPr algn="l">
              <a:defRPr sz="1575" b="0">
                <a:solidFill>
                  <a:srgbClr val="17698C"/>
                </a:solidFill>
                <a:latin typeface="Aptos"/>
                <a:ea typeface="Aptos"/>
                <a:cs typeface="Aptos"/>
              </a:defRPr>
            </a:pPr>
            <a:r>
              <a:rPr sz="1575" b="0">
                <a:solidFill>
                  <a:srgbClr val="17698C"/>
                </a:solidFill>
                <a:latin typeface="Aptos"/>
                <a:ea typeface="Aptos"/>
                <a:cs typeface="Aptos"/>
              </a:rPr>
              <a:t>Λs / Λn: eigenvalues    ε: numerical floor</a:t>
            </a:r>
          </a:p>
        </p:txBody>
      </p:sp>
      <p:sp>
        <p:nvSpPr>
          <p:cNvPr id="31" name="added-text-82">
            <a:extLst>
              <a:ext uri="{FF2B5EF4-FFF2-40B4-BE49-F238E27FC236}">
                <a16:creationId xmlns:a16="http://schemas.microsoft.com/office/drawing/2014/main" id="{73C63CAC-D969-40A0-A98E-3046E3E5E216}"/>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11</a:t>
            </a:r>
          </a:p>
        </p:txBody>
      </p:sp>
    </p:spTree>
    <p:extLst>
      <p:ext uri="{BB962C8B-B14F-4D97-AF65-F5344CB8AC3E}">
        <p14:creationId xmlns:p14="http://schemas.microsoft.com/office/powerpoint/2010/main" val="2955090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27">
            <a:extLst>
              <a:ext uri="{FF2B5EF4-FFF2-40B4-BE49-F238E27FC236}">
                <a16:creationId xmlns:a16="http://schemas.microsoft.com/office/drawing/2014/main" id="{419E50B7-C744-45B5-B0AD-917E87F08B7C}"/>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MUSIC subspace notation</a:t>
            </a:r>
          </a:p>
        </p:txBody>
      </p:sp>
      <p:graphicFrame>
        <p:nvGraphicFramePr>
          <p:cNvPr id="6" name="Table 5"/>
          <p:cNvGraphicFramePr/>
          <p:nvPr/>
        </p:nvGraphicFramePr>
        <p:xfrm>
          <a:off x="933450" y="1895475"/>
          <a:ext cx="10382250" cy="351282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xₘ, 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Compatible synthetic snapshot; number of such snapshots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K×1; count</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Sample covariance of stacked measurements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 × K; Hermitian</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D, Us, Un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Supported path count; signal and noise eigenvector bases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K×D; K×(K−D)</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Λs, Λn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Diagonal matrices of signal/noise eigenvalues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D×D; (K−D)×(K−D)</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a(ξ), ā(ξ)</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Calibrated steering vector; a divided by its norm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 × 1; ‖ā‖₂ = 1</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PM(ξ), ε</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Normalized MUSIC score; positive numerical floor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relative score; unitless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H, aH Un UnH a</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Conjugate transpose; energy projected into noise space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scalar ≥ 0</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Peak directions, Ĉ</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Estimated directions; gains fitted jointly after peak search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angles; D × M</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28">
            <a:extLst>
              <a:ext uri="{FF2B5EF4-FFF2-40B4-BE49-F238E27FC236}">
                <a16:creationId xmlns:a16="http://schemas.microsoft.com/office/drawing/2014/main" id="{858F30A3-9503-41C0-BD0D-C097EDB52B8D}"/>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For angle-delay MUSIC, replace K by KQ and a by bQ. Pseudo-spectrum heights are not physical path powers.</a:t>
            </a:r>
          </a:p>
        </p:txBody>
      </p:sp>
      <p:sp>
        <p:nvSpPr>
          <p:cNvPr id="4" name="added-text-83">
            <a:extLst>
              <a:ext uri="{FF2B5EF4-FFF2-40B4-BE49-F238E27FC236}">
                <a16:creationId xmlns:a16="http://schemas.microsoft.com/office/drawing/2014/main" id="{27F4B4BA-E625-4CF0-91D7-6975B9E0E473}"/>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12</a:t>
            </a:r>
          </a:p>
        </p:txBody>
      </p:sp>
    </p:spTree>
    <p:extLst>
      <p:ext uri="{BB962C8B-B14F-4D97-AF65-F5344CB8AC3E}">
        <p14:creationId xmlns:p14="http://schemas.microsoft.com/office/powerpoint/2010/main" val="657840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MUSIC_FIT pseudocode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275">
            <a:extLst>
              <a:ext uri="{FF2B5EF4-FFF2-40B4-BE49-F238E27FC236}">
                <a16:creationId xmlns:a16="http://schemas.microsoft.com/office/drawing/2014/main" id="{8361000B-057F-4B2B-B3EC-153E6D568E4F}"/>
              </a:ext>
            </a:extLst>
          </p:cNvPr>
          <p:cNvSpPr>
            <a:spLocks noGrp="1"/>
          </p:cNvSpPr>
          <p:nvPr/>
        </p:nvSpPr>
        <p:spPr>
          <a:xfrm>
            <a:off x="933450" y="2066925"/>
            <a:ext cx="10287000" cy="3886200"/>
          </a:xfrm>
          <a:prstGeom prst="rect">
            <a:avLst/>
          </a:prstGeom>
          <a:noFill/>
          <a:ln w="0">
            <a:noFill/>
          </a:ln>
        </p:spPr>
        <p:txBody>
          <a:bodyPr lIns="0" tIns="0" rIns="0" bIns="0" anchor="t">
            <a:noAutofit/>
          </a:bodyPr>
          <a:lstStyle/>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MUSIC_FIT(client_CSI):</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calibrate CSI and preserve client identity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angular snapshots have valid full rank:</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build angular covariance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else: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validate tones and aperture approximation</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form overlapping Q-tone windows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build angle-delay covariance; check rank</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extract noise subspace; search normalized peaks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fit complex gains jointly to original CSI</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validate on held-out data; return fit or UNRELIABLE</a:t>
            </a:r>
          </a:p>
        </p:txBody>
      </p:sp>
      <p:sp>
        <p:nvSpPr>
          <p:cNvPr id="5" name="diagram-276">
            <a:extLst>
              <a:ext uri="{FF2B5EF4-FFF2-40B4-BE49-F238E27FC236}">
                <a16:creationId xmlns:a16="http://schemas.microsoft.com/office/drawing/2014/main" id="{6BAA50B0-9464-44EB-AAFD-EF7DEE64B01F}"/>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The fallback uses bQ(ξ,τ) = vQ(τ) ⊗ a0(ξ), with S = L − Q + 1 ≥ D and D &lt; KQ.</a:t>
            </a:r>
          </a:p>
        </p:txBody>
      </p:sp>
      <p:sp>
        <p:nvSpPr>
          <p:cNvPr id="6" name="added-text-84">
            <a:extLst>
              <a:ext uri="{FF2B5EF4-FFF2-40B4-BE49-F238E27FC236}">
                <a16:creationId xmlns:a16="http://schemas.microsoft.com/office/drawing/2014/main" id="{2C13B743-0078-4840-98E7-BFB8A501106A}"/>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13</a:t>
            </a:r>
          </a:p>
        </p:txBody>
      </p:sp>
    </p:spTree>
    <p:extLst>
      <p:ext uri="{BB962C8B-B14F-4D97-AF65-F5344CB8AC3E}">
        <p14:creationId xmlns:p14="http://schemas.microsoft.com/office/powerpoint/2010/main" val="295509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dded-text-29">
            <a:extLst>
              <a:ext uri="{FF2B5EF4-FFF2-40B4-BE49-F238E27FC236}">
                <a16:creationId xmlns:a16="http://schemas.microsoft.com/office/drawing/2014/main" id="{419F4BC7-E354-4798-99F8-A5D437C77510}"/>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Frequency-smoothed MUSIC</a:t>
            </a:r>
          </a:p>
        </p:txBody>
      </p:sp>
      <p:pic>
        <p:nvPicPr>
          <p:cNvPr id="9" name="Picture 8"/>
          <p:cNvPicPr>
            <a:picLocks noChangeAspect="1"/>
          </p:cNvPicPr>
          <p:nvPr/>
        </p:nvPicPr>
        <p:blipFill>
          <a:blip r:embed="rId3"/>
          <a:stretch/>
        </p:blipFill>
        <p:spPr>
          <a:xfrm>
            <a:off x="933450" y="1885950"/>
            <a:ext cx="2579699" cy="263014"/>
          </a:xfrm>
          <a:prstGeom prst="rect">
            <a:avLst/>
          </a:prstGeom>
        </p:spPr>
      </p:pic>
      <p:pic>
        <p:nvPicPr>
          <p:cNvPr id="10" name="Picture 9"/>
          <p:cNvPicPr>
            <a:picLocks noChangeAspect="1"/>
          </p:cNvPicPr>
          <p:nvPr/>
        </p:nvPicPr>
        <p:blipFill>
          <a:blip r:embed="rId4"/>
          <a:stretch/>
        </p:blipFill>
        <p:spPr>
          <a:xfrm>
            <a:off x="933450" y="2310889"/>
            <a:ext cx="4082121" cy="309852"/>
          </a:xfrm>
          <a:prstGeom prst="rect">
            <a:avLst/>
          </a:prstGeom>
        </p:spPr>
      </p:pic>
      <p:pic>
        <p:nvPicPr>
          <p:cNvPr id="11" name="Picture 10"/>
          <p:cNvPicPr>
            <a:picLocks noChangeAspect="1"/>
          </p:cNvPicPr>
          <p:nvPr/>
        </p:nvPicPr>
        <p:blipFill>
          <a:blip r:embed="rId5"/>
          <a:stretch/>
        </p:blipFill>
        <p:spPr>
          <a:xfrm>
            <a:off x="933450" y="2782666"/>
            <a:ext cx="3264255" cy="252205"/>
          </a:xfrm>
          <a:prstGeom prst="rect">
            <a:avLst/>
          </a:prstGeom>
        </p:spPr>
      </p:pic>
      <p:graphicFrame>
        <p:nvGraphicFramePr>
          <p:cNvPr id="12" name="Table 11"/>
          <p:cNvGraphicFramePr/>
          <p:nvPr/>
        </p:nvGraphicFramePr>
        <p:xfrm>
          <a:off x="933450" y="3657600"/>
          <a:ext cx="10382250" cy="215265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430530">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430530">
                <a:tc>
                  <a:txBody>
                    <a:bodyPr/>
                    <a:lstStyle/>
                    <a:p>
                      <a:r>
                        <a:rPr sz="1650" b="1">
                          <a:solidFill>
                            <a:srgbClr val="111111"/>
                          </a:solidFill>
                          <a:latin typeface="Aptos"/>
                          <a:ea typeface="Aptos"/>
                          <a:cs typeface="Aptos"/>
                        </a:rPr>
                        <a:t>Q, L, 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Tones/window, usable tones, and shifted windows S = L−Q+1</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counts</a:t>
                      </a:r>
                    </a:p>
                  </a:txBody>
                  <a:tcPr marL="85725" marR="85725" marT="19050" marB="19050" anchor="ctr">
                    <a:solidFill>
                      <a:srgbClr val="FFFFFF"/>
                    </a:solidFill>
                  </a:tcPr>
                </a:tc>
                <a:extLst>
                  <a:ext uri="{0D108BD9-81ED-4DB2-BD59-A6C34878D82A}">
                    <a16:rowId xmlns:a16="http://schemas.microsoft.com/office/drawing/2014/main" val="10001"/>
                  </a:ext>
                </a:extLst>
              </a:tr>
              <a:tr h="430530">
                <a:tc>
                  <a:txBody>
                    <a:bodyPr/>
                    <a:lstStyle/>
                    <a:p>
                      <a:r>
                        <a:rPr sz="1650" b="1">
                          <a:solidFill>
                            <a:srgbClr val="111111"/>
                          </a:solidFill>
                          <a:latin typeface="Aptos"/>
                          <a:ea typeface="Aptos"/>
                          <a:cs typeface="Aptos"/>
                        </a:rPr>
                        <a:t>b, zᵢ,b,m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Window start offset; stacked Q-tone observation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 = 0…S−1; KQ×1</a:t>
                      </a:r>
                    </a:p>
                  </a:txBody>
                  <a:tcPr marL="85725" marR="85725" marT="19050" marB="19050" anchor="ctr">
                    <a:solidFill>
                      <a:srgbClr val="FFFFFF"/>
                    </a:solidFill>
                  </a:tcPr>
                </a:tc>
                <a:extLst>
                  <a:ext uri="{0D108BD9-81ED-4DB2-BD59-A6C34878D82A}">
                    <a16:rowId xmlns:a16="http://schemas.microsoft.com/office/drawing/2014/main" val="10002"/>
                  </a:ext>
                </a:extLst>
              </a:tr>
              <a:tr h="430530">
                <a:tc>
                  <a:txBody>
                    <a:bodyPr/>
                    <a:lstStyle/>
                    <a:p>
                      <a:r>
                        <a:rPr sz="1650" b="1">
                          <a:solidFill>
                            <a:srgbClr val="111111"/>
                          </a:solidFill>
                          <a:latin typeface="Aptos"/>
                          <a:ea typeface="Aptos"/>
                          <a:cs typeface="Aptos"/>
                        </a:rPr>
                        <a:t>vQ(τ), bQ(ξ,τ)</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Delay progression and joint angle-delay manifold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Q×1; KQ×1</a:t>
                      </a:r>
                    </a:p>
                  </a:txBody>
                  <a:tcPr marL="85725" marR="85725" marT="19050" marB="19050" anchor="ctr">
                    <a:solidFill>
                      <a:srgbClr val="FFFFFF"/>
                    </a:solidFill>
                  </a:tcPr>
                </a:tc>
                <a:extLst>
                  <a:ext uri="{0D108BD9-81ED-4DB2-BD59-A6C34878D82A}">
                    <a16:rowId xmlns:a16="http://schemas.microsoft.com/office/drawing/2014/main" val="10003"/>
                  </a:ext>
                </a:extLst>
              </a:tr>
              <a:tr h="430530">
                <a:tc>
                  <a:txBody>
                    <a:bodyPr/>
                    <a:lstStyle/>
                    <a:p>
                      <a:r>
                        <a:rPr sz="1650" b="1">
                          <a:solidFill>
                            <a:srgbClr val="111111"/>
                          </a:solidFill>
                          <a:latin typeface="Aptos"/>
                          <a:ea typeface="Aptos"/>
                          <a:cs typeface="Aptos"/>
                        </a:rPr>
                        <a:t>Δf, τ, a0, ⊗</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Tone spacing, path delay, reference manifold, Kronecker product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Hz; s; K×1; operation</a:t>
                      </a:r>
                    </a:p>
                  </a:txBody>
                  <a:tcPr marL="85725" marR="85725" marT="19050" marB="19050" anchor="ctr">
                    <a:solidFill>
                      <a:srgbClr val="FFFFFF"/>
                    </a:solidFill>
                  </a:tcPr>
                </a:tc>
                <a:extLst>
                  <a:ext uri="{0D108BD9-81ED-4DB2-BD59-A6C34878D82A}">
                    <a16:rowId xmlns:a16="http://schemas.microsoft.com/office/drawing/2014/main" val="10004"/>
                  </a:ext>
                </a:extLst>
              </a:tr>
            </a:tbl>
          </a:graphicData>
        </a:graphic>
      </p:graphicFrame>
      <p:sp>
        <p:nvSpPr>
          <p:cNvPr id="6" name="added-text-30">
            <a:extLst>
              <a:ext uri="{FF2B5EF4-FFF2-40B4-BE49-F238E27FC236}">
                <a16:creationId xmlns:a16="http://schemas.microsoft.com/office/drawing/2014/main" id="{D9DD2BDD-9C59-4CD3-A37F-2C54EFB94B73}"/>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Requires valid uniform tones and a nearly frequency-flat aperture. Equal path delays are not decorrelated this way.</a:t>
            </a:r>
          </a:p>
        </p:txBody>
      </p:sp>
      <p:sp>
        <p:nvSpPr>
          <p:cNvPr id="7" name="added-text-85">
            <a:extLst>
              <a:ext uri="{FF2B5EF4-FFF2-40B4-BE49-F238E27FC236}">
                <a16:creationId xmlns:a16="http://schemas.microsoft.com/office/drawing/2014/main" id="{E5237411-A81B-4770-8C07-F1C26279E66B}"/>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14</a:t>
            </a:r>
          </a:p>
        </p:txBody>
      </p:sp>
    </p:spTree>
    <p:extLst>
      <p:ext uri="{BB962C8B-B14F-4D97-AF65-F5344CB8AC3E}">
        <p14:creationId xmlns:p14="http://schemas.microsoft.com/office/powerpoint/2010/main" val="1282563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ESPRIT in beamspace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33" name="Picture 32"/>
          <p:cNvPicPr>
            <a:picLocks noChangeAspect="1"/>
          </p:cNvPicPr>
          <p:nvPr/>
        </p:nvPicPr>
        <p:blipFill>
          <a:blip r:embed="rId3"/>
          <a:stretch/>
        </p:blipFill>
        <p:spPr>
          <a:xfrm>
            <a:off x="933450" y="1943100"/>
            <a:ext cx="1869797" cy="286992"/>
          </a:xfrm>
          <a:prstGeom prst="rect">
            <a:avLst/>
          </a:prstGeom>
        </p:spPr>
      </p:pic>
      <p:pic>
        <p:nvPicPr>
          <p:cNvPr id="34" name="Picture 33"/>
          <p:cNvPicPr>
            <a:picLocks noChangeAspect="1"/>
          </p:cNvPicPr>
          <p:nvPr/>
        </p:nvPicPr>
        <p:blipFill>
          <a:blip r:embed="rId4"/>
          <a:stretch/>
        </p:blipFill>
        <p:spPr>
          <a:xfrm>
            <a:off x="933450" y="2496792"/>
            <a:ext cx="2304633" cy="347869"/>
          </a:xfrm>
          <a:prstGeom prst="rect">
            <a:avLst/>
          </a:prstGeom>
        </p:spPr>
      </p:pic>
      <p:pic>
        <p:nvPicPr>
          <p:cNvPr id="35" name="Picture 34"/>
          <p:cNvPicPr>
            <a:picLocks noChangeAspect="1"/>
          </p:cNvPicPr>
          <p:nvPr/>
        </p:nvPicPr>
        <p:blipFill>
          <a:blip r:embed="rId5"/>
          <a:stretch/>
        </p:blipFill>
        <p:spPr>
          <a:xfrm>
            <a:off x="933450" y="3111361"/>
            <a:ext cx="2404646" cy="330476"/>
          </a:xfrm>
          <a:prstGeom prst="rect">
            <a:avLst/>
          </a:prstGeom>
        </p:spPr>
      </p:pic>
      <p:sp>
        <p:nvSpPr>
          <p:cNvPr id="7" name="diagram-277">
            <a:extLst>
              <a:ext uri="{FF2B5EF4-FFF2-40B4-BE49-F238E27FC236}">
                <a16:creationId xmlns:a16="http://schemas.microsoft.com/office/drawing/2014/main" id="{2A1D3CE3-B09A-4511-955B-F42D9C4131B0}"/>
              </a:ext>
            </a:extLst>
          </p:cNvPr>
          <p:cNvSpPr>
            <a:spLocks noGrp="1"/>
          </p:cNvSpPr>
          <p:nvPr/>
        </p:nvSpPr>
        <p:spPr>
          <a:xfrm>
            <a:off x="7820025" y="2057400"/>
            <a:ext cx="3333750" cy="609600"/>
          </a:xfrm>
          <a:prstGeom prst="rect">
            <a:avLst/>
          </a:prstGeom>
          <a:solidFill>
            <a:srgbClr val="FFFFFF"/>
          </a:solidFill>
          <a:ln w="19050">
            <a:solidFill>
              <a:srgbClr val="111111"/>
            </a:solidFill>
          </a:ln>
        </p:spPr>
        <p:txBody>
          <a:bodyPr/>
          <a:lstStyle/>
          <a:p>
            <a:endParaRPr lang="en-US"/>
          </a:p>
        </p:txBody>
      </p:sp>
      <p:sp>
        <p:nvSpPr>
          <p:cNvPr id="8" name="diagram-278">
            <a:extLst>
              <a:ext uri="{FF2B5EF4-FFF2-40B4-BE49-F238E27FC236}">
                <a16:creationId xmlns:a16="http://schemas.microsoft.com/office/drawing/2014/main" id="{81D1AA00-6838-47F7-A964-6B3817208DA6}"/>
              </a:ext>
            </a:extLst>
          </p:cNvPr>
          <p:cNvSpPr>
            <a:spLocks noGrp="1"/>
          </p:cNvSpPr>
          <p:nvPr/>
        </p:nvSpPr>
        <p:spPr>
          <a:xfrm>
            <a:off x="7896225" y="2171700"/>
            <a:ext cx="3181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Calibrated circular manifold</a:t>
            </a:r>
          </a:p>
        </p:txBody>
      </p:sp>
      <p:sp>
        <p:nvSpPr>
          <p:cNvPr id="9" name="diagram-279">
            <a:extLst>
              <a:ext uri="{FF2B5EF4-FFF2-40B4-BE49-F238E27FC236}">
                <a16:creationId xmlns:a16="http://schemas.microsoft.com/office/drawing/2014/main" id="{19D31E94-185D-4C9D-BF14-70FFB99F06E0}"/>
              </a:ext>
            </a:extLst>
          </p:cNvPr>
          <p:cNvSpPr>
            <a:spLocks noGrp="1"/>
          </p:cNvSpPr>
          <p:nvPr/>
        </p:nvSpPr>
        <p:spPr>
          <a:xfrm>
            <a:off x="7820025" y="3028950"/>
            <a:ext cx="3333750" cy="609600"/>
          </a:xfrm>
          <a:prstGeom prst="rect">
            <a:avLst/>
          </a:prstGeom>
          <a:solidFill>
            <a:srgbClr val="FFFFFF"/>
          </a:solidFill>
          <a:ln w="19050">
            <a:solidFill>
              <a:srgbClr val="111111"/>
            </a:solidFill>
          </a:ln>
        </p:spPr>
        <p:txBody>
          <a:bodyPr/>
          <a:lstStyle/>
          <a:p>
            <a:endParaRPr lang="en-US"/>
          </a:p>
        </p:txBody>
      </p:sp>
      <p:sp>
        <p:nvSpPr>
          <p:cNvPr id="10" name="diagram-280">
            <a:extLst>
              <a:ext uri="{FF2B5EF4-FFF2-40B4-BE49-F238E27FC236}">
                <a16:creationId xmlns:a16="http://schemas.microsoft.com/office/drawing/2014/main" id="{997D84F8-421E-4D3A-A405-684CEE191FA2}"/>
              </a:ext>
            </a:extLst>
          </p:cNvPr>
          <p:cNvSpPr>
            <a:spLocks noGrp="1"/>
          </p:cNvSpPr>
          <p:nvPr/>
        </p:nvSpPr>
        <p:spPr>
          <a:xfrm>
            <a:off x="7896225" y="3143250"/>
            <a:ext cx="3181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Validated phase-mode transform</a:t>
            </a:r>
          </a:p>
        </p:txBody>
      </p:sp>
      <p:sp>
        <p:nvSpPr>
          <p:cNvPr id="11" name="diagram-281">
            <a:extLst>
              <a:ext uri="{FF2B5EF4-FFF2-40B4-BE49-F238E27FC236}">
                <a16:creationId xmlns:a16="http://schemas.microsoft.com/office/drawing/2014/main" id="{2221379F-2952-4E8F-9E57-C8C0AD730D42}"/>
              </a:ext>
            </a:extLst>
          </p:cNvPr>
          <p:cNvSpPr>
            <a:spLocks noGrp="1"/>
          </p:cNvSpPr>
          <p:nvPr/>
        </p:nvSpPr>
        <p:spPr>
          <a:xfrm>
            <a:off x="7820025" y="4000500"/>
            <a:ext cx="3333750" cy="609600"/>
          </a:xfrm>
          <a:prstGeom prst="rect">
            <a:avLst/>
          </a:prstGeom>
          <a:solidFill>
            <a:srgbClr val="FFFFFF"/>
          </a:solidFill>
          <a:ln w="19050">
            <a:solidFill>
              <a:srgbClr val="111111"/>
            </a:solidFill>
          </a:ln>
        </p:spPr>
        <p:txBody>
          <a:bodyPr/>
          <a:lstStyle/>
          <a:p>
            <a:endParaRPr lang="en-US"/>
          </a:p>
        </p:txBody>
      </p:sp>
      <p:sp>
        <p:nvSpPr>
          <p:cNvPr id="12" name="diagram-282">
            <a:extLst>
              <a:ext uri="{FF2B5EF4-FFF2-40B4-BE49-F238E27FC236}">
                <a16:creationId xmlns:a16="http://schemas.microsoft.com/office/drawing/2014/main" id="{A31DB021-7F4C-46B6-BB60-44E052A17D96}"/>
              </a:ext>
            </a:extLst>
          </p:cNvPr>
          <p:cNvSpPr>
            <a:spLocks noGrp="1"/>
          </p:cNvSpPr>
          <p:nvPr/>
        </p:nvSpPr>
        <p:spPr>
          <a:xfrm>
            <a:off x="7896225" y="4114800"/>
            <a:ext cx="3181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Overlapping virtual subarrays</a:t>
            </a:r>
          </a:p>
        </p:txBody>
      </p:sp>
      <p:sp>
        <p:nvSpPr>
          <p:cNvPr id="13" name="diagram-283">
            <a:extLst>
              <a:ext uri="{FF2B5EF4-FFF2-40B4-BE49-F238E27FC236}">
                <a16:creationId xmlns:a16="http://schemas.microsoft.com/office/drawing/2014/main" id="{75BD7118-0737-434A-94E1-B9BD22A9423B}"/>
              </a:ext>
            </a:extLst>
          </p:cNvPr>
          <p:cNvSpPr>
            <a:spLocks noGrp="1"/>
          </p:cNvSpPr>
          <p:nvPr/>
        </p:nvSpPr>
        <p:spPr>
          <a:xfrm>
            <a:off x="7820025" y="4972050"/>
            <a:ext cx="3333750" cy="609600"/>
          </a:xfrm>
          <a:prstGeom prst="rect">
            <a:avLst/>
          </a:prstGeom>
          <a:solidFill>
            <a:srgbClr val="FFFFFF"/>
          </a:solidFill>
          <a:ln w="19050">
            <a:solidFill>
              <a:srgbClr val="111111"/>
            </a:solidFill>
          </a:ln>
        </p:spPr>
        <p:txBody>
          <a:bodyPr/>
          <a:lstStyle/>
          <a:p>
            <a:endParaRPr lang="en-US"/>
          </a:p>
        </p:txBody>
      </p:sp>
      <p:sp>
        <p:nvSpPr>
          <p:cNvPr id="14" name="diagram-284">
            <a:extLst>
              <a:ext uri="{FF2B5EF4-FFF2-40B4-BE49-F238E27FC236}">
                <a16:creationId xmlns:a16="http://schemas.microsoft.com/office/drawing/2014/main" id="{C3E218C8-9C84-469F-841E-5B5388E288E5}"/>
              </a:ext>
            </a:extLst>
          </p:cNvPr>
          <p:cNvSpPr>
            <a:spLocks noGrp="1"/>
          </p:cNvSpPr>
          <p:nvPr/>
        </p:nvSpPr>
        <p:spPr>
          <a:xfrm>
            <a:off x="7896225" y="5086350"/>
            <a:ext cx="3181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Eigenvalue angle readout</a:t>
            </a:r>
          </a:p>
        </p:txBody>
      </p:sp>
      <p:sp>
        <p:nvSpPr>
          <p:cNvPr id="15" name="line-285">
            <a:extLst>
              <a:ext uri="{FF2B5EF4-FFF2-40B4-BE49-F238E27FC236}">
                <a16:creationId xmlns:a16="http://schemas.microsoft.com/office/drawing/2014/main" id="{D8FCA39A-F675-4F76-866C-57046CACB063}"/>
              </a:ext>
            </a:extLst>
          </p:cNvPr>
          <p:cNvSpPr>
            <a:spLocks noGrp="1"/>
          </p:cNvSpPr>
          <p:nvPr/>
        </p:nvSpPr>
        <p:spPr>
          <a:xfrm>
            <a:off x="9467850" y="2705100"/>
            <a:ext cx="9525" cy="266700"/>
          </a:xfrm>
          <a:custGeom>
            <a:avLst/>
            <a:gdLst/>
            <a:ahLst/>
            <a:cxnLst/>
            <a:rect l="0" t="0" r="0" b="0"/>
            <a:pathLst>
              <a:path w="9525" h="266700">
                <a:moveTo>
                  <a:pt x="0" y="0"/>
                </a:moveTo>
                <a:lnTo>
                  <a:pt x="0" y="266700"/>
                </a:lnTo>
              </a:path>
            </a:pathLst>
          </a:custGeom>
          <a:noFill/>
          <a:ln w="23813">
            <a:solidFill>
              <a:srgbClr val="17698C"/>
            </a:solidFill>
          </a:ln>
        </p:spPr>
        <p:txBody>
          <a:bodyPr/>
          <a:lstStyle/>
          <a:p>
            <a:endParaRPr lang="en-US"/>
          </a:p>
        </p:txBody>
      </p:sp>
      <p:sp>
        <p:nvSpPr>
          <p:cNvPr id="16" name="line-286">
            <a:extLst>
              <a:ext uri="{FF2B5EF4-FFF2-40B4-BE49-F238E27FC236}">
                <a16:creationId xmlns:a16="http://schemas.microsoft.com/office/drawing/2014/main" id="{84E59A65-9F8D-4D37-A5C8-534C981779F5}"/>
              </a:ext>
            </a:extLst>
          </p:cNvPr>
          <p:cNvSpPr>
            <a:spLocks noGrp="1"/>
          </p:cNvSpPr>
          <p:nvPr/>
        </p:nvSpPr>
        <p:spPr>
          <a:xfrm>
            <a:off x="9426420" y="2886032"/>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7" name="line-287">
            <a:extLst>
              <a:ext uri="{FF2B5EF4-FFF2-40B4-BE49-F238E27FC236}">
                <a16:creationId xmlns:a16="http://schemas.microsoft.com/office/drawing/2014/main" id="{E08683AA-821C-44DE-A3F4-FB2929B44952}"/>
              </a:ext>
            </a:extLst>
          </p:cNvPr>
          <p:cNvSpPr>
            <a:spLocks noGrp="1"/>
          </p:cNvSpPr>
          <p:nvPr/>
        </p:nvSpPr>
        <p:spPr>
          <a:xfrm>
            <a:off x="9467850" y="2886032"/>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8" name="line-288">
            <a:extLst>
              <a:ext uri="{FF2B5EF4-FFF2-40B4-BE49-F238E27FC236}">
                <a16:creationId xmlns:a16="http://schemas.microsoft.com/office/drawing/2014/main" id="{17B93D03-E019-4BA2-8A27-25FC50D6E1A1}"/>
              </a:ext>
            </a:extLst>
          </p:cNvPr>
          <p:cNvSpPr>
            <a:spLocks noGrp="1"/>
          </p:cNvSpPr>
          <p:nvPr/>
        </p:nvSpPr>
        <p:spPr>
          <a:xfrm>
            <a:off x="9467850" y="3676650"/>
            <a:ext cx="9525" cy="266700"/>
          </a:xfrm>
          <a:custGeom>
            <a:avLst/>
            <a:gdLst/>
            <a:ahLst/>
            <a:cxnLst/>
            <a:rect l="0" t="0" r="0" b="0"/>
            <a:pathLst>
              <a:path w="9525" h="266700">
                <a:moveTo>
                  <a:pt x="0" y="0"/>
                </a:moveTo>
                <a:lnTo>
                  <a:pt x="0" y="266700"/>
                </a:lnTo>
              </a:path>
            </a:pathLst>
          </a:custGeom>
          <a:noFill/>
          <a:ln w="23813">
            <a:solidFill>
              <a:srgbClr val="17698C"/>
            </a:solidFill>
          </a:ln>
        </p:spPr>
        <p:txBody>
          <a:bodyPr/>
          <a:lstStyle/>
          <a:p>
            <a:endParaRPr lang="en-US"/>
          </a:p>
        </p:txBody>
      </p:sp>
      <p:sp>
        <p:nvSpPr>
          <p:cNvPr id="19" name="line-289">
            <a:extLst>
              <a:ext uri="{FF2B5EF4-FFF2-40B4-BE49-F238E27FC236}">
                <a16:creationId xmlns:a16="http://schemas.microsoft.com/office/drawing/2014/main" id="{0F3E8EB8-B23C-4671-8D7F-96B2CF43937E}"/>
              </a:ext>
            </a:extLst>
          </p:cNvPr>
          <p:cNvSpPr>
            <a:spLocks noGrp="1"/>
          </p:cNvSpPr>
          <p:nvPr/>
        </p:nvSpPr>
        <p:spPr>
          <a:xfrm>
            <a:off x="9426420" y="3857582"/>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20" name="line-290">
            <a:extLst>
              <a:ext uri="{FF2B5EF4-FFF2-40B4-BE49-F238E27FC236}">
                <a16:creationId xmlns:a16="http://schemas.microsoft.com/office/drawing/2014/main" id="{74A2DBD1-7703-4BAA-AC3F-1CCD3D517460}"/>
              </a:ext>
            </a:extLst>
          </p:cNvPr>
          <p:cNvSpPr>
            <a:spLocks noGrp="1"/>
          </p:cNvSpPr>
          <p:nvPr/>
        </p:nvSpPr>
        <p:spPr>
          <a:xfrm>
            <a:off x="9467850" y="3857582"/>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21" name="line-291">
            <a:extLst>
              <a:ext uri="{FF2B5EF4-FFF2-40B4-BE49-F238E27FC236}">
                <a16:creationId xmlns:a16="http://schemas.microsoft.com/office/drawing/2014/main" id="{77B13AB7-7724-436F-B673-518F8F97A9B6}"/>
              </a:ext>
            </a:extLst>
          </p:cNvPr>
          <p:cNvSpPr>
            <a:spLocks noGrp="1"/>
          </p:cNvSpPr>
          <p:nvPr/>
        </p:nvSpPr>
        <p:spPr>
          <a:xfrm>
            <a:off x="9467850" y="4648200"/>
            <a:ext cx="9525" cy="266700"/>
          </a:xfrm>
          <a:custGeom>
            <a:avLst/>
            <a:gdLst/>
            <a:ahLst/>
            <a:cxnLst/>
            <a:rect l="0" t="0" r="0" b="0"/>
            <a:pathLst>
              <a:path w="9525" h="266700">
                <a:moveTo>
                  <a:pt x="0" y="0"/>
                </a:moveTo>
                <a:lnTo>
                  <a:pt x="0" y="266700"/>
                </a:lnTo>
              </a:path>
            </a:pathLst>
          </a:custGeom>
          <a:noFill/>
          <a:ln w="23813">
            <a:solidFill>
              <a:srgbClr val="17698C"/>
            </a:solidFill>
          </a:ln>
        </p:spPr>
        <p:txBody>
          <a:bodyPr/>
          <a:lstStyle/>
          <a:p>
            <a:endParaRPr lang="en-US"/>
          </a:p>
        </p:txBody>
      </p:sp>
      <p:sp>
        <p:nvSpPr>
          <p:cNvPr id="22" name="line-292">
            <a:extLst>
              <a:ext uri="{FF2B5EF4-FFF2-40B4-BE49-F238E27FC236}">
                <a16:creationId xmlns:a16="http://schemas.microsoft.com/office/drawing/2014/main" id="{63C0052C-9387-43D1-AFEF-AA996A6C9A66}"/>
              </a:ext>
            </a:extLst>
          </p:cNvPr>
          <p:cNvSpPr>
            <a:spLocks noGrp="1"/>
          </p:cNvSpPr>
          <p:nvPr/>
        </p:nvSpPr>
        <p:spPr>
          <a:xfrm>
            <a:off x="9426420" y="4829132"/>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23" name="line-293">
            <a:extLst>
              <a:ext uri="{FF2B5EF4-FFF2-40B4-BE49-F238E27FC236}">
                <a16:creationId xmlns:a16="http://schemas.microsoft.com/office/drawing/2014/main" id="{73E0CFEB-B06C-4E27-A401-EBFB12AFC954}"/>
              </a:ext>
            </a:extLst>
          </p:cNvPr>
          <p:cNvSpPr>
            <a:spLocks noGrp="1"/>
          </p:cNvSpPr>
          <p:nvPr/>
        </p:nvSpPr>
        <p:spPr>
          <a:xfrm>
            <a:off x="9467850" y="4829132"/>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24" name="diagram-294">
            <a:extLst>
              <a:ext uri="{FF2B5EF4-FFF2-40B4-BE49-F238E27FC236}">
                <a16:creationId xmlns:a16="http://schemas.microsoft.com/office/drawing/2014/main" id="{F6440F3B-D6E7-44A2-9228-42EF6B6ED467}"/>
              </a:ext>
            </a:extLst>
          </p:cNvPr>
          <p:cNvSpPr>
            <a:spLocks noGrp="1"/>
          </p:cNvSpPr>
          <p:nvPr/>
        </p:nvSpPr>
        <p:spPr>
          <a:xfrm>
            <a:off x="933450" y="4886325"/>
            <a:ext cx="6286500" cy="1504950"/>
          </a:xfrm>
          <a:prstGeom prst="rect">
            <a:avLst/>
          </a:prstGeom>
          <a:noFill/>
          <a:ln w="0">
            <a:noFill/>
          </a:ln>
        </p:spPr>
        <p:txBody>
          <a:bodyPr lIns="0" tIns="0" rIns="0" bIns="0" anchor="t">
            <a:noAutofit/>
          </a:bodyPr>
          <a:lstStyle/>
          <a:p>
            <a:pPr marL="228600" indent="-165100" algn="l">
              <a:spcAft>
                <a:spcPts val="1500"/>
              </a:spcAft>
              <a:buChar char="•"/>
              <a:defRPr sz="1875" b="0">
                <a:solidFill>
                  <a:srgbClr val="111111"/>
                </a:solidFill>
                <a:latin typeface="Aptos"/>
                <a:ea typeface="Aptos"/>
                <a:cs typeface="Aptos"/>
              </a:defRPr>
            </a:pPr>
            <a:r>
              <a:rPr sz="1875" b="0">
                <a:solidFill>
                  <a:srgbClr val="111111"/>
                </a:solidFill>
                <a:latin typeface="Aptos"/>
                <a:ea typeface="Aptos"/>
                <a:cs typeface="Aptos"/>
              </a:rPr>
              <a:t>No spectral grid search after a valid transform.</a:t>
            </a:r>
          </a:p>
          <a:p>
            <a:pPr marL="228600" indent="-165100" algn="l">
              <a:spcAft>
                <a:spcPts val="1500"/>
              </a:spcAft>
              <a:buChar char="•"/>
              <a:defRPr sz="1875" b="0">
                <a:solidFill>
                  <a:srgbClr val="111111"/>
                </a:solidFill>
                <a:latin typeface="Aptos"/>
                <a:ea typeface="Aptos"/>
                <a:cs typeface="Aptos"/>
              </a:defRPr>
            </a:pPr>
            <a:r>
              <a:rPr sz="1875" b="0">
                <a:solidFill>
                  <a:srgbClr val="111111"/>
                </a:solidFill>
                <a:latin typeface="Aptos"/>
                <a:ea typeface="Aptos"/>
                <a:cs typeface="Aptos"/>
              </a:rPr>
              <a:t>Verify invariance and conditioning for the actual geometry.</a:t>
            </a:r>
          </a:p>
        </p:txBody>
      </p:sp>
      <p:sp>
        <p:nvSpPr>
          <p:cNvPr id="29" name="added-text-4">
            <a:extLst>
              <a:ext uri="{FF2B5EF4-FFF2-40B4-BE49-F238E27FC236}">
                <a16:creationId xmlns:a16="http://schemas.microsoft.com/office/drawing/2014/main" id="{9968FD91-828C-427B-8657-BFF045E8478D}"/>
              </a:ext>
            </a:extLst>
          </p:cNvPr>
          <p:cNvSpPr>
            <a:spLocks noGrp="1"/>
          </p:cNvSpPr>
          <p:nvPr/>
        </p:nvSpPr>
        <p:spPr>
          <a:xfrm>
            <a:off x="933450" y="3943350"/>
            <a:ext cx="6191250" cy="638175"/>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Es: transformed signal subspace</a:t>
            </a:r>
          </a:p>
          <a:p>
            <a:pPr algn="l">
              <a:defRPr sz="1575" b="0">
                <a:solidFill>
                  <a:srgbClr val="17698C"/>
                </a:solidFill>
                <a:latin typeface="Aptos"/>
                <a:ea typeface="Aptos"/>
                <a:cs typeface="Aptos"/>
              </a:defRPr>
            </a:pPr>
            <a:r>
              <a:rPr sz="1575" b="0">
                <a:solidFill>
                  <a:srgbClr val="17698C"/>
                </a:solidFill>
                <a:latin typeface="Aptos"/>
                <a:ea typeface="Aptos"/>
                <a:cs typeface="Aptos"/>
              </a:rPr>
              <a:t>J1 / J2: selection matrices    Ψ: invariance operator</a:t>
            </a:r>
          </a:p>
        </p:txBody>
      </p:sp>
      <p:sp>
        <p:nvSpPr>
          <p:cNvPr id="30" name="added-text-86">
            <a:extLst>
              <a:ext uri="{FF2B5EF4-FFF2-40B4-BE49-F238E27FC236}">
                <a16:creationId xmlns:a16="http://schemas.microsoft.com/office/drawing/2014/main" id="{AD574C95-7280-4490-B643-1930D8962340}"/>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15</a:t>
            </a:r>
          </a:p>
        </p:txBody>
      </p:sp>
    </p:spTree>
    <p:extLst>
      <p:ext uri="{BB962C8B-B14F-4D97-AF65-F5344CB8AC3E}">
        <p14:creationId xmlns:p14="http://schemas.microsoft.com/office/powerpoint/2010/main" val="2955090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ed-text-31">
            <a:extLst>
              <a:ext uri="{FF2B5EF4-FFF2-40B4-BE49-F238E27FC236}">
                <a16:creationId xmlns:a16="http://schemas.microsoft.com/office/drawing/2014/main" id="{442E0FF9-8295-40BB-A706-9F357F8657CB}"/>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ESPRIT steps and notation</a:t>
            </a:r>
          </a:p>
        </p:txBody>
      </p:sp>
      <p:graphicFrame>
        <p:nvGraphicFramePr>
          <p:cNvPr id="7" name="Table 6"/>
          <p:cNvGraphicFramePr/>
          <p:nvPr/>
        </p:nvGraphicFramePr>
        <p:xfrm>
          <a:off x="933450" y="1924050"/>
          <a:ext cx="10382250" cy="237744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453390">
                <a:tc>
                  <a:txBody>
                    <a:bodyPr/>
                    <a:lstStyle/>
                    <a:p>
                      <a:r>
                        <a:rPr sz="1725"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453390">
                <a:tc>
                  <a:txBody>
                    <a:bodyPr/>
                    <a:lstStyle/>
                    <a:p>
                      <a:r>
                        <a:rPr sz="1725" b="1">
                          <a:solidFill>
                            <a:srgbClr val="111111"/>
                          </a:solidFill>
                          <a:latin typeface="Aptos"/>
                          <a:ea typeface="Aptos"/>
                          <a:cs typeface="Aptos"/>
                        </a:rPr>
                        <a:t>Es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Signal-subspace basis after the validated mode transform</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V × D</a:t>
                      </a:r>
                    </a:p>
                  </a:txBody>
                  <a:tcPr marL="85725" marR="85725" marT="19050" marB="19050" anchor="ctr">
                    <a:solidFill>
                      <a:srgbClr val="FFFFFF"/>
                    </a:solidFill>
                  </a:tcPr>
                </a:tc>
                <a:extLst>
                  <a:ext uri="{0D108BD9-81ED-4DB2-BD59-A6C34878D82A}">
                    <a16:rowId xmlns:a16="http://schemas.microsoft.com/office/drawing/2014/main" val="10001"/>
                  </a:ext>
                </a:extLst>
              </a:tr>
              <a:tr h="453390">
                <a:tc>
                  <a:txBody>
                    <a:bodyPr/>
                    <a:lstStyle/>
                    <a:p>
                      <a:r>
                        <a:rPr sz="1725" b="1">
                          <a:solidFill>
                            <a:srgbClr val="111111"/>
                          </a:solidFill>
                          <a:latin typeface="Aptos"/>
                          <a:ea typeface="Aptos"/>
                          <a:cs typeface="Aptos"/>
                        </a:rPr>
                        <a:t>J1, J2</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Matrices selecting two overlapping virtual subarrays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 × V each</a:t>
                      </a:r>
                    </a:p>
                  </a:txBody>
                  <a:tcPr marL="85725" marR="85725" marT="19050" marB="19050" anchor="ctr">
                    <a:solidFill>
                      <a:srgbClr val="FFFFFF"/>
                    </a:solidFill>
                  </a:tcPr>
                </a:tc>
                <a:extLst>
                  <a:ext uri="{0D108BD9-81ED-4DB2-BD59-A6C34878D82A}">
                    <a16:rowId xmlns:a16="http://schemas.microsoft.com/office/drawing/2014/main" val="10002"/>
                  </a:ext>
                </a:extLst>
              </a:tr>
              <a:tr h="453390">
                <a:tc>
                  <a:txBody>
                    <a:bodyPr/>
                    <a:lstStyle/>
                    <a:p>
                      <a:r>
                        <a:rPr sz="1725" b="1">
                          <a:solidFill>
                            <a:srgbClr val="111111"/>
                          </a:solidFill>
                          <a:latin typeface="Aptos"/>
                          <a:ea typeface="Aptos"/>
                          <a:cs typeface="Aptos"/>
                        </a:rPr>
                        <a:t>Ψ</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Operator mapping one selected subspace to the other</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D × D</a:t>
                      </a:r>
                    </a:p>
                  </a:txBody>
                  <a:tcPr marL="85725" marR="85725" marT="19050" marB="19050" anchor="ctr">
                    <a:solidFill>
                      <a:srgbClr val="FFFFFF"/>
                    </a:solidFill>
                  </a:tcPr>
                </a:tc>
                <a:extLst>
                  <a:ext uri="{0D108BD9-81ED-4DB2-BD59-A6C34878D82A}">
                    <a16:rowId xmlns:a16="http://schemas.microsoft.com/office/drawing/2014/main" val="10003"/>
                  </a:ext>
                </a:extLst>
              </a:tr>
              <a:tr h="453390">
                <a:tc>
                  <a:txBody>
                    <a:bodyPr/>
                    <a:lstStyle/>
                    <a:p>
                      <a:r>
                        <a:rPr sz="1725" b="1">
                          <a:solidFill>
                            <a:srgbClr val="111111"/>
                          </a:solidFill>
                          <a:latin typeface="Aptos"/>
                          <a:ea typeface="Aptos"/>
                          <a:cs typeface="Aptos"/>
                        </a:rPr>
                        <a:t>V, R, †, eig, arg</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Mode count, selected rows, pseudoinverse, eigenvalues, phase</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defined locally</a:t>
                      </a:r>
                    </a:p>
                  </a:txBody>
                  <a:tcPr marL="85725" marR="85725" marT="19050" marB="19050" anchor="ctr">
                    <a:solidFill>
                      <a:srgbClr val="FFFFFF"/>
                    </a:solidFill>
                  </a:tcPr>
                </a:tc>
                <a:extLst>
                  <a:ext uri="{0D108BD9-81ED-4DB2-BD59-A6C34878D82A}">
                    <a16:rowId xmlns:a16="http://schemas.microsoft.com/office/drawing/2014/main" val="10004"/>
                  </a:ext>
                </a:extLst>
              </a:tr>
            </a:tbl>
          </a:graphicData>
        </a:graphic>
      </p:graphicFrame>
      <p:sp>
        <p:nvSpPr>
          <p:cNvPr id="3" name="added-text-32">
            <a:extLst>
              <a:ext uri="{FF2B5EF4-FFF2-40B4-BE49-F238E27FC236}">
                <a16:creationId xmlns:a16="http://schemas.microsoft.com/office/drawing/2014/main" id="{83A7B667-BBBD-4CBF-9293-14877DF4AC84}"/>
              </a:ext>
            </a:extLst>
          </p:cNvPr>
          <p:cNvSpPr>
            <a:spLocks noGrp="1"/>
          </p:cNvSpPr>
          <p:nvPr/>
        </p:nvSpPr>
        <p:spPr>
          <a:xfrm>
            <a:off x="933450" y="4438650"/>
            <a:ext cx="10287000" cy="1581150"/>
          </a:xfrm>
          <a:prstGeom prst="rect">
            <a:avLst/>
          </a:prstGeom>
          <a:noFill/>
          <a:ln w="0">
            <a:noFill/>
          </a:ln>
        </p:spPr>
        <p:txBody>
          <a:bodyPr lIns="0" tIns="0" rIns="0" bIns="0" anchor="t">
            <a:noAutofit/>
          </a:bodyPr>
          <a:lstStyle/>
          <a:p>
            <a:pPr algn="l">
              <a:defRPr sz="1650" b="0">
                <a:solidFill>
                  <a:srgbClr val="111111"/>
                </a:solidFill>
                <a:latin typeface="Consolas"/>
                <a:ea typeface="Consolas"/>
                <a:cs typeface="Consolas"/>
              </a:defRPr>
            </a:pPr>
            <a:r>
              <a:rPr sz="1650" b="0">
                <a:solidFill>
                  <a:srgbClr val="111111"/>
                </a:solidFill>
                <a:latin typeface="Consolas"/>
                <a:ea typeface="Consolas"/>
                <a:cs typeface="Consolas"/>
              </a:rPr>
              <a:t>validate beamspace transform and response conditioning</a:t>
            </a:r>
          </a:p>
          <a:p>
            <a:pPr algn="l">
              <a:defRPr sz="1650" b="0">
                <a:solidFill>
                  <a:srgbClr val="111111"/>
                </a:solidFill>
                <a:latin typeface="Consolas"/>
                <a:ea typeface="Consolas"/>
                <a:cs typeface="Consolas"/>
              </a:defRPr>
            </a:pPr>
            <a:r>
              <a:rPr sz="1650" b="0">
                <a:solidFill>
                  <a:srgbClr val="111111"/>
                </a:solidFill>
                <a:latin typeface="Consolas"/>
                <a:ea typeface="Consolas"/>
                <a:cs typeface="Consolas"/>
              </a:rPr>
              <a:t>form Es; solve Psi = pinv(J1 * Es) * (J2 * Es)</a:t>
            </a:r>
          </a:p>
          <a:p>
            <a:pPr algn="l">
              <a:defRPr sz="1650" b="0">
                <a:solidFill>
                  <a:srgbClr val="111111"/>
                </a:solidFill>
                <a:latin typeface="Consolas"/>
                <a:ea typeface="Consolas"/>
                <a:cs typeface="Consolas"/>
              </a:defRPr>
            </a:pPr>
            <a:r>
              <a:rPr sz="1650" b="0">
                <a:solidFill>
                  <a:srgbClr val="111111"/>
                </a:solidFill>
                <a:latin typeface="Consolas"/>
                <a:ea typeface="Consolas"/>
                <a:cs typeface="Consolas"/>
              </a:rPr>
              <a:t>map eigenvalue phases to angles using the calibrated convention</a:t>
            </a:r>
          </a:p>
          <a:p>
            <a:pPr algn="l">
              <a:defRPr sz="1650" b="0">
                <a:solidFill>
                  <a:srgbClr val="111111"/>
                </a:solidFill>
                <a:latin typeface="Consolas"/>
                <a:ea typeface="Consolas"/>
                <a:cs typeface="Consolas"/>
              </a:defRPr>
            </a:pPr>
            <a:r>
              <a:rPr sz="1650" b="0">
                <a:solidFill>
                  <a:srgbClr val="111111"/>
                </a:solidFill>
                <a:latin typeface="Consolas"/>
                <a:ea typeface="Consolas"/>
                <a:cs typeface="Consolas"/>
              </a:rPr>
              <a:t>validate reconstructed responses; reject an unreliable transform</a:t>
            </a:r>
          </a:p>
        </p:txBody>
      </p:sp>
      <p:sp>
        <p:nvSpPr>
          <p:cNvPr id="4" name="added-text-33">
            <a:extLst>
              <a:ext uri="{FF2B5EF4-FFF2-40B4-BE49-F238E27FC236}">
                <a16:creationId xmlns:a16="http://schemas.microsoft.com/office/drawing/2014/main" id="{E077B75D-63A1-4892-9274-C119396F30F4}"/>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 partial rotating arc does not automatically satisfy full-circle UCA invariance. Validate the approximation.</a:t>
            </a:r>
          </a:p>
        </p:txBody>
      </p:sp>
      <p:sp>
        <p:nvSpPr>
          <p:cNvPr id="5" name="added-text-87">
            <a:extLst>
              <a:ext uri="{FF2B5EF4-FFF2-40B4-BE49-F238E27FC236}">
                <a16:creationId xmlns:a16="http://schemas.microsoft.com/office/drawing/2014/main" id="{2C46C86E-62B4-4DAD-B42D-76F4934629AA}"/>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16</a:t>
            </a:r>
          </a:p>
        </p:txBody>
      </p:sp>
    </p:spTree>
    <p:extLst>
      <p:ext uri="{BB962C8B-B14F-4D97-AF65-F5344CB8AC3E}">
        <p14:creationId xmlns:p14="http://schemas.microsoft.com/office/powerpoint/2010/main" val="80987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SAGE update equations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295">
            <a:extLst>
              <a:ext uri="{FF2B5EF4-FFF2-40B4-BE49-F238E27FC236}">
                <a16:creationId xmlns:a16="http://schemas.microsoft.com/office/drawing/2014/main" id="{636BC795-70F5-459F-ADA2-E566F2F553E6}"/>
              </a:ext>
            </a:extLst>
          </p:cNvPr>
          <p:cNvSpPr>
            <a:spLocks noGrp="1"/>
          </p:cNvSpPr>
          <p:nvPr/>
        </p:nvSpPr>
        <p:spPr>
          <a:xfrm>
            <a:off x="933450" y="1943100"/>
            <a:ext cx="4095750" cy="352425"/>
          </a:xfrm>
          <a:prstGeom prst="rect">
            <a:avLst/>
          </a:prstGeom>
          <a:noFill/>
          <a:ln w="0">
            <a:noFill/>
          </a:ln>
        </p:spPr>
        <p:txBody>
          <a:bodyPr lIns="0" tIns="0" rIns="0" bIns="0" anchor="t">
            <a:noAutofit/>
          </a:bodyPr>
          <a:lstStyle/>
          <a:p>
            <a:pPr algn="l">
              <a:buNone/>
              <a:defRPr sz="1950" b="1">
                <a:solidFill>
                  <a:srgbClr val="111111"/>
                </a:solidFill>
                <a:latin typeface="Aptos"/>
                <a:ea typeface="Aptos"/>
                <a:cs typeface="Aptos"/>
              </a:defRPr>
            </a:pPr>
            <a:r>
              <a:rPr sz="1950" b="1">
                <a:solidFill>
                  <a:srgbClr val="111111"/>
                </a:solidFill>
                <a:latin typeface="Aptos"/>
                <a:ea typeface="Aptos"/>
                <a:cs typeface="Aptos"/>
              </a:rPr>
              <a:t>1. Remove other paths</a:t>
            </a:r>
          </a:p>
        </p:txBody>
      </p:sp>
      <p:pic>
        <p:nvPicPr>
          <p:cNvPr id="19" name="Picture 18"/>
          <p:cNvPicPr>
            <a:picLocks noChangeAspect="1"/>
          </p:cNvPicPr>
          <p:nvPr/>
        </p:nvPicPr>
        <p:blipFill>
          <a:blip r:embed="rId3"/>
          <a:stretch/>
        </p:blipFill>
        <p:spPr>
          <a:xfrm>
            <a:off x="933450" y="2381250"/>
            <a:ext cx="2927319" cy="658964"/>
          </a:xfrm>
          <a:prstGeom prst="rect">
            <a:avLst/>
          </a:prstGeom>
        </p:spPr>
      </p:pic>
      <p:pic>
        <p:nvPicPr>
          <p:cNvPr id="20" name="Picture 19"/>
          <p:cNvPicPr>
            <a:picLocks noChangeAspect="1"/>
          </p:cNvPicPr>
          <p:nvPr/>
        </p:nvPicPr>
        <p:blipFill>
          <a:blip r:embed="rId4"/>
          <a:stretch/>
        </p:blipFill>
        <p:spPr>
          <a:xfrm>
            <a:off x="933450" y="3316439"/>
            <a:ext cx="3560938" cy="646291"/>
          </a:xfrm>
          <a:prstGeom prst="rect">
            <a:avLst/>
          </a:prstGeom>
        </p:spPr>
      </p:pic>
      <p:pic>
        <p:nvPicPr>
          <p:cNvPr id="21" name="Picture 20"/>
          <p:cNvPicPr>
            <a:picLocks noChangeAspect="1"/>
          </p:cNvPicPr>
          <p:nvPr/>
        </p:nvPicPr>
        <p:blipFill>
          <a:blip r:embed="rId5"/>
          <a:stretch/>
        </p:blipFill>
        <p:spPr>
          <a:xfrm>
            <a:off x="933450" y="4238955"/>
            <a:ext cx="1774133" cy="658964"/>
          </a:xfrm>
          <a:prstGeom prst="rect">
            <a:avLst/>
          </a:prstGeom>
        </p:spPr>
      </p:pic>
      <p:sp>
        <p:nvSpPr>
          <p:cNvPr id="8" name="diagram-296">
            <a:extLst>
              <a:ext uri="{FF2B5EF4-FFF2-40B4-BE49-F238E27FC236}">
                <a16:creationId xmlns:a16="http://schemas.microsoft.com/office/drawing/2014/main" id="{2D1FF779-7573-4ED3-8BC2-E265664C0296}"/>
              </a:ext>
            </a:extLst>
          </p:cNvPr>
          <p:cNvSpPr>
            <a:spLocks noGrp="1"/>
          </p:cNvSpPr>
          <p:nvPr/>
        </p:nvSpPr>
        <p:spPr>
          <a:xfrm>
            <a:off x="8610600" y="3228975"/>
            <a:ext cx="2762250" cy="1666875"/>
          </a:xfrm>
          <a:prstGeom prst="rect">
            <a:avLst/>
          </a:prstGeom>
          <a:noFill/>
          <a:ln w="0">
            <a:noFill/>
          </a:ln>
        </p:spPr>
        <p:txBody>
          <a:bodyPr lIns="0" tIns="0" rIns="0" bIns="0" anchor="t">
            <a:noAutofit/>
          </a:bodyPr>
          <a:lstStyle/>
          <a:p>
            <a:pPr algn="l">
              <a:buNone/>
              <a:defRPr sz="1950" b="1">
                <a:solidFill>
                  <a:srgbClr val="17698C"/>
                </a:solidFill>
                <a:latin typeface="Aptos"/>
                <a:ea typeface="Aptos"/>
                <a:cs typeface="Aptos"/>
              </a:defRPr>
            </a:pPr>
            <a:r>
              <a:rPr sz="1950" b="1">
                <a:solidFill>
                  <a:srgbClr val="17698C"/>
                </a:solidFill>
                <a:latin typeface="Aptos"/>
                <a:ea typeface="Aptos"/>
                <a:cs typeface="Aptos"/>
              </a:rPr>
              <a:t>2. Search angle + delay</a:t>
            </a:r>
          </a:p>
          <a:p>
            <a:endParaRPr sz="1950" b="1">
              <a:solidFill>
                <a:srgbClr val="17698C"/>
              </a:solidFill>
              <a:latin typeface="Aptos"/>
              <a:ea typeface="Aptos"/>
              <a:cs typeface="Aptos"/>
            </a:endParaRPr>
          </a:p>
          <a:p>
            <a:pPr algn="l">
              <a:buNone/>
              <a:defRPr sz="1950" b="1">
                <a:solidFill>
                  <a:srgbClr val="17698C"/>
                </a:solidFill>
                <a:latin typeface="Aptos"/>
                <a:ea typeface="Aptos"/>
                <a:cs typeface="Aptos"/>
              </a:defRPr>
            </a:pPr>
            <a:r>
              <a:rPr sz="1950" b="1">
                <a:solidFill>
                  <a:srgbClr val="17698C"/>
                </a:solidFill>
                <a:latin typeface="Aptos"/>
                <a:ea typeface="Aptos"/>
                <a:cs typeface="Aptos"/>
              </a:rPr>
              <a:t>3. Update complex gain</a:t>
            </a:r>
          </a:p>
        </p:txBody>
      </p:sp>
      <p:sp>
        <p:nvSpPr>
          <p:cNvPr id="9" name="diagram-297">
            <a:extLst>
              <a:ext uri="{FF2B5EF4-FFF2-40B4-BE49-F238E27FC236}">
                <a16:creationId xmlns:a16="http://schemas.microsoft.com/office/drawing/2014/main" id="{B6E00D23-C621-4F03-9BA6-EFF544A931B6}"/>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Use exact calibrated responses. Accepted improving updates reduce residual error, but can reach a local optimum.</a:t>
            </a:r>
          </a:p>
        </p:txBody>
      </p:sp>
      <p:sp>
        <p:nvSpPr>
          <p:cNvPr id="14" name="added-text-5">
            <a:extLst>
              <a:ext uri="{FF2B5EF4-FFF2-40B4-BE49-F238E27FC236}">
                <a16:creationId xmlns:a16="http://schemas.microsoft.com/office/drawing/2014/main" id="{E07F89B3-8725-47D5-9245-AE16005C6EBF}"/>
              </a:ext>
            </a:extLst>
          </p:cNvPr>
          <p:cNvSpPr>
            <a:spLocks noGrp="1"/>
          </p:cNvSpPr>
          <p:nvPr/>
        </p:nvSpPr>
        <p:spPr>
          <a:xfrm>
            <a:off x="933450" y="5143500"/>
            <a:ext cx="10287000" cy="66675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X: stacked CSI    Yd: observation with other paths removed</a:t>
            </a:r>
          </a:p>
          <a:p>
            <a:pPr algn="l">
              <a:defRPr sz="1575" b="0">
                <a:solidFill>
                  <a:srgbClr val="17698C"/>
                </a:solidFill>
                <a:latin typeface="Aptos"/>
                <a:ea typeface="Aptos"/>
                <a:cs typeface="Aptos"/>
              </a:defRPr>
            </a:pPr>
            <a:r>
              <a:rPr sz="1575" b="0">
                <a:solidFill>
                  <a:srgbClr val="17698C"/>
                </a:solidFill>
                <a:latin typeface="Aptos"/>
                <a:ea typeface="Aptos"/>
                <a:cs typeface="Aptos"/>
              </a:rPr>
              <a:t>b: path response across positions and tones    cd: gains across snapshots</a:t>
            </a:r>
          </a:p>
        </p:txBody>
      </p:sp>
      <p:sp>
        <p:nvSpPr>
          <p:cNvPr id="15" name="added-text-88">
            <a:extLst>
              <a:ext uri="{FF2B5EF4-FFF2-40B4-BE49-F238E27FC236}">
                <a16:creationId xmlns:a16="http://schemas.microsoft.com/office/drawing/2014/main" id="{58755F81-8733-421D-8A10-ADE0CDE53F2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17</a:t>
            </a:r>
          </a:p>
        </p:txBody>
      </p:sp>
    </p:spTree>
    <p:extLst>
      <p:ext uri="{BB962C8B-B14F-4D97-AF65-F5344CB8AC3E}">
        <p14:creationId xmlns:p14="http://schemas.microsoft.com/office/powerpoint/2010/main" val="295509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34">
            <a:extLst>
              <a:ext uri="{FF2B5EF4-FFF2-40B4-BE49-F238E27FC236}">
                <a16:creationId xmlns:a16="http://schemas.microsoft.com/office/drawing/2014/main" id="{47EFE833-F365-404E-89DD-A40B0B97DC68}"/>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SAGE notation and dimensions</a:t>
            </a:r>
          </a:p>
        </p:txBody>
      </p:sp>
      <p:graphicFrame>
        <p:nvGraphicFramePr>
          <p:cNvPr id="6" name="Table 5"/>
          <p:cNvGraphicFramePr/>
          <p:nvPr/>
        </p:nvGraphicFramePr>
        <p:xfrm>
          <a:off x="933450" y="1895475"/>
          <a:ext cx="10382250" cy="334327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X, K, L, M</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Stacked calibrated CSI; counts of orientations, tones, snapshots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X: KL × M</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d, r, 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Updated path, other-path index, total fitted path count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1…D</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b(ξ,τ)</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Full path response across every position/tone sample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KL × 1</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cd, ĉd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True / fitted complex gain across snapshots for path 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1 × M row vector</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Yd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X with all fitted paths except d subtracted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KL × M</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ξ, τ</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Arrival direction and delay searched in each path update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1-D/2-D angle(s); 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bH Yd, ‖bH Yd‖₂²</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Matched residual projection; sum of squared magnitudes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1 × M; scalar</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‖b‖₂², arg max</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Response energy normalization; maximizing angle/delay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scalar; parameter pair</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35">
            <a:extLst>
              <a:ext uri="{FF2B5EF4-FFF2-40B4-BE49-F238E27FC236}">
                <a16:creationId xmlns:a16="http://schemas.microsoft.com/office/drawing/2014/main" id="{B2E511FB-2A58-4E13-A77A-2E8FFA1E09CD}"/>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Interpretation: isolate one path, optimize its parameters, update its gain, then repeat for the remaining paths.</a:t>
            </a:r>
          </a:p>
        </p:txBody>
      </p:sp>
      <p:sp>
        <p:nvSpPr>
          <p:cNvPr id="4" name="added-text-89">
            <a:extLst>
              <a:ext uri="{FF2B5EF4-FFF2-40B4-BE49-F238E27FC236}">
                <a16:creationId xmlns:a16="http://schemas.microsoft.com/office/drawing/2014/main" id="{AE896EE3-B3C0-4DEA-B5BA-94A36B855245}"/>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18</a:t>
            </a:r>
          </a:p>
        </p:txBody>
      </p:sp>
    </p:spTree>
    <p:extLst>
      <p:ext uri="{BB962C8B-B14F-4D97-AF65-F5344CB8AC3E}">
        <p14:creationId xmlns:p14="http://schemas.microsoft.com/office/powerpoint/2010/main" val="1750935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 SAGE_FIT pseudocode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298">
            <a:extLst>
              <a:ext uri="{FF2B5EF4-FFF2-40B4-BE49-F238E27FC236}">
                <a16:creationId xmlns:a16="http://schemas.microsoft.com/office/drawing/2014/main" id="{10BBEF27-87CE-4873-9880-A548422953A0}"/>
              </a:ext>
            </a:extLst>
          </p:cNvPr>
          <p:cNvSpPr>
            <a:spLocks noGrp="1"/>
          </p:cNvSpPr>
          <p:nvPr/>
        </p:nvSpPr>
        <p:spPr>
          <a:xfrm>
            <a:off x="933450" y="1943100"/>
            <a:ext cx="10477500" cy="4010025"/>
          </a:xfrm>
          <a:prstGeom prst="rect">
            <a:avLst/>
          </a:prstGeom>
          <a:noFill/>
          <a:ln w="0">
            <a:noFill/>
          </a:ln>
        </p:spPr>
        <p:txBody>
          <a:bodyPr lIns="0" tIns="0" rIns="0" bIns="0" anchor="t">
            <a:noAutofit/>
          </a:bodyPr>
          <a:lstStyle/>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SAGE_FIT(client_CSI):</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calibrate, stack X, and whiten if necessary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choose bounded path count D</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initialize paths from matched filtering or MUSIC</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for each initialization:</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repeat until convergence or iteration limit:</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for d = 1,...,D:</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Yd = X minus every other fitted path</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search angle/delay; include current estimate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refit gain; accept only residual improvement</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evaluate held-out reconstruction error</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return best reliable fit, otherwise UNRELIABLE</a:t>
            </a:r>
          </a:p>
        </p:txBody>
      </p:sp>
      <p:sp>
        <p:nvSpPr>
          <p:cNvPr id="5" name="diagram-299">
            <a:extLst>
              <a:ext uri="{FF2B5EF4-FFF2-40B4-BE49-F238E27FC236}">
                <a16:creationId xmlns:a16="http://schemas.microsoft.com/office/drawing/2014/main" id="{2B3B86F0-08CB-49E3-856A-8B156199B11A}"/>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Both 1-D and 2-D use this loop. Only the calibrated manifold and angle search domain change.</a:t>
            </a:r>
          </a:p>
        </p:txBody>
      </p:sp>
      <p:sp>
        <p:nvSpPr>
          <p:cNvPr id="6" name="added-text-90">
            <a:extLst>
              <a:ext uri="{FF2B5EF4-FFF2-40B4-BE49-F238E27FC236}">
                <a16:creationId xmlns:a16="http://schemas.microsoft.com/office/drawing/2014/main" id="{ECE99C28-66C1-4E25-AB81-F6464829562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19</a:t>
            </a:r>
          </a:p>
        </p:txBody>
      </p:sp>
    </p:spTree>
    <p:extLst>
      <p:ext uri="{BB962C8B-B14F-4D97-AF65-F5344CB8AC3E}">
        <p14:creationId xmlns:p14="http://schemas.microsoft.com/office/powerpoint/2010/main" val="2955090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36">
            <a:extLst>
              <a:ext uri="{FF2B5EF4-FFF2-40B4-BE49-F238E27FC236}">
                <a16:creationId xmlns:a16="http://schemas.microsoft.com/office/drawing/2014/main" id="{E42E0C71-A03D-4148-96E8-8730456C2EF8}"/>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 Estimator inputs and outputs</a:t>
            </a:r>
          </a:p>
        </p:txBody>
      </p:sp>
      <p:graphicFrame>
        <p:nvGraphicFramePr>
          <p:cNvPr id="6" name="Table 5"/>
          <p:cNvGraphicFramePr/>
          <p:nvPr/>
        </p:nvGraphicFramePr>
        <p:xfrm>
          <a:off x="933450" y="1895475"/>
          <a:ext cx="10382250" cy="2714624"/>
        </p:xfrm>
        <a:graphic>
          <a:graphicData uri="http://schemas.openxmlformats.org/drawingml/2006/table">
            <a:tbl>
              <a:tblPr/>
              <a:tblGrid>
                <a:gridCol w="1809750">
                  <a:extLst>
                    <a:ext uri="{9D8B030D-6E8A-4147-A177-3AD203B41FA5}">
                      <a16:colId xmlns:a16="http://schemas.microsoft.com/office/drawing/2014/main" val="20000"/>
                    </a:ext>
                  </a:extLst>
                </a:gridCol>
                <a:gridCol w="623887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678656">
                <a:tc>
                  <a:txBody>
                    <a:bodyPr/>
                    <a:lstStyle/>
                    <a:p>
                      <a:r>
                        <a:rPr sz="1725" b="1">
                          <a:solidFill>
                            <a:srgbClr val="17698C"/>
                          </a:solidFill>
                          <a:latin typeface="Aptos"/>
                          <a:ea typeface="Aptos"/>
                          <a:cs typeface="Aptos"/>
                        </a:rPr>
                        <a:t>Method</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Contract</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Reliability check</a:t>
                      </a:r>
                    </a:p>
                  </a:txBody>
                  <a:tcPr marL="85725" marR="85725" marT="19050" marB="19050" anchor="ctr">
                    <a:solidFill>
                      <a:srgbClr val="F1F4F5"/>
                    </a:solidFill>
                  </a:tcPr>
                </a:tc>
                <a:extLst>
                  <a:ext uri="{0D108BD9-81ED-4DB2-BD59-A6C34878D82A}">
                    <a16:rowId xmlns:a16="http://schemas.microsoft.com/office/drawing/2014/main" val="10000"/>
                  </a:ext>
                </a:extLst>
              </a:tr>
              <a:tr h="678656">
                <a:tc>
                  <a:txBody>
                    <a:bodyPr/>
                    <a:lstStyle/>
                    <a:p>
                      <a:r>
                        <a:rPr sz="1725" b="1">
                          <a:solidFill>
                            <a:srgbClr val="111111"/>
                          </a:solidFill>
                          <a:latin typeface="Aptos"/>
                          <a:ea typeface="Aptos"/>
                          <a:cs typeface="Aptos"/>
                        </a:rPr>
                        <a:t>MUSIC</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 valid full-rank covariance and matching manifold.</a:t>
                      </a:r>
                    </a:p>
                    <a:p>
                      <a:r>
                        <a:rPr sz="1725" b="0">
                          <a:solidFill>
                            <a:srgbClr val="111111"/>
                          </a:solidFill>
                          <a:latin typeface="Aptos"/>
                          <a:ea typeface="Aptos"/>
                          <a:cs typeface="Aptos"/>
                        </a:rPr>
                        <a:t>Output: directions or angle-delay peaks, followed by gain fitting.</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Rank and held-out fit</a:t>
                      </a:r>
                    </a:p>
                  </a:txBody>
                  <a:tcPr marL="85725" marR="85725" marT="19050" marB="19050" anchor="ctr">
                    <a:solidFill>
                      <a:srgbClr val="FFFFFF"/>
                    </a:solidFill>
                  </a:tcPr>
                </a:tc>
                <a:extLst>
                  <a:ext uri="{0D108BD9-81ED-4DB2-BD59-A6C34878D82A}">
                    <a16:rowId xmlns:a16="http://schemas.microsoft.com/office/drawing/2014/main" val="10001"/>
                  </a:ext>
                </a:extLst>
              </a:tr>
              <a:tr h="678656">
                <a:tc>
                  <a:txBody>
                    <a:bodyPr/>
                    <a:lstStyle/>
                    <a:p>
                      <a:r>
                        <a:rPr sz="1725" b="1">
                          <a:solidFill>
                            <a:srgbClr val="111111"/>
                          </a:solidFill>
                          <a:latin typeface="Aptos"/>
                          <a:ea typeface="Aptos"/>
                          <a:cs typeface="Aptos"/>
                        </a:rPr>
                        <a:t>ESPRIT</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 validated shift-invariant beamspace and signal basis.</a:t>
                      </a:r>
                    </a:p>
                    <a:p>
                      <a:r>
                        <a:rPr sz="1725" b="0">
                          <a:solidFill>
                            <a:srgbClr val="111111"/>
                          </a:solidFill>
                          <a:latin typeface="Aptos"/>
                          <a:ea typeface="Aptos"/>
                          <a:cs typeface="Aptos"/>
                        </a:rPr>
                        <a:t>Output: angles from eigenvalues, with calibrated mapping.</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Transform error</a:t>
                      </a:r>
                    </a:p>
                  </a:txBody>
                  <a:tcPr marL="85725" marR="85725" marT="19050" marB="19050" anchor="ctr">
                    <a:solidFill>
                      <a:srgbClr val="FFFFFF"/>
                    </a:solidFill>
                  </a:tcPr>
                </a:tc>
                <a:extLst>
                  <a:ext uri="{0D108BD9-81ED-4DB2-BD59-A6C34878D82A}">
                    <a16:rowId xmlns:a16="http://schemas.microsoft.com/office/drawing/2014/main" val="10002"/>
                  </a:ext>
                </a:extLst>
              </a:tr>
              <a:tr h="678656">
                <a:tc>
                  <a:txBody>
                    <a:bodyPr/>
                    <a:lstStyle/>
                    <a:p>
                      <a:r>
                        <a:rPr sz="1725" b="1">
                          <a:solidFill>
                            <a:srgbClr val="111111"/>
                          </a:solidFill>
                          <a:latin typeface="Aptos"/>
                          <a:ea typeface="Aptos"/>
                          <a:cs typeface="Aptos"/>
                        </a:rPr>
                        <a:t>SAGE</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 stacked CSI, calibrated response, path count and seeds.</a:t>
                      </a:r>
                    </a:p>
                    <a:p>
                      <a:r>
                        <a:rPr sz="1725" b="0">
                          <a:solidFill>
                            <a:srgbClr val="111111"/>
                          </a:solidFill>
                          <a:latin typeface="Aptos"/>
                          <a:ea typeface="Aptos"/>
                          <a:cs typeface="Aptos"/>
                        </a:rPr>
                        <a:t>Output: path angles, delays and gains.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Residual and held-out fit</a:t>
                      </a:r>
                    </a:p>
                  </a:txBody>
                  <a:tcPr marL="85725" marR="85725"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3" name="added-text-37">
            <a:extLst>
              <a:ext uri="{FF2B5EF4-FFF2-40B4-BE49-F238E27FC236}">
                <a16:creationId xmlns:a16="http://schemas.microsoft.com/office/drawing/2014/main" id="{BFD06E15-6288-432B-8206-81D925BBF254}"/>
              </a:ext>
            </a:extLst>
          </p:cNvPr>
          <p:cNvSpPr>
            <a:spLocks noGrp="1"/>
          </p:cNvSpPr>
          <p:nvPr/>
        </p:nvSpPr>
        <p:spPr>
          <a:xfrm>
            <a:off x="933450" y="5010150"/>
            <a:ext cx="10287000" cy="1323975"/>
          </a:xfrm>
          <a:prstGeom prst="rect">
            <a:avLst/>
          </a:prstGeom>
          <a:noFill/>
          <a:ln w="0">
            <a:noFill/>
          </a:ln>
        </p:spPr>
        <p:txBody>
          <a:bodyPr lIns="0" tIns="0" rIns="0" bIns="0" anchor="t">
            <a:noAutofit/>
          </a:bodyPr>
          <a:lstStyle/>
          <a:p>
            <a:pPr marL="228600" indent="-165100" algn="l">
              <a:spcAft>
                <a:spcPts val="1000"/>
              </a:spcAft>
              <a:buChar char="•"/>
              <a:defRPr sz="1875" b="0">
                <a:solidFill>
                  <a:srgbClr val="111111"/>
                </a:solidFill>
                <a:latin typeface="Aptos"/>
                <a:ea typeface="Aptos"/>
                <a:cs typeface="Aptos"/>
              </a:defRPr>
            </a:pPr>
            <a:r>
              <a:rPr sz="1875" b="0">
                <a:solidFill>
                  <a:srgbClr val="111111"/>
                </a:solidFill>
                <a:latin typeface="Aptos"/>
                <a:ea typeface="Aptos"/>
                <a:cs typeface="Aptos"/>
              </a:rPr>
              <a:t>Reject poor fits instead of forcing a confident orientation decision.</a:t>
            </a:r>
          </a:p>
          <a:p>
            <a:pPr marL="228600" indent="-165100" algn="l">
              <a:spcAft>
                <a:spcPts val="1000"/>
              </a:spcAft>
              <a:buChar char="•"/>
              <a:defRPr sz="1875" b="0">
                <a:solidFill>
                  <a:srgbClr val="111111"/>
                </a:solidFill>
                <a:latin typeface="Aptos"/>
                <a:ea typeface="Aptos"/>
                <a:cs typeface="Aptos"/>
              </a:defRPr>
            </a:pPr>
            <a:r>
              <a:rPr sz="1875" b="0">
                <a:solidFill>
                  <a:srgbClr val="111111"/>
                </a:solidFill>
                <a:latin typeface="Aptos"/>
                <a:ea typeface="Aptos"/>
                <a:cs typeface="Aptos"/>
              </a:rPr>
              <a:t>When coherent estimation fails, compare measured service performance directly.</a:t>
            </a:r>
          </a:p>
        </p:txBody>
      </p:sp>
      <p:sp>
        <p:nvSpPr>
          <p:cNvPr id="4" name="added-text-91">
            <a:extLst>
              <a:ext uri="{FF2B5EF4-FFF2-40B4-BE49-F238E27FC236}">
                <a16:creationId xmlns:a16="http://schemas.microsoft.com/office/drawing/2014/main" id="{24661680-B07B-4698-872D-55FC9E41089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20</a:t>
            </a:r>
          </a:p>
        </p:txBody>
      </p:sp>
    </p:spTree>
    <p:extLst>
      <p:ext uri="{BB962C8B-B14F-4D97-AF65-F5344CB8AC3E}">
        <p14:creationId xmlns:p14="http://schemas.microsoft.com/office/powerpoint/2010/main" val="225050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Channel to goodput</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29" name="Picture 28"/>
          <p:cNvPicPr>
            <a:picLocks noChangeAspect="1"/>
          </p:cNvPicPr>
          <p:nvPr/>
        </p:nvPicPr>
        <p:blipFill>
          <a:blip r:embed="rId3"/>
          <a:stretch/>
        </p:blipFill>
        <p:spPr>
          <a:xfrm>
            <a:off x="933450" y="1943100"/>
            <a:ext cx="4464653" cy="556591"/>
          </a:xfrm>
          <a:prstGeom prst="rect">
            <a:avLst/>
          </a:prstGeom>
        </p:spPr>
      </p:pic>
      <p:pic>
        <p:nvPicPr>
          <p:cNvPr id="30" name="Picture 29"/>
          <p:cNvPicPr>
            <a:picLocks noChangeAspect="1"/>
          </p:cNvPicPr>
          <p:nvPr/>
        </p:nvPicPr>
        <p:blipFill>
          <a:blip r:embed="rId4"/>
          <a:stretch/>
        </p:blipFill>
        <p:spPr>
          <a:xfrm>
            <a:off x="933450" y="2737816"/>
            <a:ext cx="2965833" cy="516834"/>
          </a:xfrm>
          <a:prstGeom prst="rect">
            <a:avLst/>
          </a:prstGeom>
        </p:spPr>
      </p:pic>
      <p:pic>
        <p:nvPicPr>
          <p:cNvPr id="31" name="Picture 30"/>
          <p:cNvPicPr>
            <a:picLocks noChangeAspect="1"/>
          </p:cNvPicPr>
          <p:nvPr/>
        </p:nvPicPr>
        <p:blipFill>
          <a:blip r:embed="rId5"/>
          <a:stretch/>
        </p:blipFill>
        <p:spPr>
          <a:xfrm>
            <a:off x="933450" y="3492775"/>
            <a:ext cx="4373213" cy="516834"/>
          </a:xfrm>
          <a:prstGeom prst="rect">
            <a:avLst/>
          </a:prstGeom>
        </p:spPr>
      </p:pic>
      <p:sp>
        <p:nvSpPr>
          <p:cNvPr id="7" name="diagram-300">
            <a:extLst>
              <a:ext uri="{FF2B5EF4-FFF2-40B4-BE49-F238E27FC236}">
                <a16:creationId xmlns:a16="http://schemas.microsoft.com/office/drawing/2014/main" id="{290DD637-35BC-47A4-B556-C35509C75766}"/>
              </a:ext>
            </a:extLst>
          </p:cNvPr>
          <p:cNvSpPr>
            <a:spLocks noGrp="1"/>
          </p:cNvSpPr>
          <p:nvPr/>
        </p:nvSpPr>
        <p:spPr>
          <a:xfrm>
            <a:off x="8848725" y="2114550"/>
            <a:ext cx="2409825" cy="333375"/>
          </a:xfrm>
          <a:prstGeom prst="rect">
            <a:avLst/>
          </a:prstGeom>
          <a:noFill/>
          <a:ln w="0">
            <a:noFill/>
          </a:ln>
        </p:spPr>
        <p:txBody>
          <a:bodyPr lIns="0" tIns="0" rIns="0" bIns="0" anchor="t">
            <a:noAutofit/>
          </a:bodyPr>
          <a:lstStyle/>
          <a:p>
            <a:pPr algn="l">
              <a:buNone/>
              <a:defRPr sz="1875" b="1">
                <a:solidFill>
                  <a:srgbClr val="111111"/>
                </a:solidFill>
                <a:latin typeface="Aptos"/>
                <a:ea typeface="Aptos"/>
                <a:cs typeface="Aptos"/>
              </a:defRPr>
            </a:pPr>
            <a:r>
              <a:rPr sz="1875" b="1">
                <a:solidFill>
                  <a:srgbClr val="111111"/>
                </a:solidFill>
                <a:latin typeface="Aptos"/>
                <a:ea typeface="Aptos"/>
                <a:cs typeface="Aptos"/>
              </a:rPr>
              <a:t>Calibrated CSI</a:t>
            </a:r>
          </a:p>
        </p:txBody>
      </p:sp>
      <p:sp>
        <p:nvSpPr>
          <p:cNvPr id="8" name="line-301">
            <a:extLst>
              <a:ext uri="{FF2B5EF4-FFF2-40B4-BE49-F238E27FC236}">
                <a16:creationId xmlns:a16="http://schemas.microsoft.com/office/drawing/2014/main" id="{81EA2FD8-20A0-4652-99EA-B3C4E524CF2F}"/>
              </a:ext>
            </a:extLst>
          </p:cNvPr>
          <p:cNvSpPr>
            <a:spLocks noGrp="1"/>
          </p:cNvSpPr>
          <p:nvPr/>
        </p:nvSpPr>
        <p:spPr>
          <a:xfrm>
            <a:off x="9906000" y="2505075"/>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9" name="line-302">
            <a:extLst>
              <a:ext uri="{FF2B5EF4-FFF2-40B4-BE49-F238E27FC236}">
                <a16:creationId xmlns:a16="http://schemas.microsoft.com/office/drawing/2014/main" id="{A48A5D04-F39E-4A18-A3E6-4585E00AE71C}"/>
              </a:ext>
            </a:extLst>
          </p:cNvPr>
          <p:cNvSpPr>
            <a:spLocks noGrp="1"/>
          </p:cNvSpPr>
          <p:nvPr/>
        </p:nvSpPr>
        <p:spPr>
          <a:xfrm>
            <a:off x="9864570" y="2666957"/>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0" name="line-303">
            <a:extLst>
              <a:ext uri="{FF2B5EF4-FFF2-40B4-BE49-F238E27FC236}">
                <a16:creationId xmlns:a16="http://schemas.microsoft.com/office/drawing/2014/main" id="{751E6917-9B85-4410-AA00-CCD36C30A402}"/>
              </a:ext>
            </a:extLst>
          </p:cNvPr>
          <p:cNvSpPr>
            <a:spLocks noGrp="1"/>
          </p:cNvSpPr>
          <p:nvPr/>
        </p:nvSpPr>
        <p:spPr>
          <a:xfrm>
            <a:off x="9906000" y="2666957"/>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1" name="diagram-304">
            <a:extLst>
              <a:ext uri="{FF2B5EF4-FFF2-40B4-BE49-F238E27FC236}">
                <a16:creationId xmlns:a16="http://schemas.microsoft.com/office/drawing/2014/main" id="{D54156FE-74C4-42EB-90D5-898917643CCC}"/>
              </a:ext>
            </a:extLst>
          </p:cNvPr>
          <p:cNvSpPr>
            <a:spLocks noGrp="1"/>
          </p:cNvSpPr>
          <p:nvPr/>
        </p:nvSpPr>
        <p:spPr>
          <a:xfrm>
            <a:off x="8620125" y="2847975"/>
            <a:ext cx="2647950" cy="333375"/>
          </a:xfrm>
          <a:prstGeom prst="rect">
            <a:avLst/>
          </a:prstGeom>
          <a:noFill/>
          <a:ln w="0">
            <a:noFill/>
          </a:ln>
        </p:spPr>
        <p:txBody>
          <a:bodyPr lIns="0" tIns="0" rIns="0" bIns="0" anchor="t">
            <a:noAutofit/>
          </a:bodyPr>
          <a:lstStyle/>
          <a:p>
            <a:pPr algn="l">
              <a:buNone/>
              <a:defRPr sz="1875" b="1">
                <a:solidFill>
                  <a:srgbClr val="111111"/>
                </a:solidFill>
                <a:latin typeface="Aptos"/>
                <a:ea typeface="Aptos"/>
                <a:cs typeface="Aptos"/>
              </a:defRPr>
            </a:pPr>
            <a:r>
              <a:rPr sz="1875" b="1">
                <a:solidFill>
                  <a:srgbClr val="111111"/>
                </a:solidFill>
                <a:latin typeface="Aptos"/>
                <a:ea typeface="Aptos"/>
                <a:cs typeface="Aptos"/>
              </a:rPr>
              <a:t>Coherent channel</a:t>
            </a:r>
          </a:p>
        </p:txBody>
      </p:sp>
      <p:sp>
        <p:nvSpPr>
          <p:cNvPr id="12" name="line-305">
            <a:extLst>
              <a:ext uri="{FF2B5EF4-FFF2-40B4-BE49-F238E27FC236}">
                <a16:creationId xmlns:a16="http://schemas.microsoft.com/office/drawing/2014/main" id="{2E439EBD-7BF5-42EE-BFEA-E9175DB9951D}"/>
              </a:ext>
            </a:extLst>
          </p:cNvPr>
          <p:cNvSpPr>
            <a:spLocks noGrp="1"/>
          </p:cNvSpPr>
          <p:nvPr/>
        </p:nvSpPr>
        <p:spPr>
          <a:xfrm>
            <a:off x="9906000" y="3238500"/>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13" name="line-306">
            <a:extLst>
              <a:ext uri="{FF2B5EF4-FFF2-40B4-BE49-F238E27FC236}">
                <a16:creationId xmlns:a16="http://schemas.microsoft.com/office/drawing/2014/main" id="{D5740337-71A6-42A0-9483-5FD6D0902A0D}"/>
              </a:ext>
            </a:extLst>
          </p:cNvPr>
          <p:cNvSpPr>
            <a:spLocks noGrp="1"/>
          </p:cNvSpPr>
          <p:nvPr/>
        </p:nvSpPr>
        <p:spPr>
          <a:xfrm>
            <a:off x="9864570" y="3400382"/>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4" name="line-307">
            <a:extLst>
              <a:ext uri="{FF2B5EF4-FFF2-40B4-BE49-F238E27FC236}">
                <a16:creationId xmlns:a16="http://schemas.microsoft.com/office/drawing/2014/main" id="{E1FDF5CD-FCAF-412A-9BE3-0C01B30A0AA5}"/>
              </a:ext>
            </a:extLst>
          </p:cNvPr>
          <p:cNvSpPr>
            <a:spLocks noGrp="1"/>
          </p:cNvSpPr>
          <p:nvPr/>
        </p:nvSpPr>
        <p:spPr>
          <a:xfrm>
            <a:off x="9906000" y="3400382"/>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5" name="diagram-308">
            <a:extLst>
              <a:ext uri="{FF2B5EF4-FFF2-40B4-BE49-F238E27FC236}">
                <a16:creationId xmlns:a16="http://schemas.microsoft.com/office/drawing/2014/main" id="{AD3FCD3C-997D-4B44-A079-1163DE9B8DB4}"/>
              </a:ext>
            </a:extLst>
          </p:cNvPr>
          <p:cNvSpPr>
            <a:spLocks noGrp="1"/>
          </p:cNvSpPr>
          <p:nvPr/>
        </p:nvSpPr>
        <p:spPr>
          <a:xfrm>
            <a:off x="8467725" y="3581400"/>
            <a:ext cx="2857500" cy="333375"/>
          </a:xfrm>
          <a:prstGeom prst="rect">
            <a:avLst/>
          </a:prstGeom>
          <a:noFill/>
          <a:ln w="0">
            <a:noFill/>
          </a:ln>
        </p:spPr>
        <p:txBody>
          <a:bodyPr lIns="0" tIns="0" rIns="0" bIns="0" anchor="t">
            <a:noAutofit/>
          </a:bodyPr>
          <a:lstStyle/>
          <a:p>
            <a:pPr algn="l">
              <a:buNone/>
              <a:defRPr sz="1875" b="1">
                <a:solidFill>
                  <a:srgbClr val="111111"/>
                </a:solidFill>
                <a:latin typeface="Aptos"/>
                <a:ea typeface="Aptos"/>
                <a:cs typeface="Aptos"/>
              </a:defRPr>
            </a:pPr>
            <a:r>
              <a:rPr sz="1875" b="1">
                <a:solidFill>
                  <a:srgbClr val="111111"/>
                </a:solidFill>
                <a:latin typeface="Aptos"/>
                <a:ea typeface="Aptos"/>
                <a:cs typeface="Aptos"/>
              </a:rPr>
              <a:t>SINR + rate model</a:t>
            </a:r>
          </a:p>
        </p:txBody>
      </p:sp>
      <p:sp>
        <p:nvSpPr>
          <p:cNvPr id="16" name="line-309">
            <a:extLst>
              <a:ext uri="{FF2B5EF4-FFF2-40B4-BE49-F238E27FC236}">
                <a16:creationId xmlns:a16="http://schemas.microsoft.com/office/drawing/2014/main" id="{32CEA1AA-1EB8-4213-AE36-2525AF6AFC95}"/>
              </a:ext>
            </a:extLst>
          </p:cNvPr>
          <p:cNvSpPr>
            <a:spLocks noGrp="1"/>
          </p:cNvSpPr>
          <p:nvPr/>
        </p:nvSpPr>
        <p:spPr>
          <a:xfrm>
            <a:off x="9906000" y="3981450"/>
            <a:ext cx="9525" cy="247650"/>
          </a:xfrm>
          <a:custGeom>
            <a:avLst/>
            <a:gdLst/>
            <a:ahLst/>
            <a:cxnLst/>
            <a:rect l="0" t="0" r="0" b="0"/>
            <a:pathLst>
              <a:path w="9525" h="247650">
                <a:moveTo>
                  <a:pt x="0" y="0"/>
                </a:moveTo>
                <a:lnTo>
                  <a:pt x="0" y="247650"/>
                </a:lnTo>
              </a:path>
            </a:pathLst>
          </a:custGeom>
          <a:noFill/>
          <a:ln w="23813">
            <a:solidFill>
              <a:srgbClr val="17698C"/>
            </a:solidFill>
          </a:ln>
        </p:spPr>
        <p:txBody>
          <a:bodyPr/>
          <a:lstStyle/>
          <a:p>
            <a:endParaRPr lang="en-US"/>
          </a:p>
        </p:txBody>
      </p:sp>
      <p:sp>
        <p:nvSpPr>
          <p:cNvPr id="17" name="line-310">
            <a:extLst>
              <a:ext uri="{FF2B5EF4-FFF2-40B4-BE49-F238E27FC236}">
                <a16:creationId xmlns:a16="http://schemas.microsoft.com/office/drawing/2014/main" id="{E9812D58-2620-4815-A7B6-47BB3092D4A3}"/>
              </a:ext>
            </a:extLst>
          </p:cNvPr>
          <p:cNvSpPr>
            <a:spLocks noGrp="1"/>
          </p:cNvSpPr>
          <p:nvPr/>
        </p:nvSpPr>
        <p:spPr>
          <a:xfrm>
            <a:off x="9864570" y="4143332"/>
            <a:ext cx="41430" cy="85768"/>
          </a:xfrm>
          <a:custGeom>
            <a:avLst/>
            <a:gdLst/>
            <a:ahLst/>
            <a:cxnLst/>
            <a:rect l="0" t="0" r="0" b="0"/>
            <a:pathLst>
              <a:path w="41430" h="85768">
                <a:moveTo>
                  <a:pt x="41430" y="85768"/>
                </a:moveTo>
                <a:lnTo>
                  <a:pt x="0" y="0"/>
                </a:lnTo>
              </a:path>
            </a:pathLst>
          </a:custGeom>
          <a:noFill/>
          <a:ln w="23813">
            <a:solidFill>
              <a:srgbClr val="17698C"/>
            </a:solidFill>
          </a:ln>
        </p:spPr>
        <p:txBody>
          <a:bodyPr/>
          <a:lstStyle/>
          <a:p>
            <a:endParaRPr lang="en-US"/>
          </a:p>
        </p:txBody>
      </p:sp>
      <p:sp>
        <p:nvSpPr>
          <p:cNvPr id="18" name="line-311">
            <a:extLst>
              <a:ext uri="{FF2B5EF4-FFF2-40B4-BE49-F238E27FC236}">
                <a16:creationId xmlns:a16="http://schemas.microsoft.com/office/drawing/2014/main" id="{7B8DC431-28F7-46E2-AE56-CB8CF43FFBD9}"/>
              </a:ext>
            </a:extLst>
          </p:cNvPr>
          <p:cNvSpPr>
            <a:spLocks noGrp="1"/>
          </p:cNvSpPr>
          <p:nvPr/>
        </p:nvSpPr>
        <p:spPr>
          <a:xfrm>
            <a:off x="9906000" y="4143332"/>
            <a:ext cx="41430" cy="85768"/>
          </a:xfrm>
          <a:custGeom>
            <a:avLst/>
            <a:gdLst/>
            <a:ahLst/>
            <a:cxnLst/>
            <a:rect l="0" t="0" r="0" b="0"/>
            <a:pathLst>
              <a:path w="41430" h="85768">
                <a:moveTo>
                  <a:pt x="0" y="85768"/>
                </a:moveTo>
                <a:lnTo>
                  <a:pt x="41430" y="0"/>
                </a:lnTo>
              </a:path>
            </a:pathLst>
          </a:custGeom>
          <a:noFill/>
          <a:ln w="23813">
            <a:solidFill>
              <a:srgbClr val="17698C"/>
            </a:solidFill>
          </a:ln>
        </p:spPr>
        <p:txBody>
          <a:bodyPr/>
          <a:lstStyle/>
          <a:p>
            <a:endParaRPr lang="en-US"/>
          </a:p>
        </p:txBody>
      </p:sp>
      <p:sp>
        <p:nvSpPr>
          <p:cNvPr id="19" name="diagram-312">
            <a:extLst>
              <a:ext uri="{FF2B5EF4-FFF2-40B4-BE49-F238E27FC236}">
                <a16:creationId xmlns:a16="http://schemas.microsoft.com/office/drawing/2014/main" id="{F0A46AB4-7064-4DAD-AEE3-0E84F4DD5D9B}"/>
              </a:ext>
            </a:extLst>
          </p:cNvPr>
          <p:cNvSpPr>
            <a:spLocks noGrp="1"/>
          </p:cNvSpPr>
          <p:nvPr/>
        </p:nvSpPr>
        <p:spPr>
          <a:xfrm>
            <a:off x="8601075" y="4324350"/>
            <a:ext cx="2667000" cy="333375"/>
          </a:xfrm>
          <a:prstGeom prst="rect">
            <a:avLst/>
          </a:prstGeom>
          <a:noFill/>
          <a:ln w="0">
            <a:noFill/>
          </a:ln>
        </p:spPr>
        <p:txBody>
          <a:bodyPr lIns="0" tIns="0" rIns="0" bIns="0" anchor="t">
            <a:noAutofit/>
          </a:bodyPr>
          <a:lstStyle/>
          <a:p>
            <a:pPr algn="l">
              <a:buNone/>
              <a:defRPr sz="1875" b="1">
                <a:solidFill>
                  <a:srgbClr val="111111"/>
                </a:solidFill>
                <a:latin typeface="Aptos"/>
                <a:ea typeface="Aptos"/>
                <a:cs typeface="Aptos"/>
              </a:defRPr>
            </a:pPr>
            <a:r>
              <a:rPr sz="1875" b="1">
                <a:solidFill>
                  <a:srgbClr val="111111"/>
                </a:solidFill>
                <a:latin typeface="Aptos"/>
                <a:ea typeface="Aptos"/>
                <a:cs typeface="Aptos"/>
              </a:rPr>
              <a:t>Delivered goodput</a:t>
            </a:r>
          </a:p>
        </p:txBody>
      </p:sp>
      <p:sp>
        <p:nvSpPr>
          <p:cNvPr id="20" name="diagram-313">
            <a:extLst>
              <a:ext uri="{FF2B5EF4-FFF2-40B4-BE49-F238E27FC236}">
                <a16:creationId xmlns:a16="http://schemas.microsoft.com/office/drawing/2014/main" id="{DC09760C-1EF3-4B80-A8EC-A9D225FE78B0}"/>
              </a:ext>
            </a:extLst>
          </p:cNvPr>
          <p:cNvSpPr>
            <a:spLocks noGrp="1"/>
          </p:cNvSpPr>
          <p:nvPr/>
        </p:nvSpPr>
        <p:spPr>
          <a:xfrm>
            <a:off x="933450" y="5191125"/>
            <a:ext cx="10287000" cy="1200150"/>
          </a:xfrm>
          <a:prstGeom prst="rect">
            <a:avLst/>
          </a:prstGeom>
          <a:noFill/>
          <a:ln w="0">
            <a:noFill/>
          </a:ln>
        </p:spPr>
        <p:txBody>
          <a:bodyPr lIns="0" tIns="0" rIns="0" bIns="0" anchor="t">
            <a:noAutofit/>
          </a:bodyPr>
          <a:lstStyle/>
          <a:p>
            <a:pPr marL="228600" indent="-165100" algn="l">
              <a:spcAft>
                <a:spcPts val="1000"/>
              </a:spcAft>
              <a:buChar char="•"/>
              <a:defRPr sz="1875" b="0">
                <a:solidFill>
                  <a:srgbClr val="111111"/>
                </a:solidFill>
                <a:latin typeface="Aptos"/>
                <a:ea typeface="Aptos"/>
                <a:cs typeface="Aptos"/>
              </a:defRPr>
            </a:pPr>
            <a:r>
              <a:rPr sz="1875" b="0">
                <a:solidFill>
                  <a:srgbClr val="111111"/>
                </a:solidFill>
                <a:latin typeface="Aptos"/>
                <a:ea typeface="Aptos"/>
                <a:cs typeface="Aptos"/>
              </a:rPr>
              <a:t>Add complex paths before computing power.</a:t>
            </a:r>
          </a:p>
          <a:p>
            <a:pPr marL="228600" indent="-165100" algn="l">
              <a:spcAft>
                <a:spcPts val="1000"/>
              </a:spcAft>
              <a:buChar char="•"/>
              <a:defRPr sz="1875" b="0">
                <a:solidFill>
                  <a:srgbClr val="111111"/>
                </a:solidFill>
                <a:latin typeface="Aptos"/>
                <a:ea typeface="Aptos"/>
                <a:cs typeface="Aptos"/>
              </a:defRPr>
            </a:pPr>
            <a:r>
              <a:rPr sz="1875" b="0">
                <a:solidFill>
                  <a:srgbClr val="111111"/>
                </a:solidFill>
                <a:latin typeface="Aptos"/>
                <a:ea typeface="Aptos"/>
                <a:cs typeface="Aptos"/>
              </a:rPr>
              <a:t>Keep offered load and airtime policy consistent during comparison.</a:t>
            </a:r>
          </a:p>
        </p:txBody>
      </p:sp>
      <p:sp>
        <p:nvSpPr>
          <p:cNvPr id="25" name="added-text-6">
            <a:extLst>
              <a:ext uri="{FF2B5EF4-FFF2-40B4-BE49-F238E27FC236}">
                <a16:creationId xmlns:a16="http://schemas.microsoft.com/office/drawing/2014/main" id="{1D293791-468D-45FB-924F-487A4890F472}"/>
              </a:ext>
            </a:extLst>
          </p:cNvPr>
          <p:cNvSpPr>
            <a:spLocks noGrp="1"/>
          </p:cNvSpPr>
          <p:nvPr/>
        </p:nvSpPr>
        <p:spPr>
          <a:xfrm>
            <a:off x="933450" y="4181475"/>
            <a:ext cx="10267950" cy="74295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h: complex channel    P / N / I: transmit / noise / interference power</a:t>
            </a:r>
          </a:p>
          <a:p>
            <a:pPr algn="l">
              <a:defRPr sz="1575" b="0">
                <a:solidFill>
                  <a:srgbClr val="17698C"/>
                </a:solidFill>
                <a:latin typeface="Aptos"/>
                <a:ea typeface="Aptos"/>
                <a:cs typeface="Aptos"/>
              </a:defRPr>
            </a:pPr>
            <a:r>
              <a:rPr sz="1575" b="0">
                <a:solidFill>
                  <a:srgbClr val="17698C"/>
                </a:solidFill>
                <a:latin typeface="Aptos"/>
                <a:ea typeface="Aptos"/>
                <a:cs typeface="Aptos"/>
              </a:rPr>
              <a:t>ℓ: offered load    a: airtime share    C: allocated-airtime payload rate</a:t>
            </a:r>
          </a:p>
        </p:txBody>
      </p:sp>
      <p:sp>
        <p:nvSpPr>
          <p:cNvPr id="26" name="added-text-92">
            <a:extLst>
              <a:ext uri="{FF2B5EF4-FFF2-40B4-BE49-F238E27FC236}">
                <a16:creationId xmlns:a16="http://schemas.microsoft.com/office/drawing/2014/main" id="{CFA9A005-9930-44C8-BB7E-74220F97CBE4}"/>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21</a:t>
            </a:r>
          </a:p>
        </p:txBody>
      </p:sp>
    </p:spTree>
    <p:extLst>
      <p:ext uri="{BB962C8B-B14F-4D97-AF65-F5344CB8AC3E}">
        <p14:creationId xmlns:p14="http://schemas.microsoft.com/office/powerpoint/2010/main" val="2955090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38">
            <a:extLst>
              <a:ext uri="{FF2B5EF4-FFF2-40B4-BE49-F238E27FC236}">
                <a16:creationId xmlns:a16="http://schemas.microsoft.com/office/drawing/2014/main" id="{0926C99F-1032-4C44-AC71-521611CACD9B}"/>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 Channel and rate notation</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hi[n;q]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channel of client i, tone n, orientation 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complex channel gain</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Pi[n], Ni[n], Ii[n;q]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Transmit, noise and interference power on the same tone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W; same bandwidth basis</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SINRi[n;q]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Signal power divided by noise plus interference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linear, not dB</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Ci(q)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Successful payload rate per second allocated to client i</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of allocated airtime</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ai, ℓi</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Usable-data airtime share; offered traffic rate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[0,1]; bit/s</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Ti(q)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Load-capped delivered goodput: min{ℓi, ai Ci(q)}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of data interval</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Jsum(q), 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Sum of client goodputs; optimizer over feasible candidates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actuator state</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Q1, Q2, 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Feasible tilt, pan–tilt, and generic candidate sets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sets of actuator states</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39">
            <a:extLst>
              <a:ext uri="{FF2B5EF4-FFF2-40B4-BE49-F238E27FC236}">
                <a16:creationId xmlns:a16="http://schemas.microsoft.com/office/drawing/2014/main" id="{310090EB-0C0C-4949-B1D6-6D8393A4BC76}"/>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Averaged dB values and sums of isolated full-airtime link rates cannot be inserted directly into these formulas.</a:t>
            </a:r>
          </a:p>
        </p:txBody>
      </p:sp>
      <p:sp>
        <p:nvSpPr>
          <p:cNvPr id="4" name="added-text-93">
            <a:extLst>
              <a:ext uri="{FF2B5EF4-FFF2-40B4-BE49-F238E27FC236}">
                <a16:creationId xmlns:a16="http://schemas.microsoft.com/office/drawing/2014/main" id="{A10F01DA-F686-4675-9E5B-82D3E374BF03}"/>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22</a:t>
            </a:r>
          </a:p>
        </p:txBody>
      </p:sp>
    </p:spTree>
    <p:extLst>
      <p:ext uri="{BB962C8B-B14F-4D97-AF65-F5344CB8AC3E}">
        <p14:creationId xmlns:p14="http://schemas.microsoft.com/office/powerpoint/2010/main" val="304538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1-D: one source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107" name="Picture 106"/>
          <p:cNvPicPr>
            <a:picLocks noChangeAspect="1"/>
          </p:cNvPicPr>
          <p:nvPr/>
        </p:nvPicPr>
        <p:blipFill>
          <a:blip r:embed="rId3"/>
          <a:stretch/>
        </p:blipFill>
        <p:spPr>
          <a:xfrm>
            <a:off x="933450" y="1885950"/>
            <a:ext cx="2317803" cy="489005"/>
          </a:xfrm>
          <a:prstGeom prst="rect">
            <a:avLst/>
          </a:prstGeom>
        </p:spPr>
      </p:pic>
      <p:pic>
        <p:nvPicPr>
          <p:cNvPr id="108" name="Picture 107"/>
          <p:cNvPicPr>
            <a:picLocks noChangeAspect="1"/>
          </p:cNvPicPr>
          <p:nvPr/>
        </p:nvPicPr>
        <p:blipFill>
          <a:blip r:embed="rId4"/>
          <a:stretch/>
        </p:blipFill>
        <p:spPr>
          <a:xfrm>
            <a:off x="933450" y="2546405"/>
            <a:ext cx="2834637" cy="278295"/>
          </a:xfrm>
          <a:prstGeom prst="rect">
            <a:avLst/>
          </a:prstGeom>
        </p:spPr>
      </p:pic>
      <p:sp>
        <p:nvSpPr>
          <p:cNvPr id="6" name="diagram-314">
            <a:extLst>
              <a:ext uri="{FF2B5EF4-FFF2-40B4-BE49-F238E27FC236}">
                <a16:creationId xmlns:a16="http://schemas.microsoft.com/office/drawing/2014/main" id="{51174DCB-BAE2-4D40-AC0C-E7FA93AD3B65}"/>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Fit the client’s multipath channel, then score every feasible tilt.</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Use goodput or a declared SINR objective. A dominant AoA is only an input.</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Probe finalists and the current tilt before committing.</a:t>
            </a:r>
          </a:p>
        </p:txBody>
      </p:sp>
      <p:sp>
        <p:nvSpPr>
          <p:cNvPr id="7" name="diagram-315">
            <a:extLst>
              <a:ext uri="{FF2B5EF4-FFF2-40B4-BE49-F238E27FC236}">
                <a16:creationId xmlns:a16="http://schemas.microsoft.com/office/drawing/2014/main" id="{B51C6B2A-8BC3-46C5-A0B1-37976B67CAC2}"/>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316">
            <a:extLst>
              <a:ext uri="{FF2B5EF4-FFF2-40B4-BE49-F238E27FC236}">
                <a16:creationId xmlns:a16="http://schemas.microsoft.com/office/drawing/2014/main" id="{B2AD8C7A-6713-4CBD-BA08-F7444B289E0E}"/>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317">
            <a:extLst>
              <a:ext uri="{FF2B5EF4-FFF2-40B4-BE49-F238E27FC236}">
                <a16:creationId xmlns:a16="http://schemas.microsoft.com/office/drawing/2014/main" id="{4317F79F-F779-4145-B53A-0C9EA6585D45}"/>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318">
            <a:extLst>
              <a:ext uri="{FF2B5EF4-FFF2-40B4-BE49-F238E27FC236}">
                <a16:creationId xmlns:a16="http://schemas.microsoft.com/office/drawing/2014/main" id="{47F38BFF-1974-4378-BCE2-5A71B9326C68}"/>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319">
            <a:extLst>
              <a:ext uri="{FF2B5EF4-FFF2-40B4-BE49-F238E27FC236}">
                <a16:creationId xmlns:a16="http://schemas.microsoft.com/office/drawing/2014/main" id="{B98B76D7-D0A7-418B-B027-9564C1BAE24B}"/>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320">
            <a:extLst>
              <a:ext uri="{FF2B5EF4-FFF2-40B4-BE49-F238E27FC236}">
                <a16:creationId xmlns:a16="http://schemas.microsoft.com/office/drawing/2014/main" id="{8D4F435F-DE68-4981-9DB7-948CEBE3383E}"/>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321">
            <a:extLst>
              <a:ext uri="{FF2B5EF4-FFF2-40B4-BE49-F238E27FC236}">
                <a16:creationId xmlns:a16="http://schemas.microsoft.com/office/drawing/2014/main" id="{70F71F5D-F500-4E1B-BC9F-D92EC631C50F}"/>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322">
            <a:extLst>
              <a:ext uri="{FF2B5EF4-FFF2-40B4-BE49-F238E27FC236}">
                <a16:creationId xmlns:a16="http://schemas.microsoft.com/office/drawing/2014/main" id="{024FE5DB-FAFD-4E22-BAFA-2FB806514973}"/>
              </a:ext>
            </a:extLst>
          </p:cNvPr>
          <p:cNvSpPr>
            <a:spLocks noGrp="1"/>
          </p:cNvSpPr>
          <p:nvPr/>
        </p:nvSpPr>
        <p:spPr>
          <a:xfrm>
            <a:off x="10201275" y="3324225"/>
            <a:ext cx="857250" cy="552450"/>
          </a:xfrm>
          <a:prstGeom prst="rect">
            <a:avLst/>
          </a:prstGeom>
          <a:solidFill>
            <a:srgbClr val="FFFFFF"/>
          </a:solidFill>
          <a:ln w="19050">
            <a:solidFill>
              <a:srgbClr val="111111"/>
            </a:solidFill>
          </a:ln>
        </p:spPr>
        <p:txBody>
          <a:bodyPr/>
          <a:lstStyle/>
          <a:p>
            <a:endParaRPr lang="en-US"/>
          </a:p>
        </p:txBody>
      </p:sp>
      <p:sp>
        <p:nvSpPr>
          <p:cNvPr id="15" name="diagram-323">
            <a:extLst>
              <a:ext uri="{FF2B5EF4-FFF2-40B4-BE49-F238E27FC236}">
                <a16:creationId xmlns:a16="http://schemas.microsoft.com/office/drawing/2014/main" id="{CFBBCE4A-ECAC-4AD2-9D94-A9D801F7F917}"/>
              </a:ext>
            </a:extLst>
          </p:cNvPr>
          <p:cNvSpPr>
            <a:spLocks noGrp="1"/>
          </p:cNvSpPr>
          <p:nvPr/>
        </p:nvSpPr>
        <p:spPr>
          <a:xfrm>
            <a:off x="10248900" y="3371850"/>
            <a:ext cx="762000" cy="457200"/>
          </a:xfrm>
          <a:prstGeom prst="rect">
            <a:avLst/>
          </a:prstGeom>
          <a:solidFill>
            <a:srgbClr val="F1F4F5"/>
          </a:solidFill>
          <a:ln w="19050">
            <a:noFill/>
          </a:ln>
        </p:spPr>
        <p:txBody>
          <a:bodyPr/>
          <a:lstStyle/>
          <a:p>
            <a:endParaRPr lang="en-US"/>
          </a:p>
        </p:txBody>
      </p:sp>
      <p:sp>
        <p:nvSpPr>
          <p:cNvPr id="16" name="line-324">
            <a:extLst>
              <a:ext uri="{FF2B5EF4-FFF2-40B4-BE49-F238E27FC236}">
                <a16:creationId xmlns:a16="http://schemas.microsoft.com/office/drawing/2014/main" id="{F267446A-1FD7-4386-A875-6102C28C319B}"/>
              </a:ext>
            </a:extLst>
          </p:cNvPr>
          <p:cNvSpPr>
            <a:spLocks noGrp="1"/>
          </p:cNvSpPr>
          <p:nvPr/>
        </p:nvSpPr>
        <p:spPr>
          <a:xfrm>
            <a:off x="10106025" y="3943350"/>
            <a:ext cx="1047750" cy="9525"/>
          </a:xfrm>
          <a:custGeom>
            <a:avLst/>
            <a:gdLst/>
            <a:ahLst/>
            <a:cxnLst/>
            <a:rect l="0" t="0" r="0" b="0"/>
            <a:pathLst>
              <a:path w="1047750" h="9525">
                <a:moveTo>
                  <a:pt x="0" y="0"/>
                </a:moveTo>
                <a:lnTo>
                  <a:pt x="1047750" y="0"/>
                </a:lnTo>
              </a:path>
            </a:pathLst>
          </a:custGeom>
          <a:noFill/>
          <a:ln w="38100">
            <a:solidFill>
              <a:srgbClr val="111111"/>
            </a:solidFill>
          </a:ln>
        </p:spPr>
        <p:txBody>
          <a:bodyPr/>
          <a:lstStyle/>
          <a:p>
            <a:endParaRPr lang="en-US"/>
          </a:p>
        </p:txBody>
      </p:sp>
      <p:sp>
        <p:nvSpPr>
          <p:cNvPr id="17" name="diagram-325">
            <a:extLst>
              <a:ext uri="{FF2B5EF4-FFF2-40B4-BE49-F238E27FC236}">
                <a16:creationId xmlns:a16="http://schemas.microsoft.com/office/drawing/2014/main" id="{50A7E8AC-230F-4E86-8762-5A2B610D8AF7}"/>
              </a:ext>
            </a:extLst>
          </p:cNvPr>
          <p:cNvSpPr>
            <a:spLocks noGrp="1"/>
          </p:cNvSpPr>
          <p:nvPr/>
        </p:nvSpPr>
        <p:spPr>
          <a:xfrm>
            <a:off x="9534525" y="4086225"/>
            <a:ext cx="219075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1</a:t>
            </a:r>
          </a:p>
        </p:txBody>
      </p:sp>
      <p:sp>
        <p:nvSpPr>
          <p:cNvPr id="18" name="line-326">
            <a:extLst>
              <a:ext uri="{FF2B5EF4-FFF2-40B4-BE49-F238E27FC236}">
                <a16:creationId xmlns:a16="http://schemas.microsoft.com/office/drawing/2014/main" id="{1463D799-6EA9-4BD2-801B-3C0CB0365E0F}"/>
              </a:ext>
            </a:extLst>
          </p:cNvPr>
          <p:cNvSpPr>
            <a:spLocks noGrp="1"/>
          </p:cNvSpPr>
          <p:nvPr/>
        </p:nvSpPr>
        <p:spPr>
          <a:xfrm>
            <a:off x="8963025" y="3752850"/>
            <a:ext cx="1133475" cy="704850"/>
          </a:xfrm>
          <a:custGeom>
            <a:avLst/>
            <a:gdLst/>
            <a:ahLst/>
            <a:cxnLst/>
            <a:rect l="0" t="0" r="0" b="0"/>
            <a:pathLst>
              <a:path w="1133475" h="704850">
                <a:moveTo>
                  <a:pt x="1133475" y="0"/>
                </a:moveTo>
                <a:lnTo>
                  <a:pt x="0" y="704850"/>
                </a:lnTo>
              </a:path>
            </a:pathLst>
          </a:custGeom>
          <a:noFill/>
          <a:ln w="23813">
            <a:solidFill>
              <a:srgbClr val="17698C"/>
            </a:solidFill>
          </a:ln>
        </p:spPr>
        <p:txBody>
          <a:bodyPr/>
          <a:lstStyle/>
          <a:p>
            <a:endParaRPr lang="en-US"/>
          </a:p>
        </p:txBody>
      </p:sp>
      <p:sp>
        <p:nvSpPr>
          <p:cNvPr id="19" name="line-327">
            <a:extLst>
              <a:ext uri="{FF2B5EF4-FFF2-40B4-BE49-F238E27FC236}">
                <a16:creationId xmlns:a16="http://schemas.microsoft.com/office/drawing/2014/main" id="{3CEAA189-6077-4C82-96CE-15E561C06665}"/>
              </a:ext>
            </a:extLst>
          </p:cNvPr>
          <p:cNvSpPr>
            <a:spLocks noGrp="1"/>
          </p:cNvSpPr>
          <p:nvPr/>
        </p:nvSpPr>
        <p:spPr>
          <a:xfrm>
            <a:off x="8963025" y="4377226"/>
            <a:ext cx="50955" cy="80474"/>
          </a:xfrm>
          <a:custGeom>
            <a:avLst/>
            <a:gdLst/>
            <a:ahLst/>
            <a:cxnLst/>
            <a:rect l="0" t="0" r="0" b="0"/>
            <a:pathLst>
              <a:path w="50955" h="80474">
                <a:moveTo>
                  <a:pt x="0" y="80474"/>
                </a:moveTo>
                <a:lnTo>
                  <a:pt x="50955" y="0"/>
                </a:lnTo>
              </a:path>
            </a:pathLst>
          </a:custGeom>
          <a:noFill/>
          <a:ln w="23813">
            <a:solidFill>
              <a:srgbClr val="17698C"/>
            </a:solidFill>
          </a:ln>
        </p:spPr>
        <p:txBody>
          <a:bodyPr/>
          <a:lstStyle/>
          <a:p>
            <a:endParaRPr lang="en-US"/>
          </a:p>
        </p:txBody>
      </p:sp>
      <p:sp>
        <p:nvSpPr>
          <p:cNvPr id="20" name="line-328">
            <a:extLst>
              <a:ext uri="{FF2B5EF4-FFF2-40B4-BE49-F238E27FC236}">
                <a16:creationId xmlns:a16="http://schemas.microsoft.com/office/drawing/2014/main" id="{2D4D9BC9-B304-4A5B-8029-CD7F0766E106}"/>
              </a:ext>
            </a:extLst>
          </p:cNvPr>
          <p:cNvSpPr>
            <a:spLocks noGrp="1"/>
          </p:cNvSpPr>
          <p:nvPr/>
        </p:nvSpPr>
        <p:spPr>
          <a:xfrm>
            <a:off x="8963025" y="4447591"/>
            <a:ext cx="94712" cy="10109"/>
          </a:xfrm>
          <a:custGeom>
            <a:avLst/>
            <a:gdLst/>
            <a:ahLst/>
            <a:cxnLst/>
            <a:rect l="0" t="0" r="0" b="0"/>
            <a:pathLst>
              <a:path w="94712" h="10109">
                <a:moveTo>
                  <a:pt x="0" y="10109"/>
                </a:moveTo>
                <a:lnTo>
                  <a:pt x="94712" y="0"/>
                </a:lnTo>
              </a:path>
            </a:pathLst>
          </a:custGeom>
          <a:noFill/>
          <a:ln w="23813">
            <a:solidFill>
              <a:srgbClr val="17698C"/>
            </a:solidFill>
          </a:ln>
        </p:spPr>
        <p:txBody>
          <a:bodyPr/>
          <a:lstStyle/>
          <a:p>
            <a:endParaRPr lang="en-US"/>
          </a:p>
        </p:txBody>
      </p:sp>
      <p:sp>
        <p:nvSpPr>
          <p:cNvPr id="21" name="line-329">
            <a:extLst>
              <a:ext uri="{FF2B5EF4-FFF2-40B4-BE49-F238E27FC236}">
                <a16:creationId xmlns:a16="http://schemas.microsoft.com/office/drawing/2014/main" id="{E94E5B2B-A712-4779-9ED3-3CDA616C2E8C}"/>
              </a:ext>
            </a:extLst>
          </p:cNvPr>
          <p:cNvSpPr>
            <a:spLocks noGrp="1"/>
          </p:cNvSpPr>
          <p:nvPr/>
        </p:nvSpPr>
        <p:spPr>
          <a:xfrm>
            <a:off x="9205495" y="3777730"/>
            <a:ext cx="9525" cy="9525"/>
          </a:xfrm>
          <a:custGeom>
            <a:avLst/>
            <a:gdLst/>
            <a:ahLst/>
            <a:cxnLst/>
            <a:rect l="0" t="0" r="0" b="0"/>
            <a:pathLst>
              <a:path w="9525" h="9525">
                <a:moveTo>
                  <a:pt x="0" y="0"/>
                </a:moveTo>
                <a:lnTo>
                  <a:pt x="3750" y="5083"/>
                </a:lnTo>
              </a:path>
            </a:pathLst>
          </a:custGeom>
          <a:noFill/>
          <a:ln w="19050">
            <a:solidFill>
              <a:srgbClr val="17698C"/>
            </a:solidFill>
          </a:ln>
        </p:spPr>
        <p:txBody>
          <a:bodyPr/>
          <a:lstStyle/>
          <a:p>
            <a:endParaRPr lang="en-US"/>
          </a:p>
        </p:txBody>
      </p:sp>
      <p:sp>
        <p:nvSpPr>
          <p:cNvPr id="22" name="line-330">
            <a:extLst>
              <a:ext uri="{FF2B5EF4-FFF2-40B4-BE49-F238E27FC236}">
                <a16:creationId xmlns:a16="http://schemas.microsoft.com/office/drawing/2014/main" id="{8B2C0E8A-9B4B-407B-81AB-EDDEF12B271B}"/>
              </a:ext>
            </a:extLst>
          </p:cNvPr>
          <p:cNvSpPr>
            <a:spLocks noGrp="1"/>
          </p:cNvSpPr>
          <p:nvPr/>
        </p:nvSpPr>
        <p:spPr>
          <a:xfrm>
            <a:off x="9209244" y="3782813"/>
            <a:ext cx="9525" cy="9525"/>
          </a:xfrm>
          <a:custGeom>
            <a:avLst/>
            <a:gdLst/>
            <a:ahLst/>
            <a:cxnLst/>
            <a:rect l="0" t="0" r="0" b="0"/>
            <a:pathLst>
              <a:path w="9525" h="9525">
                <a:moveTo>
                  <a:pt x="0" y="0"/>
                </a:moveTo>
                <a:lnTo>
                  <a:pt x="3463" y="5282"/>
                </a:lnTo>
              </a:path>
            </a:pathLst>
          </a:custGeom>
          <a:noFill/>
          <a:ln w="19050">
            <a:solidFill>
              <a:srgbClr val="17698C"/>
            </a:solidFill>
          </a:ln>
        </p:spPr>
        <p:txBody>
          <a:bodyPr/>
          <a:lstStyle/>
          <a:p>
            <a:endParaRPr lang="en-US"/>
          </a:p>
        </p:txBody>
      </p:sp>
      <p:sp>
        <p:nvSpPr>
          <p:cNvPr id="23" name="line-331">
            <a:extLst>
              <a:ext uri="{FF2B5EF4-FFF2-40B4-BE49-F238E27FC236}">
                <a16:creationId xmlns:a16="http://schemas.microsoft.com/office/drawing/2014/main" id="{D12692E0-029E-4290-81F9-33FA1BA82FA2}"/>
              </a:ext>
            </a:extLst>
          </p:cNvPr>
          <p:cNvSpPr>
            <a:spLocks noGrp="1"/>
          </p:cNvSpPr>
          <p:nvPr/>
        </p:nvSpPr>
        <p:spPr>
          <a:xfrm>
            <a:off x="9212708" y="3788095"/>
            <a:ext cx="9525" cy="9525"/>
          </a:xfrm>
          <a:custGeom>
            <a:avLst/>
            <a:gdLst/>
            <a:ahLst/>
            <a:cxnLst/>
            <a:rect l="0" t="0" r="0" b="0"/>
            <a:pathLst>
              <a:path w="9525" h="9525">
                <a:moveTo>
                  <a:pt x="0" y="0"/>
                </a:moveTo>
                <a:lnTo>
                  <a:pt x="3166" y="5466"/>
                </a:lnTo>
              </a:path>
            </a:pathLst>
          </a:custGeom>
          <a:noFill/>
          <a:ln w="19050">
            <a:solidFill>
              <a:srgbClr val="17698C"/>
            </a:solidFill>
          </a:ln>
        </p:spPr>
        <p:txBody>
          <a:bodyPr/>
          <a:lstStyle/>
          <a:p>
            <a:endParaRPr lang="en-US"/>
          </a:p>
        </p:txBody>
      </p:sp>
      <p:sp>
        <p:nvSpPr>
          <p:cNvPr id="24" name="line-332">
            <a:extLst>
              <a:ext uri="{FF2B5EF4-FFF2-40B4-BE49-F238E27FC236}">
                <a16:creationId xmlns:a16="http://schemas.microsoft.com/office/drawing/2014/main" id="{EFD8CA08-F1EF-4956-8559-CBB043D31ED3}"/>
              </a:ext>
            </a:extLst>
          </p:cNvPr>
          <p:cNvSpPr>
            <a:spLocks noGrp="1"/>
          </p:cNvSpPr>
          <p:nvPr/>
        </p:nvSpPr>
        <p:spPr>
          <a:xfrm>
            <a:off x="9215874" y="3793561"/>
            <a:ext cx="9525" cy="9525"/>
          </a:xfrm>
          <a:custGeom>
            <a:avLst/>
            <a:gdLst/>
            <a:ahLst/>
            <a:cxnLst/>
            <a:rect l="0" t="0" r="0" b="0"/>
            <a:pathLst>
              <a:path w="9525" h="9525">
                <a:moveTo>
                  <a:pt x="0" y="0"/>
                </a:moveTo>
                <a:lnTo>
                  <a:pt x="2859" y="5632"/>
                </a:lnTo>
              </a:path>
            </a:pathLst>
          </a:custGeom>
          <a:noFill/>
          <a:ln w="19050">
            <a:solidFill>
              <a:srgbClr val="17698C"/>
            </a:solidFill>
          </a:ln>
        </p:spPr>
        <p:txBody>
          <a:bodyPr/>
          <a:lstStyle/>
          <a:p>
            <a:endParaRPr lang="en-US"/>
          </a:p>
        </p:txBody>
      </p:sp>
      <p:sp>
        <p:nvSpPr>
          <p:cNvPr id="25" name="line-333">
            <a:extLst>
              <a:ext uri="{FF2B5EF4-FFF2-40B4-BE49-F238E27FC236}">
                <a16:creationId xmlns:a16="http://schemas.microsoft.com/office/drawing/2014/main" id="{5575B371-0710-4E5E-B8BD-728F57A7B85B}"/>
              </a:ext>
            </a:extLst>
          </p:cNvPr>
          <p:cNvSpPr>
            <a:spLocks noGrp="1"/>
          </p:cNvSpPr>
          <p:nvPr/>
        </p:nvSpPr>
        <p:spPr>
          <a:xfrm>
            <a:off x="9218733" y="3799193"/>
            <a:ext cx="9525" cy="9525"/>
          </a:xfrm>
          <a:custGeom>
            <a:avLst/>
            <a:gdLst/>
            <a:ahLst/>
            <a:cxnLst/>
            <a:rect l="0" t="0" r="0" b="0"/>
            <a:pathLst>
              <a:path w="9525" h="9525">
                <a:moveTo>
                  <a:pt x="0" y="0"/>
                </a:moveTo>
                <a:lnTo>
                  <a:pt x="2544" y="5781"/>
                </a:lnTo>
              </a:path>
            </a:pathLst>
          </a:custGeom>
          <a:noFill/>
          <a:ln w="19050">
            <a:solidFill>
              <a:srgbClr val="17698C"/>
            </a:solidFill>
          </a:ln>
        </p:spPr>
        <p:txBody>
          <a:bodyPr/>
          <a:lstStyle/>
          <a:p>
            <a:endParaRPr lang="en-US"/>
          </a:p>
        </p:txBody>
      </p:sp>
      <p:sp>
        <p:nvSpPr>
          <p:cNvPr id="26" name="line-334">
            <a:extLst>
              <a:ext uri="{FF2B5EF4-FFF2-40B4-BE49-F238E27FC236}">
                <a16:creationId xmlns:a16="http://schemas.microsoft.com/office/drawing/2014/main" id="{2E71A073-6BD8-43B1-859C-FFDB3E6B5307}"/>
              </a:ext>
            </a:extLst>
          </p:cNvPr>
          <p:cNvSpPr>
            <a:spLocks noGrp="1"/>
          </p:cNvSpPr>
          <p:nvPr/>
        </p:nvSpPr>
        <p:spPr>
          <a:xfrm>
            <a:off x="9221277" y="3804974"/>
            <a:ext cx="9525" cy="9525"/>
          </a:xfrm>
          <a:custGeom>
            <a:avLst/>
            <a:gdLst/>
            <a:ahLst/>
            <a:cxnLst/>
            <a:rect l="0" t="0" r="0" b="0"/>
            <a:pathLst>
              <a:path w="9525" h="9525">
                <a:moveTo>
                  <a:pt x="0" y="0"/>
                </a:moveTo>
                <a:lnTo>
                  <a:pt x="2221" y="5913"/>
                </a:lnTo>
              </a:path>
            </a:pathLst>
          </a:custGeom>
          <a:noFill/>
          <a:ln w="19050">
            <a:solidFill>
              <a:srgbClr val="17698C"/>
            </a:solidFill>
          </a:ln>
        </p:spPr>
        <p:txBody>
          <a:bodyPr/>
          <a:lstStyle/>
          <a:p>
            <a:endParaRPr lang="en-US"/>
          </a:p>
        </p:txBody>
      </p:sp>
      <p:sp>
        <p:nvSpPr>
          <p:cNvPr id="27" name="line-335">
            <a:extLst>
              <a:ext uri="{FF2B5EF4-FFF2-40B4-BE49-F238E27FC236}">
                <a16:creationId xmlns:a16="http://schemas.microsoft.com/office/drawing/2014/main" id="{E1E2CCA2-56B7-4A97-80D6-0D5FB2AA4757}"/>
              </a:ext>
            </a:extLst>
          </p:cNvPr>
          <p:cNvSpPr>
            <a:spLocks noGrp="1"/>
          </p:cNvSpPr>
          <p:nvPr/>
        </p:nvSpPr>
        <p:spPr>
          <a:xfrm>
            <a:off x="9223498" y="3810888"/>
            <a:ext cx="9525" cy="9525"/>
          </a:xfrm>
          <a:custGeom>
            <a:avLst/>
            <a:gdLst/>
            <a:ahLst/>
            <a:cxnLst/>
            <a:rect l="0" t="0" r="0" b="0"/>
            <a:pathLst>
              <a:path w="9525" h="9525">
                <a:moveTo>
                  <a:pt x="0" y="0"/>
                </a:moveTo>
                <a:lnTo>
                  <a:pt x="1891" y="6027"/>
                </a:lnTo>
              </a:path>
            </a:pathLst>
          </a:custGeom>
          <a:noFill/>
          <a:ln w="19050">
            <a:solidFill>
              <a:srgbClr val="17698C"/>
            </a:solidFill>
          </a:ln>
        </p:spPr>
        <p:txBody>
          <a:bodyPr/>
          <a:lstStyle/>
          <a:p>
            <a:endParaRPr lang="en-US"/>
          </a:p>
        </p:txBody>
      </p:sp>
      <p:sp>
        <p:nvSpPr>
          <p:cNvPr id="28" name="line-336">
            <a:extLst>
              <a:ext uri="{FF2B5EF4-FFF2-40B4-BE49-F238E27FC236}">
                <a16:creationId xmlns:a16="http://schemas.microsoft.com/office/drawing/2014/main" id="{CFC8936C-CFB3-459C-9A50-7F35652E7BA4}"/>
              </a:ext>
            </a:extLst>
          </p:cNvPr>
          <p:cNvSpPr>
            <a:spLocks noGrp="1"/>
          </p:cNvSpPr>
          <p:nvPr/>
        </p:nvSpPr>
        <p:spPr>
          <a:xfrm>
            <a:off x="9225388" y="3816914"/>
            <a:ext cx="9525" cy="9525"/>
          </a:xfrm>
          <a:custGeom>
            <a:avLst/>
            <a:gdLst/>
            <a:ahLst/>
            <a:cxnLst/>
            <a:rect l="0" t="0" r="0" b="0"/>
            <a:pathLst>
              <a:path w="9525" h="9525">
                <a:moveTo>
                  <a:pt x="0" y="0"/>
                </a:moveTo>
                <a:lnTo>
                  <a:pt x="1555" y="6122"/>
                </a:lnTo>
              </a:path>
            </a:pathLst>
          </a:custGeom>
          <a:noFill/>
          <a:ln w="19050">
            <a:solidFill>
              <a:srgbClr val="17698C"/>
            </a:solidFill>
          </a:ln>
        </p:spPr>
        <p:txBody>
          <a:bodyPr/>
          <a:lstStyle/>
          <a:p>
            <a:endParaRPr lang="en-US"/>
          </a:p>
        </p:txBody>
      </p:sp>
      <p:sp>
        <p:nvSpPr>
          <p:cNvPr id="29" name="line-337">
            <a:extLst>
              <a:ext uri="{FF2B5EF4-FFF2-40B4-BE49-F238E27FC236}">
                <a16:creationId xmlns:a16="http://schemas.microsoft.com/office/drawing/2014/main" id="{EABA864F-3AE6-4014-BF09-6625FB380789}"/>
              </a:ext>
            </a:extLst>
          </p:cNvPr>
          <p:cNvSpPr>
            <a:spLocks noGrp="1"/>
          </p:cNvSpPr>
          <p:nvPr/>
        </p:nvSpPr>
        <p:spPr>
          <a:xfrm>
            <a:off x="9226943" y="3823036"/>
            <a:ext cx="9525" cy="9525"/>
          </a:xfrm>
          <a:custGeom>
            <a:avLst/>
            <a:gdLst/>
            <a:ahLst/>
            <a:cxnLst/>
            <a:rect l="0" t="0" r="0" b="0"/>
            <a:pathLst>
              <a:path w="9525" h="9525">
                <a:moveTo>
                  <a:pt x="0" y="0"/>
                </a:moveTo>
                <a:lnTo>
                  <a:pt x="1214" y="6199"/>
                </a:lnTo>
              </a:path>
            </a:pathLst>
          </a:custGeom>
          <a:noFill/>
          <a:ln w="19050">
            <a:solidFill>
              <a:srgbClr val="17698C"/>
            </a:solidFill>
          </a:ln>
        </p:spPr>
        <p:txBody>
          <a:bodyPr/>
          <a:lstStyle/>
          <a:p>
            <a:endParaRPr lang="en-US"/>
          </a:p>
        </p:txBody>
      </p:sp>
      <p:sp>
        <p:nvSpPr>
          <p:cNvPr id="30" name="line-338">
            <a:extLst>
              <a:ext uri="{FF2B5EF4-FFF2-40B4-BE49-F238E27FC236}">
                <a16:creationId xmlns:a16="http://schemas.microsoft.com/office/drawing/2014/main" id="{51E5C1C1-4C90-4CF7-A7A1-F8A24C509A17}"/>
              </a:ext>
            </a:extLst>
          </p:cNvPr>
          <p:cNvSpPr>
            <a:spLocks noGrp="1"/>
          </p:cNvSpPr>
          <p:nvPr/>
        </p:nvSpPr>
        <p:spPr>
          <a:xfrm>
            <a:off x="9228157" y="3829235"/>
            <a:ext cx="9525" cy="9525"/>
          </a:xfrm>
          <a:custGeom>
            <a:avLst/>
            <a:gdLst/>
            <a:ahLst/>
            <a:cxnLst/>
            <a:rect l="0" t="0" r="0" b="0"/>
            <a:pathLst>
              <a:path w="9525" h="9525">
                <a:moveTo>
                  <a:pt x="0" y="0"/>
                </a:moveTo>
                <a:lnTo>
                  <a:pt x="870" y="6256"/>
                </a:lnTo>
              </a:path>
            </a:pathLst>
          </a:custGeom>
          <a:noFill/>
          <a:ln w="19050">
            <a:solidFill>
              <a:srgbClr val="17698C"/>
            </a:solidFill>
          </a:ln>
        </p:spPr>
        <p:txBody>
          <a:bodyPr/>
          <a:lstStyle/>
          <a:p>
            <a:endParaRPr lang="en-US"/>
          </a:p>
        </p:txBody>
      </p:sp>
      <p:sp>
        <p:nvSpPr>
          <p:cNvPr id="31" name="line-339">
            <a:extLst>
              <a:ext uri="{FF2B5EF4-FFF2-40B4-BE49-F238E27FC236}">
                <a16:creationId xmlns:a16="http://schemas.microsoft.com/office/drawing/2014/main" id="{4493357A-4F62-4C4F-AF5C-4D0FCD6F281A}"/>
              </a:ext>
            </a:extLst>
          </p:cNvPr>
          <p:cNvSpPr>
            <a:spLocks noGrp="1"/>
          </p:cNvSpPr>
          <p:nvPr/>
        </p:nvSpPr>
        <p:spPr>
          <a:xfrm>
            <a:off x="9229027" y="3835491"/>
            <a:ext cx="9525" cy="9525"/>
          </a:xfrm>
          <a:custGeom>
            <a:avLst/>
            <a:gdLst/>
            <a:ahLst/>
            <a:cxnLst/>
            <a:rect l="0" t="0" r="0" b="0"/>
            <a:pathLst>
              <a:path w="9525" h="9525">
                <a:moveTo>
                  <a:pt x="0" y="0"/>
                </a:moveTo>
                <a:lnTo>
                  <a:pt x="523" y="6295"/>
                </a:lnTo>
              </a:path>
            </a:pathLst>
          </a:custGeom>
          <a:noFill/>
          <a:ln w="19050">
            <a:solidFill>
              <a:srgbClr val="17698C"/>
            </a:solidFill>
          </a:ln>
        </p:spPr>
        <p:txBody>
          <a:bodyPr/>
          <a:lstStyle/>
          <a:p>
            <a:endParaRPr lang="en-US"/>
          </a:p>
        </p:txBody>
      </p:sp>
      <p:sp>
        <p:nvSpPr>
          <p:cNvPr id="32" name="line-340">
            <a:extLst>
              <a:ext uri="{FF2B5EF4-FFF2-40B4-BE49-F238E27FC236}">
                <a16:creationId xmlns:a16="http://schemas.microsoft.com/office/drawing/2014/main" id="{972FB402-3EA7-495A-8379-E212677AA87C}"/>
              </a:ext>
            </a:extLst>
          </p:cNvPr>
          <p:cNvSpPr>
            <a:spLocks noGrp="1"/>
          </p:cNvSpPr>
          <p:nvPr/>
        </p:nvSpPr>
        <p:spPr>
          <a:xfrm>
            <a:off x="9229550" y="3841786"/>
            <a:ext cx="9525" cy="9525"/>
          </a:xfrm>
          <a:custGeom>
            <a:avLst/>
            <a:gdLst/>
            <a:ahLst/>
            <a:cxnLst/>
            <a:rect l="0" t="0" r="0" b="0"/>
            <a:pathLst>
              <a:path w="9525" h="9525">
                <a:moveTo>
                  <a:pt x="0" y="0"/>
                </a:moveTo>
                <a:lnTo>
                  <a:pt x="175" y="6314"/>
                </a:lnTo>
              </a:path>
            </a:pathLst>
          </a:custGeom>
          <a:noFill/>
          <a:ln w="19050">
            <a:solidFill>
              <a:srgbClr val="17698C"/>
            </a:solidFill>
          </a:ln>
        </p:spPr>
        <p:txBody>
          <a:bodyPr/>
          <a:lstStyle/>
          <a:p>
            <a:endParaRPr lang="en-US"/>
          </a:p>
        </p:txBody>
      </p:sp>
      <p:sp>
        <p:nvSpPr>
          <p:cNvPr id="33" name="line-341">
            <a:extLst>
              <a:ext uri="{FF2B5EF4-FFF2-40B4-BE49-F238E27FC236}">
                <a16:creationId xmlns:a16="http://schemas.microsoft.com/office/drawing/2014/main" id="{2509E063-0748-425F-8060-E17B48CA86EB}"/>
              </a:ext>
            </a:extLst>
          </p:cNvPr>
          <p:cNvSpPr>
            <a:spLocks noGrp="1"/>
          </p:cNvSpPr>
          <p:nvPr/>
        </p:nvSpPr>
        <p:spPr>
          <a:xfrm>
            <a:off x="9229550" y="3848100"/>
            <a:ext cx="9525" cy="9525"/>
          </a:xfrm>
          <a:custGeom>
            <a:avLst/>
            <a:gdLst/>
            <a:ahLst/>
            <a:cxnLst/>
            <a:rect l="0" t="0" r="0" b="0"/>
            <a:pathLst>
              <a:path w="9525" h="9525">
                <a:moveTo>
                  <a:pt x="175" y="0"/>
                </a:moveTo>
                <a:lnTo>
                  <a:pt x="0" y="6314"/>
                </a:lnTo>
              </a:path>
            </a:pathLst>
          </a:custGeom>
          <a:noFill/>
          <a:ln w="19050">
            <a:solidFill>
              <a:srgbClr val="17698C"/>
            </a:solidFill>
          </a:ln>
        </p:spPr>
        <p:txBody>
          <a:bodyPr/>
          <a:lstStyle/>
          <a:p>
            <a:endParaRPr lang="en-US"/>
          </a:p>
        </p:txBody>
      </p:sp>
      <p:sp>
        <p:nvSpPr>
          <p:cNvPr id="34" name="line-342">
            <a:extLst>
              <a:ext uri="{FF2B5EF4-FFF2-40B4-BE49-F238E27FC236}">
                <a16:creationId xmlns:a16="http://schemas.microsoft.com/office/drawing/2014/main" id="{82FB5ADD-43B7-443E-84D7-26B7397DC17F}"/>
              </a:ext>
            </a:extLst>
          </p:cNvPr>
          <p:cNvSpPr>
            <a:spLocks noGrp="1"/>
          </p:cNvSpPr>
          <p:nvPr/>
        </p:nvSpPr>
        <p:spPr>
          <a:xfrm>
            <a:off x="9229027" y="3854414"/>
            <a:ext cx="9525" cy="9525"/>
          </a:xfrm>
          <a:custGeom>
            <a:avLst/>
            <a:gdLst/>
            <a:ahLst/>
            <a:cxnLst/>
            <a:rect l="0" t="0" r="0" b="0"/>
            <a:pathLst>
              <a:path w="9525" h="9525">
                <a:moveTo>
                  <a:pt x="523" y="0"/>
                </a:moveTo>
                <a:lnTo>
                  <a:pt x="0" y="6295"/>
                </a:lnTo>
              </a:path>
            </a:pathLst>
          </a:custGeom>
          <a:noFill/>
          <a:ln w="19050">
            <a:solidFill>
              <a:srgbClr val="17698C"/>
            </a:solidFill>
          </a:ln>
        </p:spPr>
        <p:txBody>
          <a:bodyPr/>
          <a:lstStyle/>
          <a:p>
            <a:endParaRPr lang="en-US"/>
          </a:p>
        </p:txBody>
      </p:sp>
      <p:sp>
        <p:nvSpPr>
          <p:cNvPr id="35" name="line-343">
            <a:extLst>
              <a:ext uri="{FF2B5EF4-FFF2-40B4-BE49-F238E27FC236}">
                <a16:creationId xmlns:a16="http://schemas.microsoft.com/office/drawing/2014/main" id="{3BA765EB-3C8D-4BE8-A286-E9DA27C7D185}"/>
              </a:ext>
            </a:extLst>
          </p:cNvPr>
          <p:cNvSpPr>
            <a:spLocks noGrp="1"/>
          </p:cNvSpPr>
          <p:nvPr/>
        </p:nvSpPr>
        <p:spPr>
          <a:xfrm>
            <a:off x="9228157" y="3860709"/>
            <a:ext cx="9525" cy="9525"/>
          </a:xfrm>
          <a:custGeom>
            <a:avLst/>
            <a:gdLst/>
            <a:ahLst/>
            <a:cxnLst/>
            <a:rect l="0" t="0" r="0" b="0"/>
            <a:pathLst>
              <a:path w="9525" h="9525">
                <a:moveTo>
                  <a:pt x="870" y="0"/>
                </a:moveTo>
                <a:lnTo>
                  <a:pt x="0" y="6256"/>
                </a:lnTo>
              </a:path>
            </a:pathLst>
          </a:custGeom>
          <a:noFill/>
          <a:ln w="19050">
            <a:solidFill>
              <a:srgbClr val="17698C"/>
            </a:solidFill>
          </a:ln>
        </p:spPr>
        <p:txBody>
          <a:bodyPr/>
          <a:lstStyle/>
          <a:p>
            <a:endParaRPr lang="en-US"/>
          </a:p>
        </p:txBody>
      </p:sp>
      <p:sp>
        <p:nvSpPr>
          <p:cNvPr id="36" name="line-344">
            <a:extLst>
              <a:ext uri="{FF2B5EF4-FFF2-40B4-BE49-F238E27FC236}">
                <a16:creationId xmlns:a16="http://schemas.microsoft.com/office/drawing/2014/main" id="{80315842-695D-47E3-AA22-49E29EBBB438}"/>
              </a:ext>
            </a:extLst>
          </p:cNvPr>
          <p:cNvSpPr>
            <a:spLocks noGrp="1"/>
          </p:cNvSpPr>
          <p:nvPr/>
        </p:nvSpPr>
        <p:spPr>
          <a:xfrm>
            <a:off x="9226943" y="3866965"/>
            <a:ext cx="9525" cy="9525"/>
          </a:xfrm>
          <a:custGeom>
            <a:avLst/>
            <a:gdLst/>
            <a:ahLst/>
            <a:cxnLst/>
            <a:rect l="0" t="0" r="0" b="0"/>
            <a:pathLst>
              <a:path w="9525" h="9525">
                <a:moveTo>
                  <a:pt x="1214" y="0"/>
                </a:moveTo>
                <a:lnTo>
                  <a:pt x="0" y="6199"/>
                </a:lnTo>
              </a:path>
            </a:pathLst>
          </a:custGeom>
          <a:noFill/>
          <a:ln w="19050">
            <a:solidFill>
              <a:srgbClr val="17698C"/>
            </a:solidFill>
          </a:ln>
        </p:spPr>
        <p:txBody>
          <a:bodyPr/>
          <a:lstStyle/>
          <a:p>
            <a:endParaRPr lang="en-US"/>
          </a:p>
        </p:txBody>
      </p:sp>
      <p:sp>
        <p:nvSpPr>
          <p:cNvPr id="37" name="line-345">
            <a:extLst>
              <a:ext uri="{FF2B5EF4-FFF2-40B4-BE49-F238E27FC236}">
                <a16:creationId xmlns:a16="http://schemas.microsoft.com/office/drawing/2014/main" id="{C5278BFE-F2CC-4F93-A090-16676E463CCE}"/>
              </a:ext>
            </a:extLst>
          </p:cNvPr>
          <p:cNvSpPr>
            <a:spLocks noGrp="1"/>
          </p:cNvSpPr>
          <p:nvPr/>
        </p:nvSpPr>
        <p:spPr>
          <a:xfrm>
            <a:off x="9225388" y="3873164"/>
            <a:ext cx="9525" cy="9525"/>
          </a:xfrm>
          <a:custGeom>
            <a:avLst/>
            <a:gdLst/>
            <a:ahLst/>
            <a:cxnLst/>
            <a:rect l="0" t="0" r="0" b="0"/>
            <a:pathLst>
              <a:path w="9525" h="9525">
                <a:moveTo>
                  <a:pt x="1555" y="0"/>
                </a:moveTo>
                <a:lnTo>
                  <a:pt x="0" y="6122"/>
                </a:lnTo>
              </a:path>
            </a:pathLst>
          </a:custGeom>
          <a:noFill/>
          <a:ln w="19050">
            <a:solidFill>
              <a:srgbClr val="17698C"/>
            </a:solidFill>
          </a:ln>
        </p:spPr>
        <p:txBody>
          <a:bodyPr/>
          <a:lstStyle/>
          <a:p>
            <a:endParaRPr lang="en-US"/>
          </a:p>
        </p:txBody>
      </p:sp>
      <p:sp>
        <p:nvSpPr>
          <p:cNvPr id="38" name="line-346">
            <a:extLst>
              <a:ext uri="{FF2B5EF4-FFF2-40B4-BE49-F238E27FC236}">
                <a16:creationId xmlns:a16="http://schemas.microsoft.com/office/drawing/2014/main" id="{E3E6A0F4-8C80-4192-8331-DECB8666A13C}"/>
              </a:ext>
            </a:extLst>
          </p:cNvPr>
          <p:cNvSpPr>
            <a:spLocks noGrp="1"/>
          </p:cNvSpPr>
          <p:nvPr/>
        </p:nvSpPr>
        <p:spPr>
          <a:xfrm>
            <a:off x="9223498" y="3879286"/>
            <a:ext cx="9525" cy="9525"/>
          </a:xfrm>
          <a:custGeom>
            <a:avLst/>
            <a:gdLst/>
            <a:ahLst/>
            <a:cxnLst/>
            <a:rect l="0" t="0" r="0" b="0"/>
            <a:pathLst>
              <a:path w="9525" h="9525">
                <a:moveTo>
                  <a:pt x="1891" y="0"/>
                </a:moveTo>
                <a:lnTo>
                  <a:pt x="0" y="6027"/>
                </a:lnTo>
              </a:path>
            </a:pathLst>
          </a:custGeom>
          <a:noFill/>
          <a:ln w="19050">
            <a:solidFill>
              <a:srgbClr val="17698C"/>
            </a:solidFill>
          </a:ln>
        </p:spPr>
        <p:txBody>
          <a:bodyPr/>
          <a:lstStyle/>
          <a:p>
            <a:endParaRPr lang="en-US"/>
          </a:p>
        </p:txBody>
      </p:sp>
      <p:sp>
        <p:nvSpPr>
          <p:cNvPr id="39" name="line-347">
            <a:extLst>
              <a:ext uri="{FF2B5EF4-FFF2-40B4-BE49-F238E27FC236}">
                <a16:creationId xmlns:a16="http://schemas.microsoft.com/office/drawing/2014/main" id="{AC3FBBC8-0F17-496E-ABCB-15DFCC6D1773}"/>
              </a:ext>
            </a:extLst>
          </p:cNvPr>
          <p:cNvSpPr>
            <a:spLocks noGrp="1"/>
          </p:cNvSpPr>
          <p:nvPr/>
        </p:nvSpPr>
        <p:spPr>
          <a:xfrm>
            <a:off x="9221277" y="3885312"/>
            <a:ext cx="9525" cy="9525"/>
          </a:xfrm>
          <a:custGeom>
            <a:avLst/>
            <a:gdLst/>
            <a:ahLst/>
            <a:cxnLst/>
            <a:rect l="0" t="0" r="0" b="0"/>
            <a:pathLst>
              <a:path w="9525" h="9525">
                <a:moveTo>
                  <a:pt x="2221" y="0"/>
                </a:moveTo>
                <a:lnTo>
                  <a:pt x="0" y="5913"/>
                </a:lnTo>
              </a:path>
            </a:pathLst>
          </a:custGeom>
          <a:noFill/>
          <a:ln w="19050">
            <a:solidFill>
              <a:srgbClr val="17698C"/>
            </a:solidFill>
          </a:ln>
        </p:spPr>
        <p:txBody>
          <a:bodyPr/>
          <a:lstStyle/>
          <a:p>
            <a:endParaRPr lang="en-US"/>
          </a:p>
        </p:txBody>
      </p:sp>
      <p:sp>
        <p:nvSpPr>
          <p:cNvPr id="40" name="line-348">
            <a:extLst>
              <a:ext uri="{FF2B5EF4-FFF2-40B4-BE49-F238E27FC236}">
                <a16:creationId xmlns:a16="http://schemas.microsoft.com/office/drawing/2014/main" id="{DA5D529C-D5FD-41D3-ADB6-679E2C853091}"/>
              </a:ext>
            </a:extLst>
          </p:cNvPr>
          <p:cNvSpPr>
            <a:spLocks noGrp="1"/>
          </p:cNvSpPr>
          <p:nvPr/>
        </p:nvSpPr>
        <p:spPr>
          <a:xfrm>
            <a:off x="9218733" y="3891226"/>
            <a:ext cx="9525" cy="9525"/>
          </a:xfrm>
          <a:custGeom>
            <a:avLst/>
            <a:gdLst/>
            <a:ahLst/>
            <a:cxnLst/>
            <a:rect l="0" t="0" r="0" b="0"/>
            <a:pathLst>
              <a:path w="9525" h="9525">
                <a:moveTo>
                  <a:pt x="2544" y="0"/>
                </a:moveTo>
                <a:lnTo>
                  <a:pt x="0" y="5781"/>
                </a:lnTo>
              </a:path>
            </a:pathLst>
          </a:custGeom>
          <a:noFill/>
          <a:ln w="19050">
            <a:solidFill>
              <a:srgbClr val="17698C"/>
            </a:solidFill>
          </a:ln>
        </p:spPr>
        <p:txBody>
          <a:bodyPr/>
          <a:lstStyle/>
          <a:p>
            <a:endParaRPr lang="en-US"/>
          </a:p>
        </p:txBody>
      </p:sp>
      <p:sp>
        <p:nvSpPr>
          <p:cNvPr id="41" name="line-349">
            <a:extLst>
              <a:ext uri="{FF2B5EF4-FFF2-40B4-BE49-F238E27FC236}">
                <a16:creationId xmlns:a16="http://schemas.microsoft.com/office/drawing/2014/main" id="{BF9D6303-321D-4715-ADB3-95D147F37DF2}"/>
              </a:ext>
            </a:extLst>
          </p:cNvPr>
          <p:cNvSpPr>
            <a:spLocks noGrp="1"/>
          </p:cNvSpPr>
          <p:nvPr/>
        </p:nvSpPr>
        <p:spPr>
          <a:xfrm>
            <a:off x="9215874" y="3897007"/>
            <a:ext cx="9525" cy="9525"/>
          </a:xfrm>
          <a:custGeom>
            <a:avLst/>
            <a:gdLst/>
            <a:ahLst/>
            <a:cxnLst/>
            <a:rect l="0" t="0" r="0" b="0"/>
            <a:pathLst>
              <a:path w="9525" h="9525">
                <a:moveTo>
                  <a:pt x="2859" y="0"/>
                </a:moveTo>
                <a:lnTo>
                  <a:pt x="0" y="5632"/>
                </a:lnTo>
              </a:path>
            </a:pathLst>
          </a:custGeom>
          <a:noFill/>
          <a:ln w="19050">
            <a:solidFill>
              <a:srgbClr val="17698C"/>
            </a:solidFill>
          </a:ln>
        </p:spPr>
        <p:txBody>
          <a:bodyPr/>
          <a:lstStyle/>
          <a:p>
            <a:endParaRPr lang="en-US"/>
          </a:p>
        </p:txBody>
      </p:sp>
      <p:sp>
        <p:nvSpPr>
          <p:cNvPr id="42" name="line-350">
            <a:extLst>
              <a:ext uri="{FF2B5EF4-FFF2-40B4-BE49-F238E27FC236}">
                <a16:creationId xmlns:a16="http://schemas.microsoft.com/office/drawing/2014/main" id="{BAB2360F-0287-4E75-A877-33EE61C75336}"/>
              </a:ext>
            </a:extLst>
          </p:cNvPr>
          <p:cNvSpPr>
            <a:spLocks noGrp="1"/>
          </p:cNvSpPr>
          <p:nvPr/>
        </p:nvSpPr>
        <p:spPr>
          <a:xfrm>
            <a:off x="9212708" y="3902639"/>
            <a:ext cx="9525" cy="9525"/>
          </a:xfrm>
          <a:custGeom>
            <a:avLst/>
            <a:gdLst/>
            <a:ahLst/>
            <a:cxnLst/>
            <a:rect l="0" t="0" r="0" b="0"/>
            <a:pathLst>
              <a:path w="9525" h="9525">
                <a:moveTo>
                  <a:pt x="3166" y="0"/>
                </a:moveTo>
                <a:lnTo>
                  <a:pt x="0" y="5466"/>
                </a:lnTo>
              </a:path>
            </a:pathLst>
          </a:custGeom>
          <a:noFill/>
          <a:ln w="19050">
            <a:solidFill>
              <a:srgbClr val="17698C"/>
            </a:solidFill>
          </a:ln>
        </p:spPr>
        <p:txBody>
          <a:bodyPr/>
          <a:lstStyle/>
          <a:p>
            <a:endParaRPr lang="en-US"/>
          </a:p>
        </p:txBody>
      </p:sp>
      <p:sp>
        <p:nvSpPr>
          <p:cNvPr id="43" name="line-351">
            <a:extLst>
              <a:ext uri="{FF2B5EF4-FFF2-40B4-BE49-F238E27FC236}">
                <a16:creationId xmlns:a16="http://schemas.microsoft.com/office/drawing/2014/main" id="{A4524D25-871F-4B11-BCD2-1A3B962DC736}"/>
              </a:ext>
            </a:extLst>
          </p:cNvPr>
          <p:cNvSpPr>
            <a:spLocks noGrp="1"/>
          </p:cNvSpPr>
          <p:nvPr/>
        </p:nvSpPr>
        <p:spPr>
          <a:xfrm>
            <a:off x="9209244" y="3908105"/>
            <a:ext cx="9525" cy="9525"/>
          </a:xfrm>
          <a:custGeom>
            <a:avLst/>
            <a:gdLst/>
            <a:ahLst/>
            <a:cxnLst/>
            <a:rect l="0" t="0" r="0" b="0"/>
            <a:pathLst>
              <a:path w="9525" h="9525">
                <a:moveTo>
                  <a:pt x="3463" y="0"/>
                </a:moveTo>
                <a:lnTo>
                  <a:pt x="0" y="5282"/>
                </a:lnTo>
              </a:path>
            </a:pathLst>
          </a:custGeom>
          <a:noFill/>
          <a:ln w="19050">
            <a:solidFill>
              <a:srgbClr val="17698C"/>
            </a:solidFill>
          </a:ln>
        </p:spPr>
        <p:txBody>
          <a:bodyPr/>
          <a:lstStyle/>
          <a:p>
            <a:endParaRPr lang="en-US"/>
          </a:p>
        </p:txBody>
      </p:sp>
      <p:sp>
        <p:nvSpPr>
          <p:cNvPr id="44" name="line-352">
            <a:extLst>
              <a:ext uri="{FF2B5EF4-FFF2-40B4-BE49-F238E27FC236}">
                <a16:creationId xmlns:a16="http://schemas.microsoft.com/office/drawing/2014/main" id="{3B85BD56-7D49-4680-BBB7-56E5D49EE78E}"/>
              </a:ext>
            </a:extLst>
          </p:cNvPr>
          <p:cNvSpPr>
            <a:spLocks noGrp="1"/>
          </p:cNvSpPr>
          <p:nvPr/>
        </p:nvSpPr>
        <p:spPr>
          <a:xfrm>
            <a:off x="9205495" y="3913387"/>
            <a:ext cx="9525" cy="9525"/>
          </a:xfrm>
          <a:custGeom>
            <a:avLst/>
            <a:gdLst/>
            <a:ahLst/>
            <a:cxnLst/>
            <a:rect l="0" t="0" r="0" b="0"/>
            <a:pathLst>
              <a:path w="9525" h="9525">
                <a:moveTo>
                  <a:pt x="3750" y="0"/>
                </a:moveTo>
                <a:lnTo>
                  <a:pt x="0" y="5083"/>
                </a:lnTo>
              </a:path>
            </a:pathLst>
          </a:custGeom>
          <a:noFill/>
          <a:ln w="19050">
            <a:solidFill>
              <a:srgbClr val="17698C"/>
            </a:solidFill>
          </a:ln>
        </p:spPr>
        <p:txBody>
          <a:bodyPr/>
          <a:lstStyle/>
          <a:p>
            <a:endParaRPr lang="en-US"/>
          </a:p>
        </p:txBody>
      </p:sp>
      <p:sp>
        <p:nvSpPr>
          <p:cNvPr id="45" name="line-353">
            <a:extLst>
              <a:ext uri="{FF2B5EF4-FFF2-40B4-BE49-F238E27FC236}">
                <a16:creationId xmlns:a16="http://schemas.microsoft.com/office/drawing/2014/main" id="{D6A738E3-2332-468D-8D79-26731AB09E56}"/>
              </a:ext>
            </a:extLst>
          </p:cNvPr>
          <p:cNvSpPr>
            <a:spLocks noGrp="1"/>
          </p:cNvSpPr>
          <p:nvPr/>
        </p:nvSpPr>
        <p:spPr>
          <a:xfrm>
            <a:off x="9280553" y="3719088"/>
            <a:ext cx="9525" cy="9525"/>
          </a:xfrm>
          <a:custGeom>
            <a:avLst/>
            <a:gdLst/>
            <a:ahLst/>
            <a:cxnLst/>
            <a:rect l="0" t="0" r="0" b="0"/>
            <a:pathLst>
              <a:path w="9525" h="9525">
                <a:moveTo>
                  <a:pt x="0" y="0"/>
                </a:moveTo>
                <a:lnTo>
                  <a:pt x="6875" y="9319"/>
                </a:lnTo>
              </a:path>
            </a:pathLst>
          </a:custGeom>
          <a:noFill/>
          <a:ln w="19050">
            <a:solidFill>
              <a:srgbClr val="17698C"/>
            </a:solidFill>
          </a:ln>
        </p:spPr>
        <p:txBody>
          <a:bodyPr/>
          <a:lstStyle/>
          <a:p>
            <a:endParaRPr lang="en-US"/>
          </a:p>
        </p:txBody>
      </p:sp>
      <p:sp>
        <p:nvSpPr>
          <p:cNvPr id="46" name="line-354">
            <a:extLst>
              <a:ext uri="{FF2B5EF4-FFF2-40B4-BE49-F238E27FC236}">
                <a16:creationId xmlns:a16="http://schemas.microsoft.com/office/drawing/2014/main" id="{75F14396-A316-4638-9139-89E16F30632C}"/>
              </a:ext>
            </a:extLst>
          </p:cNvPr>
          <p:cNvSpPr>
            <a:spLocks noGrp="1"/>
          </p:cNvSpPr>
          <p:nvPr/>
        </p:nvSpPr>
        <p:spPr>
          <a:xfrm>
            <a:off x="9287427" y="3728407"/>
            <a:ext cx="9525" cy="9684"/>
          </a:xfrm>
          <a:custGeom>
            <a:avLst/>
            <a:gdLst/>
            <a:ahLst/>
            <a:cxnLst/>
            <a:rect l="0" t="0" r="0" b="0"/>
            <a:pathLst>
              <a:path w="9525" h="9684">
                <a:moveTo>
                  <a:pt x="0" y="0"/>
                </a:moveTo>
                <a:lnTo>
                  <a:pt x="6349" y="9684"/>
                </a:lnTo>
              </a:path>
            </a:pathLst>
          </a:custGeom>
          <a:noFill/>
          <a:ln w="19050">
            <a:solidFill>
              <a:srgbClr val="17698C"/>
            </a:solidFill>
          </a:ln>
        </p:spPr>
        <p:txBody>
          <a:bodyPr/>
          <a:lstStyle/>
          <a:p>
            <a:endParaRPr lang="en-US"/>
          </a:p>
        </p:txBody>
      </p:sp>
      <p:sp>
        <p:nvSpPr>
          <p:cNvPr id="47" name="line-355">
            <a:extLst>
              <a:ext uri="{FF2B5EF4-FFF2-40B4-BE49-F238E27FC236}">
                <a16:creationId xmlns:a16="http://schemas.microsoft.com/office/drawing/2014/main" id="{D0A1B5A8-DF4B-4F97-8872-92EEA5F73739}"/>
              </a:ext>
            </a:extLst>
          </p:cNvPr>
          <p:cNvSpPr>
            <a:spLocks noGrp="1"/>
          </p:cNvSpPr>
          <p:nvPr/>
        </p:nvSpPr>
        <p:spPr>
          <a:xfrm>
            <a:off x="9293776" y="3738091"/>
            <a:ext cx="9525" cy="10020"/>
          </a:xfrm>
          <a:custGeom>
            <a:avLst/>
            <a:gdLst/>
            <a:ahLst/>
            <a:cxnLst/>
            <a:rect l="0" t="0" r="0" b="0"/>
            <a:pathLst>
              <a:path w="9525" h="10020">
                <a:moveTo>
                  <a:pt x="0" y="0"/>
                </a:moveTo>
                <a:lnTo>
                  <a:pt x="5805" y="10020"/>
                </a:lnTo>
              </a:path>
            </a:pathLst>
          </a:custGeom>
          <a:noFill/>
          <a:ln w="19050">
            <a:solidFill>
              <a:srgbClr val="17698C"/>
            </a:solidFill>
          </a:ln>
        </p:spPr>
        <p:txBody>
          <a:bodyPr/>
          <a:lstStyle/>
          <a:p>
            <a:endParaRPr lang="en-US"/>
          </a:p>
        </p:txBody>
      </p:sp>
      <p:sp>
        <p:nvSpPr>
          <p:cNvPr id="48" name="line-356">
            <a:extLst>
              <a:ext uri="{FF2B5EF4-FFF2-40B4-BE49-F238E27FC236}">
                <a16:creationId xmlns:a16="http://schemas.microsoft.com/office/drawing/2014/main" id="{15082D7F-50BE-4C75-B6CA-079CE9D66DD3}"/>
              </a:ext>
            </a:extLst>
          </p:cNvPr>
          <p:cNvSpPr>
            <a:spLocks noGrp="1"/>
          </p:cNvSpPr>
          <p:nvPr/>
        </p:nvSpPr>
        <p:spPr>
          <a:xfrm>
            <a:off x="9299581" y="3748111"/>
            <a:ext cx="9525" cy="10326"/>
          </a:xfrm>
          <a:custGeom>
            <a:avLst/>
            <a:gdLst/>
            <a:ahLst/>
            <a:cxnLst/>
            <a:rect l="0" t="0" r="0" b="0"/>
            <a:pathLst>
              <a:path w="9525" h="10326">
                <a:moveTo>
                  <a:pt x="0" y="0"/>
                </a:moveTo>
                <a:lnTo>
                  <a:pt x="5242" y="10326"/>
                </a:lnTo>
              </a:path>
            </a:pathLst>
          </a:custGeom>
          <a:noFill/>
          <a:ln w="19050">
            <a:solidFill>
              <a:srgbClr val="17698C"/>
            </a:solidFill>
          </a:ln>
        </p:spPr>
        <p:txBody>
          <a:bodyPr/>
          <a:lstStyle/>
          <a:p>
            <a:endParaRPr lang="en-US"/>
          </a:p>
        </p:txBody>
      </p:sp>
      <p:sp>
        <p:nvSpPr>
          <p:cNvPr id="49" name="line-357">
            <a:extLst>
              <a:ext uri="{FF2B5EF4-FFF2-40B4-BE49-F238E27FC236}">
                <a16:creationId xmlns:a16="http://schemas.microsoft.com/office/drawing/2014/main" id="{D2767C2C-37F7-4670-AD5E-18979CFD7239}"/>
              </a:ext>
            </a:extLst>
          </p:cNvPr>
          <p:cNvSpPr>
            <a:spLocks noGrp="1"/>
          </p:cNvSpPr>
          <p:nvPr/>
        </p:nvSpPr>
        <p:spPr>
          <a:xfrm>
            <a:off x="9304823" y="3758437"/>
            <a:ext cx="9525" cy="10599"/>
          </a:xfrm>
          <a:custGeom>
            <a:avLst/>
            <a:gdLst/>
            <a:ahLst/>
            <a:cxnLst/>
            <a:rect l="0" t="0" r="0" b="0"/>
            <a:pathLst>
              <a:path w="9525" h="10599">
                <a:moveTo>
                  <a:pt x="0" y="0"/>
                </a:moveTo>
                <a:lnTo>
                  <a:pt x="4664" y="10599"/>
                </a:lnTo>
              </a:path>
            </a:pathLst>
          </a:custGeom>
          <a:noFill/>
          <a:ln w="19050">
            <a:solidFill>
              <a:srgbClr val="17698C"/>
            </a:solidFill>
          </a:ln>
        </p:spPr>
        <p:txBody>
          <a:bodyPr/>
          <a:lstStyle/>
          <a:p>
            <a:endParaRPr lang="en-US"/>
          </a:p>
        </p:txBody>
      </p:sp>
      <p:sp>
        <p:nvSpPr>
          <p:cNvPr id="50" name="line-358">
            <a:extLst>
              <a:ext uri="{FF2B5EF4-FFF2-40B4-BE49-F238E27FC236}">
                <a16:creationId xmlns:a16="http://schemas.microsoft.com/office/drawing/2014/main" id="{78A97492-FFD2-4FFF-AEAA-47F2F491FA3C}"/>
              </a:ext>
            </a:extLst>
          </p:cNvPr>
          <p:cNvSpPr>
            <a:spLocks noGrp="1"/>
          </p:cNvSpPr>
          <p:nvPr/>
        </p:nvSpPr>
        <p:spPr>
          <a:xfrm>
            <a:off x="9309487" y="3769036"/>
            <a:ext cx="9525" cy="10841"/>
          </a:xfrm>
          <a:custGeom>
            <a:avLst/>
            <a:gdLst/>
            <a:ahLst/>
            <a:cxnLst/>
            <a:rect l="0" t="0" r="0" b="0"/>
            <a:pathLst>
              <a:path w="9525" h="10841">
                <a:moveTo>
                  <a:pt x="0" y="0"/>
                </a:moveTo>
                <a:lnTo>
                  <a:pt x="4071" y="10841"/>
                </a:lnTo>
              </a:path>
            </a:pathLst>
          </a:custGeom>
          <a:noFill/>
          <a:ln w="19050">
            <a:solidFill>
              <a:srgbClr val="17698C"/>
            </a:solidFill>
          </a:ln>
        </p:spPr>
        <p:txBody>
          <a:bodyPr/>
          <a:lstStyle/>
          <a:p>
            <a:endParaRPr lang="en-US"/>
          </a:p>
        </p:txBody>
      </p:sp>
      <p:sp>
        <p:nvSpPr>
          <p:cNvPr id="51" name="line-359">
            <a:extLst>
              <a:ext uri="{FF2B5EF4-FFF2-40B4-BE49-F238E27FC236}">
                <a16:creationId xmlns:a16="http://schemas.microsoft.com/office/drawing/2014/main" id="{EE323D58-6156-4925-ACBB-9BB3733F250A}"/>
              </a:ext>
            </a:extLst>
          </p:cNvPr>
          <p:cNvSpPr>
            <a:spLocks noGrp="1"/>
          </p:cNvSpPr>
          <p:nvPr/>
        </p:nvSpPr>
        <p:spPr>
          <a:xfrm>
            <a:off x="9313558" y="3779877"/>
            <a:ext cx="9525" cy="11049"/>
          </a:xfrm>
          <a:custGeom>
            <a:avLst/>
            <a:gdLst/>
            <a:ahLst/>
            <a:cxnLst/>
            <a:rect l="0" t="0" r="0" b="0"/>
            <a:pathLst>
              <a:path w="9525" h="11049">
                <a:moveTo>
                  <a:pt x="0" y="0"/>
                </a:moveTo>
                <a:lnTo>
                  <a:pt x="3466" y="11049"/>
                </a:lnTo>
              </a:path>
            </a:pathLst>
          </a:custGeom>
          <a:noFill/>
          <a:ln w="19050">
            <a:solidFill>
              <a:srgbClr val="17698C"/>
            </a:solidFill>
          </a:ln>
        </p:spPr>
        <p:txBody>
          <a:bodyPr/>
          <a:lstStyle/>
          <a:p>
            <a:endParaRPr lang="en-US"/>
          </a:p>
        </p:txBody>
      </p:sp>
      <p:sp>
        <p:nvSpPr>
          <p:cNvPr id="52" name="line-360">
            <a:extLst>
              <a:ext uri="{FF2B5EF4-FFF2-40B4-BE49-F238E27FC236}">
                <a16:creationId xmlns:a16="http://schemas.microsoft.com/office/drawing/2014/main" id="{15905CE2-D2AD-4133-959A-C7BDBDE302F4}"/>
              </a:ext>
            </a:extLst>
          </p:cNvPr>
          <p:cNvSpPr>
            <a:spLocks noGrp="1"/>
          </p:cNvSpPr>
          <p:nvPr/>
        </p:nvSpPr>
        <p:spPr>
          <a:xfrm>
            <a:off x="9317025" y="3790926"/>
            <a:ext cx="9525" cy="11224"/>
          </a:xfrm>
          <a:custGeom>
            <a:avLst/>
            <a:gdLst/>
            <a:ahLst/>
            <a:cxnLst/>
            <a:rect l="0" t="0" r="0" b="0"/>
            <a:pathLst>
              <a:path w="9525" h="11224">
                <a:moveTo>
                  <a:pt x="0" y="0"/>
                </a:moveTo>
                <a:lnTo>
                  <a:pt x="2850" y="11224"/>
                </a:lnTo>
              </a:path>
            </a:pathLst>
          </a:custGeom>
          <a:noFill/>
          <a:ln w="19050">
            <a:solidFill>
              <a:srgbClr val="17698C"/>
            </a:solidFill>
          </a:ln>
        </p:spPr>
        <p:txBody>
          <a:bodyPr/>
          <a:lstStyle/>
          <a:p>
            <a:endParaRPr lang="en-US"/>
          </a:p>
        </p:txBody>
      </p:sp>
      <p:sp>
        <p:nvSpPr>
          <p:cNvPr id="53" name="line-361">
            <a:extLst>
              <a:ext uri="{FF2B5EF4-FFF2-40B4-BE49-F238E27FC236}">
                <a16:creationId xmlns:a16="http://schemas.microsoft.com/office/drawing/2014/main" id="{2CEB92A6-3021-432B-914B-7B2538E860A6}"/>
              </a:ext>
            </a:extLst>
          </p:cNvPr>
          <p:cNvSpPr>
            <a:spLocks noGrp="1"/>
          </p:cNvSpPr>
          <p:nvPr/>
        </p:nvSpPr>
        <p:spPr>
          <a:xfrm>
            <a:off x="9319875" y="3802150"/>
            <a:ext cx="9525" cy="11364"/>
          </a:xfrm>
          <a:custGeom>
            <a:avLst/>
            <a:gdLst/>
            <a:ahLst/>
            <a:cxnLst/>
            <a:rect l="0" t="0" r="0" b="0"/>
            <a:pathLst>
              <a:path w="9525" h="11364">
                <a:moveTo>
                  <a:pt x="0" y="0"/>
                </a:moveTo>
                <a:lnTo>
                  <a:pt x="2226" y="11364"/>
                </a:lnTo>
              </a:path>
            </a:pathLst>
          </a:custGeom>
          <a:noFill/>
          <a:ln w="19050">
            <a:solidFill>
              <a:srgbClr val="17698C"/>
            </a:solidFill>
          </a:ln>
        </p:spPr>
        <p:txBody>
          <a:bodyPr/>
          <a:lstStyle/>
          <a:p>
            <a:endParaRPr lang="en-US"/>
          </a:p>
        </p:txBody>
      </p:sp>
      <p:sp>
        <p:nvSpPr>
          <p:cNvPr id="54" name="line-362">
            <a:extLst>
              <a:ext uri="{FF2B5EF4-FFF2-40B4-BE49-F238E27FC236}">
                <a16:creationId xmlns:a16="http://schemas.microsoft.com/office/drawing/2014/main" id="{40BA85AB-75C3-4A8A-AE68-EEB26E97A5FE}"/>
              </a:ext>
            </a:extLst>
          </p:cNvPr>
          <p:cNvSpPr>
            <a:spLocks noGrp="1"/>
          </p:cNvSpPr>
          <p:nvPr/>
        </p:nvSpPr>
        <p:spPr>
          <a:xfrm>
            <a:off x="9322101" y="3813514"/>
            <a:ext cx="9525" cy="11470"/>
          </a:xfrm>
          <a:custGeom>
            <a:avLst/>
            <a:gdLst/>
            <a:ahLst/>
            <a:cxnLst/>
            <a:rect l="0" t="0" r="0" b="0"/>
            <a:pathLst>
              <a:path w="9525" h="11470">
                <a:moveTo>
                  <a:pt x="0" y="0"/>
                </a:moveTo>
                <a:lnTo>
                  <a:pt x="1595" y="11470"/>
                </a:lnTo>
              </a:path>
            </a:pathLst>
          </a:custGeom>
          <a:noFill/>
          <a:ln w="19050">
            <a:solidFill>
              <a:srgbClr val="17698C"/>
            </a:solidFill>
          </a:ln>
        </p:spPr>
        <p:txBody>
          <a:bodyPr/>
          <a:lstStyle/>
          <a:p>
            <a:endParaRPr lang="en-US"/>
          </a:p>
        </p:txBody>
      </p:sp>
      <p:sp>
        <p:nvSpPr>
          <p:cNvPr id="55" name="line-363">
            <a:extLst>
              <a:ext uri="{FF2B5EF4-FFF2-40B4-BE49-F238E27FC236}">
                <a16:creationId xmlns:a16="http://schemas.microsoft.com/office/drawing/2014/main" id="{2E23E14B-2C18-40EA-9222-3B351D9940FC}"/>
              </a:ext>
            </a:extLst>
          </p:cNvPr>
          <p:cNvSpPr>
            <a:spLocks noGrp="1"/>
          </p:cNvSpPr>
          <p:nvPr/>
        </p:nvSpPr>
        <p:spPr>
          <a:xfrm>
            <a:off x="9323696" y="3824984"/>
            <a:ext cx="9525" cy="11540"/>
          </a:xfrm>
          <a:custGeom>
            <a:avLst/>
            <a:gdLst/>
            <a:ahLst/>
            <a:cxnLst/>
            <a:rect l="0" t="0" r="0" b="0"/>
            <a:pathLst>
              <a:path w="9525" h="11540">
                <a:moveTo>
                  <a:pt x="0" y="0"/>
                </a:moveTo>
                <a:lnTo>
                  <a:pt x="959" y="11540"/>
                </a:lnTo>
              </a:path>
            </a:pathLst>
          </a:custGeom>
          <a:noFill/>
          <a:ln w="19050">
            <a:solidFill>
              <a:srgbClr val="17698C"/>
            </a:solidFill>
          </a:ln>
        </p:spPr>
        <p:txBody>
          <a:bodyPr/>
          <a:lstStyle/>
          <a:p>
            <a:endParaRPr lang="en-US"/>
          </a:p>
        </p:txBody>
      </p:sp>
      <p:sp>
        <p:nvSpPr>
          <p:cNvPr id="56" name="line-364">
            <a:extLst>
              <a:ext uri="{FF2B5EF4-FFF2-40B4-BE49-F238E27FC236}">
                <a16:creationId xmlns:a16="http://schemas.microsoft.com/office/drawing/2014/main" id="{5F0E388C-22B6-4932-AEB1-E38D88A80454}"/>
              </a:ext>
            </a:extLst>
          </p:cNvPr>
          <p:cNvSpPr>
            <a:spLocks noGrp="1"/>
          </p:cNvSpPr>
          <p:nvPr/>
        </p:nvSpPr>
        <p:spPr>
          <a:xfrm>
            <a:off x="9324655" y="3836524"/>
            <a:ext cx="9525" cy="11576"/>
          </a:xfrm>
          <a:custGeom>
            <a:avLst/>
            <a:gdLst/>
            <a:ahLst/>
            <a:cxnLst/>
            <a:rect l="0" t="0" r="0" b="0"/>
            <a:pathLst>
              <a:path w="9525" h="11576">
                <a:moveTo>
                  <a:pt x="0" y="0"/>
                </a:moveTo>
                <a:lnTo>
                  <a:pt x="320" y="11576"/>
                </a:lnTo>
              </a:path>
            </a:pathLst>
          </a:custGeom>
          <a:noFill/>
          <a:ln w="19050">
            <a:solidFill>
              <a:srgbClr val="17698C"/>
            </a:solidFill>
          </a:ln>
        </p:spPr>
        <p:txBody>
          <a:bodyPr/>
          <a:lstStyle/>
          <a:p>
            <a:endParaRPr lang="en-US"/>
          </a:p>
        </p:txBody>
      </p:sp>
      <p:sp>
        <p:nvSpPr>
          <p:cNvPr id="57" name="line-365">
            <a:extLst>
              <a:ext uri="{FF2B5EF4-FFF2-40B4-BE49-F238E27FC236}">
                <a16:creationId xmlns:a16="http://schemas.microsoft.com/office/drawing/2014/main" id="{5269AB78-A04B-4B9C-9AD3-01D63FEF84E9}"/>
              </a:ext>
            </a:extLst>
          </p:cNvPr>
          <p:cNvSpPr>
            <a:spLocks noGrp="1"/>
          </p:cNvSpPr>
          <p:nvPr/>
        </p:nvSpPr>
        <p:spPr>
          <a:xfrm>
            <a:off x="9324655" y="3848100"/>
            <a:ext cx="9525" cy="11576"/>
          </a:xfrm>
          <a:custGeom>
            <a:avLst/>
            <a:gdLst/>
            <a:ahLst/>
            <a:cxnLst/>
            <a:rect l="0" t="0" r="0" b="0"/>
            <a:pathLst>
              <a:path w="9525" h="11576">
                <a:moveTo>
                  <a:pt x="320" y="0"/>
                </a:moveTo>
                <a:lnTo>
                  <a:pt x="0" y="11576"/>
                </a:lnTo>
              </a:path>
            </a:pathLst>
          </a:custGeom>
          <a:noFill/>
          <a:ln w="19050">
            <a:solidFill>
              <a:srgbClr val="17698C"/>
            </a:solidFill>
          </a:ln>
        </p:spPr>
        <p:txBody>
          <a:bodyPr/>
          <a:lstStyle/>
          <a:p>
            <a:endParaRPr lang="en-US"/>
          </a:p>
        </p:txBody>
      </p:sp>
      <p:sp>
        <p:nvSpPr>
          <p:cNvPr id="58" name="line-366">
            <a:extLst>
              <a:ext uri="{FF2B5EF4-FFF2-40B4-BE49-F238E27FC236}">
                <a16:creationId xmlns:a16="http://schemas.microsoft.com/office/drawing/2014/main" id="{C324D613-A285-4B0A-AC27-FCFAAD567313}"/>
              </a:ext>
            </a:extLst>
          </p:cNvPr>
          <p:cNvSpPr>
            <a:spLocks noGrp="1"/>
          </p:cNvSpPr>
          <p:nvPr/>
        </p:nvSpPr>
        <p:spPr>
          <a:xfrm>
            <a:off x="9323696" y="3859676"/>
            <a:ext cx="9525" cy="11540"/>
          </a:xfrm>
          <a:custGeom>
            <a:avLst/>
            <a:gdLst/>
            <a:ahLst/>
            <a:cxnLst/>
            <a:rect l="0" t="0" r="0" b="0"/>
            <a:pathLst>
              <a:path w="9525" h="11540">
                <a:moveTo>
                  <a:pt x="959" y="0"/>
                </a:moveTo>
                <a:lnTo>
                  <a:pt x="0" y="11540"/>
                </a:lnTo>
              </a:path>
            </a:pathLst>
          </a:custGeom>
          <a:noFill/>
          <a:ln w="19050">
            <a:solidFill>
              <a:srgbClr val="17698C"/>
            </a:solidFill>
          </a:ln>
        </p:spPr>
        <p:txBody>
          <a:bodyPr/>
          <a:lstStyle/>
          <a:p>
            <a:endParaRPr lang="en-US"/>
          </a:p>
        </p:txBody>
      </p:sp>
      <p:sp>
        <p:nvSpPr>
          <p:cNvPr id="59" name="line-367">
            <a:extLst>
              <a:ext uri="{FF2B5EF4-FFF2-40B4-BE49-F238E27FC236}">
                <a16:creationId xmlns:a16="http://schemas.microsoft.com/office/drawing/2014/main" id="{FDAEFBEF-485D-4827-AC0F-431B6FD69FD2}"/>
              </a:ext>
            </a:extLst>
          </p:cNvPr>
          <p:cNvSpPr>
            <a:spLocks noGrp="1"/>
          </p:cNvSpPr>
          <p:nvPr/>
        </p:nvSpPr>
        <p:spPr>
          <a:xfrm>
            <a:off x="9322101" y="3871216"/>
            <a:ext cx="9525" cy="11470"/>
          </a:xfrm>
          <a:custGeom>
            <a:avLst/>
            <a:gdLst/>
            <a:ahLst/>
            <a:cxnLst/>
            <a:rect l="0" t="0" r="0" b="0"/>
            <a:pathLst>
              <a:path w="9525" h="11470">
                <a:moveTo>
                  <a:pt x="1595" y="0"/>
                </a:moveTo>
                <a:lnTo>
                  <a:pt x="0" y="11470"/>
                </a:lnTo>
              </a:path>
            </a:pathLst>
          </a:custGeom>
          <a:noFill/>
          <a:ln w="19050">
            <a:solidFill>
              <a:srgbClr val="17698C"/>
            </a:solidFill>
          </a:ln>
        </p:spPr>
        <p:txBody>
          <a:bodyPr/>
          <a:lstStyle/>
          <a:p>
            <a:endParaRPr lang="en-US"/>
          </a:p>
        </p:txBody>
      </p:sp>
      <p:sp>
        <p:nvSpPr>
          <p:cNvPr id="60" name="line-368">
            <a:extLst>
              <a:ext uri="{FF2B5EF4-FFF2-40B4-BE49-F238E27FC236}">
                <a16:creationId xmlns:a16="http://schemas.microsoft.com/office/drawing/2014/main" id="{BB488EB4-2D22-4898-BF1B-005DE00568A5}"/>
              </a:ext>
            </a:extLst>
          </p:cNvPr>
          <p:cNvSpPr>
            <a:spLocks noGrp="1"/>
          </p:cNvSpPr>
          <p:nvPr/>
        </p:nvSpPr>
        <p:spPr>
          <a:xfrm>
            <a:off x="9319875" y="3882686"/>
            <a:ext cx="9525" cy="11364"/>
          </a:xfrm>
          <a:custGeom>
            <a:avLst/>
            <a:gdLst/>
            <a:ahLst/>
            <a:cxnLst/>
            <a:rect l="0" t="0" r="0" b="0"/>
            <a:pathLst>
              <a:path w="9525" h="11364">
                <a:moveTo>
                  <a:pt x="2226" y="0"/>
                </a:moveTo>
                <a:lnTo>
                  <a:pt x="0" y="11364"/>
                </a:lnTo>
              </a:path>
            </a:pathLst>
          </a:custGeom>
          <a:noFill/>
          <a:ln w="19050">
            <a:solidFill>
              <a:srgbClr val="17698C"/>
            </a:solidFill>
          </a:ln>
        </p:spPr>
        <p:txBody>
          <a:bodyPr/>
          <a:lstStyle/>
          <a:p>
            <a:endParaRPr lang="en-US"/>
          </a:p>
        </p:txBody>
      </p:sp>
      <p:sp>
        <p:nvSpPr>
          <p:cNvPr id="61" name="line-369">
            <a:extLst>
              <a:ext uri="{FF2B5EF4-FFF2-40B4-BE49-F238E27FC236}">
                <a16:creationId xmlns:a16="http://schemas.microsoft.com/office/drawing/2014/main" id="{D2191458-C439-4714-BEB6-6A8795DCF7FF}"/>
              </a:ext>
            </a:extLst>
          </p:cNvPr>
          <p:cNvSpPr>
            <a:spLocks noGrp="1"/>
          </p:cNvSpPr>
          <p:nvPr/>
        </p:nvSpPr>
        <p:spPr>
          <a:xfrm>
            <a:off x="9317025" y="3894050"/>
            <a:ext cx="9525" cy="11224"/>
          </a:xfrm>
          <a:custGeom>
            <a:avLst/>
            <a:gdLst/>
            <a:ahLst/>
            <a:cxnLst/>
            <a:rect l="0" t="0" r="0" b="0"/>
            <a:pathLst>
              <a:path w="9525" h="11224">
                <a:moveTo>
                  <a:pt x="2850" y="0"/>
                </a:moveTo>
                <a:lnTo>
                  <a:pt x="0" y="11224"/>
                </a:lnTo>
              </a:path>
            </a:pathLst>
          </a:custGeom>
          <a:noFill/>
          <a:ln w="19050">
            <a:solidFill>
              <a:srgbClr val="17698C"/>
            </a:solidFill>
          </a:ln>
        </p:spPr>
        <p:txBody>
          <a:bodyPr/>
          <a:lstStyle/>
          <a:p>
            <a:endParaRPr lang="en-US"/>
          </a:p>
        </p:txBody>
      </p:sp>
      <p:sp>
        <p:nvSpPr>
          <p:cNvPr id="62" name="line-370">
            <a:extLst>
              <a:ext uri="{FF2B5EF4-FFF2-40B4-BE49-F238E27FC236}">
                <a16:creationId xmlns:a16="http://schemas.microsoft.com/office/drawing/2014/main" id="{8F287227-D8F0-4D12-B2D5-F912E9CA52CD}"/>
              </a:ext>
            </a:extLst>
          </p:cNvPr>
          <p:cNvSpPr>
            <a:spLocks noGrp="1"/>
          </p:cNvSpPr>
          <p:nvPr/>
        </p:nvSpPr>
        <p:spPr>
          <a:xfrm>
            <a:off x="9313558" y="3905274"/>
            <a:ext cx="9525" cy="11049"/>
          </a:xfrm>
          <a:custGeom>
            <a:avLst/>
            <a:gdLst/>
            <a:ahLst/>
            <a:cxnLst/>
            <a:rect l="0" t="0" r="0" b="0"/>
            <a:pathLst>
              <a:path w="9525" h="11049">
                <a:moveTo>
                  <a:pt x="3466" y="0"/>
                </a:moveTo>
                <a:lnTo>
                  <a:pt x="0" y="11049"/>
                </a:lnTo>
              </a:path>
            </a:pathLst>
          </a:custGeom>
          <a:noFill/>
          <a:ln w="19050">
            <a:solidFill>
              <a:srgbClr val="17698C"/>
            </a:solidFill>
          </a:ln>
        </p:spPr>
        <p:txBody>
          <a:bodyPr/>
          <a:lstStyle/>
          <a:p>
            <a:endParaRPr lang="en-US"/>
          </a:p>
        </p:txBody>
      </p:sp>
      <p:sp>
        <p:nvSpPr>
          <p:cNvPr id="63" name="line-371">
            <a:extLst>
              <a:ext uri="{FF2B5EF4-FFF2-40B4-BE49-F238E27FC236}">
                <a16:creationId xmlns:a16="http://schemas.microsoft.com/office/drawing/2014/main" id="{3C7F19E6-F3BB-4FA4-8902-247026FCAF40}"/>
              </a:ext>
            </a:extLst>
          </p:cNvPr>
          <p:cNvSpPr>
            <a:spLocks noGrp="1"/>
          </p:cNvSpPr>
          <p:nvPr/>
        </p:nvSpPr>
        <p:spPr>
          <a:xfrm>
            <a:off x="9309487" y="3916323"/>
            <a:ext cx="9525" cy="10841"/>
          </a:xfrm>
          <a:custGeom>
            <a:avLst/>
            <a:gdLst/>
            <a:ahLst/>
            <a:cxnLst/>
            <a:rect l="0" t="0" r="0" b="0"/>
            <a:pathLst>
              <a:path w="9525" h="10841">
                <a:moveTo>
                  <a:pt x="4071" y="0"/>
                </a:moveTo>
                <a:lnTo>
                  <a:pt x="0" y="10841"/>
                </a:lnTo>
              </a:path>
            </a:pathLst>
          </a:custGeom>
          <a:noFill/>
          <a:ln w="19050">
            <a:solidFill>
              <a:srgbClr val="17698C"/>
            </a:solidFill>
          </a:ln>
        </p:spPr>
        <p:txBody>
          <a:bodyPr/>
          <a:lstStyle/>
          <a:p>
            <a:endParaRPr lang="en-US"/>
          </a:p>
        </p:txBody>
      </p:sp>
      <p:sp>
        <p:nvSpPr>
          <p:cNvPr id="64" name="line-372">
            <a:extLst>
              <a:ext uri="{FF2B5EF4-FFF2-40B4-BE49-F238E27FC236}">
                <a16:creationId xmlns:a16="http://schemas.microsoft.com/office/drawing/2014/main" id="{067871F2-3C66-465A-91E7-5EDEFAB8D244}"/>
              </a:ext>
            </a:extLst>
          </p:cNvPr>
          <p:cNvSpPr>
            <a:spLocks noGrp="1"/>
          </p:cNvSpPr>
          <p:nvPr/>
        </p:nvSpPr>
        <p:spPr>
          <a:xfrm>
            <a:off x="9304823" y="3927164"/>
            <a:ext cx="9525" cy="10599"/>
          </a:xfrm>
          <a:custGeom>
            <a:avLst/>
            <a:gdLst/>
            <a:ahLst/>
            <a:cxnLst/>
            <a:rect l="0" t="0" r="0" b="0"/>
            <a:pathLst>
              <a:path w="9525" h="10599">
                <a:moveTo>
                  <a:pt x="4664" y="0"/>
                </a:moveTo>
                <a:lnTo>
                  <a:pt x="0" y="10599"/>
                </a:lnTo>
              </a:path>
            </a:pathLst>
          </a:custGeom>
          <a:noFill/>
          <a:ln w="19050">
            <a:solidFill>
              <a:srgbClr val="17698C"/>
            </a:solidFill>
          </a:ln>
        </p:spPr>
        <p:txBody>
          <a:bodyPr/>
          <a:lstStyle/>
          <a:p>
            <a:endParaRPr lang="en-US"/>
          </a:p>
        </p:txBody>
      </p:sp>
      <p:sp>
        <p:nvSpPr>
          <p:cNvPr id="65" name="line-373">
            <a:extLst>
              <a:ext uri="{FF2B5EF4-FFF2-40B4-BE49-F238E27FC236}">
                <a16:creationId xmlns:a16="http://schemas.microsoft.com/office/drawing/2014/main" id="{1BE9AE18-C79B-41A3-9E3E-76B4E6398E4E}"/>
              </a:ext>
            </a:extLst>
          </p:cNvPr>
          <p:cNvSpPr>
            <a:spLocks noGrp="1"/>
          </p:cNvSpPr>
          <p:nvPr/>
        </p:nvSpPr>
        <p:spPr>
          <a:xfrm>
            <a:off x="9299581" y="3937763"/>
            <a:ext cx="9525" cy="10326"/>
          </a:xfrm>
          <a:custGeom>
            <a:avLst/>
            <a:gdLst/>
            <a:ahLst/>
            <a:cxnLst/>
            <a:rect l="0" t="0" r="0" b="0"/>
            <a:pathLst>
              <a:path w="9525" h="10326">
                <a:moveTo>
                  <a:pt x="5242" y="0"/>
                </a:moveTo>
                <a:lnTo>
                  <a:pt x="0" y="10326"/>
                </a:lnTo>
              </a:path>
            </a:pathLst>
          </a:custGeom>
          <a:noFill/>
          <a:ln w="19050">
            <a:solidFill>
              <a:srgbClr val="17698C"/>
            </a:solidFill>
          </a:ln>
        </p:spPr>
        <p:txBody>
          <a:bodyPr/>
          <a:lstStyle/>
          <a:p>
            <a:endParaRPr lang="en-US"/>
          </a:p>
        </p:txBody>
      </p:sp>
      <p:sp>
        <p:nvSpPr>
          <p:cNvPr id="66" name="line-374">
            <a:extLst>
              <a:ext uri="{FF2B5EF4-FFF2-40B4-BE49-F238E27FC236}">
                <a16:creationId xmlns:a16="http://schemas.microsoft.com/office/drawing/2014/main" id="{8810F365-C58D-47BD-AEE3-8B6415B68930}"/>
              </a:ext>
            </a:extLst>
          </p:cNvPr>
          <p:cNvSpPr>
            <a:spLocks noGrp="1"/>
          </p:cNvSpPr>
          <p:nvPr/>
        </p:nvSpPr>
        <p:spPr>
          <a:xfrm>
            <a:off x="9293776" y="3948089"/>
            <a:ext cx="9525" cy="10020"/>
          </a:xfrm>
          <a:custGeom>
            <a:avLst/>
            <a:gdLst/>
            <a:ahLst/>
            <a:cxnLst/>
            <a:rect l="0" t="0" r="0" b="0"/>
            <a:pathLst>
              <a:path w="9525" h="10020">
                <a:moveTo>
                  <a:pt x="5805" y="0"/>
                </a:moveTo>
                <a:lnTo>
                  <a:pt x="0" y="10020"/>
                </a:lnTo>
              </a:path>
            </a:pathLst>
          </a:custGeom>
          <a:noFill/>
          <a:ln w="19050">
            <a:solidFill>
              <a:srgbClr val="17698C"/>
            </a:solidFill>
          </a:ln>
        </p:spPr>
        <p:txBody>
          <a:bodyPr/>
          <a:lstStyle/>
          <a:p>
            <a:endParaRPr lang="en-US"/>
          </a:p>
        </p:txBody>
      </p:sp>
      <p:sp>
        <p:nvSpPr>
          <p:cNvPr id="67" name="line-375">
            <a:extLst>
              <a:ext uri="{FF2B5EF4-FFF2-40B4-BE49-F238E27FC236}">
                <a16:creationId xmlns:a16="http://schemas.microsoft.com/office/drawing/2014/main" id="{53BEC119-5A69-4686-853B-ED817D8176C3}"/>
              </a:ext>
            </a:extLst>
          </p:cNvPr>
          <p:cNvSpPr>
            <a:spLocks noGrp="1"/>
          </p:cNvSpPr>
          <p:nvPr/>
        </p:nvSpPr>
        <p:spPr>
          <a:xfrm>
            <a:off x="9287427" y="3958109"/>
            <a:ext cx="9525" cy="9684"/>
          </a:xfrm>
          <a:custGeom>
            <a:avLst/>
            <a:gdLst/>
            <a:ahLst/>
            <a:cxnLst/>
            <a:rect l="0" t="0" r="0" b="0"/>
            <a:pathLst>
              <a:path w="9525" h="9684">
                <a:moveTo>
                  <a:pt x="6349" y="0"/>
                </a:moveTo>
                <a:lnTo>
                  <a:pt x="0" y="9684"/>
                </a:lnTo>
              </a:path>
            </a:pathLst>
          </a:custGeom>
          <a:noFill/>
          <a:ln w="19050">
            <a:solidFill>
              <a:srgbClr val="17698C"/>
            </a:solidFill>
          </a:ln>
        </p:spPr>
        <p:txBody>
          <a:bodyPr/>
          <a:lstStyle/>
          <a:p>
            <a:endParaRPr lang="en-US"/>
          </a:p>
        </p:txBody>
      </p:sp>
      <p:sp>
        <p:nvSpPr>
          <p:cNvPr id="68" name="line-376">
            <a:extLst>
              <a:ext uri="{FF2B5EF4-FFF2-40B4-BE49-F238E27FC236}">
                <a16:creationId xmlns:a16="http://schemas.microsoft.com/office/drawing/2014/main" id="{BF139A5E-6F36-4128-8F0F-5BA6C6C26B7A}"/>
              </a:ext>
            </a:extLst>
          </p:cNvPr>
          <p:cNvSpPr>
            <a:spLocks noGrp="1"/>
          </p:cNvSpPr>
          <p:nvPr/>
        </p:nvSpPr>
        <p:spPr>
          <a:xfrm>
            <a:off x="9280553" y="3967793"/>
            <a:ext cx="9525" cy="9525"/>
          </a:xfrm>
          <a:custGeom>
            <a:avLst/>
            <a:gdLst/>
            <a:ahLst/>
            <a:cxnLst/>
            <a:rect l="0" t="0" r="0" b="0"/>
            <a:pathLst>
              <a:path w="9525" h="9525">
                <a:moveTo>
                  <a:pt x="6875" y="0"/>
                </a:moveTo>
                <a:lnTo>
                  <a:pt x="0" y="9319"/>
                </a:lnTo>
              </a:path>
            </a:pathLst>
          </a:custGeom>
          <a:noFill/>
          <a:ln w="19050">
            <a:solidFill>
              <a:srgbClr val="17698C"/>
            </a:solidFill>
          </a:ln>
        </p:spPr>
        <p:txBody>
          <a:bodyPr/>
          <a:lstStyle/>
          <a:p>
            <a:endParaRPr lang="en-US"/>
          </a:p>
        </p:txBody>
      </p:sp>
      <p:sp>
        <p:nvSpPr>
          <p:cNvPr id="69" name="line-377">
            <a:extLst>
              <a:ext uri="{FF2B5EF4-FFF2-40B4-BE49-F238E27FC236}">
                <a16:creationId xmlns:a16="http://schemas.microsoft.com/office/drawing/2014/main" id="{A9EDCCA6-33FF-41DC-92DA-029376F36A72}"/>
              </a:ext>
            </a:extLst>
          </p:cNvPr>
          <p:cNvSpPr>
            <a:spLocks noGrp="1"/>
          </p:cNvSpPr>
          <p:nvPr/>
        </p:nvSpPr>
        <p:spPr>
          <a:xfrm>
            <a:off x="9355611" y="3660446"/>
            <a:ext cx="9999" cy="13555"/>
          </a:xfrm>
          <a:custGeom>
            <a:avLst/>
            <a:gdLst/>
            <a:ahLst/>
            <a:cxnLst/>
            <a:rect l="0" t="0" r="0" b="0"/>
            <a:pathLst>
              <a:path w="9999" h="13555">
                <a:moveTo>
                  <a:pt x="0" y="0"/>
                </a:moveTo>
                <a:lnTo>
                  <a:pt x="9999" y="13555"/>
                </a:lnTo>
              </a:path>
            </a:pathLst>
          </a:custGeom>
          <a:noFill/>
          <a:ln w="19050">
            <a:solidFill>
              <a:srgbClr val="17698C"/>
            </a:solidFill>
          </a:ln>
        </p:spPr>
        <p:txBody>
          <a:bodyPr/>
          <a:lstStyle/>
          <a:p>
            <a:endParaRPr lang="en-US"/>
          </a:p>
        </p:txBody>
      </p:sp>
      <p:sp>
        <p:nvSpPr>
          <p:cNvPr id="70" name="line-378">
            <a:extLst>
              <a:ext uri="{FF2B5EF4-FFF2-40B4-BE49-F238E27FC236}">
                <a16:creationId xmlns:a16="http://schemas.microsoft.com/office/drawing/2014/main" id="{0EA5E34C-5DA9-4663-AFFF-E86C824CAE50}"/>
              </a:ext>
            </a:extLst>
          </p:cNvPr>
          <p:cNvSpPr>
            <a:spLocks noGrp="1"/>
          </p:cNvSpPr>
          <p:nvPr/>
        </p:nvSpPr>
        <p:spPr>
          <a:xfrm>
            <a:off x="9365610" y="3674001"/>
            <a:ext cx="9525" cy="14086"/>
          </a:xfrm>
          <a:custGeom>
            <a:avLst/>
            <a:gdLst/>
            <a:ahLst/>
            <a:cxnLst/>
            <a:rect l="0" t="0" r="0" b="0"/>
            <a:pathLst>
              <a:path w="9525" h="14086">
                <a:moveTo>
                  <a:pt x="0" y="0"/>
                </a:moveTo>
                <a:lnTo>
                  <a:pt x="9235" y="14086"/>
                </a:lnTo>
              </a:path>
            </a:pathLst>
          </a:custGeom>
          <a:noFill/>
          <a:ln w="19050">
            <a:solidFill>
              <a:srgbClr val="17698C"/>
            </a:solidFill>
          </a:ln>
        </p:spPr>
        <p:txBody>
          <a:bodyPr/>
          <a:lstStyle/>
          <a:p>
            <a:endParaRPr lang="en-US"/>
          </a:p>
        </p:txBody>
      </p:sp>
      <p:sp>
        <p:nvSpPr>
          <p:cNvPr id="71" name="line-379">
            <a:extLst>
              <a:ext uri="{FF2B5EF4-FFF2-40B4-BE49-F238E27FC236}">
                <a16:creationId xmlns:a16="http://schemas.microsoft.com/office/drawing/2014/main" id="{5F30CFB1-6A6F-40A2-9C0E-B7CDCFBCFD3E}"/>
              </a:ext>
            </a:extLst>
          </p:cNvPr>
          <p:cNvSpPr>
            <a:spLocks noGrp="1"/>
          </p:cNvSpPr>
          <p:nvPr/>
        </p:nvSpPr>
        <p:spPr>
          <a:xfrm>
            <a:off x="9374845" y="3688087"/>
            <a:ext cx="9525" cy="14575"/>
          </a:xfrm>
          <a:custGeom>
            <a:avLst/>
            <a:gdLst/>
            <a:ahLst/>
            <a:cxnLst/>
            <a:rect l="0" t="0" r="0" b="0"/>
            <a:pathLst>
              <a:path w="9525" h="14575">
                <a:moveTo>
                  <a:pt x="0" y="0"/>
                </a:moveTo>
                <a:lnTo>
                  <a:pt x="8443" y="14575"/>
                </a:lnTo>
              </a:path>
            </a:pathLst>
          </a:custGeom>
          <a:noFill/>
          <a:ln w="19050">
            <a:solidFill>
              <a:srgbClr val="17698C"/>
            </a:solidFill>
          </a:ln>
        </p:spPr>
        <p:txBody>
          <a:bodyPr/>
          <a:lstStyle/>
          <a:p>
            <a:endParaRPr lang="en-US"/>
          </a:p>
        </p:txBody>
      </p:sp>
      <p:sp>
        <p:nvSpPr>
          <p:cNvPr id="72" name="line-380">
            <a:extLst>
              <a:ext uri="{FF2B5EF4-FFF2-40B4-BE49-F238E27FC236}">
                <a16:creationId xmlns:a16="http://schemas.microsoft.com/office/drawing/2014/main" id="{E12FB3D2-EAB0-42D1-97B0-CCF30F7AE928}"/>
              </a:ext>
            </a:extLst>
          </p:cNvPr>
          <p:cNvSpPr>
            <a:spLocks noGrp="1"/>
          </p:cNvSpPr>
          <p:nvPr/>
        </p:nvSpPr>
        <p:spPr>
          <a:xfrm>
            <a:off x="9383288" y="3702662"/>
            <a:ext cx="9525" cy="15019"/>
          </a:xfrm>
          <a:custGeom>
            <a:avLst/>
            <a:gdLst/>
            <a:ahLst/>
            <a:cxnLst/>
            <a:rect l="0" t="0" r="0" b="0"/>
            <a:pathLst>
              <a:path w="9525" h="15019">
                <a:moveTo>
                  <a:pt x="0" y="0"/>
                </a:moveTo>
                <a:lnTo>
                  <a:pt x="7625" y="15019"/>
                </a:lnTo>
              </a:path>
            </a:pathLst>
          </a:custGeom>
          <a:noFill/>
          <a:ln w="19050">
            <a:solidFill>
              <a:srgbClr val="17698C"/>
            </a:solidFill>
          </a:ln>
        </p:spPr>
        <p:txBody>
          <a:bodyPr/>
          <a:lstStyle/>
          <a:p>
            <a:endParaRPr lang="en-US"/>
          </a:p>
        </p:txBody>
      </p:sp>
      <p:sp>
        <p:nvSpPr>
          <p:cNvPr id="73" name="line-381">
            <a:extLst>
              <a:ext uri="{FF2B5EF4-FFF2-40B4-BE49-F238E27FC236}">
                <a16:creationId xmlns:a16="http://schemas.microsoft.com/office/drawing/2014/main" id="{ACF79FB3-CE85-4E2A-82C3-295EBE8B2B50}"/>
              </a:ext>
            </a:extLst>
          </p:cNvPr>
          <p:cNvSpPr>
            <a:spLocks noGrp="1"/>
          </p:cNvSpPr>
          <p:nvPr/>
        </p:nvSpPr>
        <p:spPr>
          <a:xfrm>
            <a:off x="9390914" y="3717681"/>
            <a:ext cx="9525" cy="15417"/>
          </a:xfrm>
          <a:custGeom>
            <a:avLst/>
            <a:gdLst/>
            <a:ahLst/>
            <a:cxnLst/>
            <a:rect l="0" t="0" r="0" b="0"/>
            <a:pathLst>
              <a:path w="9525" h="15417">
                <a:moveTo>
                  <a:pt x="0" y="0"/>
                </a:moveTo>
                <a:lnTo>
                  <a:pt x="6784" y="15417"/>
                </a:lnTo>
              </a:path>
            </a:pathLst>
          </a:custGeom>
          <a:noFill/>
          <a:ln w="19050">
            <a:solidFill>
              <a:srgbClr val="17698C"/>
            </a:solidFill>
          </a:ln>
        </p:spPr>
        <p:txBody>
          <a:bodyPr/>
          <a:lstStyle/>
          <a:p>
            <a:endParaRPr lang="en-US"/>
          </a:p>
        </p:txBody>
      </p:sp>
      <p:sp>
        <p:nvSpPr>
          <p:cNvPr id="74" name="line-382">
            <a:extLst>
              <a:ext uri="{FF2B5EF4-FFF2-40B4-BE49-F238E27FC236}">
                <a16:creationId xmlns:a16="http://schemas.microsoft.com/office/drawing/2014/main" id="{E70569CE-B33A-45AC-93FA-0AEDF19B10BF}"/>
              </a:ext>
            </a:extLst>
          </p:cNvPr>
          <p:cNvSpPr>
            <a:spLocks noGrp="1"/>
          </p:cNvSpPr>
          <p:nvPr/>
        </p:nvSpPr>
        <p:spPr>
          <a:xfrm>
            <a:off x="9397697" y="3733098"/>
            <a:ext cx="9525" cy="15768"/>
          </a:xfrm>
          <a:custGeom>
            <a:avLst/>
            <a:gdLst/>
            <a:ahLst/>
            <a:cxnLst/>
            <a:rect l="0" t="0" r="0" b="0"/>
            <a:pathLst>
              <a:path w="9525" h="15768">
                <a:moveTo>
                  <a:pt x="0" y="0"/>
                </a:moveTo>
                <a:lnTo>
                  <a:pt x="5922" y="15768"/>
                </a:lnTo>
              </a:path>
            </a:pathLst>
          </a:custGeom>
          <a:noFill/>
          <a:ln w="19050">
            <a:solidFill>
              <a:srgbClr val="17698C"/>
            </a:solidFill>
          </a:ln>
        </p:spPr>
        <p:txBody>
          <a:bodyPr/>
          <a:lstStyle/>
          <a:p>
            <a:endParaRPr lang="en-US"/>
          </a:p>
        </p:txBody>
      </p:sp>
      <p:sp>
        <p:nvSpPr>
          <p:cNvPr id="75" name="line-383">
            <a:extLst>
              <a:ext uri="{FF2B5EF4-FFF2-40B4-BE49-F238E27FC236}">
                <a16:creationId xmlns:a16="http://schemas.microsoft.com/office/drawing/2014/main" id="{95506CCD-F086-4668-A4CC-AA4A8589C832}"/>
              </a:ext>
            </a:extLst>
          </p:cNvPr>
          <p:cNvSpPr>
            <a:spLocks noGrp="1"/>
          </p:cNvSpPr>
          <p:nvPr/>
        </p:nvSpPr>
        <p:spPr>
          <a:xfrm>
            <a:off x="9403619" y="3748867"/>
            <a:ext cx="9525" cy="16072"/>
          </a:xfrm>
          <a:custGeom>
            <a:avLst/>
            <a:gdLst/>
            <a:ahLst/>
            <a:cxnLst/>
            <a:rect l="0" t="0" r="0" b="0"/>
            <a:pathLst>
              <a:path w="9525" h="16072">
                <a:moveTo>
                  <a:pt x="0" y="0"/>
                </a:moveTo>
                <a:lnTo>
                  <a:pt x="5042" y="16072"/>
                </a:lnTo>
              </a:path>
            </a:pathLst>
          </a:custGeom>
          <a:noFill/>
          <a:ln w="19050">
            <a:solidFill>
              <a:srgbClr val="17698C"/>
            </a:solidFill>
          </a:ln>
        </p:spPr>
        <p:txBody>
          <a:bodyPr/>
          <a:lstStyle/>
          <a:p>
            <a:endParaRPr lang="en-US"/>
          </a:p>
        </p:txBody>
      </p:sp>
      <p:sp>
        <p:nvSpPr>
          <p:cNvPr id="76" name="line-384">
            <a:extLst>
              <a:ext uri="{FF2B5EF4-FFF2-40B4-BE49-F238E27FC236}">
                <a16:creationId xmlns:a16="http://schemas.microsoft.com/office/drawing/2014/main" id="{43D62ECC-D9E7-4BEE-8236-2F21950726EA}"/>
              </a:ext>
            </a:extLst>
          </p:cNvPr>
          <p:cNvSpPr>
            <a:spLocks noGrp="1"/>
          </p:cNvSpPr>
          <p:nvPr/>
        </p:nvSpPr>
        <p:spPr>
          <a:xfrm>
            <a:off x="9408661" y="3764938"/>
            <a:ext cx="9525" cy="16326"/>
          </a:xfrm>
          <a:custGeom>
            <a:avLst/>
            <a:gdLst/>
            <a:ahLst/>
            <a:cxnLst/>
            <a:rect l="0" t="0" r="0" b="0"/>
            <a:pathLst>
              <a:path w="9525" h="16326">
                <a:moveTo>
                  <a:pt x="0" y="0"/>
                </a:moveTo>
                <a:lnTo>
                  <a:pt x="4146" y="16326"/>
                </a:lnTo>
              </a:path>
            </a:pathLst>
          </a:custGeom>
          <a:noFill/>
          <a:ln w="19050">
            <a:solidFill>
              <a:srgbClr val="17698C"/>
            </a:solidFill>
          </a:ln>
        </p:spPr>
        <p:txBody>
          <a:bodyPr/>
          <a:lstStyle/>
          <a:p>
            <a:endParaRPr lang="en-US"/>
          </a:p>
        </p:txBody>
      </p:sp>
      <p:sp>
        <p:nvSpPr>
          <p:cNvPr id="77" name="line-385">
            <a:extLst>
              <a:ext uri="{FF2B5EF4-FFF2-40B4-BE49-F238E27FC236}">
                <a16:creationId xmlns:a16="http://schemas.microsoft.com/office/drawing/2014/main" id="{D0F39AEB-8858-4CA2-AF11-10DB99606976}"/>
              </a:ext>
            </a:extLst>
          </p:cNvPr>
          <p:cNvSpPr>
            <a:spLocks noGrp="1"/>
          </p:cNvSpPr>
          <p:nvPr/>
        </p:nvSpPr>
        <p:spPr>
          <a:xfrm>
            <a:off x="9412807" y="3781264"/>
            <a:ext cx="9525" cy="16530"/>
          </a:xfrm>
          <a:custGeom>
            <a:avLst/>
            <a:gdLst/>
            <a:ahLst/>
            <a:cxnLst/>
            <a:rect l="0" t="0" r="0" b="0"/>
            <a:pathLst>
              <a:path w="9525" h="16530">
                <a:moveTo>
                  <a:pt x="0" y="0"/>
                </a:moveTo>
                <a:lnTo>
                  <a:pt x="3238" y="16530"/>
                </a:lnTo>
              </a:path>
            </a:pathLst>
          </a:custGeom>
          <a:noFill/>
          <a:ln w="19050">
            <a:solidFill>
              <a:srgbClr val="17698C"/>
            </a:solidFill>
          </a:ln>
        </p:spPr>
        <p:txBody>
          <a:bodyPr/>
          <a:lstStyle/>
          <a:p>
            <a:endParaRPr lang="en-US"/>
          </a:p>
        </p:txBody>
      </p:sp>
      <p:sp>
        <p:nvSpPr>
          <p:cNvPr id="78" name="line-386">
            <a:extLst>
              <a:ext uri="{FF2B5EF4-FFF2-40B4-BE49-F238E27FC236}">
                <a16:creationId xmlns:a16="http://schemas.microsoft.com/office/drawing/2014/main" id="{72695CCB-83C3-432D-8F30-4A31A571AB79}"/>
              </a:ext>
            </a:extLst>
          </p:cNvPr>
          <p:cNvSpPr>
            <a:spLocks noGrp="1"/>
          </p:cNvSpPr>
          <p:nvPr/>
        </p:nvSpPr>
        <p:spPr>
          <a:xfrm>
            <a:off x="9416045" y="3797793"/>
            <a:ext cx="9525" cy="16683"/>
          </a:xfrm>
          <a:custGeom>
            <a:avLst/>
            <a:gdLst/>
            <a:ahLst/>
            <a:cxnLst/>
            <a:rect l="0" t="0" r="0" b="0"/>
            <a:pathLst>
              <a:path w="9525" h="16683">
                <a:moveTo>
                  <a:pt x="0" y="0"/>
                </a:moveTo>
                <a:lnTo>
                  <a:pt x="2320" y="16683"/>
                </a:lnTo>
              </a:path>
            </a:pathLst>
          </a:custGeom>
          <a:noFill/>
          <a:ln w="19050">
            <a:solidFill>
              <a:srgbClr val="17698C"/>
            </a:solidFill>
          </a:ln>
        </p:spPr>
        <p:txBody>
          <a:bodyPr/>
          <a:lstStyle/>
          <a:p>
            <a:endParaRPr lang="en-US"/>
          </a:p>
        </p:txBody>
      </p:sp>
      <p:sp>
        <p:nvSpPr>
          <p:cNvPr id="79" name="line-387">
            <a:extLst>
              <a:ext uri="{FF2B5EF4-FFF2-40B4-BE49-F238E27FC236}">
                <a16:creationId xmlns:a16="http://schemas.microsoft.com/office/drawing/2014/main" id="{68480556-2DEE-4136-BB44-5FB4A80B2FDA}"/>
              </a:ext>
            </a:extLst>
          </p:cNvPr>
          <p:cNvSpPr>
            <a:spLocks noGrp="1"/>
          </p:cNvSpPr>
          <p:nvPr/>
        </p:nvSpPr>
        <p:spPr>
          <a:xfrm>
            <a:off x="9418365" y="3814477"/>
            <a:ext cx="9525" cy="16786"/>
          </a:xfrm>
          <a:custGeom>
            <a:avLst/>
            <a:gdLst/>
            <a:ahLst/>
            <a:cxnLst/>
            <a:rect l="0" t="0" r="0" b="0"/>
            <a:pathLst>
              <a:path w="9525" h="16786">
                <a:moveTo>
                  <a:pt x="0" y="0"/>
                </a:moveTo>
                <a:lnTo>
                  <a:pt x="1395" y="16786"/>
                </a:lnTo>
              </a:path>
            </a:pathLst>
          </a:custGeom>
          <a:noFill/>
          <a:ln w="19050">
            <a:solidFill>
              <a:srgbClr val="17698C"/>
            </a:solidFill>
          </a:ln>
        </p:spPr>
        <p:txBody>
          <a:bodyPr/>
          <a:lstStyle/>
          <a:p>
            <a:endParaRPr lang="en-US"/>
          </a:p>
        </p:txBody>
      </p:sp>
      <p:sp>
        <p:nvSpPr>
          <p:cNvPr id="80" name="line-388">
            <a:extLst>
              <a:ext uri="{FF2B5EF4-FFF2-40B4-BE49-F238E27FC236}">
                <a16:creationId xmlns:a16="http://schemas.microsoft.com/office/drawing/2014/main" id="{48910649-A47B-4B28-92FB-39F8E17B717B}"/>
              </a:ext>
            </a:extLst>
          </p:cNvPr>
          <p:cNvSpPr>
            <a:spLocks noGrp="1"/>
          </p:cNvSpPr>
          <p:nvPr/>
        </p:nvSpPr>
        <p:spPr>
          <a:xfrm>
            <a:off x="9419760" y="3831263"/>
            <a:ext cx="9525" cy="16837"/>
          </a:xfrm>
          <a:custGeom>
            <a:avLst/>
            <a:gdLst/>
            <a:ahLst/>
            <a:cxnLst/>
            <a:rect l="0" t="0" r="0" b="0"/>
            <a:pathLst>
              <a:path w="9525" h="16837">
                <a:moveTo>
                  <a:pt x="0" y="0"/>
                </a:moveTo>
                <a:lnTo>
                  <a:pt x="465" y="16837"/>
                </a:lnTo>
              </a:path>
            </a:pathLst>
          </a:custGeom>
          <a:noFill/>
          <a:ln w="19050">
            <a:solidFill>
              <a:srgbClr val="17698C"/>
            </a:solidFill>
          </a:ln>
        </p:spPr>
        <p:txBody>
          <a:bodyPr/>
          <a:lstStyle/>
          <a:p>
            <a:endParaRPr lang="en-US"/>
          </a:p>
        </p:txBody>
      </p:sp>
      <p:sp>
        <p:nvSpPr>
          <p:cNvPr id="81" name="line-389">
            <a:extLst>
              <a:ext uri="{FF2B5EF4-FFF2-40B4-BE49-F238E27FC236}">
                <a16:creationId xmlns:a16="http://schemas.microsoft.com/office/drawing/2014/main" id="{6BC6686A-FE16-4E8E-AA21-B393C9BF1291}"/>
              </a:ext>
            </a:extLst>
          </p:cNvPr>
          <p:cNvSpPr>
            <a:spLocks noGrp="1"/>
          </p:cNvSpPr>
          <p:nvPr/>
        </p:nvSpPr>
        <p:spPr>
          <a:xfrm>
            <a:off x="9419760" y="3848100"/>
            <a:ext cx="9525" cy="16837"/>
          </a:xfrm>
          <a:custGeom>
            <a:avLst/>
            <a:gdLst/>
            <a:ahLst/>
            <a:cxnLst/>
            <a:rect l="0" t="0" r="0" b="0"/>
            <a:pathLst>
              <a:path w="9525" h="16837">
                <a:moveTo>
                  <a:pt x="465" y="0"/>
                </a:moveTo>
                <a:lnTo>
                  <a:pt x="0" y="16837"/>
                </a:lnTo>
              </a:path>
            </a:pathLst>
          </a:custGeom>
          <a:noFill/>
          <a:ln w="19050">
            <a:solidFill>
              <a:srgbClr val="17698C"/>
            </a:solidFill>
          </a:ln>
        </p:spPr>
        <p:txBody>
          <a:bodyPr/>
          <a:lstStyle/>
          <a:p>
            <a:endParaRPr lang="en-US"/>
          </a:p>
        </p:txBody>
      </p:sp>
      <p:sp>
        <p:nvSpPr>
          <p:cNvPr id="82" name="line-390">
            <a:extLst>
              <a:ext uri="{FF2B5EF4-FFF2-40B4-BE49-F238E27FC236}">
                <a16:creationId xmlns:a16="http://schemas.microsoft.com/office/drawing/2014/main" id="{33AD2B66-AC1E-4EEA-A404-BC0C0D2EBBCB}"/>
              </a:ext>
            </a:extLst>
          </p:cNvPr>
          <p:cNvSpPr>
            <a:spLocks noGrp="1"/>
          </p:cNvSpPr>
          <p:nvPr/>
        </p:nvSpPr>
        <p:spPr>
          <a:xfrm>
            <a:off x="9418365" y="3864937"/>
            <a:ext cx="9525" cy="16786"/>
          </a:xfrm>
          <a:custGeom>
            <a:avLst/>
            <a:gdLst/>
            <a:ahLst/>
            <a:cxnLst/>
            <a:rect l="0" t="0" r="0" b="0"/>
            <a:pathLst>
              <a:path w="9525" h="16786">
                <a:moveTo>
                  <a:pt x="1395" y="0"/>
                </a:moveTo>
                <a:lnTo>
                  <a:pt x="0" y="16786"/>
                </a:lnTo>
              </a:path>
            </a:pathLst>
          </a:custGeom>
          <a:noFill/>
          <a:ln w="19050">
            <a:solidFill>
              <a:srgbClr val="17698C"/>
            </a:solidFill>
          </a:ln>
        </p:spPr>
        <p:txBody>
          <a:bodyPr/>
          <a:lstStyle/>
          <a:p>
            <a:endParaRPr lang="en-US"/>
          </a:p>
        </p:txBody>
      </p:sp>
      <p:sp>
        <p:nvSpPr>
          <p:cNvPr id="83" name="line-391">
            <a:extLst>
              <a:ext uri="{FF2B5EF4-FFF2-40B4-BE49-F238E27FC236}">
                <a16:creationId xmlns:a16="http://schemas.microsoft.com/office/drawing/2014/main" id="{805BCCA5-A571-4C8B-A14C-6E91B691B659}"/>
              </a:ext>
            </a:extLst>
          </p:cNvPr>
          <p:cNvSpPr>
            <a:spLocks noGrp="1"/>
          </p:cNvSpPr>
          <p:nvPr/>
        </p:nvSpPr>
        <p:spPr>
          <a:xfrm>
            <a:off x="9416045" y="3881723"/>
            <a:ext cx="9525" cy="16683"/>
          </a:xfrm>
          <a:custGeom>
            <a:avLst/>
            <a:gdLst/>
            <a:ahLst/>
            <a:cxnLst/>
            <a:rect l="0" t="0" r="0" b="0"/>
            <a:pathLst>
              <a:path w="9525" h="16683">
                <a:moveTo>
                  <a:pt x="2320" y="0"/>
                </a:moveTo>
                <a:lnTo>
                  <a:pt x="0" y="16683"/>
                </a:lnTo>
              </a:path>
            </a:pathLst>
          </a:custGeom>
          <a:noFill/>
          <a:ln w="19050">
            <a:solidFill>
              <a:srgbClr val="17698C"/>
            </a:solidFill>
          </a:ln>
        </p:spPr>
        <p:txBody>
          <a:bodyPr/>
          <a:lstStyle/>
          <a:p>
            <a:endParaRPr lang="en-US"/>
          </a:p>
        </p:txBody>
      </p:sp>
      <p:sp>
        <p:nvSpPr>
          <p:cNvPr id="84" name="line-392">
            <a:extLst>
              <a:ext uri="{FF2B5EF4-FFF2-40B4-BE49-F238E27FC236}">
                <a16:creationId xmlns:a16="http://schemas.microsoft.com/office/drawing/2014/main" id="{F9B3D1A7-2BB6-4AEF-B598-4C98EC08F7F6}"/>
              </a:ext>
            </a:extLst>
          </p:cNvPr>
          <p:cNvSpPr>
            <a:spLocks noGrp="1"/>
          </p:cNvSpPr>
          <p:nvPr/>
        </p:nvSpPr>
        <p:spPr>
          <a:xfrm>
            <a:off x="9412807" y="3898407"/>
            <a:ext cx="9525" cy="16530"/>
          </a:xfrm>
          <a:custGeom>
            <a:avLst/>
            <a:gdLst/>
            <a:ahLst/>
            <a:cxnLst/>
            <a:rect l="0" t="0" r="0" b="0"/>
            <a:pathLst>
              <a:path w="9525" h="16530">
                <a:moveTo>
                  <a:pt x="3238" y="0"/>
                </a:moveTo>
                <a:lnTo>
                  <a:pt x="0" y="16530"/>
                </a:lnTo>
              </a:path>
            </a:pathLst>
          </a:custGeom>
          <a:noFill/>
          <a:ln w="19050">
            <a:solidFill>
              <a:srgbClr val="17698C"/>
            </a:solidFill>
          </a:ln>
        </p:spPr>
        <p:txBody>
          <a:bodyPr/>
          <a:lstStyle/>
          <a:p>
            <a:endParaRPr lang="en-US"/>
          </a:p>
        </p:txBody>
      </p:sp>
      <p:sp>
        <p:nvSpPr>
          <p:cNvPr id="85" name="line-393">
            <a:extLst>
              <a:ext uri="{FF2B5EF4-FFF2-40B4-BE49-F238E27FC236}">
                <a16:creationId xmlns:a16="http://schemas.microsoft.com/office/drawing/2014/main" id="{697A5CDC-E9D6-444A-915D-ED0BD60CF201}"/>
              </a:ext>
            </a:extLst>
          </p:cNvPr>
          <p:cNvSpPr>
            <a:spLocks noGrp="1"/>
          </p:cNvSpPr>
          <p:nvPr/>
        </p:nvSpPr>
        <p:spPr>
          <a:xfrm>
            <a:off x="9408661" y="3914936"/>
            <a:ext cx="9525" cy="16326"/>
          </a:xfrm>
          <a:custGeom>
            <a:avLst/>
            <a:gdLst/>
            <a:ahLst/>
            <a:cxnLst/>
            <a:rect l="0" t="0" r="0" b="0"/>
            <a:pathLst>
              <a:path w="9525" h="16326">
                <a:moveTo>
                  <a:pt x="4146" y="0"/>
                </a:moveTo>
                <a:lnTo>
                  <a:pt x="0" y="16326"/>
                </a:lnTo>
              </a:path>
            </a:pathLst>
          </a:custGeom>
          <a:noFill/>
          <a:ln w="19050">
            <a:solidFill>
              <a:srgbClr val="17698C"/>
            </a:solidFill>
          </a:ln>
        </p:spPr>
        <p:txBody>
          <a:bodyPr/>
          <a:lstStyle/>
          <a:p>
            <a:endParaRPr lang="en-US"/>
          </a:p>
        </p:txBody>
      </p:sp>
      <p:sp>
        <p:nvSpPr>
          <p:cNvPr id="86" name="line-394">
            <a:extLst>
              <a:ext uri="{FF2B5EF4-FFF2-40B4-BE49-F238E27FC236}">
                <a16:creationId xmlns:a16="http://schemas.microsoft.com/office/drawing/2014/main" id="{5B6D6C73-2D9F-45B1-9DE3-D9489C74A663}"/>
              </a:ext>
            </a:extLst>
          </p:cNvPr>
          <p:cNvSpPr>
            <a:spLocks noGrp="1"/>
          </p:cNvSpPr>
          <p:nvPr/>
        </p:nvSpPr>
        <p:spPr>
          <a:xfrm>
            <a:off x="9403619" y="3931262"/>
            <a:ext cx="9525" cy="16072"/>
          </a:xfrm>
          <a:custGeom>
            <a:avLst/>
            <a:gdLst/>
            <a:ahLst/>
            <a:cxnLst/>
            <a:rect l="0" t="0" r="0" b="0"/>
            <a:pathLst>
              <a:path w="9525" h="16072">
                <a:moveTo>
                  <a:pt x="5042" y="0"/>
                </a:moveTo>
                <a:lnTo>
                  <a:pt x="0" y="16072"/>
                </a:lnTo>
              </a:path>
            </a:pathLst>
          </a:custGeom>
          <a:noFill/>
          <a:ln w="19050">
            <a:solidFill>
              <a:srgbClr val="17698C"/>
            </a:solidFill>
          </a:ln>
        </p:spPr>
        <p:txBody>
          <a:bodyPr/>
          <a:lstStyle/>
          <a:p>
            <a:endParaRPr lang="en-US"/>
          </a:p>
        </p:txBody>
      </p:sp>
      <p:sp>
        <p:nvSpPr>
          <p:cNvPr id="87" name="line-395">
            <a:extLst>
              <a:ext uri="{FF2B5EF4-FFF2-40B4-BE49-F238E27FC236}">
                <a16:creationId xmlns:a16="http://schemas.microsoft.com/office/drawing/2014/main" id="{303E4CE6-CAB7-4632-9B74-95B573C9F7FE}"/>
              </a:ext>
            </a:extLst>
          </p:cNvPr>
          <p:cNvSpPr>
            <a:spLocks noGrp="1"/>
          </p:cNvSpPr>
          <p:nvPr/>
        </p:nvSpPr>
        <p:spPr>
          <a:xfrm>
            <a:off x="9397697" y="3947333"/>
            <a:ext cx="9525" cy="15768"/>
          </a:xfrm>
          <a:custGeom>
            <a:avLst/>
            <a:gdLst/>
            <a:ahLst/>
            <a:cxnLst/>
            <a:rect l="0" t="0" r="0" b="0"/>
            <a:pathLst>
              <a:path w="9525" h="15768">
                <a:moveTo>
                  <a:pt x="5922" y="0"/>
                </a:moveTo>
                <a:lnTo>
                  <a:pt x="0" y="15768"/>
                </a:lnTo>
              </a:path>
            </a:pathLst>
          </a:custGeom>
          <a:noFill/>
          <a:ln w="19050">
            <a:solidFill>
              <a:srgbClr val="17698C"/>
            </a:solidFill>
          </a:ln>
        </p:spPr>
        <p:txBody>
          <a:bodyPr/>
          <a:lstStyle/>
          <a:p>
            <a:endParaRPr lang="en-US"/>
          </a:p>
        </p:txBody>
      </p:sp>
      <p:sp>
        <p:nvSpPr>
          <p:cNvPr id="88" name="line-396">
            <a:extLst>
              <a:ext uri="{FF2B5EF4-FFF2-40B4-BE49-F238E27FC236}">
                <a16:creationId xmlns:a16="http://schemas.microsoft.com/office/drawing/2014/main" id="{425E658F-C6A4-4CFB-8B04-985D8F2AFFF4}"/>
              </a:ext>
            </a:extLst>
          </p:cNvPr>
          <p:cNvSpPr>
            <a:spLocks noGrp="1"/>
          </p:cNvSpPr>
          <p:nvPr/>
        </p:nvSpPr>
        <p:spPr>
          <a:xfrm>
            <a:off x="9390914" y="3963102"/>
            <a:ext cx="9525" cy="15417"/>
          </a:xfrm>
          <a:custGeom>
            <a:avLst/>
            <a:gdLst/>
            <a:ahLst/>
            <a:cxnLst/>
            <a:rect l="0" t="0" r="0" b="0"/>
            <a:pathLst>
              <a:path w="9525" h="15417">
                <a:moveTo>
                  <a:pt x="6784" y="0"/>
                </a:moveTo>
                <a:lnTo>
                  <a:pt x="0" y="15417"/>
                </a:lnTo>
              </a:path>
            </a:pathLst>
          </a:custGeom>
          <a:noFill/>
          <a:ln w="19050">
            <a:solidFill>
              <a:srgbClr val="17698C"/>
            </a:solidFill>
          </a:ln>
        </p:spPr>
        <p:txBody>
          <a:bodyPr/>
          <a:lstStyle/>
          <a:p>
            <a:endParaRPr lang="en-US"/>
          </a:p>
        </p:txBody>
      </p:sp>
      <p:sp>
        <p:nvSpPr>
          <p:cNvPr id="89" name="line-397">
            <a:extLst>
              <a:ext uri="{FF2B5EF4-FFF2-40B4-BE49-F238E27FC236}">
                <a16:creationId xmlns:a16="http://schemas.microsoft.com/office/drawing/2014/main" id="{C022F957-3B82-492E-AB9D-3EEAF7918D06}"/>
              </a:ext>
            </a:extLst>
          </p:cNvPr>
          <p:cNvSpPr>
            <a:spLocks noGrp="1"/>
          </p:cNvSpPr>
          <p:nvPr/>
        </p:nvSpPr>
        <p:spPr>
          <a:xfrm>
            <a:off x="9383288" y="3978519"/>
            <a:ext cx="9525" cy="15019"/>
          </a:xfrm>
          <a:custGeom>
            <a:avLst/>
            <a:gdLst/>
            <a:ahLst/>
            <a:cxnLst/>
            <a:rect l="0" t="0" r="0" b="0"/>
            <a:pathLst>
              <a:path w="9525" h="15019">
                <a:moveTo>
                  <a:pt x="7625" y="0"/>
                </a:moveTo>
                <a:lnTo>
                  <a:pt x="0" y="15019"/>
                </a:lnTo>
              </a:path>
            </a:pathLst>
          </a:custGeom>
          <a:noFill/>
          <a:ln w="19050">
            <a:solidFill>
              <a:srgbClr val="17698C"/>
            </a:solidFill>
          </a:ln>
        </p:spPr>
        <p:txBody>
          <a:bodyPr/>
          <a:lstStyle/>
          <a:p>
            <a:endParaRPr lang="en-US"/>
          </a:p>
        </p:txBody>
      </p:sp>
      <p:sp>
        <p:nvSpPr>
          <p:cNvPr id="90" name="line-398">
            <a:extLst>
              <a:ext uri="{FF2B5EF4-FFF2-40B4-BE49-F238E27FC236}">
                <a16:creationId xmlns:a16="http://schemas.microsoft.com/office/drawing/2014/main" id="{173CABA0-5467-4F6A-89FE-6617635AA2A4}"/>
              </a:ext>
            </a:extLst>
          </p:cNvPr>
          <p:cNvSpPr>
            <a:spLocks noGrp="1"/>
          </p:cNvSpPr>
          <p:nvPr/>
        </p:nvSpPr>
        <p:spPr>
          <a:xfrm>
            <a:off x="9374845" y="3993538"/>
            <a:ext cx="9525" cy="14575"/>
          </a:xfrm>
          <a:custGeom>
            <a:avLst/>
            <a:gdLst/>
            <a:ahLst/>
            <a:cxnLst/>
            <a:rect l="0" t="0" r="0" b="0"/>
            <a:pathLst>
              <a:path w="9525" h="14575">
                <a:moveTo>
                  <a:pt x="8443" y="0"/>
                </a:moveTo>
                <a:lnTo>
                  <a:pt x="0" y="14575"/>
                </a:lnTo>
              </a:path>
            </a:pathLst>
          </a:custGeom>
          <a:noFill/>
          <a:ln w="19050">
            <a:solidFill>
              <a:srgbClr val="17698C"/>
            </a:solidFill>
          </a:ln>
        </p:spPr>
        <p:txBody>
          <a:bodyPr/>
          <a:lstStyle/>
          <a:p>
            <a:endParaRPr lang="en-US"/>
          </a:p>
        </p:txBody>
      </p:sp>
      <p:sp>
        <p:nvSpPr>
          <p:cNvPr id="91" name="line-399">
            <a:extLst>
              <a:ext uri="{FF2B5EF4-FFF2-40B4-BE49-F238E27FC236}">
                <a16:creationId xmlns:a16="http://schemas.microsoft.com/office/drawing/2014/main" id="{44DC31B4-4593-4AA6-9F69-D564BEA0AA84}"/>
              </a:ext>
            </a:extLst>
          </p:cNvPr>
          <p:cNvSpPr>
            <a:spLocks noGrp="1"/>
          </p:cNvSpPr>
          <p:nvPr/>
        </p:nvSpPr>
        <p:spPr>
          <a:xfrm>
            <a:off x="9365610" y="4008113"/>
            <a:ext cx="9525" cy="14086"/>
          </a:xfrm>
          <a:custGeom>
            <a:avLst/>
            <a:gdLst/>
            <a:ahLst/>
            <a:cxnLst/>
            <a:rect l="0" t="0" r="0" b="0"/>
            <a:pathLst>
              <a:path w="9525" h="14086">
                <a:moveTo>
                  <a:pt x="9235" y="0"/>
                </a:moveTo>
                <a:lnTo>
                  <a:pt x="0" y="14086"/>
                </a:lnTo>
              </a:path>
            </a:pathLst>
          </a:custGeom>
          <a:noFill/>
          <a:ln w="19050">
            <a:solidFill>
              <a:srgbClr val="17698C"/>
            </a:solidFill>
          </a:ln>
        </p:spPr>
        <p:txBody>
          <a:bodyPr/>
          <a:lstStyle/>
          <a:p>
            <a:endParaRPr lang="en-US"/>
          </a:p>
        </p:txBody>
      </p:sp>
      <p:sp>
        <p:nvSpPr>
          <p:cNvPr id="92" name="line-400">
            <a:extLst>
              <a:ext uri="{FF2B5EF4-FFF2-40B4-BE49-F238E27FC236}">
                <a16:creationId xmlns:a16="http://schemas.microsoft.com/office/drawing/2014/main" id="{6AD9CEE0-8C20-4FDC-86A3-FE090A53A02A}"/>
              </a:ext>
            </a:extLst>
          </p:cNvPr>
          <p:cNvSpPr>
            <a:spLocks noGrp="1"/>
          </p:cNvSpPr>
          <p:nvPr/>
        </p:nvSpPr>
        <p:spPr>
          <a:xfrm>
            <a:off x="9355611" y="4022199"/>
            <a:ext cx="9999" cy="13555"/>
          </a:xfrm>
          <a:custGeom>
            <a:avLst/>
            <a:gdLst/>
            <a:ahLst/>
            <a:cxnLst/>
            <a:rect l="0" t="0" r="0" b="0"/>
            <a:pathLst>
              <a:path w="9999" h="13555">
                <a:moveTo>
                  <a:pt x="9999" y="0"/>
                </a:moveTo>
                <a:lnTo>
                  <a:pt x="0" y="13555"/>
                </a:lnTo>
              </a:path>
            </a:pathLst>
          </a:custGeom>
          <a:noFill/>
          <a:ln w="19050">
            <a:solidFill>
              <a:srgbClr val="17698C"/>
            </a:solidFill>
          </a:ln>
        </p:spPr>
        <p:txBody>
          <a:bodyPr/>
          <a:lstStyle/>
          <a:p>
            <a:endParaRPr lang="en-US"/>
          </a:p>
        </p:txBody>
      </p:sp>
      <p:sp>
        <p:nvSpPr>
          <p:cNvPr id="93" name="line-401">
            <a:extLst>
              <a:ext uri="{FF2B5EF4-FFF2-40B4-BE49-F238E27FC236}">
                <a16:creationId xmlns:a16="http://schemas.microsoft.com/office/drawing/2014/main" id="{7F15FC07-1E6C-4CAD-AC3D-588E1D26113C}"/>
              </a:ext>
            </a:extLst>
          </p:cNvPr>
          <p:cNvSpPr>
            <a:spLocks noGrp="1"/>
          </p:cNvSpPr>
          <p:nvPr/>
        </p:nvSpPr>
        <p:spPr>
          <a:xfrm>
            <a:off x="7105650" y="2971800"/>
            <a:ext cx="4248150" cy="9525"/>
          </a:xfrm>
          <a:custGeom>
            <a:avLst/>
            <a:gdLst/>
            <a:ahLst/>
            <a:cxnLst/>
            <a:rect l="0" t="0" r="0" b="0"/>
            <a:pathLst>
              <a:path w="4248150" h="9525">
                <a:moveTo>
                  <a:pt x="0" y="0"/>
                </a:moveTo>
                <a:lnTo>
                  <a:pt x="4248150" y="0"/>
                </a:lnTo>
              </a:path>
            </a:pathLst>
          </a:custGeom>
          <a:noFill/>
          <a:ln w="47625">
            <a:solidFill>
              <a:srgbClr val="C9CDD0"/>
            </a:solidFill>
          </a:ln>
        </p:spPr>
        <p:txBody>
          <a:bodyPr/>
          <a:lstStyle/>
          <a:p>
            <a:endParaRPr lang="en-US"/>
          </a:p>
        </p:txBody>
      </p:sp>
      <p:sp>
        <p:nvSpPr>
          <p:cNvPr id="94" name="diagram-402">
            <a:extLst>
              <a:ext uri="{FF2B5EF4-FFF2-40B4-BE49-F238E27FC236}">
                <a16:creationId xmlns:a16="http://schemas.microsoft.com/office/drawing/2014/main" id="{3BFC5636-002B-4B09-9A75-9C6F2B8AAAB3}"/>
              </a:ext>
            </a:extLst>
          </p:cNvPr>
          <p:cNvSpPr>
            <a:spLocks noGrp="1"/>
          </p:cNvSpPr>
          <p:nvPr/>
        </p:nvSpPr>
        <p:spPr>
          <a:xfrm>
            <a:off x="7258050" y="2609850"/>
            <a:ext cx="1333500" cy="323850"/>
          </a:xfrm>
          <a:prstGeom prst="rect">
            <a:avLst/>
          </a:prstGeom>
          <a:noFill/>
          <a:ln w="0">
            <a:noFill/>
          </a:ln>
        </p:spPr>
        <p:txBody>
          <a:bodyPr lIns="0" tIns="0" rIns="0" bIns="0" anchor="t">
            <a:noAutofit/>
          </a:bodyPr>
          <a:lstStyle/>
          <a:p>
            <a:pPr algn="l">
              <a:buNone/>
              <a:defRPr sz="1650" b="0">
                <a:solidFill>
                  <a:srgbClr val="62676D"/>
                </a:solidFill>
                <a:latin typeface="Aptos"/>
                <a:ea typeface="Aptos"/>
                <a:cs typeface="Aptos"/>
              </a:defRPr>
            </a:pPr>
            <a:r>
              <a:rPr sz="1650" b="0">
                <a:solidFill>
                  <a:srgbClr val="62676D"/>
                </a:solidFill>
                <a:latin typeface="Aptos"/>
                <a:ea typeface="Aptos"/>
                <a:cs typeface="Aptos"/>
              </a:rPr>
              <a:t>Reflector</a:t>
            </a:r>
          </a:p>
        </p:txBody>
      </p:sp>
      <p:sp>
        <p:nvSpPr>
          <p:cNvPr id="95" name="line-403">
            <a:extLst>
              <a:ext uri="{FF2B5EF4-FFF2-40B4-BE49-F238E27FC236}">
                <a16:creationId xmlns:a16="http://schemas.microsoft.com/office/drawing/2014/main" id="{D9CEF689-957E-4B46-9A3B-1C09099D312E}"/>
              </a:ext>
            </a:extLst>
          </p:cNvPr>
          <p:cNvSpPr>
            <a:spLocks noGrp="1"/>
          </p:cNvSpPr>
          <p:nvPr/>
        </p:nvSpPr>
        <p:spPr>
          <a:xfrm>
            <a:off x="9629775" y="3000375"/>
            <a:ext cx="847725" cy="247650"/>
          </a:xfrm>
          <a:custGeom>
            <a:avLst/>
            <a:gdLst/>
            <a:ahLst/>
            <a:cxnLst/>
            <a:rect l="0" t="0" r="0" b="0"/>
            <a:pathLst>
              <a:path w="847725" h="247650">
                <a:moveTo>
                  <a:pt x="847725" y="247650"/>
                </a:moveTo>
                <a:lnTo>
                  <a:pt x="0" y="0"/>
                </a:lnTo>
              </a:path>
            </a:pathLst>
          </a:custGeom>
          <a:noFill/>
          <a:ln w="19050">
            <a:solidFill>
              <a:srgbClr val="17698C"/>
            </a:solidFill>
          </a:ln>
        </p:spPr>
        <p:txBody>
          <a:bodyPr/>
          <a:lstStyle/>
          <a:p>
            <a:endParaRPr lang="en-US"/>
          </a:p>
        </p:txBody>
      </p:sp>
      <p:sp>
        <p:nvSpPr>
          <p:cNvPr id="96" name="line-404">
            <a:extLst>
              <a:ext uri="{FF2B5EF4-FFF2-40B4-BE49-F238E27FC236}">
                <a16:creationId xmlns:a16="http://schemas.microsoft.com/office/drawing/2014/main" id="{817A5806-083C-47C1-A280-34E08A5CF594}"/>
              </a:ext>
            </a:extLst>
          </p:cNvPr>
          <p:cNvSpPr>
            <a:spLocks noGrp="1"/>
          </p:cNvSpPr>
          <p:nvPr/>
        </p:nvSpPr>
        <p:spPr>
          <a:xfrm>
            <a:off x="8734425" y="3000375"/>
            <a:ext cx="895350" cy="1171575"/>
          </a:xfrm>
          <a:custGeom>
            <a:avLst/>
            <a:gdLst/>
            <a:ahLst/>
            <a:cxnLst/>
            <a:rect l="0" t="0" r="0" b="0"/>
            <a:pathLst>
              <a:path w="895350" h="1171575">
                <a:moveTo>
                  <a:pt x="895350" y="0"/>
                </a:moveTo>
                <a:lnTo>
                  <a:pt x="0" y="1171575"/>
                </a:lnTo>
              </a:path>
            </a:pathLst>
          </a:custGeom>
          <a:noFill/>
          <a:ln w="23813">
            <a:solidFill>
              <a:srgbClr val="17698C"/>
            </a:solidFill>
          </a:ln>
        </p:spPr>
        <p:txBody>
          <a:bodyPr/>
          <a:lstStyle/>
          <a:p>
            <a:endParaRPr lang="en-US"/>
          </a:p>
        </p:txBody>
      </p:sp>
      <p:sp>
        <p:nvSpPr>
          <p:cNvPr id="97" name="line-405">
            <a:extLst>
              <a:ext uri="{FF2B5EF4-FFF2-40B4-BE49-F238E27FC236}">
                <a16:creationId xmlns:a16="http://schemas.microsoft.com/office/drawing/2014/main" id="{E08B2D4B-ECEA-483B-B13A-A5C57E16D2F7}"/>
              </a:ext>
            </a:extLst>
          </p:cNvPr>
          <p:cNvSpPr>
            <a:spLocks noGrp="1"/>
          </p:cNvSpPr>
          <p:nvPr/>
        </p:nvSpPr>
        <p:spPr>
          <a:xfrm>
            <a:off x="8734425" y="4078647"/>
            <a:ext cx="19161" cy="93303"/>
          </a:xfrm>
          <a:custGeom>
            <a:avLst/>
            <a:gdLst/>
            <a:ahLst/>
            <a:cxnLst/>
            <a:rect l="0" t="0" r="0" b="0"/>
            <a:pathLst>
              <a:path w="19161" h="93303">
                <a:moveTo>
                  <a:pt x="0" y="93303"/>
                </a:moveTo>
                <a:lnTo>
                  <a:pt x="19161" y="0"/>
                </a:lnTo>
              </a:path>
            </a:pathLst>
          </a:custGeom>
          <a:noFill/>
          <a:ln w="23813">
            <a:solidFill>
              <a:srgbClr val="17698C"/>
            </a:solidFill>
          </a:ln>
        </p:spPr>
        <p:txBody>
          <a:bodyPr/>
          <a:lstStyle/>
          <a:p>
            <a:endParaRPr lang="en-US"/>
          </a:p>
        </p:txBody>
      </p:sp>
      <p:sp>
        <p:nvSpPr>
          <p:cNvPr id="98" name="line-406">
            <a:extLst>
              <a:ext uri="{FF2B5EF4-FFF2-40B4-BE49-F238E27FC236}">
                <a16:creationId xmlns:a16="http://schemas.microsoft.com/office/drawing/2014/main" id="{D23A932D-9C65-4FBD-A2BB-D637077FC11C}"/>
              </a:ext>
            </a:extLst>
          </p:cNvPr>
          <p:cNvSpPr>
            <a:spLocks noGrp="1"/>
          </p:cNvSpPr>
          <p:nvPr/>
        </p:nvSpPr>
        <p:spPr>
          <a:xfrm>
            <a:off x="8734425" y="4128961"/>
            <a:ext cx="84997" cy="42989"/>
          </a:xfrm>
          <a:custGeom>
            <a:avLst/>
            <a:gdLst/>
            <a:ahLst/>
            <a:cxnLst/>
            <a:rect l="0" t="0" r="0" b="0"/>
            <a:pathLst>
              <a:path w="84997" h="42989">
                <a:moveTo>
                  <a:pt x="0" y="42989"/>
                </a:moveTo>
                <a:lnTo>
                  <a:pt x="84997" y="0"/>
                </a:lnTo>
              </a:path>
            </a:pathLst>
          </a:custGeom>
          <a:noFill/>
          <a:ln w="23813">
            <a:solidFill>
              <a:srgbClr val="17698C"/>
            </a:solidFill>
          </a:ln>
        </p:spPr>
        <p:txBody>
          <a:bodyPr/>
          <a:lstStyle/>
          <a:p>
            <a:endParaRPr lang="en-US"/>
          </a:p>
        </p:txBody>
      </p:sp>
      <p:sp>
        <p:nvSpPr>
          <p:cNvPr id="99" name="diagram-407">
            <a:extLst>
              <a:ext uri="{FF2B5EF4-FFF2-40B4-BE49-F238E27FC236}">
                <a16:creationId xmlns:a16="http://schemas.microsoft.com/office/drawing/2014/main" id="{89A6D56C-527B-41C0-BB54-8F3CECE147E1}"/>
              </a:ext>
            </a:extLst>
          </p:cNvPr>
          <p:cNvSpPr>
            <a:spLocks noGrp="1"/>
          </p:cNvSpPr>
          <p:nvPr/>
        </p:nvSpPr>
        <p:spPr>
          <a:xfrm>
            <a:off x="7153275" y="5753100"/>
            <a:ext cx="4238625" cy="333375"/>
          </a:xfrm>
          <a:prstGeom prst="rect">
            <a:avLst/>
          </a:prstGeom>
          <a:noFill/>
          <a:ln w="0">
            <a:noFill/>
          </a:ln>
        </p:spPr>
        <p:txBody>
          <a:bodyPr lIns="0" tIns="0" rIns="0" bIns="0" anchor="t">
            <a:noAutofit/>
          </a:bodyPr>
          <a:lstStyle/>
          <a:p>
            <a:pPr algn="l">
              <a:buNone/>
              <a:defRPr sz="1575" b="0">
                <a:solidFill>
                  <a:srgbClr val="17698C"/>
                </a:solidFill>
                <a:latin typeface="Aptos"/>
                <a:ea typeface="Aptos"/>
                <a:cs typeface="Aptos"/>
              </a:defRPr>
            </a:pPr>
            <a:r>
              <a:rPr sz="1575" b="0">
                <a:solidFill>
                  <a:srgbClr val="17698C"/>
                </a:solidFill>
                <a:latin typeface="Aptos"/>
                <a:ea typeface="Aptos"/>
                <a:cs typeface="Aptos"/>
              </a:rPr>
              <a:t>Direct + reflected paths</a:t>
            </a:r>
          </a:p>
        </p:txBody>
      </p:sp>
      <p:sp>
        <p:nvSpPr>
          <p:cNvPr id="103" name="added-text-7">
            <a:extLst>
              <a:ext uri="{FF2B5EF4-FFF2-40B4-BE49-F238E27FC236}">
                <a16:creationId xmlns:a16="http://schemas.microsoft.com/office/drawing/2014/main" id="{E848A3D7-F1A4-4BD6-8E2D-62DFC48F9885}"/>
              </a:ext>
            </a:extLst>
          </p:cNvPr>
          <p:cNvSpPr>
            <a:spLocks noGrp="1"/>
          </p:cNvSpPr>
          <p:nvPr/>
        </p:nvSpPr>
        <p:spPr>
          <a:xfrm>
            <a:off x="933450" y="3152775"/>
            <a:ext cx="1028700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Q1: feasible tilt grid    β★: selected tilt    T1: client-1 goodput</a:t>
            </a:r>
          </a:p>
        </p:txBody>
      </p:sp>
      <p:sp>
        <p:nvSpPr>
          <p:cNvPr id="104" name="added-text-94">
            <a:extLst>
              <a:ext uri="{FF2B5EF4-FFF2-40B4-BE49-F238E27FC236}">
                <a16:creationId xmlns:a16="http://schemas.microsoft.com/office/drawing/2014/main" id="{809642B9-267B-4391-8F8E-DFC5B87BB9F6}"/>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23</a:t>
            </a:r>
          </a:p>
        </p:txBody>
      </p:sp>
    </p:spTree>
    <p:extLst>
      <p:ext uri="{BB962C8B-B14F-4D97-AF65-F5344CB8AC3E}">
        <p14:creationId xmlns:p14="http://schemas.microsoft.com/office/powerpoint/2010/main" val="2955090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1-D: multiple sources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43" name="Picture 42"/>
          <p:cNvPicPr>
            <a:picLocks noChangeAspect="1"/>
          </p:cNvPicPr>
          <p:nvPr/>
        </p:nvPicPr>
        <p:blipFill>
          <a:blip r:embed="rId3"/>
          <a:stretch/>
        </p:blipFill>
        <p:spPr>
          <a:xfrm>
            <a:off x="933450" y="1885950"/>
            <a:ext cx="3908062" cy="516834"/>
          </a:xfrm>
          <a:prstGeom prst="rect">
            <a:avLst/>
          </a:prstGeom>
        </p:spPr>
      </p:pic>
      <p:pic>
        <p:nvPicPr>
          <p:cNvPr id="44" name="Picture 43"/>
          <p:cNvPicPr>
            <a:picLocks noChangeAspect="1"/>
          </p:cNvPicPr>
          <p:nvPr/>
        </p:nvPicPr>
        <p:blipFill>
          <a:blip r:embed="rId4"/>
          <a:stretch/>
        </p:blipFill>
        <p:spPr>
          <a:xfrm>
            <a:off x="933450" y="2574234"/>
            <a:ext cx="4265870" cy="540688"/>
          </a:xfrm>
          <a:prstGeom prst="rect">
            <a:avLst/>
          </a:prstGeom>
        </p:spPr>
      </p:pic>
      <p:sp>
        <p:nvSpPr>
          <p:cNvPr id="6" name="diagram-408">
            <a:extLst>
              <a:ext uri="{FF2B5EF4-FFF2-40B4-BE49-F238E27FC236}">
                <a16:creationId xmlns:a16="http://schemas.microsoft.com/office/drawing/2014/main" id="{9DE26B72-434F-4C78-B373-2834DF500AE5}"/>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Fit each labeled client separately. Sum delivered rates after load and airtime limits.</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One common tilt serves all clients. Equal fixed airtime is a reproducible baseline.</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Pure sum-goodput can sacrifice a weak client. Add explicit minimum service if required.</a:t>
            </a:r>
          </a:p>
        </p:txBody>
      </p:sp>
      <p:sp>
        <p:nvSpPr>
          <p:cNvPr id="7" name="diagram-409">
            <a:extLst>
              <a:ext uri="{FF2B5EF4-FFF2-40B4-BE49-F238E27FC236}">
                <a16:creationId xmlns:a16="http://schemas.microsoft.com/office/drawing/2014/main" id="{3CFD9014-24CB-4497-9F52-12750E9E7B10}"/>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410">
            <a:extLst>
              <a:ext uri="{FF2B5EF4-FFF2-40B4-BE49-F238E27FC236}">
                <a16:creationId xmlns:a16="http://schemas.microsoft.com/office/drawing/2014/main" id="{C9637B35-10F3-4C88-9E96-D8F790224281}"/>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411">
            <a:extLst>
              <a:ext uri="{FF2B5EF4-FFF2-40B4-BE49-F238E27FC236}">
                <a16:creationId xmlns:a16="http://schemas.microsoft.com/office/drawing/2014/main" id="{7C1D5534-727C-43E9-A4AB-FC141F1447C2}"/>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412">
            <a:extLst>
              <a:ext uri="{FF2B5EF4-FFF2-40B4-BE49-F238E27FC236}">
                <a16:creationId xmlns:a16="http://schemas.microsoft.com/office/drawing/2014/main" id="{77228CC2-26CA-483E-B4DB-0B774A41EC60}"/>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413">
            <a:extLst>
              <a:ext uri="{FF2B5EF4-FFF2-40B4-BE49-F238E27FC236}">
                <a16:creationId xmlns:a16="http://schemas.microsoft.com/office/drawing/2014/main" id="{2532751F-7CB1-4752-BA8D-D716390AB214}"/>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414">
            <a:extLst>
              <a:ext uri="{FF2B5EF4-FFF2-40B4-BE49-F238E27FC236}">
                <a16:creationId xmlns:a16="http://schemas.microsoft.com/office/drawing/2014/main" id="{67843F9E-7E7F-4841-B184-DD836E3264D4}"/>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415">
            <a:extLst>
              <a:ext uri="{FF2B5EF4-FFF2-40B4-BE49-F238E27FC236}">
                <a16:creationId xmlns:a16="http://schemas.microsoft.com/office/drawing/2014/main" id="{4A530F64-A7EE-4E21-AE45-A6E1B019E6C6}"/>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416">
            <a:extLst>
              <a:ext uri="{FF2B5EF4-FFF2-40B4-BE49-F238E27FC236}">
                <a16:creationId xmlns:a16="http://schemas.microsoft.com/office/drawing/2014/main" id="{7DC3A8D1-9957-4F49-B3AF-C9181E4C57C1}"/>
              </a:ext>
            </a:extLst>
          </p:cNvPr>
          <p:cNvSpPr>
            <a:spLocks noGrp="1"/>
          </p:cNvSpPr>
          <p:nvPr/>
        </p:nvSpPr>
        <p:spPr>
          <a:xfrm>
            <a:off x="6915150" y="3400425"/>
            <a:ext cx="617220" cy="397764"/>
          </a:xfrm>
          <a:prstGeom prst="rect">
            <a:avLst/>
          </a:prstGeom>
          <a:solidFill>
            <a:srgbClr val="FFFFFF"/>
          </a:solidFill>
          <a:ln w="19050">
            <a:solidFill>
              <a:srgbClr val="111111"/>
            </a:solidFill>
          </a:ln>
        </p:spPr>
        <p:txBody>
          <a:bodyPr/>
          <a:lstStyle/>
          <a:p>
            <a:endParaRPr lang="en-US"/>
          </a:p>
        </p:txBody>
      </p:sp>
      <p:sp>
        <p:nvSpPr>
          <p:cNvPr id="15" name="diagram-417">
            <a:extLst>
              <a:ext uri="{FF2B5EF4-FFF2-40B4-BE49-F238E27FC236}">
                <a16:creationId xmlns:a16="http://schemas.microsoft.com/office/drawing/2014/main" id="{C0238ED0-D408-48BB-9A48-55CCF8FDFCBE}"/>
              </a:ext>
            </a:extLst>
          </p:cNvPr>
          <p:cNvSpPr>
            <a:spLocks noGrp="1"/>
          </p:cNvSpPr>
          <p:nvPr/>
        </p:nvSpPr>
        <p:spPr>
          <a:xfrm>
            <a:off x="6949440" y="3434715"/>
            <a:ext cx="548640" cy="329184"/>
          </a:xfrm>
          <a:prstGeom prst="rect">
            <a:avLst/>
          </a:prstGeom>
          <a:solidFill>
            <a:srgbClr val="F1F4F5"/>
          </a:solidFill>
          <a:ln w="19050">
            <a:noFill/>
          </a:ln>
        </p:spPr>
        <p:txBody>
          <a:bodyPr/>
          <a:lstStyle/>
          <a:p>
            <a:endParaRPr lang="en-US"/>
          </a:p>
        </p:txBody>
      </p:sp>
      <p:sp>
        <p:nvSpPr>
          <p:cNvPr id="16" name="line-418">
            <a:extLst>
              <a:ext uri="{FF2B5EF4-FFF2-40B4-BE49-F238E27FC236}">
                <a16:creationId xmlns:a16="http://schemas.microsoft.com/office/drawing/2014/main" id="{9164A8E2-4347-471D-8FF6-9A4C87B103F6}"/>
              </a:ext>
            </a:extLst>
          </p:cNvPr>
          <p:cNvSpPr>
            <a:spLocks noGrp="1"/>
          </p:cNvSpPr>
          <p:nvPr/>
        </p:nvSpPr>
        <p:spPr>
          <a:xfrm>
            <a:off x="6846570" y="3846195"/>
            <a:ext cx="754380" cy="9525"/>
          </a:xfrm>
          <a:custGeom>
            <a:avLst/>
            <a:gdLst/>
            <a:ahLst/>
            <a:cxnLst/>
            <a:rect l="0" t="0" r="0" b="0"/>
            <a:pathLst>
              <a:path w="754380" h="9525">
                <a:moveTo>
                  <a:pt x="0" y="0"/>
                </a:moveTo>
                <a:lnTo>
                  <a:pt x="754380" y="0"/>
                </a:lnTo>
              </a:path>
            </a:pathLst>
          </a:custGeom>
          <a:noFill/>
          <a:ln w="38100">
            <a:solidFill>
              <a:srgbClr val="111111"/>
            </a:solidFill>
          </a:ln>
        </p:spPr>
        <p:txBody>
          <a:bodyPr/>
          <a:lstStyle/>
          <a:p>
            <a:endParaRPr lang="en-US"/>
          </a:p>
        </p:txBody>
      </p:sp>
      <p:sp>
        <p:nvSpPr>
          <p:cNvPr id="17" name="diagram-419">
            <a:extLst>
              <a:ext uri="{FF2B5EF4-FFF2-40B4-BE49-F238E27FC236}">
                <a16:creationId xmlns:a16="http://schemas.microsoft.com/office/drawing/2014/main" id="{EC65BB41-2E34-4C42-B5B1-CF71AE635BF2}"/>
              </a:ext>
            </a:extLst>
          </p:cNvPr>
          <p:cNvSpPr>
            <a:spLocks noGrp="1"/>
          </p:cNvSpPr>
          <p:nvPr/>
        </p:nvSpPr>
        <p:spPr>
          <a:xfrm>
            <a:off x="6248400" y="3949065"/>
            <a:ext cx="195072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1</a:t>
            </a:r>
          </a:p>
        </p:txBody>
      </p:sp>
      <p:sp>
        <p:nvSpPr>
          <p:cNvPr id="18" name="diagram-420">
            <a:extLst>
              <a:ext uri="{FF2B5EF4-FFF2-40B4-BE49-F238E27FC236}">
                <a16:creationId xmlns:a16="http://schemas.microsoft.com/office/drawing/2014/main" id="{7469CC5F-E75C-435E-8052-9B5018B0810D}"/>
              </a:ext>
            </a:extLst>
          </p:cNvPr>
          <p:cNvSpPr>
            <a:spLocks noGrp="1"/>
          </p:cNvSpPr>
          <p:nvPr/>
        </p:nvSpPr>
        <p:spPr>
          <a:xfrm>
            <a:off x="10810875" y="3629025"/>
            <a:ext cx="307658" cy="566738"/>
          </a:xfrm>
          <a:prstGeom prst="roundRect">
            <a:avLst>
              <a:gd name="adj" fmla="val 24768"/>
            </a:avLst>
          </a:prstGeom>
          <a:solidFill>
            <a:srgbClr val="FFFFFF"/>
          </a:solidFill>
          <a:ln w="19050">
            <a:solidFill>
              <a:srgbClr val="111111"/>
            </a:solidFill>
          </a:ln>
        </p:spPr>
        <p:txBody>
          <a:bodyPr/>
          <a:lstStyle/>
          <a:p>
            <a:endParaRPr lang="en-US"/>
          </a:p>
        </p:txBody>
      </p:sp>
      <p:sp>
        <p:nvSpPr>
          <p:cNvPr id="19" name="diagram-421">
            <a:extLst>
              <a:ext uri="{FF2B5EF4-FFF2-40B4-BE49-F238E27FC236}">
                <a16:creationId xmlns:a16="http://schemas.microsoft.com/office/drawing/2014/main" id="{840D0C37-9BB9-4398-876F-5D9E3DFA0F4A}"/>
              </a:ext>
            </a:extLst>
          </p:cNvPr>
          <p:cNvSpPr>
            <a:spLocks noGrp="1"/>
          </p:cNvSpPr>
          <p:nvPr/>
        </p:nvSpPr>
        <p:spPr>
          <a:xfrm>
            <a:off x="10851356" y="3701891"/>
            <a:ext cx="226695" cy="404813"/>
          </a:xfrm>
          <a:prstGeom prst="rect">
            <a:avLst/>
          </a:prstGeom>
          <a:solidFill>
            <a:srgbClr val="F1F4F5"/>
          </a:solidFill>
          <a:ln w="9525">
            <a:solidFill>
              <a:srgbClr val="C9CDD0"/>
            </a:solidFill>
          </a:ln>
        </p:spPr>
        <p:txBody>
          <a:bodyPr/>
          <a:lstStyle/>
          <a:p>
            <a:endParaRPr lang="en-US"/>
          </a:p>
        </p:txBody>
      </p:sp>
      <p:sp>
        <p:nvSpPr>
          <p:cNvPr id="20" name="diagram-422">
            <a:extLst>
              <a:ext uri="{FF2B5EF4-FFF2-40B4-BE49-F238E27FC236}">
                <a16:creationId xmlns:a16="http://schemas.microsoft.com/office/drawing/2014/main" id="{83691751-FC5E-40D6-9C74-890994181A3F}"/>
              </a:ext>
            </a:extLst>
          </p:cNvPr>
          <p:cNvSpPr>
            <a:spLocks noGrp="1"/>
          </p:cNvSpPr>
          <p:nvPr/>
        </p:nvSpPr>
        <p:spPr>
          <a:xfrm>
            <a:off x="10940415" y="4122896"/>
            <a:ext cx="40481" cy="40481"/>
          </a:xfrm>
          <a:prstGeom prst="ellipse">
            <a:avLst/>
          </a:prstGeom>
          <a:solidFill>
            <a:srgbClr val="C9CDD0"/>
          </a:solidFill>
          <a:ln w="19050">
            <a:noFill/>
          </a:ln>
        </p:spPr>
        <p:txBody>
          <a:bodyPr/>
          <a:lstStyle/>
          <a:p>
            <a:endParaRPr lang="en-US"/>
          </a:p>
        </p:txBody>
      </p:sp>
      <p:sp>
        <p:nvSpPr>
          <p:cNvPr id="21" name="diagram-423">
            <a:extLst>
              <a:ext uri="{FF2B5EF4-FFF2-40B4-BE49-F238E27FC236}">
                <a16:creationId xmlns:a16="http://schemas.microsoft.com/office/drawing/2014/main" id="{5FBB4BBE-2BE7-48B9-86A0-45A00B268FB3}"/>
              </a:ext>
            </a:extLst>
          </p:cNvPr>
          <p:cNvSpPr>
            <a:spLocks noGrp="1"/>
          </p:cNvSpPr>
          <p:nvPr/>
        </p:nvSpPr>
        <p:spPr>
          <a:xfrm>
            <a:off x="10144125" y="4373880"/>
            <a:ext cx="1641158"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2</a:t>
            </a:r>
          </a:p>
        </p:txBody>
      </p:sp>
      <p:sp>
        <p:nvSpPr>
          <p:cNvPr id="22" name="diagram-424">
            <a:extLst>
              <a:ext uri="{FF2B5EF4-FFF2-40B4-BE49-F238E27FC236}">
                <a16:creationId xmlns:a16="http://schemas.microsoft.com/office/drawing/2014/main" id="{1580D0FC-954D-47C9-9B89-292C40D93A1A}"/>
              </a:ext>
            </a:extLst>
          </p:cNvPr>
          <p:cNvSpPr>
            <a:spLocks noGrp="1"/>
          </p:cNvSpPr>
          <p:nvPr/>
        </p:nvSpPr>
        <p:spPr>
          <a:xfrm>
            <a:off x="9382125" y="5267325"/>
            <a:ext cx="557213" cy="359093"/>
          </a:xfrm>
          <a:prstGeom prst="rect">
            <a:avLst/>
          </a:prstGeom>
          <a:solidFill>
            <a:srgbClr val="FFFFFF"/>
          </a:solidFill>
          <a:ln w="19050">
            <a:solidFill>
              <a:srgbClr val="111111"/>
            </a:solidFill>
          </a:ln>
        </p:spPr>
        <p:txBody>
          <a:bodyPr/>
          <a:lstStyle/>
          <a:p>
            <a:endParaRPr lang="en-US"/>
          </a:p>
        </p:txBody>
      </p:sp>
      <p:sp>
        <p:nvSpPr>
          <p:cNvPr id="23" name="diagram-425">
            <a:extLst>
              <a:ext uri="{FF2B5EF4-FFF2-40B4-BE49-F238E27FC236}">
                <a16:creationId xmlns:a16="http://schemas.microsoft.com/office/drawing/2014/main" id="{CE11A141-7D6B-4AEC-A8A7-448D9DC28F2C}"/>
              </a:ext>
            </a:extLst>
          </p:cNvPr>
          <p:cNvSpPr>
            <a:spLocks noGrp="1"/>
          </p:cNvSpPr>
          <p:nvPr/>
        </p:nvSpPr>
        <p:spPr>
          <a:xfrm>
            <a:off x="9413081" y="5298281"/>
            <a:ext cx="495300" cy="297180"/>
          </a:xfrm>
          <a:prstGeom prst="rect">
            <a:avLst/>
          </a:prstGeom>
          <a:solidFill>
            <a:srgbClr val="F1F4F5"/>
          </a:solidFill>
          <a:ln w="19050">
            <a:noFill/>
          </a:ln>
        </p:spPr>
        <p:txBody>
          <a:bodyPr/>
          <a:lstStyle/>
          <a:p>
            <a:endParaRPr lang="en-US"/>
          </a:p>
        </p:txBody>
      </p:sp>
      <p:sp>
        <p:nvSpPr>
          <p:cNvPr id="24" name="line-426">
            <a:extLst>
              <a:ext uri="{FF2B5EF4-FFF2-40B4-BE49-F238E27FC236}">
                <a16:creationId xmlns:a16="http://schemas.microsoft.com/office/drawing/2014/main" id="{C2790203-E93E-4ACF-824F-1CB8642168AE}"/>
              </a:ext>
            </a:extLst>
          </p:cNvPr>
          <p:cNvSpPr>
            <a:spLocks noGrp="1"/>
          </p:cNvSpPr>
          <p:nvPr/>
        </p:nvSpPr>
        <p:spPr>
          <a:xfrm>
            <a:off x="9660731" y="5626418"/>
            <a:ext cx="9525" cy="80486"/>
          </a:xfrm>
          <a:custGeom>
            <a:avLst/>
            <a:gdLst/>
            <a:ahLst/>
            <a:cxnLst/>
            <a:rect l="0" t="0" r="0" b="0"/>
            <a:pathLst>
              <a:path w="9525" h="80486">
                <a:moveTo>
                  <a:pt x="0" y="0"/>
                </a:moveTo>
                <a:lnTo>
                  <a:pt x="0" y="80486"/>
                </a:lnTo>
              </a:path>
            </a:pathLst>
          </a:custGeom>
          <a:noFill/>
          <a:ln w="19050">
            <a:solidFill>
              <a:srgbClr val="111111"/>
            </a:solidFill>
          </a:ln>
        </p:spPr>
        <p:txBody>
          <a:bodyPr/>
          <a:lstStyle/>
          <a:p>
            <a:endParaRPr lang="en-US"/>
          </a:p>
        </p:txBody>
      </p:sp>
      <p:sp>
        <p:nvSpPr>
          <p:cNvPr id="25" name="line-427">
            <a:extLst>
              <a:ext uri="{FF2B5EF4-FFF2-40B4-BE49-F238E27FC236}">
                <a16:creationId xmlns:a16="http://schemas.microsoft.com/office/drawing/2014/main" id="{84B9056A-0EB6-4053-8227-F75216031E6E}"/>
              </a:ext>
            </a:extLst>
          </p:cNvPr>
          <p:cNvSpPr>
            <a:spLocks noGrp="1"/>
          </p:cNvSpPr>
          <p:nvPr/>
        </p:nvSpPr>
        <p:spPr>
          <a:xfrm>
            <a:off x="9505950" y="5706904"/>
            <a:ext cx="309563" cy="9525"/>
          </a:xfrm>
          <a:custGeom>
            <a:avLst/>
            <a:gdLst/>
            <a:ahLst/>
            <a:cxnLst/>
            <a:rect l="0" t="0" r="0" b="0"/>
            <a:pathLst>
              <a:path w="309563" h="9525">
                <a:moveTo>
                  <a:pt x="0" y="0"/>
                </a:moveTo>
                <a:lnTo>
                  <a:pt x="309563" y="0"/>
                </a:lnTo>
              </a:path>
            </a:pathLst>
          </a:custGeom>
          <a:noFill/>
          <a:ln w="28575">
            <a:solidFill>
              <a:srgbClr val="111111"/>
            </a:solidFill>
          </a:ln>
        </p:spPr>
        <p:txBody>
          <a:bodyPr/>
          <a:lstStyle/>
          <a:p>
            <a:endParaRPr lang="en-US"/>
          </a:p>
        </p:txBody>
      </p:sp>
      <p:sp>
        <p:nvSpPr>
          <p:cNvPr id="26" name="diagram-428">
            <a:extLst>
              <a:ext uri="{FF2B5EF4-FFF2-40B4-BE49-F238E27FC236}">
                <a16:creationId xmlns:a16="http://schemas.microsoft.com/office/drawing/2014/main" id="{8255BC2A-460A-4B82-ABB7-1D74AB8AA449}"/>
              </a:ext>
            </a:extLst>
          </p:cNvPr>
          <p:cNvSpPr>
            <a:spLocks noGrp="1"/>
          </p:cNvSpPr>
          <p:nvPr/>
        </p:nvSpPr>
        <p:spPr>
          <a:xfrm>
            <a:off x="8715375" y="5762625"/>
            <a:ext cx="1890713"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3</a:t>
            </a:r>
          </a:p>
        </p:txBody>
      </p:sp>
      <p:sp>
        <p:nvSpPr>
          <p:cNvPr id="27" name="line-429">
            <a:extLst>
              <a:ext uri="{FF2B5EF4-FFF2-40B4-BE49-F238E27FC236}">
                <a16:creationId xmlns:a16="http://schemas.microsoft.com/office/drawing/2014/main" id="{8BDA2FFD-EE04-4175-AF63-B42915AA775F}"/>
              </a:ext>
            </a:extLst>
          </p:cNvPr>
          <p:cNvSpPr>
            <a:spLocks noGrp="1"/>
          </p:cNvSpPr>
          <p:nvPr/>
        </p:nvSpPr>
        <p:spPr>
          <a:xfrm>
            <a:off x="7524750" y="3981450"/>
            <a:ext cx="361950" cy="428625"/>
          </a:xfrm>
          <a:custGeom>
            <a:avLst/>
            <a:gdLst/>
            <a:ahLst/>
            <a:cxnLst/>
            <a:rect l="0" t="0" r="0" b="0"/>
            <a:pathLst>
              <a:path w="361950" h="428625">
                <a:moveTo>
                  <a:pt x="0" y="0"/>
                </a:moveTo>
                <a:lnTo>
                  <a:pt x="361950" y="428625"/>
                </a:lnTo>
              </a:path>
            </a:pathLst>
          </a:custGeom>
          <a:noFill/>
          <a:ln w="28575">
            <a:solidFill>
              <a:srgbClr val="17698C"/>
            </a:solidFill>
          </a:ln>
        </p:spPr>
        <p:txBody>
          <a:bodyPr/>
          <a:lstStyle/>
          <a:p>
            <a:endParaRPr lang="en-US"/>
          </a:p>
        </p:txBody>
      </p:sp>
      <p:sp>
        <p:nvSpPr>
          <p:cNvPr id="28" name="line-430">
            <a:extLst>
              <a:ext uri="{FF2B5EF4-FFF2-40B4-BE49-F238E27FC236}">
                <a16:creationId xmlns:a16="http://schemas.microsoft.com/office/drawing/2014/main" id="{AE61AC32-BDA6-4B33-A361-7E887AC02FB2}"/>
              </a:ext>
            </a:extLst>
          </p:cNvPr>
          <p:cNvSpPr>
            <a:spLocks noGrp="1"/>
          </p:cNvSpPr>
          <p:nvPr/>
        </p:nvSpPr>
        <p:spPr>
          <a:xfrm>
            <a:off x="7799710" y="4371276"/>
            <a:ext cx="86990" cy="38799"/>
          </a:xfrm>
          <a:custGeom>
            <a:avLst/>
            <a:gdLst/>
            <a:ahLst/>
            <a:cxnLst/>
            <a:rect l="0" t="0" r="0" b="0"/>
            <a:pathLst>
              <a:path w="86990" h="38799">
                <a:moveTo>
                  <a:pt x="86990" y="38799"/>
                </a:moveTo>
                <a:lnTo>
                  <a:pt x="0" y="0"/>
                </a:lnTo>
              </a:path>
            </a:pathLst>
          </a:custGeom>
          <a:noFill/>
          <a:ln w="28575">
            <a:solidFill>
              <a:srgbClr val="17698C"/>
            </a:solidFill>
          </a:ln>
        </p:spPr>
        <p:txBody>
          <a:bodyPr/>
          <a:lstStyle/>
          <a:p>
            <a:endParaRPr lang="en-US"/>
          </a:p>
        </p:txBody>
      </p:sp>
      <p:sp>
        <p:nvSpPr>
          <p:cNvPr id="29" name="line-431">
            <a:extLst>
              <a:ext uri="{FF2B5EF4-FFF2-40B4-BE49-F238E27FC236}">
                <a16:creationId xmlns:a16="http://schemas.microsoft.com/office/drawing/2014/main" id="{4F689AB5-AC4B-4EF0-9EF1-2C2B83403FC5}"/>
              </a:ext>
            </a:extLst>
          </p:cNvPr>
          <p:cNvSpPr>
            <a:spLocks noGrp="1"/>
          </p:cNvSpPr>
          <p:nvPr/>
        </p:nvSpPr>
        <p:spPr>
          <a:xfrm>
            <a:off x="7863019" y="4317816"/>
            <a:ext cx="23681" cy="92259"/>
          </a:xfrm>
          <a:custGeom>
            <a:avLst/>
            <a:gdLst/>
            <a:ahLst/>
            <a:cxnLst/>
            <a:rect l="0" t="0" r="0" b="0"/>
            <a:pathLst>
              <a:path w="23681" h="92259">
                <a:moveTo>
                  <a:pt x="23681" y="92259"/>
                </a:moveTo>
                <a:lnTo>
                  <a:pt x="0" y="0"/>
                </a:lnTo>
              </a:path>
            </a:pathLst>
          </a:custGeom>
          <a:noFill/>
          <a:ln w="28575">
            <a:solidFill>
              <a:srgbClr val="17698C"/>
            </a:solidFill>
          </a:ln>
        </p:spPr>
        <p:txBody>
          <a:bodyPr/>
          <a:lstStyle/>
          <a:p>
            <a:endParaRPr lang="en-US"/>
          </a:p>
        </p:txBody>
      </p:sp>
      <p:sp>
        <p:nvSpPr>
          <p:cNvPr id="30" name="line-432">
            <a:extLst>
              <a:ext uri="{FF2B5EF4-FFF2-40B4-BE49-F238E27FC236}">
                <a16:creationId xmlns:a16="http://schemas.microsoft.com/office/drawing/2014/main" id="{E2D1D6E7-EEA1-4300-BA7B-4CE324DAC130}"/>
              </a:ext>
            </a:extLst>
          </p:cNvPr>
          <p:cNvSpPr>
            <a:spLocks noGrp="1"/>
          </p:cNvSpPr>
          <p:nvPr/>
        </p:nvSpPr>
        <p:spPr>
          <a:xfrm>
            <a:off x="9020175" y="4124325"/>
            <a:ext cx="1657350" cy="466725"/>
          </a:xfrm>
          <a:custGeom>
            <a:avLst/>
            <a:gdLst/>
            <a:ahLst/>
            <a:cxnLst/>
            <a:rect l="0" t="0" r="0" b="0"/>
            <a:pathLst>
              <a:path w="1657350" h="466725">
                <a:moveTo>
                  <a:pt x="1657350" y="0"/>
                </a:moveTo>
                <a:lnTo>
                  <a:pt x="0" y="466725"/>
                </a:lnTo>
              </a:path>
            </a:pathLst>
          </a:custGeom>
          <a:noFill/>
          <a:ln w="23813">
            <a:solidFill>
              <a:srgbClr val="17698C"/>
            </a:solidFill>
          </a:ln>
        </p:spPr>
        <p:txBody>
          <a:bodyPr/>
          <a:lstStyle/>
          <a:p>
            <a:endParaRPr lang="en-US"/>
          </a:p>
        </p:txBody>
      </p:sp>
      <p:sp>
        <p:nvSpPr>
          <p:cNvPr id="31" name="line-433">
            <a:extLst>
              <a:ext uri="{FF2B5EF4-FFF2-40B4-BE49-F238E27FC236}">
                <a16:creationId xmlns:a16="http://schemas.microsoft.com/office/drawing/2014/main" id="{24D52C61-4441-4FBC-9B8F-7DF99FEF207C}"/>
              </a:ext>
            </a:extLst>
          </p:cNvPr>
          <p:cNvSpPr>
            <a:spLocks noGrp="1"/>
          </p:cNvSpPr>
          <p:nvPr/>
        </p:nvSpPr>
        <p:spPr>
          <a:xfrm>
            <a:off x="9020175" y="4527922"/>
            <a:ext cx="71326" cy="63128"/>
          </a:xfrm>
          <a:custGeom>
            <a:avLst/>
            <a:gdLst/>
            <a:ahLst/>
            <a:cxnLst/>
            <a:rect l="0" t="0" r="0" b="0"/>
            <a:pathLst>
              <a:path w="71326" h="63128">
                <a:moveTo>
                  <a:pt x="0" y="63128"/>
                </a:moveTo>
                <a:lnTo>
                  <a:pt x="71326" y="0"/>
                </a:lnTo>
              </a:path>
            </a:pathLst>
          </a:custGeom>
          <a:noFill/>
          <a:ln w="23813">
            <a:solidFill>
              <a:srgbClr val="17698C"/>
            </a:solidFill>
          </a:ln>
        </p:spPr>
        <p:txBody>
          <a:bodyPr/>
          <a:lstStyle/>
          <a:p>
            <a:endParaRPr lang="en-US"/>
          </a:p>
        </p:txBody>
      </p:sp>
      <p:sp>
        <p:nvSpPr>
          <p:cNvPr id="32" name="line-434">
            <a:extLst>
              <a:ext uri="{FF2B5EF4-FFF2-40B4-BE49-F238E27FC236}">
                <a16:creationId xmlns:a16="http://schemas.microsoft.com/office/drawing/2014/main" id="{2DF20AE5-1747-49F9-A7A4-364D44B4AA51}"/>
              </a:ext>
            </a:extLst>
          </p:cNvPr>
          <p:cNvSpPr>
            <a:spLocks noGrp="1"/>
          </p:cNvSpPr>
          <p:nvPr/>
        </p:nvSpPr>
        <p:spPr>
          <a:xfrm>
            <a:off x="9020175" y="4591050"/>
            <a:ext cx="93787" cy="16631"/>
          </a:xfrm>
          <a:custGeom>
            <a:avLst/>
            <a:gdLst/>
            <a:ahLst/>
            <a:cxnLst/>
            <a:rect l="0" t="0" r="0" b="0"/>
            <a:pathLst>
              <a:path w="93787" h="16631">
                <a:moveTo>
                  <a:pt x="0" y="0"/>
                </a:moveTo>
                <a:lnTo>
                  <a:pt x="93787" y="16631"/>
                </a:lnTo>
              </a:path>
            </a:pathLst>
          </a:custGeom>
          <a:noFill/>
          <a:ln w="23813">
            <a:solidFill>
              <a:srgbClr val="17698C"/>
            </a:solidFill>
          </a:ln>
        </p:spPr>
        <p:txBody>
          <a:bodyPr/>
          <a:lstStyle/>
          <a:p>
            <a:endParaRPr lang="en-US"/>
          </a:p>
        </p:txBody>
      </p:sp>
      <p:sp>
        <p:nvSpPr>
          <p:cNvPr id="33" name="line-435">
            <a:extLst>
              <a:ext uri="{FF2B5EF4-FFF2-40B4-BE49-F238E27FC236}">
                <a16:creationId xmlns:a16="http://schemas.microsoft.com/office/drawing/2014/main" id="{501EFF0D-BC05-40D4-B676-4F32DEFE8F45}"/>
              </a:ext>
            </a:extLst>
          </p:cNvPr>
          <p:cNvSpPr>
            <a:spLocks noGrp="1"/>
          </p:cNvSpPr>
          <p:nvPr/>
        </p:nvSpPr>
        <p:spPr>
          <a:xfrm>
            <a:off x="8943975" y="5114925"/>
            <a:ext cx="409575" cy="247650"/>
          </a:xfrm>
          <a:custGeom>
            <a:avLst/>
            <a:gdLst/>
            <a:ahLst/>
            <a:cxnLst/>
            <a:rect l="0" t="0" r="0" b="0"/>
            <a:pathLst>
              <a:path w="409575" h="247650">
                <a:moveTo>
                  <a:pt x="409575" y="247650"/>
                </a:moveTo>
                <a:lnTo>
                  <a:pt x="0" y="0"/>
                </a:lnTo>
              </a:path>
            </a:pathLst>
          </a:custGeom>
          <a:noFill/>
          <a:ln w="23813">
            <a:solidFill>
              <a:srgbClr val="17698C"/>
            </a:solidFill>
          </a:ln>
        </p:spPr>
        <p:txBody>
          <a:bodyPr/>
          <a:lstStyle/>
          <a:p>
            <a:endParaRPr lang="en-US"/>
          </a:p>
        </p:txBody>
      </p:sp>
      <p:sp>
        <p:nvSpPr>
          <p:cNvPr id="34" name="line-436">
            <a:extLst>
              <a:ext uri="{FF2B5EF4-FFF2-40B4-BE49-F238E27FC236}">
                <a16:creationId xmlns:a16="http://schemas.microsoft.com/office/drawing/2014/main" id="{6472AAFB-31C0-4D21-BCFA-143DBE1931F0}"/>
              </a:ext>
            </a:extLst>
          </p:cNvPr>
          <p:cNvSpPr>
            <a:spLocks noGrp="1"/>
          </p:cNvSpPr>
          <p:nvPr/>
        </p:nvSpPr>
        <p:spPr>
          <a:xfrm>
            <a:off x="8943975" y="5114925"/>
            <a:ext cx="94831" cy="9525"/>
          </a:xfrm>
          <a:custGeom>
            <a:avLst/>
            <a:gdLst/>
            <a:ahLst/>
            <a:cxnLst/>
            <a:rect l="0" t="0" r="0" b="0"/>
            <a:pathLst>
              <a:path w="94831" h="9525">
                <a:moveTo>
                  <a:pt x="0" y="0"/>
                </a:moveTo>
                <a:lnTo>
                  <a:pt x="94831" y="8924"/>
                </a:lnTo>
              </a:path>
            </a:pathLst>
          </a:custGeom>
          <a:noFill/>
          <a:ln w="23813">
            <a:solidFill>
              <a:srgbClr val="17698C"/>
            </a:solidFill>
          </a:ln>
        </p:spPr>
        <p:txBody>
          <a:bodyPr/>
          <a:lstStyle/>
          <a:p>
            <a:endParaRPr lang="en-US"/>
          </a:p>
        </p:txBody>
      </p:sp>
      <p:sp>
        <p:nvSpPr>
          <p:cNvPr id="35" name="line-437">
            <a:extLst>
              <a:ext uri="{FF2B5EF4-FFF2-40B4-BE49-F238E27FC236}">
                <a16:creationId xmlns:a16="http://schemas.microsoft.com/office/drawing/2014/main" id="{60AF31F5-8B2A-440D-A94C-FE79DFD79F67}"/>
              </a:ext>
            </a:extLst>
          </p:cNvPr>
          <p:cNvSpPr>
            <a:spLocks noGrp="1"/>
          </p:cNvSpPr>
          <p:nvPr/>
        </p:nvSpPr>
        <p:spPr>
          <a:xfrm>
            <a:off x="8943975" y="5114925"/>
            <a:ext cx="51957" cy="79831"/>
          </a:xfrm>
          <a:custGeom>
            <a:avLst/>
            <a:gdLst/>
            <a:ahLst/>
            <a:cxnLst/>
            <a:rect l="0" t="0" r="0" b="0"/>
            <a:pathLst>
              <a:path w="51957" h="79831">
                <a:moveTo>
                  <a:pt x="0" y="0"/>
                </a:moveTo>
                <a:lnTo>
                  <a:pt x="51957" y="79831"/>
                </a:lnTo>
              </a:path>
            </a:pathLst>
          </a:custGeom>
          <a:noFill/>
          <a:ln w="23813">
            <a:solidFill>
              <a:srgbClr val="17698C"/>
            </a:solidFill>
          </a:ln>
        </p:spPr>
        <p:txBody>
          <a:bodyPr/>
          <a:lstStyle/>
          <a:p>
            <a:endParaRPr lang="en-US"/>
          </a:p>
        </p:txBody>
      </p:sp>
      <p:sp>
        <p:nvSpPr>
          <p:cNvPr id="39" name="added-text-8">
            <a:extLst>
              <a:ext uri="{FF2B5EF4-FFF2-40B4-BE49-F238E27FC236}">
                <a16:creationId xmlns:a16="http://schemas.microsoft.com/office/drawing/2014/main" id="{4ADDD15B-FA32-494B-A0ED-2524430F3602}"/>
              </a:ext>
            </a:extLst>
          </p:cNvPr>
          <p:cNvSpPr>
            <a:spLocks noGrp="1"/>
          </p:cNvSpPr>
          <p:nvPr/>
        </p:nvSpPr>
        <p:spPr>
          <a:xfrm>
            <a:off x="933450" y="3152775"/>
            <a:ext cx="1028700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i: client index    ℓi: offered load    ai: airtime share    rmin: minimum rate</a:t>
            </a:r>
          </a:p>
        </p:txBody>
      </p:sp>
      <p:sp>
        <p:nvSpPr>
          <p:cNvPr id="40" name="added-text-95">
            <a:extLst>
              <a:ext uri="{FF2B5EF4-FFF2-40B4-BE49-F238E27FC236}">
                <a16:creationId xmlns:a16="http://schemas.microsoft.com/office/drawing/2014/main" id="{08979FC7-47ED-4ED9-8734-C671825381D3}"/>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24</a:t>
            </a:r>
          </a:p>
        </p:txBody>
      </p:sp>
    </p:spTree>
    <p:extLst>
      <p:ext uri="{BB962C8B-B14F-4D97-AF65-F5344CB8AC3E}">
        <p14:creationId xmlns:p14="http://schemas.microsoft.com/office/powerpoint/2010/main" val="2955090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dirty="0">
                <a:solidFill>
                  <a:srgbClr val="111111"/>
                </a:solidFill>
                <a:latin typeface="Aptos Display"/>
                <a:ea typeface="Aptos Display"/>
                <a:cs typeface="Aptos Display"/>
              </a:rPr>
              <a:t>II. 1-D: service priorities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43" name="Picture 42"/>
          <p:cNvPicPr>
            <a:picLocks noChangeAspect="1"/>
          </p:cNvPicPr>
          <p:nvPr/>
        </p:nvPicPr>
        <p:blipFill>
          <a:blip r:embed="rId3"/>
          <a:stretch/>
        </p:blipFill>
        <p:spPr>
          <a:xfrm>
            <a:off x="933450" y="1885950"/>
            <a:ext cx="3840476" cy="659958"/>
          </a:xfrm>
          <a:prstGeom prst="rect">
            <a:avLst/>
          </a:prstGeom>
        </p:spPr>
      </p:pic>
      <p:pic>
        <p:nvPicPr>
          <p:cNvPr id="44" name="Picture 43"/>
          <p:cNvPicPr>
            <a:picLocks noChangeAspect="1"/>
          </p:cNvPicPr>
          <p:nvPr/>
        </p:nvPicPr>
        <p:blipFill>
          <a:blip r:embed="rId4"/>
          <a:stretch/>
        </p:blipFill>
        <p:spPr>
          <a:xfrm>
            <a:off x="933450" y="2717358"/>
            <a:ext cx="4357310" cy="568518"/>
          </a:xfrm>
          <a:prstGeom prst="rect">
            <a:avLst/>
          </a:prstGeom>
        </p:spPr>
      </p:pic>
      <p:sp>
        <p:nvSpPr>
          <p:cNvPr id="6" name="diagram-438">
            <a:extLst>
              <a:ext uri="{FF2B5EF4-FFF2-40B4-BE49-F238E27FC236}">
                <a16:creationId xmlns:a16="http://schemas.microsoft.com/office/drawing/2014/main" id="{7E4ADCA2-7178-4872-910C-40AB26F51515}"/>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Policy supplies service weights, loads and flow-to-client mapping.</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Concave utility reduces the reward for improving already-fast services.</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Check critical rates and measured delay. Weights alone do not guarantee QoS.</a:t>
            </a:r>
          </a:p>
        </p:txBody>
      </p:sp>
      <p:sp>
        <p:nvSpPr>
          <p:cNvPr id="7" name="diagram-439">
            <a:extLst>
              <a:ext uri="{FF2B5EF4-FFF2-40B4-BE49-F238E27FC236}">
                <a16:creationId xmlns:a16="http://schemas.microsoft.com/office/drawing/2014/main" id="{D462B3EA-F317-4DF7-A39F-A6F5D5E5B93F}"/>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440">
            <a:extLst>
              <a:ext uri="{FF2B5EF4-FFF2-40B4-BE49-F238E27FC236}">
                <a16:creationId xmlns:a16="http://schemas.microsoft.com/office/drawing/2014/main" id="{BBF676C3-8D3C-4773-B724-5F9DAF768A85}"/>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441">
            <a:extLst>
              <a:ext uri="{FF2B5EF4-FFF2-40B4-BE49-F238E27FC236}">
                <a16:creationId xmlns:a16="http://schemas.microsoft.com/office/drawing/2014/main" id="{38D040C5-04E4-42EC-8BC5-49B34C2BFEAF}"/>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442">
            <a:extLst>
              <a:ext uri="{FF2B5EF4-FFF2-40B4-BE49-F238E27FC236}">
                <a16:creationId xmlns:a16="http://schemas.microsoft.com/office/drawing/2014/main" id="{126B7135-5FFB-472F-96EC-C633779B8343}"/>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443">
            <a:extLst>
              <a:ext uri="{FF2B5EF4-FFF2-40B4-BE49-F238E27FC236}">
                <a16:creationId xmlns:a16="http://schemas.microsoft.com/office/drawing/2014/main" id="{46EF3905-CBF8-4567-9A10-6B14A3031159}"/>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444">
            <a:extLst>
              <a:ext uri="{FF2B5EF4-FFF2-40B4-BE49-F238E27FC236}">
                <a16:creationId xmlns:a16="http://schemas.microsoft.com/office/drawing/2014/main" id="{89BB0D52-77EC-47EE-B9AA-BE847D230DB2}"/>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445">
            <a:extLst>
              <a:ext uri="{FF2B5EF4-FFF2-40B4-BE49-F238E27FC236}">
                <a16:creationId xmlns:a16="http://schemas.microsoft.com/office/drawing/2014/main" id="{14B3DE5E-8F10-4C61-9D32-FA26CD8A3DA7}"/>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446">
            <a:extLst>
              <a:ext uri="{FF2B5EF4-FFF2-40B4-BE49-F238E27FC236}">
                <a16:creationId xmlns:a16="http://schemas.microsoft.com/office/drawing/2014/main" id="{4BD2AF59-F2F0-4516-86F5-212A8D4E460E}"/>
              </a:ext>
            </a:extLst>
          </p:cNvPr>
          <p:cNvSpPr>
            <a:spLocks noGrp="1"/>
          </p:cNvSpPr>
          <p:nvPr/>
        </p:nvSpPr>
        <p:spPr>
          <a:xfrm>
            <a:off x="6915150" y="3400425"/>
            <a:ext cx="617220" cy="397764"/>
          </a:xfrm>
          <a:prstGeom prst="rect">
            <a:avLst/>
          </a:prstGeom>
          <a:solidFill>
            <a:srgbClr val="FFFFFF"/>
          </a:solidFill>
          <a:ln w="19050">
            <a:solidFill>
              <a:srgbClr val="111111"/>
            </a:solidFill>
          </a:ln>
        </p:spPr>
        <p:txBody>
          <a:bodyPr/>
          <a:lstStyle/>
          <a:p>
            <a:endParaRPr lang="en-US"/>
          </a:p>
        </p:txBody>
      </p:sp>
      <p:sp>
        <p:nvSpPr>
          <p:cNvPr id="15" name="diagram-447">
            <a:extLst>
              <a:ext uri="{FF2B5EF4-FFF2-40B4-BE49-F238E27FC236}">
                <a16:creationId xmlns:a16="http://schemas.microsoft.com/office/drawing/2014/main" id="{05111F60-363F-4407-B576-000ADC54F1A5}"/>
              </a:ext>
            </a:extLst>
          </p:cNvPr>
          <p:cNvSpPr>
            <a:spLocks noGrp="1"/>
          </p:cNvSpPr>
          <p:nvPr/>
        </p:nvSpPr>
        <p:spPr>
          <a:xfrm>
            <a:off x="6949440" y="3434715"/>
            <a:ext cx="548640" cy="329184"/>
          </a:xfrm>
          <a:prstGeom prst="rect">
            <a:avLst/>
          </a:prstGeom>
          <a:solidFill>
            <a:srgbClr val="F1F4F5"/>
          </a:solidFill>
          <a:ln w="19050">
            <a:noFill/>
          </a:ln>
        </p:spPr>
        <p:txBody>
          <a:bodyPr/>
          <a:lstStyle/>
          <a:p>
            <a:endParaRPr lang="en-US"/>
          </a:p>
        </p:txBody>
      </p:sp>
      <p:sp>
        <p:nvSpPr>
          <p:cNvPr id="16" name="line-448">
            <a:extLst>
              <a:ext uri="{FF2B5EF4-FFF2-40B4-BE49-F238E27FC236}">
                <a16:creationId xmlns:a16="http://schemas.microsoft.com/office/drawing/2014/main" id="{95163C03-8575-4356-8E88-0235F3782479}"/>
              </a:ext>
            </a:extLst>
          </p:cNvPr>
          <p:cNvSpPr>
            <a:spLocks noGrp="1"/>
          </p:cNvSpPr>
          <p:nvPr/>
        </p:nvSpPr>
        <p:spPr>
          <a:xfrm>
            <a:off x="6846570" y="3846195"/>
            <a:ext cx="754380" cy="9525"/>
          </a:xfrm>
          <a:custGeom>
            <a:avLst/>
            <a:gdLst/>
            <a:ahLst/>
            <a:cxnLst/>
            <a:rect l="0" t="0" r="0" b="0"/>
            <a:pathLst>
              <a:path w="754380" h="9525">
                <a:moveTo>
                  <a:pt x="0" y="0"/>
                </a:moveTo>
                <a:lnTo>
                  <a:pt x="754380" y="0"/>
                </a:lnTo>
              </a:path>
            </a:pathLst>
          </a:custGeom>
          <a:noFill/>
          <a:ln w="38100">
            <a:solidFill>
              <a:srgbClr val="111111"/>
            </a:solidFill>
          </a:ln>
        </p:spPr>
        <p:txBody>
          <a:bodyPr/>
          <a:lstStyle/>
          <a:p>
            <a:endParaRPr lang="en-US"/>
          </a:p>
        </p:txBody>
      </p:sp>
      <p:sp>
        <p:nvSpPr>
          <p:cNvPr id="17" name="diagram-449">
            <a:extLst>
              <a:ext uri="{FF2B5EF4-FFF2-40B4-BE49-F238E27FC236}">
                <a16:creationId xmlns:a16="http://schemas.microsoft.com/office/drawing/2014/main" id="{108C6E6E-0B25-45BE-B669-93E678C4BD91}"/>
              </a:ext>
            </a:extLst>
          </p:cNvPr>
          <p:cNvSpPr>
            <a:spLocks noGrp="1"/>
          </p:cNvSpPr>
          <p:nvPr/>
        </p:nvSpPr>
        <p:spPr>
          <a:xfrm>
            <a:off x="6248400" y="3949065"/>
            <a:ext cx="195072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Call / gaming</a:t>
            </a:r>
          </a:p>
        </p:txBody>
      </p:sp>
      <p:sp>
        <p:nvSpPr>
          <p:cNvPr id="18" name="diagram-450">
            <a:extLst>
              <a:ext uri="{FF2B5EF4-FFF2-40B4-BE49-F238E27FC236}">
                <a16:creationId xmlns:a16="http://schemas.microsoft.com/office/drawing/2014/main" id="{6356409E-2BFD-4130-9C8B-2D5056B99D73}"/>
              </a:ext>
            </a:extLst>
          </p:cNvPr>
          <p:cNvSpPr>
            <a:spLocks noGrp="1"/>
          </p:cNvSpPr>
          <p:nvPr/>
        </p:nvSpPr>
        <p:spPr>
          <a:xfrm>
            <a:off x="10810875" y="3629025"/>
            <a:ext cx="307658" cy="566738"/>
          </a:xfrm>
          <a:prstGeom prst="roundRect">
            <a:avLst>
              <a:gd name="adj" fmla="val 24768"/>
            </a:avLst>
          </a:prstGeom>
          <a:solidFill>
            <a:srgbClr val="FFFFFF"/>
          </a:solidFill>
          <a:ln w="19050">
            <a:solidFill>
              <a:srgbClr val="111111"/>
            </a:solidFill>
          </a:ln>
        </p:spPr>
        <p:txBody>
          <a:bodyPr/>
          <a:lstStyle/>
          <a:p>
            <a:endParaRPr lang="en-US"/>
          </a:p>
        </p:txBody>
      </p:sp>
      <p:sp>
        <p:nvSpPr>
          <p:cNvPr id="19" name="diagram-451">
            <a:extLst>
              <a:ext uri="{FF2B5EF4-FFF2-40B4-BE49-F238E27FC236}">
                <a16:creationId xmlns:a16="http://schemas.microsoft.com/office/drawing/2014/main" id="{5B11D74B-9D71-4A21-919A-12ED3F381C59}"/>
              </a:ext>
            </a:extLst>
          </p:cNvPr>
          <p:cNvSpPr>
            <a:spLocks noGrp="1"/>
          </p:cNvSpPr>
          <p:nvPr/>
        </p:nvSpPr>
        <p:spPr>
          <a:xfrm>
            <a:off x="10851356" y="3701891"/>
            <a:ext cx="226695" cy="404813"/>
          </a:xfrm>
          <a:prstGeom prst="rect">
            <a:avLst/>
          </a:prstGeom>
          <a:solidFill>
            <a:srgbClr val="F1F4F5"/>
          </a:solidFill>
          <a:ln w="9525">
            <a:solidFill>
              <a:srgbClr val="C9CDD0"/>
            </a:solidFill>
          </a:ln>
        </p:spPr>
        <p:txBody>
          <a:bodyPr/>
          <a:lstStyle/>
          <a:p>
            <a:endParaRPr lang="en-US"/>
          </a:p>
        </p:txBody>
      </p:sp>
      <p:sp>
        <p:nvSpPr>
          <p:cNvPr id="20" name="diagram-452">
            <a:extLst>
              <a:ext uri="{FF2B5EF4-FFF2-40B4-BE49-F238E27FC236}">
                <a16:creationId xmlns:a16="http://schemas.microsoft.com/office/drawing/2014/main" id="{54860D29-2C33-4FC9-A5D5-AC1D02D46D00}"/>
              </a:ext>
            </a:extLst>
          </p:cNvPr>
          <p:cNvSpPr>
            <a:spLocks noGrp="1"/>
          </p:cNvSpPr>
          <p:nvPr/>
        </p:nvSpPr>
        <p:spPr>
          <a:xfrm>
            <a:off x="10940415" y="4122896"/>
            <a:ext cx="40481" cy="40481"/>
          </a:xfrm>
          <a:prstGeom prst="ellipse">
            <a:avLst/>
          </a:prstGeom>
          <a:solidFill>
            <a:srgbClr val="C9CDD0"/>
          </a:solidFill>
          <a:ln w="19050">
            <a:noFill/>
          </a:ln>
        </p:spPr>
        <p:txBody>
          <a:bodyPr/>
          <a:lstStyle/>
          <a:p>
            <a:endParaRPr lang="en-US"/>
          </a:p>
        </p:txBody>
      </p:sp>
      <p:sp>
        <p:nvSpPr>
          <p:cNvPr id="21" name="diagram-453">
            <a:extLst>
              <a:ext uri="{FF2B5EF4-FFF2-40B4-BE49-F238E27FC236}">
                <a16:creationId xmlns:a16="http://schemas.microsoft.com/office/drawing/2014/main" id="{C4789672-93A1-45DF-A13D-4E7C9FE10641}"/>
              </a:ext>
            </a:extLst>
          </p:cNvPr>
          <p:cNvSpPr>
            <a:spLocks noGrp="1"/>
          </p:cNvSpPr>
          <p:nvPr/>
        </p:nvSpPr>
        <p:spPr>
          <a:xfrm>
            <a:off x="10144125" y="4373880"/>
            <a:ext cx="1641158"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Video call</a:t>
            </a:r>
          </a:p>
        </p:txBody>
      </p:sp>
      <p:sp>
        <p:nvSpPr>
          <p:cNvPr id="22" name="diagram-454">
            <a:extLst>
              <a:ext uri="{FF2B5EF4-FFF2-40B4-BE49-F238E27FC236}">
                <a16:creationId xmlns:a16="http://schemas.microsoft.com/office/drawing/2014/main" id="{DA813933-E93B-4E88-9E09-7268F1B97DC5}"/>
              </a:ext>
            </a:extLst>
          </p:cNvPr>
          <p:cNvSpPr>
            <a:spLocks noGrp="1"/>
          </p:cNvSpPr>
          <p:nvPr/>
        </p:nvSpPr>
        <p:spPr>
          <a:xfrm>
            <a:off x="9382125" y="5267325"/>
            <a:ext cx="557213" cy="359093"/>
          </a:xfrm>
          <a:prstGeom prst="rect">
            <a:avLst/>
          </a:prstGeom>
          <a:solidFill>
            <a:srgbClr val="FFFFFF"/>
          </a:solidFill>
          <a:ln w="19050">
            <a:solidFill>
              <a:srgbClr val="111111"/>
            </a:solidFill>
          </a:ln>
        </p:spPr>
        <p:txBody>
          <a:bodyPr/>
          <a:lstStyle/>
          <a:p>
            <a:endParaRPr lang="en-US"/>
          </a:p>
        </p:txBody>
      </p:sp>
      <p:sp>
        <p:nvSpPr>
          <p:cNvPr id="23" name="diagram-455">
            <a:extLst>
              <a:ext uri="{FF2B5EF4-FFF2-40B4-BE49-F238E27FC236}">
                <a16:creationId xmlns:a16="http://schemas.microsoft.com/office/drawing/2014/main" id="{9BF27D72-FF37-4119-B32D-F3FAFCB39B08}"/>
              </a:ext>
            </a:extLst>
          </p:cNvPr>
          <p:cNvSpPr>
            <a:spLocks noGrp="1"/>
          </p:cNvSpPr>
          <p:nvPr/>
        </p:nvSpPr>
        <p:spPr>
          <a:xfrm>
            <a:off x="9413081" y="5298281"/>
            <a:ext cx="495300" cy="297180"/>
          </a:xfrm>
          <a:prstGeom prst="rect">
            <a:avLst/>
          </a:prstGeom>
          <a:solidFill>
            <a:srgbClr val="F1F4F5"/>
          </a:solidFill>
          <a:ln w="19050">
            <a:noFill/>
          </a:ln>
        </p:spPr>
        <p:txBody>
          <a:bodyPr/>
          <a:lstStyle/>
          <a:p>
            <a:endParaRPr lang="en-US"/>
          </a:p>
        </p:txBody>
      </p:sp>
      <p:sp>
        <p:nvSpPr>
          <p:cNvPr id="24" name="line-456">
            <a:extLst>
              <a:ext uri="{FF2B5EF4-FFF2-40B4-BE49-F238E27FC236}">
                <a16:creationId xmlns:a16="http://schemas.microsoft.com/office/drawing/2014/main" id="{EFFC9622-4B2D-48CC-9733-310120566BC2}"/>
              </a:ext>
            </a:extLst>
          </p:cNvPr>
          <p:cNvSpPr>
            <a:spLocks noGrp="1"/>
          </p:cNvSpPr>
          <p:nvPr/>
        </p:nvSpPr>
        <p:spPr>
          <a:xfrm>
            <a:off x="9660731" y="5626418"/>
            <a:ext cx="9525" cy="80486"/>
          </a:xfrm>
          <a:custGeom>
            <a:avLst/>
            <a:gdLst/>
            <a:ahLst/>
            <a:cxnLst/>
            <a:rect l="0" t="0" r="0" b="0"/>
            <a:pathLst>
              <a:path w="9525" h="80486">
                <a:moveTo>
                  <a:pt x="0" y="0"/>
                </a:moveTo>
                <a:lnTo>
                  <a:pt x="0" y="80486"/>
                </a:lnTo>
              </a:path>
            </a:pathLst>
          </a:custGeom>
          <a:noFill/>
          <a:ln w="19050">
            <a:solidFill>
              <a:srgbClr val="111111"/>
            </a:solidFill>
          </a:ln>
        </p:spPr>
        <p:txBody>
          <a:bodyPr/>
          <a:lstStyle/>
          <a:p>
            <a:endParaRPr lang="en-US"/>
          </a:p>
        </p:txBody>
      </p:sp>
      <p:sp>
        <p:nvSpPr>
          <p:cNvPr id="25" name="line-457">
            <a:extLst>
              <a:ext uri="{FF2B5EF4-FFF2-40B4-BE49-F238E27FC236}">
                <a16:creationId xmlns:a16="http://schemas.microsoft.com/office/drawing/2014/main" id="{504B4E43-4794-4D36-AD35-39B977AB8174}"/>
              </a:ext>
            </a:extLst>
          </p:cNvPr>
          <p:cNvSpPr>
            <a:spLocks noGrp="1"/>
          </p:cNvSpPr>
          <p:nvPr/>
        </p:nvSpPr>
        <p:spPr>
          <a:xfrm>
            <a:off x="9505950" y="5706904"/>
            <a:ext cx="309563" cy="9525"/>
          </a:xfrm>
          <a:custGeom>
            <a:avLst/>
            <a:gdLst/>
            <a:ahLst/>
            <a:cxnLst/>
            <a:rect l="0" t="0" r="0" b="0"/>
            <a:pathLst>
              <a:path w="309563" h="9525">
                <a:moveTo>
                  <a:pt x="0" y="0"/>
                </a:moveTo>
                <a:lnTo>
                  <a:pt x="309563" y="0"/>
                </a:lnTo>
              </a:path>
            </a:pathLst>
          </a:custGeom>
          <a:noFill/>
          <a:ln w="28575">
            <a:solidFill>
              <a:srgbClr val="111111"/>
            </a:solidFill>
          </a:ln>
        </p:spPr>
        <p:txBody>
          <a:bodyPr/>
          <a:lstStyle/>
          <a:p>
            <a:endParaRPr lang="en-US"/>
          </a:p>
        </p:txBody>
      </p:sp>
      <p:sp>
        <p:nvSpPr>
          <p:cNvPr id="26" name="diagram-458">
            <a:extLst>
              <a:ext uri="{FF2B5EF4-FFF2-40B4-BE49-F238E27FC236}">
                <a16:creationId xmlns:a16="http://schemas.microsoft.com/office/drawing/2014/main" id="{1C0A0376-A298-475C-8C0B-517CCA72E83C}"/>
              </a:ext>
            </a:extLst>
          </p:cNvPr>
          <p:cNvSpPr>
            <a:spLocks noGrp="1"/>
          </p:cNvSpPr>
          <p:nvPr/>
        </p:nvSpPr>
        <p:spPr>
          <a:xfrm>
            <a:off x="8715375" y="5762625"/>
            <a:ext cx="1890713"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Streaming</a:t>
            </a:r>
          </a:p>
        </p:txBody>
      </p:sp>
      <p:sp>
        <p:nvSpPr>
          <p:cNvPr id="27" name="line-459">
            <a:extLst>
              <a:ext uri="{FF2B5EF4-FFF2-40B4-BE49-F238E27FC236}">
                <a16:creationId xmlns:a16="http://schemas.microsoft.com/office/drawing/2014/main" id="{E605ECAE-5933-4A2C-8033-7D4F193C0705}"/>
              </a:ext>
            </a:extLst>
          </p:cNvPr>
          <p:cNvSpPr>
            <a:spLocks noGrp="1"/>
          </p:cNvSpPr>
          <p:nvPr/>
        </p:nvSpPr>
        <p:spPr>
          <a:xfrm>
            <a:off x="7524750" y="3981450"/>
            <a:ext cx="361950" cy="428625"/>
          </a:xfrm>
          <a:custGeom>
            <a:avLst/>
            <a:gdLst/>
            <a:ahLst/>
            <a:cxnLst/>
            <a:rect l="0" t="0" r="0" b="0"/>
            <a:pathLst>
              <a:path w="361950" h="428625">
                <a:moveTo>
                  <a:pt x="0" y="0"/>
                </a:moveTo>
                <a:lnTo>
                  <a:pt x="361950" y="428625"/>
                </a:lnTo>
              </a:path>
            </a:pathLst>
          </a:custGeom>
          <a:noFill/>
          <a:ln w="28575">
            <a:solidFill>
              <a:srgbClr val="C76520"/>
            </a:solidFill>
          </a:ln>
        </p:spPr>
        <p:txBody>
          <a:bodyPr/>
          <a:lstStyle/>
          <a:p>
            <a:endParaRPr lang="en-US"/>
          </a:p>
        </p:txBody>
      </p:sp>
      <p:sp>
        <p:nvSpPr>
          <p:cNvPr id="28" name="line-460">
            <a:extLst>
              <a:ext uri="{FF2B5EF4-FFF2-40B4-BE49-F238E27FC236}">
                <a16:creationId xmlns:a16="http://schemas.microsoft.com/office/drawing/2014/main" id="{B819B9E6-8EAB-4FC4-9ACC-D58F04E57757}"/>
              </a:ext>
            </a:extLst>
          </p:cNvPr>
          <p:cNvSpPr>
            <a:spLocks noGrp="1"/>
          </p:cNvSpPr>
          <p:nvPr/>
        </p:nvSpPr>
        <p:spPr>
          <a:xfrm>
            <a:off x="7799710" y="4371276"/>
            <a:ext cx="86990" cy="38799"/>
          </a:xfrm>
          <a:custGeom>
            <a:avLst/>
            <a:gdLst/>
            <a:ahLst/>
            <a:cxnLst/>
            <a:rect l="0" t="0" r="0" b="0"/>
            <a:pathLst>
              <a:path w="86990" h="38799">
                <a:moveTo>
                  <a:pt x="86990" y="38799"/>
                </a:moveTo>
                <a:lnTo>
                  <a:pt x="0" y="0"/>
                </a:lnTo>
              </a:path>
            </a:pathLst>
          </a:custGeom>
          <a:noFill/>
          <a:ln w="28575">
            <a:solidFill>
              <a:srgbClr val="C76520"/>
            </a:solidFill>
          </a:ln>
        </p:spPr>
        <p:txBody>
          <a:bodyPr/>
          <a:lstStyle/>
          <a:p>
            <a:endParaRPr lang="en-US"/>
          </a:p>
        </p:txBody>
      </p:sp>
      <p:sp>
        <p:nvSpPr>
          <p:cNvPr id="29" name="line-461">
            <a:extLst>
              <a:ext uri="{FF2B5EF4-FFF2-40B4-BE49-F238E27FC236}">
                <a16:creationId xmlns:a16="http://schemas.microsoft.com/office/drawing/2014/main" id="{A5D07298-A7D4-426C-B523-5C29B92E7D5F}"/>
              </a:ext>
            </a:extLst>
          </p:cNvPr>
          <p:cNvSpPr>
            <a:spLocks noGrp="1"/>
          </p:cNvSpPr>
          <p:nvPr/>
        </p:nvSpPr>
        <p:spPr>
          <a:xfrm>
            <a:off x="7863019" y="4317816"/>
            <a:ext cx="23681" cy="92259"/>
          </a:xfrm>
          <a:custGeom>
            <a:avLst/>
            <a:gdLst/>
            <a:ahLst/>
            <a:cxnLst/>
            <a:rect l="0" t="0" r="0" b="0"/>
            <a:pathLst>
              <a:path w="23681" h="92259">
                <a:moveTo>
                  <a:pt x="23681" y="92259"/>
                </a:moveTo>
                <a:lnTo>
                  <a:pt x="0" y="0"/>
                </a:lnTo>
              </a:path>
            </a:pathLst>
          </a:custGeom>
          <a:noFill/>
          <a:ln w="28575">
            <a:solidFill>
              <a:srgbClr val="C76520"/>
            </a:solidFill>
          </a:ln>
        </p:spPr>
        <p:txBody>
          <a:bodyPr/>
          <a:lstStyle/>
          <a:p>
            <a:endParaRPr lang="en-US"/>
          </a:p>
        </p:txBody>
      </p:sp>
      <p:sp>
        <p:nvSpPr>
          <p:cNvPr id="30" name="line-462">
            <a:extLst>
              <a:ext uri="{FF2B5EF4-FFF2-40B4-BE49-F238E27FC236}">
                <a16:creationId xmlns:a16="http://schemas.microsoft.com/office/drawing/2014/main" id="{CC8ED6CE-9637-4F29-9EB4-0E50942C7712}"/>
              </a:ext>
            </a:extLst>
          </p:cNvPr>
          <p:cNvSpPr>
            <a:spLocks noGrp="1"/>
          </p:cNvSpPr>
          <p:nvPr/>
        </p:nvSpPr>
        <p:spPr>
          <a:xfrm>
            <a:off x="9020175" y="4124325"/>
            <a:ext cx="1657350" cy="466725"/>
          </a:xfrm>
          <a:custGeom>
            <a:avLst/>
            <a:gdLst/>
            <a:ahLst/>
            <a:cxnLst/>
            <a:rect l="0" t="0" r="0" b="0"/>
            <a:pathLst>
              <a:path w="1657350" h="466725">
                <a:moveTo>
                  <a:pt x="1657350" y="0"/>
                </a:moveTo>
                <a:lnTo>
                  <a:pt x="0" y="466725"/>
                </a:lnTo>
              </a:path>
            </a:pathLst>
          </a:custGeom>
          <a:noFill/>
          <a:ln w="23813">
            <a:solidFill>
              <a:srgbClr val="17698C"/>
            </a:solidFill>
          </a:ln>
        </p:spPr>
        <p:txBody>
          <a:bodyPr/>
          <a:lstStyle/>
          <a:p>
            <a:endParaRPr lang="en-US"/>
          </a:p>
        </p:txBody>
      </p:sp>
      <p:sp>
        <p:nvSpPr>
          <p:cNvPr id="31" name="line-463">
            <a:extLst>
              <a:ext uri="{FF2B5EF4-FFF2-40B4-BE49-F238E27FC236}">
                <a16:creationId xmlns:a16="http://schemas.microsoft.com/office/drawing/2014/main" id="{968B31BE-2D4E-4065-A4A5-720514900178}"/>
              </a:ext>
            </a:extLst>
          </p:cNvPr>
          <p:cNvSpPr>
            <a:spLocks noGrp="1"/>
          </p:cNvSpPr>
          <p:nvPr/>
        </p:nvSpPr>
        <p:spPr>
          <a:xfrm>
            <a:off x="9020175" y="4527922"/>
            <a:ext cx="71326" cy="63128"/>
          </a:xfrm>
          <a:custGeom>
            <a:avLst/>
            <a:gdLst/>
            <a:ahLst/>
            <a:cxnLst/>
            <a:rect l="0" t="0" r="0" b="0"/>
            <a:pathLst>
              <a:path w="71326" h="63128">
                <a:moveTo>
                  <a:pt x="0" y="63128"/>
                </a:moveTo>
                <a:lnTo>
                  <a:pt x="71326" y="0"/>
                </a:lnTo>
              </a:path>
            </a:pathLst>
          </a:custGeom>
          <a:noFill/>
          <a:ln w="23813">
            <a:solidFill>
              <a:srgbClr val="17698C"/>
            </a:solidFill>
          </a:ln>
        </p:spPr>
        <p:txBody>
          <a:bodyPr/>
          <a:lstStyle/>
          <a:p>
            <a:endParaRPr lang="en-US"/>
          </a:p>
        </p:txBody>
      </p:sp>
      <p:sp>
        <p:nvSpPr>
          <p:cNvPr id="32" name="line-464">
            <a:extLst>
              <a:ext uri="{FF2B5EF4-FFF2-40B4-BE49-F238E27FC236}">
                <a16:creationId xmlns:a16="http://schemas.microsoft.com/office/drawing/2014/main" id="{88E7B0B7-BA01-4E81-93BC-3A1FF5F6F7FA}"/>
              </a:ext>
            </a:extLst>
          </p:cNvPr>
          <p:cNvSpPr>
            <a:spLocks noGrp="1"/>
          </p:cNvSpPr>
          <p:nvPr/>
        </p:nvSpPr>
        <p:spPr>
          <a:xfrm>
            <a:off x="9020175" y="4591050"/>
            <a:ext cx="93787" cy="16631"/>
          </a:xfrm>
          <a:custGeom>
            <a:avLst/>
            <a:gdLst/>
            <a:ahLst/>
            <a:cxnLst/>
            <a:rect l="0" t="0" r="0" b="0"/>
            <a:pathLst>
              <a:path w="93787" h="16631">
                <a:moveTo>
                  <a:pt x="0" y="0"/>
                </a:moveTo>
                <a:lnTo>
                  <a:pt x="93787" y="16631"/>
                </a:lnTo>
              </a:path>
            </a:pathLst>
          </a:custGeom>
          <a:noFill/>
          <a:ln w="23813">
            <a:solidFill>
              <a:srgbClr val="17698C"/>
            </a:solidFill>
          </a:ln>
        </p:spPr>
        <p:txBody>
          <a:bodyPr/>
          <a:lstStyle/>
          <a:p>
            <a:endParaRPr lang="en-US"/>
          </a:p>
        </p:txBody>
      </p:sp>
      <p:sp>
        <p:nvSpPr>
          <p:cNvPr id="33" name="line-465">
            <a:extLst>
              <a:ext uri="{FF2B5EF4-FFF2-40B4-BE49-F238E27FC236}">
                <a16:creationId xmlns:a16="http://schemas.microsoft.com/office/drawing/2014/main" id="{F63D5258-EE3F-4405-B600-538BA186CFCC}"/>
              </a:ext>
            </a:extLst>
          </p:cNvPr>
          <p:cNvSpPr>
            <a:spLocks noGrp="1"/>
          </p:cNvSpPr>
          <p:nvPr/>
        </p:nvSpPr>
        <p:spPr>
          <a:xfrm>
            <a:off x="8943975" y="5114925"/>
            <a:ext cx="409575" cy="247650"/>
          </a:xfrm>
          <a:custGeom>
            <a:avLst/>
            <a:gdLst/>
            <a:ahLst/>
            <a:cxnLst/>
            <a:rect l="0" t="0" r="0" b="0"/>
            <a:pathLst>
              <a:path w="409575" h="247650">
                <a:moveTo>
                  <a:pt x="409575" y="247650"/>
                </a:moveTo>
                <a:lnTo>
                  <a:pt x="0" y="0"/>
                </a:lnTo>
              </a:path>
            </a:pathLst>
          </a:custGeom>
          <a:noFill/>
          <a:ln w="23813">
            <a:solidFill>
              <a:srgbClr val="17698C"/>
            </a:solidFill>
          </a:ln>
        </p:spPr>
        <p:txBody>
          <a:bodyPr/>
          <a:lstStyle/>
          <a:p>
            <a:endParaRPr lang="en-US"/>
          </a:p>
        </p:txBody>
      </p:sp>
      <p:sp>
        <p:nvSpPr>
          <p:cNvPr id="34" name="line-466">
            <a:extLst>
              <a:ext uri="{FF2B5EF4-FFF2-40B4-BE49-F238E27FC236}">
                <a16:creationId xmlns:a16="http://schemas.microsoft.com/office/drawing/2014/main" id="{404CA43E-6760-4AB1-9DBD-61D4045543C5}"/>
              </a:ext>
            </a:extLst>
          </p:cNvPr>
          <p:cNvSpPr>
            <a:spLocks noGrp="1"/>
          </p:cNvSpPr>
          <p:nvPr/>
        </p:nvSpPr>
        <p:spPr>
          <a:xfrm>
            <a:off x="8943975" y="5114925"/>
            <a:ext cx="94831" cy="9525"/>
          </a:xfrm>
          <a:custGeom>
            <a:avLst/>
            <a:gdLst/>
            <a:ahLst/>
            <a:cxnLst/>
            <a:rect l="0" t="0" r="0" b="0"/>
            <a:pathLst>
              <a:path w="94831" h="9525">
                <a:moveTo>
                  <a:pt x="0" y="0"/>
                </a:moveTo>
                <a:lnTo>
                  <a:pt x="94831" y="8924"/>
                </a:lnTo>
              </a:path>
            </a:pathLst>
          </a:custGeom>
          <a:noFill/>
          <a:ln w="23813">
            <a:solidFill>
              <a:srgbClr val="17698C"/>
            </a:solidFill>
          </a:ln>
        </p:spPr>
        <p:txBody>
          <a:bodyPr/>
          <a:lstStyle/>
          <a:p>
            <a:endParaRPr lang="en-US"/>
          </a:p>
        </p:txBody>
      </p:sp>
      <p:sp>
        <p:nvSpPr>
          <p:cNvPr id="35" name="line-467">
            <a:extLst>
              <a:ext uri="{FF2B5EF4-FFF2-40B4-BE49-F238E27FC236}">
                <a16:creationId xmlns:a16="http://schemas.microsoft.com/office/drawing/2014/main" id="{9FFD613D-868E-4535-9A42-8B6C91872E61}"/>
              </a:ext>
            </a:extLst>
          </p:cNvPr>
          <p:cNvSpPr>
            <a:spLocks noGrp="1"/>
          </p:cNvSpPr>
          <p:nvPr/>
        </p:nvSpPr>
        <p:spPr>
          <a:xfrm>
            <a:off x="8943975" y="5114925"/>
            <a:ext cx="51957" cy="79831"/>
          </a:xfrm>
          <a:custGeom>
            <a:avLst/>
            <a:gdLst/>
            <a:ahLst/>
            <a:cxnLst/>
            <a:rect l="0" t="0" r="0" b="0"/>
            <a:pathLst>
              <a:path w="51957" h="79831">
                <a:moveTo>
                  <a:pt x="0" y="0"/>
                </a:moveTo>
                <a:lnTo>
                  <a:pt x="51957" y="79831"/>
                </a:lnTo>
              </a:path>
            </a:pathLst>
          </a:custGeom>
          <a:noFill/>
          <a:ln w="23813">
            <a:solidFill>
              <a:srgbClr val="17698C"/>
            </a:solidFill>
          </a:ln>
        </p:spPr>
        <p:txBody>
          <a:bodyPr/>
          <a:lstStyle/>
          <a:p>
            <a:endParaRPr lang="en-US"/>
          </a:p>
        </p:txBody>
      </p:sp>
      <p:sp>
        <p:nvSpPr>
          <p:cNvPr id="39" name="added-text-9">
            <a:extLst>
              <a:ext uri="{FF2B5EF4-FFF2-40B4-BE49-F238E27FC236}">
                <a16:creationId xmlns:a16="http://schemas.microsoft.com/office/drawing/2014/main" id="{FA109D0E-0CEB-48ED-9D62-3BB6B960CDFF}"/>
              </a:ext>
            </a:extLst>
          </p:cNvPr>
          <p:cNvSpPr>
            <a:spLocks noGrp="1"/>
          </p:cNvSpPr>
          <p:nvPr/>
        </p:nvSpPr>
        <p:spPr>
          <a:xfrm>
            <a:off x="933450" y="3152775"/>
            <a:ext cx="1028700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f: service index    i(f): client carrying f    wf: weight    rref: reference rate</a:t>
            </a:r>
          </a:p>
        </p:txBody>
      </p:sp>
      <p:sp>
        <p:nvSpPr>
          <p:cNvPr id="40" name="added-text-96">
            <a:extLst>
              <a:ext uri="{FF2B5EF4-FFF2-40B4-BE49-F238E27FC236}">
                <a16:creationId xmlns:a16="http://schemas.microsoft.com/office/drawing/2014/main" id="{DD9BE27E-DB77-4899-8E89-CA38EA45FE9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25</a:t>
            </a:r>
          </a:p>
        </p:txBody>
      </p:sp>
      <p:sp>
        <p:nvSpPr>
          <p:cNvPr id="4" name="TextBox 3">
            <a:extLst>
              <a:ext uri="{FF2B5EF4-FFF2-40B4-BE49-F238E27FC236}">
                <a16:creationId xmlns:a16="http://schemas.microsoft.com/office/drawing/2014/main" id="{586F32C9-B017-4ACB-5983-7580A99AAE7E}"/>
              </a:ext>
            </a:extLst>
          </p:cNvPr>
          <p:cNvSpPr txBox="1"/>
          <p:nvPr/>
        </p:nvSpPr>
        <p:spPr>
          <a:xfrm>
            <a:off x="6556127" y="799212"/>
            <a:ext cx="5461495" cy="369332"/>
          </a:xfrm>
          <a:prstGeom prst="rect">
            <a:avLst/>
          </a:prstGeom>
          <a:noFill/>
        </p:spPr>
        <p:txBody>
          <a:bodyPr wrap="none" rtlCol="0">
            <a:spAutoFit/>
          </a:bodyPr>
          <a:lstStyle/>
          <a:p>
            <a:r>
              <a:rPr lang="en-US" dirty="0">
                <a:highlight>
                  <a:srgbClr val="FFFF00"/>
                </a:highlight>
              </a:rPr>
              <a:t>A</a:t>
            </a:r>
            <a:r>
              <a:rPr lang="en-US" altLang="zh-CN" dirty="0">
                <a:highlight>
                  <a:srgbClr val="FFFF00"/>
                </a:highlight>
              </a:rPr>
              <a:t>dd IOT Range– Coverage area other than Throughput</a:t>
            </a:r>
            <a:endParaRPr lang="en-US" dirty="0">
              <a:highlight>
                <a:srgbClr val="FFFF00"/>
              </a:highlight>
            </a:endParaRPr>
          </a:p>
        </p:txBody>
      </p:sp>
    </p:spTree>
    <p:extLst>
      <p:ext uri="{BB962C8B-B14F-4D97-AF65-F5344CB8AC3E}">
        <p14:creationId xmlns:p14="http://schemas.microsoft.com/office/powerpoint/2010/main" val="2955090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40">
            <a:extLst>
              <a:ext uri="{FF2B5EF4-FFF2-40B4-BE49-F238E27FC236}">
                <a16:creationId xmlns:a16="http://schemas.microsoft.com/office/drawing/2014/main" id="{BF761071-FD6D-4913-8CA5-A517CF9CD7E4}"/>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 Service-priority notation</a:t>
            </a:r>
          </a:p>
        </p:txBody>
      </p:sp>
      <p:graphicFrame>
        <p:nvGraphicFramePr>
          <p:cNvPr id="6" name="Table 5"/>
          <p:cNvGraphicFramePr/>
          <p:nvPr/>
        </p:nvGraphicFramePr>
        <p:xfrm>
          <a:off x="933450" y="1895475"/>
          <a:ext cx="10382250" cy="351282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f, i(f)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Logical service/flow index; client that carries that service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indices</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wf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Policy-defined relative priority weight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unitless; ≥ 0</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af, ℓf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Service airtime share and offered demand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[0,1]; bit/s</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Tf(q)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Delivered service rate sharing client i(f)’s channel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rfref, log(1 + Tf/rfref)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Positive reference rate; concave utility with diminishing returns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unitless utility</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rfmin, Fcritical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Required minimum service rate; set of active critical services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set</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Σf af ≤ 1</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All services together share the same data-time budget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unitless constraint</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J(q), constraints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Utility ranks candidates; explicit rate/delay checks impose feasibility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depends on chosen utility</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41">
            <a:extLst>
              <a:ext uri="{FF2B5EF4-FFF2-40B4-BE49-F238E27FC236}">
                <a16:creationId xmlns:a16="http://schemas.microsoft.com/office/drawing/2014/main" id="{32E31438-C891-4A35-9AFA-E191F0F84474}"/>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Client index i differs from service index f. Several services on one client share one spatial channel.</a:t>
            </a:r>
          </a:p>
        </p:txBody>
      </p:sp>
      <p:sp>
        <p:nvSpPr>
          <p:cNvPr id="4" name="added-text-97">
            <a:extLst>
              <a:ext uri="{FF2B5EF4-FFF2-40B4-BE49-F238E27FC236}">
                <a16:creationId xmlns:a16="http://schemas.microsoft.com/office/drawing/2014/main" id="{CB17D2D9-FDC9-41AB-AA4F-6ACED8832FA0}"/>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26</a:t>
            </a:r>
          </a:p>
        </p:txBody>
      </p:sp>
    </p:spTree>
    <p:extLst>
      <p:ext uri="{BB962C8B-B14F-4D97-AF65-F5344CB8AC3E}">
        <p14:creationId xmlns:p14="http://schemas.microsoft.com/office/powerpoint/2010/main" val="1361497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2-D: one source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56" name="Picture 55"/>
          <p:cNvPicPr>
            <a:picLocks noChangeAspect="1"/>
          </p:cNvPicPr>
          <p:nvPr/>
        </p:nvPicPr>
        <p:blipFill>
          <a:blip r:embed="rId3"/>
          <a:stretch/>
        </p:blipFill>
        <p:spPr>
          <a:xfrm>
            <a:off x="933450" y="1885950"/>
            <a:ext cx="3697353" cy="489005"/>
          </a:xfrm>
          <a:prstGeom prst="rect">
            <a:avLst/>
          </a:prstGeom>
        </p:spPr>
      </p:pic>
      <p:pic>
        <p:nvPicPr>
          <p:cNvPr id="57" name="Picture 56"/>
          <p:cNvPicPr>
            <a:picLocks noChangeAspect="1"/>
          </p:cNvPicPr>
          <p:nvPr/>
        </p:nvPicPr>
        <p:blipFill>
          <a:blip r:embed="rId4"/>
          <a:stretch/>
        </p:blipFill>
        <p:spPr>
          <a:xfrm>
            <a:off x="933450" y="2546405"/>
            <a:ext cx="3510497" cy="278295"/>
          </a:xfrm>
          <a:prstGeom prst="rect">
            <a:avLst/>
          </a:prstGeom>
        </p:spPr>
      </p:pic>
      <p:sp>
        <p:nvSpPr>
          <p:cNvPr id="6" name="diagram-468">
            <a:extLst>
              <a:ext uri="{FF2B5EF4-FFF2-40B4-BE49-F238E27FC236}">
                <a16:creationId xmlns:a16="http://schemas.microsoft.com/office/drawing/2014/main" id="{4C5647CB-58A5-43F3-A101-4FAC03E750DC}"/>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Search feasible pan–tilt pairs using the joint calibrated response.</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For a known dominant path, local active probes can reduce acquisition cost.</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Use wider scans when multipath, uncertainty or a distant mode defeats local search.</a:t>
            </a:r>
          </a:p>
        </p:txBody>
      </p:sp>
      <p:sp>
        <p:nvSpPr>
          <p:cNvPr id="7" name="diagram-469">
            <a:extLst>
              <a:ext uri="{FF2B5EF4-FFF2-40B4-BE49-F238E27FC236}">
                <a16:creationId xmlns:a16="http://schemas.microsoft.com/office/drawing/2014/main" id="{348FC26E-0C21-4A7E-A30C-1C62087DDF3C}"/>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470">
            <a:extLst>
              <a:ext uri="{FF2B5EF4-FFF2-40B4-BE49-F238E27FC236}">
                <a16:creationId xmlns:a16="http://schemas.microsoft.com/office/drawing/2014/main" id="{AC3F91A4-96C8-4A08-B6C6-F69E6F55ED22}"/>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471">
            <a:extLst>
              <a:ext uri="{FF2B5EF4-FFF2-40B4-BE49-F238E27FC236}">
                <a16:creationId xmlns:a16="http://schemas.microsoft.com/office/drawing/2014/main" id="{467CBC8C-FC21-4D93-897A-3B4286587B08}"/>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472">
            <a:extLst>
              <a:ext uri="{FF2B5EF4-FFF2-40B4-BE49-F238E27FC236}">
                <a16:creationId xmlns:a16="http://schemas.microsoft.com/office/drawing/2014/main" id="{41B72B98-BD12-4A7A-BA7C-DA876AB5C331}"/>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473">
            <a:extLst>
              <a:ext uri="{FF2B5EF4-FFF2-40B4-BE49-F238E27FC236}">
                <a16:creationId xmlns:a16="http://schemas.microsoft.com/office/drawing/2014/main" id="{AB17CD85-A7C9-47D6-A49D-EA4E6FB9295B}"/>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474">
            <a:extLst>
              <a:ext uri="{FF2B5EF4-FFF2-40B4-BE49-F238E27FC236}">
                <a16:creationId xmlns:a16="http://schemas.microsoft.com/office/drawing/2014/main" id="{C8CF2852-A341-48BC-934B-559F3CCAFD17}"/>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475">
            <a:extLst>
              <a:ext uri="{FF2B5EF4-FFF2-40B4-BE49-F238E27FC236}">
                <a16:creationId xmlns:a16="http://schemas.microsoft.com/office/drawing/2014/main" id="{0392ACC6-7C39-4D22-8D65-93FDCF760095}"/>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476">
            <a:extLst>
              <a:ext uri="{FF2B5EF4-FFF2-40B4-BE49-F238E27FC236}">
                <a16:creationId xmlns:a16="http://schemas.microsoft.com/office/drawing/2014/main" id="{18E683F3-658B-4D9B-B583-27D398724949}"/>
              </a:ext>
            </a:extLst>
          </p:cNvPr>
          <p:cNvSpPr>
            <a:spLocks noGrp="1"/>
          </p:cNvSpPr>
          <p:nvPr/>
        </p:nvSpPr>
        <p:spPr>
          <a:xfrm>
            <a:off x="10420350" y="3314700"/>
            <a:ext cx="361950" cy="666750"/>
          </a:xfrm>
          <a:prstGeom prst="roundRect">
            <a:avLst>
              <a:gd name="adj" fmla="val 21053"/>
            </a:avLst>
          </a:prstGeom>
          <a:solidFill>
            <a:srgbClr val="FFFFFF"/>
          </a:solidFill>
          <a:ln w="19050">
            <a:solidFill>
              <a:srgbClr val="111111"/>
            </a:solidFill>
          </a:ln>
        </p:spPr>
        <p:txBody>
          <a:bodyPr/>
          <a:lstStyle/>
          <a:p>
            <a:endParaRPr lang="en-US"/>
          </a:p>
        </p:txBody>
      </p:sp>
      <p:sp>
        <p:nvSpPr>
          <p:cNvPr id="15" name="diagram-477">
            <a:extLst>
              <a:ext uri="{FF2B5EF4-FFF2-40B4-BE49-F238E27FC236}">
                <a16:creationId xmlns:a16="http://schemas.microsoft.com/office/drawing/2014/main" id="{9D8F164D-5F7A-404D-A2C6-DA96D2DC5B54}"/>
              </a:ext>
            </a:extLst>
          </p:cNvPr>
          <p:cNvSpPr>
            <a:spLocks noGrp="1"/>
          </p:cNvSpPr>
          <p:nvPr/>
        </p:nvSpPr>
        <p:spPr>
          <a:xfrm>
            <a:off x="10467975" y="3400425"/>
            <a:ext cx="266700" cy="476250"/>
          </a:xfrm>
          <a:prstGeom prst="rect">
            <a:avLst/>
          </a:prstGeom>
          <a:solidFill>
            <a:srgbClr val="F1F4F5"/>
          </a:solidFill>
          <a:ln w="9525">
            <a:solidFill>
              <a:srgbClr val="C9CDD0"/>
            </a:solidFill>
          </a:ln>
        </p:spPr>
        <p:txBody>
          <a:bodyPr/>
          <a:lstStyle/>
          <a:p>
            <a:endParaRPr lang="en-US"/>
          </a:p>
        </p:txBody>
      </p:sp>
      <p:sp>
        <p:nvSpPr>
          <p:cNvPr id="16" name="diagram-478">
            <a:extLst>
              <a:ext uri="{FF2B5EF4-FFF2-40B4-BE49-F238E27FC236}">
                <a16:creationId xmlns:a16="http://schemas.microsoft.com/office/drawing/2014/main" id="{692B835E-FA13-4693-883F-FFA68CA89495}"/>
              </a:ext>
            </a:extLst>
          </p:cNvPr>
          <p:cNvSpPr>
            <a:spLocks noGrp="1"/>
          </p:cNvSpPr>
          <p:nvPr/>
        </p:nvSpPr>
        <p:spPr>
          <a:xfrm>
            <a:off x="10572750" y="3895725"/>
            <a:ext cx="47625" cy="47625"/>
          </a:xfrm>
          <a:prstGeom prst="ellipse">
            <a:avLst/>
          </a:prstGeom>
          <a:solidFill>
            <a:srgbClr val="C9CDD0"/>
          </a:solidFill>
          <a:ln w="19050">
            <a:noFill/>
          </a:ln>
        </p:spPr>
        <p:txBody>
          <a:bodyPr/>
          <a:lstStyle/>
          <a:p>
            <a:endParaRPr lang="en-US"/>
          </a:p>
        </p:txBody>
      </p:sp>
      <p:sp>
        <p:nvSpPr>
          <p:cNvPr id="17" name="diagram-479">
            <a:extLst>
              <a:ext uri="{FF2B5EF4-FFF2-40B4-BE49-F238E27FC236}">
                <a16:creationId xmlns:a16="http://schemas.microsoft.com/office/drawing/2014/main" id="{B75E39B2-B065-445C-9802-CFA3F5BF6658}"/>
              </a:ext>
            </a:extLst>
          </p:cNvPr>
          <p:cNvSpPr>
            <a:spLocks noGrp="1"/>
          </p:cNvSpPr>
          <p:nvPr/>
        </p:nvSpPr>
        <p:spPr>
          <a:xfrm>
            <a:off x="9753600" y="4191000"/>
            <a:ext cx="169545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Moving client</a:t>
            </a:r>
          </a:p>
        </p:txBody>
      </p:sp>
      <p:sp>
        <p:nvSpPr>
          <p:cNvPr id="18" name="line-480">
            <a:extLst>
              <a:ext uri="{FF2B5EF4-FFF2-40B4-BE49-F238E27FC236}">
                <a16:creationId xmlns:a16="http://schemas.microsoft.com/office/drawing/2014/main" id="{BFE82815-AEF5-4D15-9C87-8DDE42A63E47}"/>
              </a:ext>
            </a:extLst>
          </p:cNvPr>
          <p:cNvSpPr>
            <a:spLocks noGrp="1"/>
          </p:cNvSpPr>
          <p:nvPr/>
        </p:nvSpPr>
        <p:spPr>
          <a:xfrm>
            <a:off x="8943975" y="3838575"/>
            <a:ext cx="1362075" cy="619125"/>
          </a:xfrm>
          <a:custGeom>
            <a:avLst/>
            <a:gdLst/>
            <a:ahLst/>
            <a:cxnLst/>
            <a:rect l="0" t="0" r="0" b="0"/>
            <a:pathLst>
              <a:path w="1362075" h="619125">
                <a:moveTo>
                  <a:pt x="1362075" y="0"/>
                </a:moveTo>
                <a:lnTo>
                  <a:pt x="0" y="619125"/>
                </a:lnTo>
              </a:path>
            </a:pathLst>
          </a:custGeom>
          <a:noFill/>
          <a:ln w="23813">
            <a:solidFill>
              <a:srgbClr val="17698C"/>
            </a:solidFill>
          </a:ln>
        </p:spPr>
        <p:txBody>
          <a:bodyPr/>
          <a:lstStyle/>
          <a:p>
            <a:endParaRPr lang="en-US"/>
          </a:p>
        </p:txBody>
      </p:sp>
      <p:sp>
        <p:nvSpPr>
          <p:cNvPr id="19" name="line-481">
            <a:extLst>
              <a:ext uri="{FF2B5EF4-FFF2-40B4-BE49-F238E27FC236}">
                <a16:creationId xmlns:a16="http://schemas.microsoft.com/office/drawing/2014/main" id="{4242A812-7244-453C-9F55-B8B0661CD939}"/>
              </a:ext>
            </a:extLst>
          </p:cNvPr>
          <p:cNvSpPr>
            <a:spLocks noGrp="1"/>
          </p:cNvSpPr>
          <p:nvPr/>
        </p:nvSpPr>
        <p:spPr>
          <a:xfrm>
            <a:off x="8943975" y="4384492"/>
            <a:ext cx="60936" cy="73208"/>
          </a:xfrm>
          <a:custGeom>
            <a:avLst/>
            <a:gdLst/>
            <a:ahLst/>
            <a:cxnLst/>
            <a:rect l="0" t="0" r="0" b="0"/>
            <a:pathLst>
              <a:path w="60936" h="73208">
                <a:moveTo>
                  <a:pt x="0" y="73208"/>
                </a:moveTo>
                <a:lnTo>
                  <a:pt x="60936" y="0"/>
                </a:lnTo>
              </a:path>
            </a:pathLst>
          </a:custGeom>
          <a:noFill/>
          <a:ln w="23813">
            <a:solidFill>
              <a:srgbClr val="17698C"/>
            </a:solidFill>
          </a:ln>
        </p:spPr>
        <p:txBody>
          <a:bodyPr/>
          <a:lstStyle/>
          <a:p>
            <a:endParaRPr lang="en-US"/>
          </a:p>
        </p:txBody>
      </p:sp>
      <p:sp>
        <p:nvSpPr>
          <p:cNvPr id="20" name="line-482">
            <a:extLst>
              <a:ext uri="{FF2B5EF4-FFF2-40B4-BE49-F238E27FC236}">
                <a16:creationId xmlns:a16="http://schemas.microsoft.com/office/drawing/2014/main" id="{62AB2A4A-0A39-4E06-86FD-BC743D890310}"/>
              </a:ext>
            </a:extLst>
          </p:cNvPr>
          <p:cNvSpPr>
            <a:spLocks noGrp="1"/>
          </p:cNvSpPr>
          <p:nvPr/>
        </p:nvSpPr>
        <p:spPr>
          <a:xfrm>
            <a:off x="8943975" y="4457700"/>
            <a:ext cx="95224" cy="9525"/>
          </a:xfrm>
          <a:custGeom>
            <a:avLst/>
            <a:gdLst/>
            <a:ahLst/>
            <a:cxnLst/>
            <a:rect l="0" t="0" r="0" b="0"/>
            <a:pathLst>
              <a:path w="95224" h="9525">
                <a:moveTo>
                  <a:pt x="0" y="0"/>
                </a:moveTo>
                <a:lnTo>
                  <a:pt x="95224" y="2226"/>
                </a:lnTo>
              </a:path>
            </a:pathLst>
          </a:custGeom>
          <a:noFill/>
          <a:ln w="23813">
            <a:solidFill>
              <a:srgbClr val="17698C"/>
            </a:solidFill>
          </a:ln>
        </p:spPr>
        <p:txBody>
          <a:bodyPr/>
          <a:lstStyle/>
          <a:p>
            <a:endParaRPr lang="en-US"/>
          </a:p>
        </p:txBody>
      </p:sp>
      <p:sp>
        <p:nvSpPr>
          <p:cNvPr id="21" name="line-483">
            <a:extLst>
              <a:ext uri="{FF2B5EF4-FFF2-40B4-BE49-F238E27FC236}">
                <a16:creationId xmlns:a16="http://schemas.microsoft.com/office/drawing/2014/main" id="{0839D493-241E-47AE-99DF-3447781F2CED}"/>
              </a:ext>
            </a:extLst>
          </p:cNvPr>
          <p:cNvSpPr>
            <a:spLocks noGrp="1"/>
          </p:cNvSpPr>
          <p:nvPr/>
        </p:nvSpPr>
        <p:spPr>
          <a:xfrm>
            <a:off x="10906125" y="3619500"/>
            <a:ext cx="428625" cy="476250"/>
          </a:xfrm>
          <a:custGeom>
            <a:avLst/>
            <a:gdLst/>
            <a:ahLst/>
            <a:cxnLst/>
            <a:rect l="0" t="0" r="0" b="0"/>
            <a:pathLst>
              <a:path w="428625" h="476250">
                <a:moveTo>
                  <a:pt x="0" y="0"/>
                </a:moveTo>
                <a:lnTo>
                  <a:pt x="428625" y="476250"/>
                </a:lnTo>
              </a:path>
            </a:pathLst>
          </a:custGeom>
          <a:noFill/>
          <a:ln w="23813">
            <a:solidFill>
              <a:srgbClr val="C76520"/>
            </a:solidFill>
          </a:ln>
        </p:spPr>
        <p:txBody>
          <a:bodyPr/>
          <a:lstStyle/>
          <a:p>
            <a:endParaRPr lang="en-US"/>
          </a:p>
        </p:txBody>
      </p:sp>
      <p:sp>
        <p:nvSpPr>
          <p:cNvPr id="22" name="line-484">
            <a:extLst>
              <a:ext uri="{FF2B5EF4-FFF2-40B4-BE49-F238E27FC236}">
                <a16:creationId xmlns:a16="http://schemas.microsoft.com/office/drawing/2014/main" id="{8A2F3E2C-7CE4-4147-84E7-314BA70E5C32}"/>
              </a:ext>
            </a:extLst>
          </p:cNvPr>
          <p:cNvSpPr>
            <a:spLocks noGrp="1"/>
          </p:cNvSpPr>
          <p:nvPr/>
        </p:nvSpPr>
        <p:spPr>
          <a:xfrm>
            <a:off x="11246579" y="4059715"/>
            <a:ext cx="88171" cy="36035"/>
          </a:xfrm>
          <a:custGeom>
            <a:avLst/>
            <a:gdLst/>
            <a:ahLst/>
            <a:cxnLst/>
            <a:rect l="0" t="0" r="0" b="0"/>
            <a:pathLst>
              <a:path w="88171" h="36035">
                <a:moveTo>
                  <a:pt x="88171" y="36035"/>
                </a:moveTo>
                <a:lnTo>
                  <a:pt x="0" y="0"/>
                </a:lnTo>
              </a:path>
            </a:pathLst>
          </a:custGeom>
          <a:noFill/>
          <a:ln w="23813">
            <a:solidFill>
              <a:srgbClr val="C76520"/>
            </a:solidFill>
          </a:ln>
        </p:spPr>
        <p:txBody>
          <a:bodyPr/>
          <a:lstStyle/>
          <a:p>
            <a:endParaRPr lang="en-US"/>
          </a:p>
        </p:txBody>
      </p:sp>
      <p:sp>
        <p:nvSpPr>
          <p:cNvPr id="23" name="line-485">
            <a:extLst>
              <a:ext uri="{FF2B5EF4-FFF2-40B4-BE49-F238E27FC236}">
                <a16:creationId xmlns:a16="http://schemas.microsoft.com/office/drawing/2014/main" id="{68DFF1F3-7B4E-4114-AFE4-50B04FB50C6F}"/>
              </a:ext>
            </a:extLst>
          </p:cNvPr>
          <p:cNvSpPr>
            <a:spLocks noGrp="1"/>
          </p:cNvSpPr>
          <p:nvPr/>
        </p:nvSpPr>
        <p:spPr>
          <a:xfrm>
            <a:off x="11308170" y="4004284"/>
            <a:ext cx="26580" cy="91466"/>
          </a:xfrm>
          <a:custGeom>
            <a:avLst/>
            <a:gdLst/>
            <a:ahLst/>
            <a:cxnLst/>
            <a:rect l="0" t="0" r="0" b="0"/>
            <a:pathLst>
              <a:path w="26580" h="91466">
                <a:moveTo>
                  <a:pt x="26580" y="91466"/>
                </a:moveTo>
                <a:lnTo>
                  <a:pt x="0" y="0"/>
                </a:lnTo>
              </a:path>
            </a:pathLst>
          </a:custGeom>
          <a:noFill/>
          <a:ln w="23813">
            <a:solidFill>
              <a:srgbClr val="C76520"/>
            </a:solidFill>
          </a:ln>
        </p:spPr>
        <p:txBody>
          <a:bodyPr/>
          <a:lstStyle/>
          <a:p>
            <a:endParaRPr lang="en-US"/>
          </a:p>
        </p:txBody>
      </p:sp>
      <p:sp>
        <p:nvSpPr>
          <p:cNvPr id="24" name="line-486">
            <a:extLst>
              <a:ext uri="{FF2B5EF4-FFF2-40B4-BE49-F238E27FC236}">
                <a16:creationId xmlns:a16="http://schemas.microsoft.com/office/drawing/2014/main" id="{019A20C8-28E6-49A6-91D4-4F4A3AE89DAC}"/>
              </a:ext>
            </a:extLst>
          </p:cNvPr>
          <p:cNvSpPr>
            <a:spLocks noGrp="1"/>
          </p:cNvSpPr>
          <p:nvPr/>
        </p:nvSpPr>
        <p:spPr>
          <a:xfrm>
            <a:off x="7715215" y="4205837"/>
            <a:ext cx="27011" cy="51385"/>
          </a:xfrm>
          <a:custGeom>
            <a:avLst/>
            <a:gdLst/>
            <a:ahLst/>
            <a:cxnLst/>
            <a:rect l="0" t="0" r="0" b="0"/>
            <a:pathLst>
              <a:path w="27011" h="51385">
                <a:moveTo>
                  <a:pt x="0" y="51385"/>
                </a:moveTo>
                <a:lnTo>
                  <a:pt x="27011" y="0"/>
                </a:lnTo>
              </a:path>
            </a:pathLst>
          </a:custGeom>
          <a:noFill/>
          <a:ln w="19050">
            <a:solidFill>
              <a:srgbClr val="C76520"/>
            </a:solidFill>
          </a:ln>
        </p:spPr>
        <p:txBody>
          <a:bodyPr/>
          <a:lstStyle/>
          <a:p>
            <a:endParaRPr lang="en-US"/>
          </a:p>
        </p:txBody>
      </p:sp>
      <p:sp>
        <p:nvSpPr>
          <p:cNvPr id="25" name="line-487">
            <a:extLst>
              <a:ext uri="{FF2B5EF4-FFF2-40B4-BE49-F238E27FC236}">
                <a16:creationId xmlns:a16="http://schemas.microsoft.com/office/drawing/2014/main" id="{35D3208C-4123-49FB-ABB4-E234347E25A0}"/>
              </a:ext>
            </a:extLst>
          </p:cNvPr>
          <p:cNvSpPr>
            <a:spLocks noGrp="1"/>
          </p:cNvSpPr>
          <p:nvPr/>
        </p:nvSpPr>
        <p:spPr>
          <a:xfrm>
            <a:off x="7742226" y="4157254"/>
            <a:ext cx="31777" cy="48583"/>
          </a:xfrm>
          <a:custGeom>
            <a:avLst/>
            <a:gdLst/>
            <a:ahLst/>
            <a:cxnLst/>
            <a:rect l="0" t="0" r="0" b="0"/>
            <a:pathLst>
              <a:path w="31777" h="48583">
                <a:moveTo>
                  <a:pt x="0" y="48583"/>
                </a:moveTo>
                <a:lnTo>
                  <a:pt x="31777" y="0"/>
                </a:lnTo>
              </a:path>
            </a:pathLst>
          </a:custGeom>
          <a:noFill/>
          <a:ln w="19050">
            <a:solidFill>
              <a:srgbClr val="C76520"/>
            </a:solidFill>
          </a:ln>
        </p:spPr>
        <p:txBody>
          <a:bodyPr/>
          <a:lstStyle/>
          <a:p>
            <a:endParaRPr lang="en-US"/>
          </a:p>
        </p:txBody>
      </p:sp>
      <p:sp>
        <p:nvSpPr>
          <p:cNvPr id="26" name="line-488">
            <a:extLst>
              <a:ext uri="{FF2B5EF4-FFF2-40B4-BE49-F238E27FC236}">
                <a16:creationId xmlns:a16="http://schemas.microsoft.com/office/drawing/2014/main" id="{7AEAF269-C42E-4F60-BA1A-20AEB35369B1}"/>
              </a:ext>
            </a:extLst>
          </p:cNvPr>
          <p:cNvSpPr>
            <a:spLocks noGrp="1"/>
          </p:cNvSpPr>
          <p:nvPr/>
        </p:nvSpPr>
        <p:spPr>
          <a:xfrm>
            <a:off x="7774003" y="4111914"/>
            <a:ext cx="36254" cy="45340"/>
          </a:xfrm>
          <a:custGeom>
            <a:avLst/>
            <a:gdLst/>
            <a:ahLst/>
            <a:cxnLst/>
            <a:rect l="0" t="0" r="0" b="0"/>
            <a:pathLst>
              <a:path w="36254" h="45340">
                <a:moveTo>
                  <a:pt x="0" y="45340"/>
                </a:moveTo>
                <a:lnTo>
                  <a:pt x="36254" y="0"/>
                </a:lnTo>
              </a:path>
            </a:pathLst>
          </a:custGeom>
          <a:noFill/>
          <a:ln w="19050">
            <a:solidFill>
              <a:srgbClr val="C76520"/>
            </a:solidFill>
          </a:ln>
        </p:spPr>
        <p:txBody>
          <a:bodyPr/>
          <a:lstStyle/>
          <a:p>
            <a:endParaRPr lang="en-US"/>
          </a:p>
        </p:txBody>
      </p:sp>
      <p:sp>
        <p:nvSpPr>
          <p:cNvPr id="27" name="line-489">
            <a:extLst>
              <a:ext uri="{FF2B5EF4-FFF2-40B4-BE49-F238E27FC236}">
                <a16:creationId xmlns:a16="http://schemas.microsoft.com/office/drawing/2014/main" id="{529D5E50-910D-408C-9387-7A221746195D}"/>
              </a:ext>
            </a:extLst>
          </p:cNvPr>
          <p:cNvSpPr>
            <a:spLocks noGrp="1"/>
          </p:cNvSpPr>
          <p:nvPr/>
        </p:nvSpPr>
        <p:spPr>
          <a:xfrm>
            <a:off x="7810256" y="4070228"/>
            <a:ext cx="40402" cy="41686"/>
          </a:xfrm>
          <a:custGeom>
            <a:avLst/>
            <a:gdLst/>
            <a:ahLst/>
            <a:cxnLst/>
            <a:rect l="0" t="0" r="0" b="0"/>
            <a:pathLst>
              <a:path w="40402" h="41686">
                <a:moveTo>
                  <a:pt x="0" y="41686"/>
                </a:moveTo>
                <a:lnTo>
                  <a:pt x="40402" y="0"/>
                </a:lnTo>
              </a:path>
            </a:pathLst>
          </a:custGeom>
          <a:noFill/>
          <a:ln w="19050">
            <a:solidFill>
              <a:srgbClr val="C76520"/>
            </a:solidFill>
          </a:ln>
        </p:spPr>
        <p:txBody>
          <a:bodyPr/>
          <a:lstStyle/>
          <a:p>
            <a:endParaRPr lang="en-US"/>
          </a:p>
        </p:txBody>
      </p:sp>
      <p:sp>
        <p:nvSpPr>
          <p:cNvPr id="28" name="line-490">
            <a:extLst>
              <a:ext uri="{FF2B5EF4-FFF2-40B4-BE49-F238E27FC236}">
                <a16:creationId xmlns:a16="http://schemas.microsoft.com/office/drawing/2014/main" id="{78908B8B-114C-472B-B9AC-D39B0548E572}"/>
              </a:ext>
            </a:extLst>
          </p:cNvPr>
          <p:cNvSpPr>
            <a:spLocks noGrp="1"/>
          </p:cNvSpPr>
          <p:nvPr/>
        </p:nvSpPr>
        <p:spPr>
          <a:xfrm>
            <a:off x="7850659" y="4032574"/>
            <a:ext cx="44184" cy="37654"/>
          </a:xfrm>
          <a:custGeom>
            <a:avLst/>
            <a:gdLst/>
            <a:ahLst/>
            <a:cxnLst/>
            <a:rect l="0" t="0" r="0" b="0"/>
            <a:pathLst>
              <a:path w="44184" h="37654">
                <a:moveTo>
                  <a:pt x="0" y="37654"/>
                </a:moveTo>
                <a:lnTo>
                  <a:pt x="44184" y="0"/>
                </a:lnTo>
              </a:path>
            </a:pathLst>
          </a:custGeom>
          <a:noFill/>
          <a:ln w="19050">
            <a:solidFill>
              <a:srgbClr val="C76520"/>
            </a:solidFill>
          </a:ln>
        </p:spPr>
        <p:txBody>
          <a:bodyPr/>
          <a:lstStyle/>
          <a:p>
            <a:endParaRPr lang="en-US"/>
          </a:p>
        </p:txBody>
      </p:sp>
      <p:sp>
        <p:nvSpPr>
          <p:cNvPr id="29" name="line-491">
            <a:extLst>
              <a:ext uri="{FF2B5EF4-FFF2-40B4-BE49-F238E27FC236}">
                <a16:creationId xmlns:a16="http://schemas.microsoft.com/office/drawing/2014/main" id="{0650180A-CCE4-4A58-A898-E77A4B791C80}"/>
              </a:ext>
            </a:extLst>
          </p:cNvPr>
          <p:cNvSpPr>
            <a:spLocks noGrp="1"/>
          </p:cNvSpPr>
          <p:nvPr/>
        </p:nvSpPr>
        <p:spPr>
          <a:xfrm>
            <a:off x="7894843" y="3999294"/>
            <a:ext cx="47566" cy="33280"/>
          </a:xfrm>
          <a:custGeom>
            <a:avLst/>
            <a:gdLst/>
            <a:ahLst/>
            <a:cxnLst/>
            <a:rect l="0" t="0" r="0" b="0"/>
            <a:pathLst>
              <a:path w="47566" h="33280">
                <a:moveTo>
                  <a:pt x="0" y="33280"/>
                </a:moveTo>
                <a:lnTo>
                  <a:pt x="47566" y="0"/>
                </a:lnTo>
              </a:path>
            </a:pathLst>
          </a:custGeom>
          <a:noFill/>
          <a:ln w="19050">
            <a:solidFill>
              <a:srgbClr val="C76520"/>
            </a:solidFill>
          </a:ln>
        </p:spPr>
        <p:txBody>
          <a:bodyPr/>
          <a:lstStyle/>
          <a:p>
            <a:endParaRPr lang="en-US"/>
          </a:p>
        </p:txBody>
      </p:sp>
      <p:sp>
        <p:nvSpPr>
          <p:cNvPr id="30" name="line-492">
            <a:extLst>
              <a:ext uri="{FF2B5EF4-FFF2-40B4-BE49-F238E27FC236}">
                <a16:creationId xmlns:a16="http://schemas.microsoft.com/office/drawing/2014/main" id="{48561107-24A8-49CD-A3C0-3E3E2A224494}"/>
              </a:ext>
            </a:extLst>
          </p:cNvPr>
          <p:cNvSpPr>
            <a:spLocks noGrp="1"/>
          </p:cNvSpPr>
          <p:nvPr/>
        </p:nvSpPr>
        <p:spPr>
          <a:xfrm>
            <a:off x="7942409" y="3970690"/>
            <a:ext cx="50516" cy="28605"/>
          </a:xfrm>
          <a:custGeom>
            <a:avLst/>
            <a:gdLst/>
            <a:ahLst/>
            <a:cxnLst/>
            <a:rect l="0" t="0" r="0" b="0"/>
            <a:pathLst>
              <a:path w="50516" h="28605">
                <a:moveTo>
                  <a:pt x="0" y="28605"/>
                </a:moveTo>
                <a:lnTo>
                  <a:pt x="50516" y="0"/>
                </a:lnTo>
              </a:path>
            </a:pathLst>
          </a:custGeom>
          <a:noFill/>
          <a:ln w="19050">
            <a:solidFill>
              <a:srgbClr val="C76520"/>
            </a:solidFill>
          </a:ln>
        </p:spPr>
        <p:txBody>
          <a:bodyPr/>
          <a:lstStyle/>
          <a:p>
            <a:endParaRPr lang="en-US"/>
          </a:p>
        </p:txBody>
      </p:sp>
      <p:sp>
        <p:nvSpPr>
          <p:cNvPr id="31" name="line-493">
            <a:extLst>
              <a:ext uri="{FF2B5EF4-FFF2-40B4-BE49-F238E27FC236}">
                <a16:creationId xmlns:a16="http://schemas.microsoft.com/office/drawing/2014/main" id="{57513C81-E70A-43B9-A7ED-BA28B3E49EFD}"/>
              </a:ext>
            </a:extLst>
          </p:cNvPr>
          <p:cNvSpPr>
            <a:spLocks noGrp="1"/>
          </p:cNvSpPr>
          <p:nvPr/>
        </p:nvSpPr>
        <p:spPr>
          <a:xfrm>
            <a:off x="7992924" y="3947020"/>
            <a:ext cx="53007" cy="23670"/>
          </a:xfrm>
          <a:custGeom>
            <a:avLst/>
            <a:gdLst/>
            <a:ahLst/>
            <a:cxnLst/>
            <a:rect l="0" t="0" r="0" b="0"/>
            <a:pathLst>
              <a:path w="53007" h="23670">
                <a:moveTo>
                  <a:pt x="0" y="23670"/>
                </a:moveTo>
                <a:lnTo>
                  <a:pt x="53007" y="0"/>
                </a:lnTo>
              </a:path>
            </a:pathLst>
          </a:custGeom>
          <a:noFill/>
          <a:ln w="19050">
            <a:solidFill>
              <a:srgbClr val="C76520"/>
            </a:solidFill>
          </a:ln>
        </p:spPr>
        <p:txBody>
          <a:bodyPr/>
          <a:lstStyle/>
          <a:p>
            <a:endParaRPr lang="en-US"/>
          </a:p>
        </p:txBody>
      </p:sp>
      <p:sp>
        <p:nvSpPr>
          <p:cNvPr id="32" name="line-494">
            <a:extLst>
              <a:ext uri="{FF2B5EF4-FFF2-40B4-BE49-F238E27FC236}">
                <a16:creationId xmlns:a16="http://schemas.microsoft.com/office/drawing/2014/main" id="{EAA53C44-F650-41C8-97FE-F061E83E11CE}"/>
              </a:ext>
            </a:extLst>
          </p:cNvPr>
          <p:cNvSpPr>
            <a:spLocks noGrp="1"/>
          </p:cNvSpPr>
          <p:nvPr/>
        </p:nvSpPr>
        <p:spPr>
          <a:xfrm>
            <a:off x="8045932" y="3928500"/>
            <a:ext cx="55019" cy="18520"/>
          </a:xfrm>
          <a:custGeom>
            <a:avLst/>
            <a:gdLst/>
            <a:ahLst/>
            <a:cxnLst/>
            <a:rect l="0" t="0" r="0" b="0"/>
            <a:pathLst>
              <a:path w="55019" h="18520">
                <a:moveTo>
                  <a:pt x="0" y="18520"/>
                </a:moveTo>
                <a:lnTo>
                  <a:pt x="55019" y="0"/>
                </a:lnTo>
              </a:path>
            </a:pathLst>
          </a:custGeom>
          <a:noFill/>
          <a:ln w="19050">
            <a:solidFill>
              <a:srgbClr val="C76520"/>
            </a:solidFill>
          </a:ln>
        </p:spPr>
        <p:txBody>
          <a:bodyPr/>
          <a:lstStyle/>
          <a:p>
            <a:endParaRPr lang="en-US"/>
          </a:p>
        </p:txBody>
      </p:sp>
      <p:sp>
        <p:nvSpPr>
          <p:cNvPr id="33" name="line-495">
            <a:extLst>
              <a:ext uri="{FF2B5EF4-FFF2-40B4-BE49-F238E27FC236}">
                <a16:creationId xmlns:a16="http://schemas.microsoft.com/office/drawing/2014/main" id="{B7B0CCEE-2C75-4AD9-882B-2E35FA22CDA1}"/>
              </a:ext>
            </a:extLst>
          </p:cNvPr>
          <p:cNvSpPr>
            <a:spLocks noGrp="1"/>
          </p:cNvSpPr>
          <p:nvPr/>
        </p:nvSpPr>
        <p:spPr>
          <a:xfrm>
            <a:off x="8100950" y="3915297"/>
            <a:ext cx="56531" cy="13203"/>
          </a:xfrm>
          <a:custGeom>
            <a:avLst/>
            <a:gdLst/>
            <a:ahLst/>
            <a:cxnLst/>
            <a:rect l="0" t="0" r="0" b="0"/>
            <a:pathLst>
              <a:path w="56531" h="13203">
                <a:moveTo>
                  <a:pt x="0" y="13203"/>
                </a:moveTo>
                <a:lnTo>
                  <a:pt x="56531" y="0"/>
                </a:lnTo>
              </a:path>
            </a:pathLst>
          </a:custGeom>
          <a:noFill/>
          <a:ln w="19050">
            <a:solidFill>
              <a:srgbClr val="C76520"/>
            </a:solidFill>
          </a:ln>
        </p:spPr>
        <p:txBody>
          <a:bodyPr/>
          <a:lstStyle/>
          <a:p>
            <a:endParaRPr lang="en-US"/>
          </a:p>
        </p:txBody>
      </p:sp>
      <p:sp>
        <p:nvSpPr>
          <p:cNvPr id="34" name="line-496">
            <a:extLst>
              <a:ext uri="{FF2B5EF4-FFF2-40B4-BE49-F238E27FC236}">
                <a16:creationId xmlns:a16="http://schemas.microsoft.com/office/drawing/2014/main" id="{421BD07C-E129-4A14-BE57-429F3BBBBC30}"/>
              </a:ext>
            </a:extLst>
          </p:cNvPr>
          <p:cNvSpPr>
            <a:spLocks noGrp="1"/>
          </p:cNvSpPr>
          <p:nvPr/>
        </p:nvSpPr>
        <p:spPr>
          <a:xfrm>
            <a:off x="8157481" y="3907531"/>
            <a:ext cx="57530" cy="9525"/>
          </a:xfrm>
          <a:custGeom>
            <a:avLst/>
            <a:gdLst/>
            <a:ahLst/>
            <a:cxnLst/>
            <a:rect l="0" t="0" r="0" b="0"/>
            <a:pathLst>
              <a:path w="57530" h="9525">
                <a:moveTo>
                  <a:pt x="0" y="7766"/>
                </a:moveTo>
                <a:lnTo>
                  <a:pt x="57530" y="0"/>
                </a:lnTo>
              </a:path>
            </a:pathLst>
          </a:custGeom>
          <a:noFill/>
          <a:ln w="19050">
            <a:solidFill>
              <a:srgbClr val="C76520"/>
            </a:solidFill>
          </a:ln>
        </p:spPr>
        <p:txBody>
          <a:bodyPr/>
          <a:lstStyle/>
          <a:p>
            <a:endParaRPr lang="en-US"/>
          </a:p>
        </p:txBody>
      </p:sp>
      <p:sp>
        <p:nvSpPr>
          <p:cNvPr id="35" name="line-497">
            <a:extLst>
              <a:ext uri="{FF2B5EF4-FFF2-40B4-BE49-F238E27FC236}">
                <a16:creationId xmlns:a16="http://schemas.microsoft.com/office/drawing/2014/main" id="{23D012F9-FCCD-4386-801A-B645F5AEEC8D}"/>
              </a:ext>
            </a:extLst>
          </p:cNvPr>
          <p:cNvSpPr>
            <a:spLocks noGrp="1"/>
          </p:cNvSpPr>
          <p:nvPr/>
        </p:nvSpPr>
        <p:spPr>
          <a:xfrm>
            <a:off x="8215011" y="3905273"/>
            <a:ext cx="58008" cy="9525"/>
          </a:xfrm>
          <a:custGeom>
            <a:avLst/>
            <a:gdLst/>
            <a:ahLst/>
            <a:cxnLst/>
            <a:rect l="0" t="0" r="0" b="0"/>
            <a:pathLst>
              <a:path w="58008" h="9525">
                <a:moveTo>
                  <a:pt x="0" y="2258"/>
                </a:moveTo>
                <a:lnTo>
                  <a:pt x="58008" y="0"/>
                </a:lnTo>
              </a:path>
            </a:pathLst>
          </a:custGeom>
          <a:noFill/>
          <a:ln w="19050">
            <a:solidFill>
              <a:srgbClr val="C76520"/>
            </a:solidFill>
          </a:ln>
        </p:spPr>
        <p:txBody>
          <a:bodyPr/>
          <a:lstStyle/>
          <a:p>
            <a:endParaRPr lang="en-US"/>
          </a:p>
        </p:txBody>
      </p:sp>
      <p:sp>
        <p:nvSpPr>
          <p:cNvPr id="36" name="line-498">
            <a:extLst>
              <a:ext uri="{FF2B5EF4-FFF2-40B4-BE49-F238E27FC236}">
                <a16:creationId xmlns:a16="http://schemas.microsoft.com/office/drawing/2014/main" id="{1BBF7928-4ABD-45DC-A2F8-18A7EDE84236}"/>
              </a:ext>
            </a:extLst>
          </p:cNvPr>
          <p:cNvSpPr>
            <a:spLocks noGrp="1"/>
          </p:cNvSpPr>
          <p:nvPr/>
        </p:nvSpPr>
        <p:spPr>
          <a:xfrm>
            <a:off x="8273020" y="3905273"/>
            <a:ext cx="57960" cy="9525"/>
          </a:xfrm>
          <a:custGeom>
            <a:avLst/>
            <a:gdLst/>
            <a:ahLst/>
            <a:cxnLst/>
            <a:rect l="0" t="0" r="0" b="0"/>
            <a:pathLst>
              <a:path w="57960" h="9525">
                <a:moveTo>
                  <a:pt x="0" y="0"/>
                </a:moveTo>
                <a:lnTo>
                  <a:pt x="57960" y="3270"/>
                </a:lnTo>
              </a:path>
            </a:pathLst>
          </a:custGeom>
          <a:noFill/>
          <a:ln w="19050">
            <a:solidFill>
              <a:srgbClr val="C76520"/>
            </a:solidFill>
          </a:ln>
        </p:spPr>
        <p:txBody>
          <a:bodyPr/>
          <a:lstStyle/>
          <a:p>
            <a:endParaRPr lang="en-US"/>
          </a:p>
        </p:txBody>
      </p:sp>
      <p:sp>
        <p:nvSpPr>
          <p:cNvPr id="37" name="line-499">
            <a:extLst>
              <a:ext uri="{FF2B5EF4-FFF2-40B4-BE49-F238E27FC236}">
                <a16:creationId xmlns:a16="http://schemas.microsoft.com/office/drawing/2014/main" id="{1A7D7513-4539-4500-86F6-4DF781FED656}"/>
              </a:ext>
            </a:extLst>
          </p:cNvPr>
          <p:cNvSpPr>
            <a:spLocks noGrp="1"/>
          </p:cNvSpPr>
          <p:nvPr/>
        </p:nvSpPr>
        <p:spPr>
          <a:xfrm>
            <a:off x="8330980" y="3908543"/>
            <a:ext cx="57386" cy="9525"/>
          </a:xfrm>
          <a:custGeom>
            <a:avLst/>
            <a:gdLst/>
            <a:ahLst/>
            <a:cxnLst/>
            <a:rect l="0" t="0" r="0" b="0"/>
            <a:pathLst>
              <a:path w="57386" h="9525">
                <a:moveTo>
                  <a:pt x="0" y="0"/>
                </a:moveTo>
                <a:lnTo>
                  <a:pt x="57386" y="8768"/>
                </a:lnTo>
              </a:path>
            </a:pathLst>
          </a:custGeom>
          <a:noFill/>
          <a:ln w="19050">
            <a:solidFill>
              <a:srgbClr val="C76520"/>
            </a:solidFill>
          </a:ln>
        </p:spPr>
        <p:txBody>
          <a:bodyPr/>
          <a:lstStyle/>
          <a:p>
            <a:endParaRPr lang="en-US"/>
          </a:p>
        </p:txBody>
      </p:sp>
      <p:sp>
        <p:nvSpPr>
          <p:cNvPr id="38" name="line-500">
            <a:extLst>
              <a:ext uri="{FF2B5EF4-FFF2-40B4-BE49-F238E27FC236}">
                <a16:creationId xmlns:a16="http://schemas.microsoft.com/office/drawing/2014/main" id="{0CAC146D-8DA0-4D15-B672-F134097E1892}"/>
              </a:ext>
            </a:extLst>
          </p:cNvPr>
          <p:cNvSpPr>
            <a:spLocks noGrp="1"/>
          </p:cNvSpPr>
          <p:nvPr/>
        </p:nvSpPr>
        <p:spPr>
          <a:xfrm>
            <a:off x="8388366" y="3917312"/>
            <a:ext cx="56292" cy="14187"/>
          </a:xfrm>
          <a:custGeom>
            <a:avLst/>
            <a:gdLst/>
            <a:ahLst/>
            <a:cxnLst/>
            <a:rect l="0" t="0" r="0" b="0"/>
            <a:pathLst>
              <a:path w="56292" h="14187">
                <a:moveTo>
                  <a:pt x="0" y="0"/>
                </a:moveTo>
                <a:lnTo>
                  <a:pt x="56292" y="14187"/>
                </a:lnTo>
              </a:path>
            </a:pathLst>
          </a:custGeom>
          <a:noFill/>
          <a:ln w="19050">
            <a:solidFill>
              <a:srgbClr val="C76520"/>
            </a:solidFill>
          </a:ln>
        </p:spPr>
        <p:txBody>
          <a:bodyPr/>
          <a:lstStyle/>
          <a:p>
            <a:endParaRPr lang="en-US"/>
          </a:p>
        </p:txBody>
      </p:sp>
      <p:sp>
        <p:nvSpPr>
          <p:cNvPr id="39" name="line-501">
            <a:extLst>
              <a:ext uri="{FF2B5EF4-FFF2-40B4-BE49-F238E27FC236}">
                <a16:creationId xmlns:a16="http://schemas.microsoft.com/office/drawing/2014/main" id="{A149F972-A83F-4C68-8088-7948AD3632B0}"/>
              </a:ext>
            </a:extLst>
          </p:cNvPr>
          <p:cNvSpPr>
            <a:spLocks noGrp="1"/>
          </p:cNvSpPr>
          <p:nvPr/>
        </p:nvSpPr>
        <p:spPr>
          <a:xfrm>
            <a:off x="8444658" y="3931499"/>
            <a:ext cx="54687" cy="19478"/>
          </a:xfrm>
          <a:custGeom>
            <a:avLst/>
            <a:gdLst/>
            <a:ahLst/>
            <a:cxnLst/>
            <a:rect l="0" t="0" r="0" b="0"/>
            <a:pathLst>
              <a:path w="54687" h="19478">
                <a:moveTo>
                  <a:pt x="0" y="0"/>
                </a:moveTo>
                <a:lnTo>
                  <a:pt x="54687" y="19478"/>
                </a:lnTo>
              </a:path>
            </a:pathLst>
          </a:custGeom>
          <a:noFill/>
          <a:ln w="19050">
            <a:solidFill>
              <a:srgbClr val="C76520"/>
            </a:solidFill>
          </a:ln>
        </p:spPr>
        <p:txBody>
          <a:bodyPr/>
          <a:lstStyle/>
          <a:p>
            <a:endParaRPr lang="en-US"/>
          </a:p>
        </p:txBody>
      </p:sp>
      <p:sp>
        <p:nvSpPr>
          <p:cNvPr id="40" name="line-502">
            <a:extLst>
              <a:ext uri="{FF2B5EF4-FFF2-40B4-BE49-F238E27FC236}">
                <a16:creationId xmlns:a16="http://schemas.microsoft.com/office/drawing/2014/main" id="{1EFE25E8-3C02-4370-B653-C51EA5ED77E6}"/>
              </a:ext>
            </a:extLst>
          </p:cNvPr>
          <p:cNvSpPr>
            <a:spLocks noGrp="1"/>
          </p:cNvSpPr>
          <p:nvPr/>
        </p:nvSpPr>
        <p:spPr>
          <a:xfrm>
            <a:off x="8499345" y="3950977"/>
            <a:ext cx="52586" cy="24591"/>
          </a:xfrm>
          <a:custGeom>
            <a:avLst/>
            <a:gdLst/>
            <a:ahLst/>
            <a:cxnLst/>
            <a:rect l="0" t="0" r="0" b="0"/>
            <a:pathLst>
              <a:path w="52586" h="24591">
                <a:moveTo>
                  <a:pt x="0" y="0"/>
                </a:moveTo>
                <a:lnTo>
                  <a:pt x="52586" y="24591"/>
                </a:lnTo>
              </a:path>
            </a:pathLst>
          </a:custGeom>
          <a:noFill/>
          <a:ln w="19050">
            <a:solidFill>
              <a:srgbClr val="C76520"/>
            </a:solidFill>
          </a:ln>
        </p:spPr>
        <p:txBody>
          <a:bodyPr/>
          <a:lstStyle/>
          <a:p>
            <a:endParaRPr lang="en-US"/>
          </a:p>
        </p:txBody>
      </p:sp>
      <p:sp>
        <p:nvSpPr>
          <p:cNvPr id="41" name="line-503">
            <a:extLst>
              <a:ext uri="{FF2B5EF4-FFF2-40B4-BE49-F238E27FC236}">
                <a16:creationId xmlns:a16="http://schemas.microsoft.com/office/drawing/2014/main" id="{1E314E04-3958-46B9-9BC5-1ADAECADB5FA}"/>
              </a:ext>
            </a:extLst>
          </p:cNvPr>
          <p:cNvSpPr>
            <a:spLocks noGrp="1"/>
          </p:cNvSpPr>
          <p:nvPr/>
        </p:nvSpPr>
        <p:spPr>
          <a:xfrm>
            <a:off x="8551931" y="3975568"/>
            <a:ext cx="50009" cy="29482"/>
          </a:xfrm>
          <a:custGeom>
            <a:avLst/>
            <a:gdLst/>
            <a:ahLst/>
            <a:cxnLst/>
            <a:rect l="0" t="0" r="0" b="0"/>
            <a:pathLst>
              <a:path w="50009" h="29482">
                <a:moveTo>
                  <a:pt x="0" y="0"/>
                </a:moveTo>
                <a:lnTo>
                  <a:pt x="50009" y="29482"/>
                </a:lnTo>
              </a:path>
            </a:pathLst>
          </a:custGeom>
          <a:noFill/>
          <a:ln w="19050">
            <a:solidFill>
              <a:srgbClr val="C76520"/>
            </a:solidFill>
          </a:ln>
        </p:spPr>
        <p:txBody>
          <a:bodyPr/>
          <a:lstStyle/>
          <a:p>
            <a:endParaRPr lang="en-US"/>
          </a:p>
        </p:txBody>
      </p:sp>
      <p:sp>
        <p:nvSpPr>
          <p:cNvPr id="42" name="line-504">
            <a:extLst>
              <a:ext uri="{FF2B5EF4-FFF2-40B4-BE49-F238E27FC236}">
                <a16:creationId xmlns:a16="http://schemas.microsoft.com/office/drawing/2014/main" id="{0AB28892-1EEC-4929-A98E-19935D711F0B}"/>
              </a:ext>
            </a:extLst>
          </p:cNvPr>
          <p:cNvSpPr>
            <a:spLocks noGrp="1"/>
          </p:cNvSpPr>
          <p:nvPr/>
        </p:nvSpPr>
        <p:spPr>
          <a:xfrm>
            <a:off x="8601940" y="4005050"/>
            <a:ext cx="46978" cy="34105"/>
          </a:xfrm>
          <a:custGeom>
            <a:avLst/>
            <a:gdLst/>
            <a:ahLst/>
            <a:cxnLst/>
            <a:rect l="0" t="0" r="0" b="0"/>
            <a:pathLst>
              <a:path w="46978" h="34105">
                <a:moveTo>
                  <a:pt x="0" y="0"/>
                </a:moveTo>
                <a:lnTo>
                  <a:pt x="46978" y="34105"/>
                </a:lnTo>
              </a:path>
            </a:pathLst>
          </a:custGeom>
          <a:noFill/>
          <a:ln w="19050">
            <a:solidFill>
              <a:srgbClr val="C76520"/>
            </a:solidFill>
          </a:ln>
        </p:spPr>
        <p:txBody>
          <a:bodyPr/>
          <a:lstStyle/>
          <a:p>
            <a:endParaRPr lang="en-US"/>
          </a:p>
        </p:txBody>
      </p:sp>
      <p:sp>
        <p:nvSpPr>
          <p:cNvPr id="43" name="line-505">
            <a:extLst>
              <a:ext uri="{FF2B5EF4-FFF2-40B4-BE49-F238E27FC236}">
                <a16:creationId xmlns:a16="http://schemas.microsoft.com/office/drawing/2014/main" id="{B5D1BE89-0386-4123-83C6-55BCA59B1FDC}"/>
              </a:ext>
            </a:extLst>
          </p:cNvPr>
          <p:cNvSpPr>
            <a:spLocks noGrp="1"/>
          </p:cNvSpPr>
          <p:nvPr/>
        </p:nvSpPr>
        <p:spPr>
          <a:xfrm>
            <a:off x="8648917" y="4039155"/>
            <a:ext cx="43520" cy="38419"/>
          </a:xfrm>
          <a:custGeom>
            <a:avLst/>
            <a:gdLst/>
            <a:ahLst/>
            <a:cxnLst/>
            <a:rect l="0" t="0" r="0" b="0"/>
            <a:pathLst>
              <a:path w="43520" h="38419">
                <a:moveTo>
                  <a:pt x="0" y="0"/>
                </a:moveTo>
                <a:lnTo>
                  <a:pt x="43520" y="38419"/>
                </a:lnTo>
              </a:path>
            </a:pathLst>
          </a:custGeom>
          <a:noFill/>
          <a:ln w="19050">
            <a:solidFill>
              <a:srgbClr val="C76520"/>
            </a:solidFill>
          </a:ln>
        </p:spPr>
        <p:txBody>
          <a:bodyPr/>
          <a:lstStyle/>
          <a:p>
            <a:endParaRPr lang="en-US"/>
          </a:p>
        </p:txBody>
      </p:sp>
      <p:sp>
        <p:nvSpPr>
          <p:cNvPr id="44" name="line-506">
            <a:extLst>
              <a:ext uri="{FF2B5EF4-FFF2-40B4-BE49-F238E27FC236}">
                <a16:creationId xmlns:a16="http://schemas.microsoft.com/office/drawing/2014/main" id="{E5E280F3-377A-4805-84C4-24CBBAA03E7C}"/>
              </a:ext>
            </a:extLst>
          </p:cNvPr>
          <p:cNvSpPr>
            <a:spLocks noGrp="1"/>
          </p:cNvSpPr>
          <p:nvPr/>
        </p:nvSpPr>
        <p:spPr>
          <a:xfrm>
            <a:off x="8692438" y="4077574"/>
            <a:ext cx="39669" cy="42385"/>
          </a:xfrm>
          <a:custGeom>
            <a:avLst/>
            <a:gdLst/>
            <a:ahLst/>
            <a:cxnLst/>
            <a:rect l="0" t="0" r="0" b="0"/>
            <a:pathLst>
              <a:path w="39669" h="42385">
                <a:moveTo>
                  <a:pt x="0" y="0"/>
                </a:moveTo>
                <a:lnTo>
                  <a:pt x="39669" y="42385"/>
                </a:lnTo>
              </a:path>
            </a:pathLst>
          </a:custGeom>
          <a:noFill/>
          <a:ln w="19050">
            <a:solidFill>
              <a:srgbClr val="C76520"/>
            </a:solidFill>
          </a:ln>
        </p:spPr>
        <p:txBody>
          <a:bodyPr/>
          <a:lstStyle/>
          <a:p>
            <a:endParaRPr lang="en-US"/>
          </a:p>
        </p:txBody>
      </p:sp>
      <p:sp>
        <p:nvSpPr>
          <p:cNvPr id="45" name="line-507">
            <a:extLst>
              <a:ext uri="{FF2B5EF4-FFF2-40B4-BE49-F238E27FC236}">
                <a16:creationId xmlns:a16="http://schemas.microsoft.com/office/drawing/2014/main" id="{68C713A3-49B5-482F-94F9-E8D20254543F}"/>
              </a:ext>
            </a:extLst>
          </p:cNvPr>
          <p:cNvSpPr>
            <a:spLocks noGrp="1"/>
          </p:cNvSpPr>
          <p:nvPr/>
        </p:nvSpPr>
        <p:spPr>
          <a:xfrm>
            <a:off x="8732106" y="4119959"/>
            <a:ext cx="35457" cy="45966"/>
          </a:xfrm>
          <a:custGeom>
            <a:avLst/>
            <a:gdLst/>
            <a:ahLst/>
            <a:cxnLst/>
            <a:rect l="0" t="0" r="0" b="0"/>
            <a:pathLst>
              <a:path w="35457" h="45966">
                <a:moveTo>
                  <a:pt x="0" y="0"/>
                </a:moveTo>
                <a:lnTo>
                  <a:pt x="35457" y="45966"/>
                </a:lnTo>
              </a:path>
            </a:pathLst>
          </a:custGeom>
          <a:noFill/>
          <a:ln w="19050">
            <a:solidFill>
              <a:srgbClr val="C76520"/>
            </a:solidFill>
          </a:ln>
        </p:spPr>
        <p:txBody>
          <a:bodyPr/>
          <a:lstStyle/>
          <a:p>
            <a:endParaRPr lang="en-US"/>
          </a:p>
        </p:txBody>
      </p:sp>
      <p:sp>
        <p:nvSpPr>
          <p:cNvPr id="46" name="line-508">
            <a:extLst>
              <a:ext uri="{FF2B5EF4-FFF2-40B4-BE49-F238E27FC236}">
                <a16:creationId xmlns:a16="http://schemas.microsoft.com/office/drawing/2014/main" id="{362848AA-76AA-4ABE-AA68-B3E8166A5B7F}"/>
              </a:ext>
            </a:extLst>
          </p:cNvPr>
          <p:cNvSpPr>
            <a:spLocks noGrp="1"/>
          </p:cNvSpPr>
          <p:nvPr/>
        </p:nvSpPr>
        <p:spPr>
          <a:xfrm>
            <a:off x="8767563" y="4165924"/>
            <a:ext cx="30924" cy="49130"/>
          </a:xfrm>
          <a:custGeom>
            <a:avLst/>
            <a:gdLst/>
            <a:ahLst/>
            <a:cxnLst/>
            <a:rect l="0" t="0" r="0" b="0"/>
            <a:pathLst>
              <a:path w="30924" h="49130">
                <a:moveTo>
                  <a:pt x="0" y="0"/>
                </a:moveTo>
                <a:lnTo>
                  <a:pt x="30924" y="49130"/>
                </a:lnTo>
              </a:path>
            </a:pathLst>
          </a:custGeom>
          <a:noFill/>
          <a:ln w="19050">
            <a:solidFill>
              <a:srgbClr val="C76520"/>
            </a:solidFill>
          </a:ln>
        </p:spPr>
        <p:txBody>
          <a:bodyPr/>
          <a:lstStyle/>
          <a:p>
            <a:endParaRPr lang="en-US"/>
          </a:p>
        </p:txBody>
      </p:sp>
      <p:sp>
        <p:nvSpPr>
          <p:cNvPr id="47" name="line-509">
            <a:extLst>
              <a:ext uri="{FF2B5EF4-FFF2-40B4-BE49-F238E27FC236}">
                <a16:creationId xmlns:a16="http://schemas.microsoft.com/office/drawing/2014/main" id="{E5D545F8-1291-45E2-AE9B-0D09DA3EDA27}"/>
              </a:ext>
            </a:extLst>
          </p:cNvPr>
          <p:cNvSpPr>
            <a:spLocks noGrp="1"/>
          </p:cNvSpPr>
          <p:nvPr/>
        </p:nvSpPr>
        <p:spPr>
          <a:xfrm>
            <a:off x="8798487" y="4215055"/>
            <a:ext cx="26110" cy="51849"/>
          </a:xfrm>
          <a:custGeom>
            <a:avLst/>
            <a:gdLst/>
            <a:ahLst/>
            <a:cxnLst/>
            <a:rect l="0" t="0" r="0" b="0"/>
            <a:pathLst>
              <a:path w="26110" h="51849">
                <a:moveTo>
                  <a:pt x="0" y="0"/>
                </a:moveTo>
                <a:lnTo>
                  <a:pt x="26110" y="51849"/>
                </a:lnTo>
              </a:path>
            </a:pathLst>
          </a:custGeom>
          <a:noFill/>
          <a:ln w="19050">
            <a:solidFill>
              <a:srgbClr val="C76520"/>
            </a:solidFill>
          </a:ln>
        </p:spPr>
        <p:txBody>
          <a:bodyPr/>
          <a:lstStyle/>
          <a:p>
            <a:endParaRPr lang="en-US"/>
          </a:p>
        </p:txBody>
      </p:sp>
      <p:sp>
        <p:nvSpPr>
          <p:cNvPr id="48" name="diagram-510">
            <a:extLst>
              <a:ext uri="{FF2B5EF4-FFF2-40B4-BE49-F238E27FC236}">
                <a16:creationId xmlns:a16="http://schemas.microsoft.com/office/drawing/2014/main" id="{36878A47-6579-4D6D-8C69-F087ECFD0646}"/>
              </a:ext>
            </a:extLst>
          </p:cNvPr>
          <p:cNvSpPr>
            <a:spLocks noGrp="1"/>
          </p:cNvSpPr>
          <p:nvPr/>
        </p:nvSpPr>
        <p:spPr>
          <a:xfrm>
            <a:off x="6858000" y="3429000"/>
            <a:ext cx="2476500" cy="333375"/>
          </a:xfrm>
          <a:prstGeom prst="rect">
            <a:avLst/>
          </a:prstGeom>
          <a:noFill/>
          <a:ln w="0">
            <a:noFill/>
          </a:ln>
        </p:spPr>
        <p:txBody>
          <a:bodyPr lIns="0" tIns="0" rIns="0" bIns="0" anchor="t">
            <a:noAutofit/>
          </a:bodyPr>
          <a:lstStyle/>
          <a:p>
            <a:pPr algn="l">
              <a:buNone/>
              <a:defRPr sz="1800" b="0">
                <a:solidFill>
                  <a:srgbClr val="C76520"/>
                </a:solidFill>
                <a:latin typeface="Aptos"/>
                <a:ea typeface="Aptos"/>
                <a:cs typeface="Aptos"/>
              </a:defRPr>
            </a:pPr>
            <a:r>
              <a:rPr sz="1800" b="0">
                <a:solidFill>
                  <a:srgbClr val="C76520"/>
                </a:solidFill>
                <a:latin typeface="Aptos"/>
                <a:ea typeface="Aptos"/>
                <a:cs typeface="Aptos"/>
              </a:rPr>
              <a:t>pan γ / tilt α</a:t>
            </a:r>
          </a:p>
        </p:txBody>
      </p:sp>
      <p:sp>
        <p:nvSpPr>
          <p:cNvPr id="52" name="added-text-10">
            <a:extLst>
              <a:ext uri="{FF2B5EF4-FFF2-40B4-BE49-F238E27FC236}">
                <a16:creationId xmlns:a16="http://schemas.microsoft.com/office/drawing/2014/main" id="{3DC1D69B-3D60-410B-A1E7-1A237F922671}"/>
              </a:ext>
            </a:extLst>
          </p:cNvPr>
          <p:cNvSpPr>
            <a:spLocks noGrp="1"/>
          </p:cNvSpPr>
          <p:nvPr/>
        </p:nvSpPr>
        <p:spPr>
          <a:xfrm>
            <a:off x="933450" y="3152775"/>
            <a:ext cx="1028700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Q2: reachable pan–tilt states    q★: selected state    T1: client-1 goodput</a:t>
            </a:r>
          </a:p>
        </p:txBody>
      </p:sp>
      <p:sp>
        <p:nvSpPr>
          <p:cNvPr id="53" name="added-text-98">
            <a:extLst>
              <a:ext uri="{FF2B5EF4-FFF2-40B4-BE49-F238E27FC236}">
                <a16:creationId xmlns:a16="http://schemas.microsoft.com/office/drawing/2014/main" id="{4CD81F12-C9A3-4CB4-84BA-41470B7E8C1C}"/>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27</a:t>
            </a:r>
          </a:p>
        </p:txBody>
      </p:sp>
    </p:spTree>
    <p:extLst>
      <p:ext uri="{BB962C8B-B14F-4D97-AF65-F5344CB8AC3E}">
        <p14:creationId xmlns:p14="http://schemas.microsoft.com/office/powerpoint/2010/main" val="2955090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2-D: multiple sources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68" name="Picture 67"/>
          <p:cNvPicPr>
            <a:picLocks noChangeAspect="1"/>
          </p:cNvPicPr>
          <p:nvPr/>
        </p:nvPicPr>
        <p:blipFill>
          <a:blip r:embed="rId3"/>
          <a:stretch/>
        </p:blipFill>
        <p:spPr>
          <a:xfrm>
            <a:off x="933450" y="1885950"/>
            <a:ext cx="3880232" cy="516834"/>
          </a:xfrm>
          <a:prstGeom prst="rect">
            <a:avLst/>
          </a:prstGeom>
        </p:spPr>
      </p:pic>
      <p:pic>
        <p:nvPicPr>
          <p:cNvPr id="69" name="Picture 68"/>
          <p:cNvPicPr>
            <a:picLocks noChangeAspect="1"/>
          </p:cNvPicPr>
          <p:nvPr/>
        </p:nvPicPr>
        <p:blipFill>
          <a:blip r:embed="rId4"/>
          <a:stretch/>
        </p:blipFill>
        <p:spPr>
          <a:xfrm>
            <a:off x="933450" y="2574234"/>
            <a:ext cx="3590010" cy="278295"/>
          </a:xfrm>
          <a:prstGeom prst="rect">
            <a:avLst/>
          </a:prstGeom>
        </p:spPr>
      </p:pic>
      <p:sp>
        <p:nvSpPr>
          <p:cNvPr id="6" name="diagram-511">
            <a:extLst>
              <a:ext uri="{FF2B5EF4-FFF2-40B4-BE49-F238E27FC236}">
                <a16:creationId xmlns:a16="http://schemas.microsoft.com/office/drawing/2014/main" id="{5009E9ED-E9BE-4635-9178-344BE1F52BE5}"/>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Fit all client channels on the same geometry, then score each reachable pair.</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Use an equal-area or coarse-to-fine grid to control scan cost.</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Probe separated candidates because distant multipath maxima may compete.</a:t>
            </a:r>
          </a:p>
        </p:txBody>
      </p:sp>
      <p:sp>
        <p:nvSpPr>
          <p:cNvPr id="7" name="diagram-512">
            <a:extLst>
              <a:ext uri="{FF2B5EF4-FFF2-40B4-BE49-F238E27FC236}">
                <a16:creationId xmlns:a16="http://schemas.microsoft.com/office/drawing/2014/main" id="{B41E2AA0-726A-44D4-9F9B-558EE0E688DF}"/>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513">
            <a:extLst>
              <a:ext uri="{FF2B5EF4-FFF2-40B4-BE49-F238E27FC236}">
                <a16:creationId xmlns:a16="http://schemas.microsoft.com/office/drawing/2014/main" id="{B1DB0FD1-6080-4BDC-B95D-DB821D151C07}"/>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514">
            <a:extLst>
              <a:ext uri="{FF2B5EF4-FFF2-40B4-BE49-F238E27FC236}">
                <a16:creationId xmlns:a16="http://schemas.microsoft.com/office/drawing/2014/main" id="{611A5944-E881-4C32-A9AC-2D69B4093895}"/>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515">
            <a:extLst>
              <a:ext uri="{FF2B5EF4-FFF2-40B4-BE49-F238E27FC236}">
                <a16:creationId xmlns:a16="http://schemas.microsoft.com/office/drawing/2014/main" id="{EFA9D5E6-7003-4CDC-8BE3-9D867028ED78}"/>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516">
            <a:extLst>
              <a:ext uri="{FF2B5EF4-FFF2-40B4-BE49-F238E27FC236}">
                <a16:creationId xmlns:a16="http://schemas.microsoft.com/office/drawing/2014/main" id="{37099BDF-88B5-4CD2-89CD-4B0DFE19C7A1}"/>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517">
            <a:extLst>
              <a:ext uri="{FF2B5EF4-FFF2-40B4-BE49-F238E27FC236}">
                <a16:creationId xmlns:a16="http://schemas.microsoft.com/office/drawing/2014/main" id="{1B358687-96B5-41B6-AF9E-F3990CC4B97C}"/>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518">
            <a:extLst>
              <a:ext uri="{FF2B5EF4-FFF2-40B4-BE49-F238E27FC236}">
                <a16:creationId xmlns:a16="http://schemas.microsoft.com/office/drawing/2014/main" id="{C56BBBCA-3A90-415D-9627-93DF09059A9A}"/>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519">
            <a:extLst>
              <a:ext uri="{FF2B5EF4-FFF2-40B4-BE49-F238E27FC236}">
                <a16:creationId xmlns:a16="http://schemas.microsoft.com/office/drawing/2014/main" id="{9D68BB46-615E-42E5-8060-A90A7A53FAA5}"/>
              </a:ext>
            </a:extLst>
          </p:cNvPr>
          <p:cNvSpPr>
            <a:spLocks noGrp="1"/>
          </p:cNvSpPr>
          <p:nvPr/>
        </p:nvSpPr>
        <p:spPr>
          <a:xfrm>
            <a:off x="6915150" y="3400425"/>
            <a:ext cx="617220" cy="397764"/>
          </a:xfrm>
          <a:prstGeom prst="rect">
            <a:avLst/>
          </a:prstGeom>
          <a:solidFill>
            <a:srgbClr val="FFFFFF"/>
          </a:solidFill>
          <a:ln w="19050">
            <a:solidFill>
              <a:srgbClr val="111111"/>
            </a:solidFill>
          </a:ln>
        </p:spPr>
        <p:txBody>
          <a:bodyPr/>
          <a:lstStyle/>
          <a:p>
            <a:endParaRPr lang="en-US"/>
          </a:p>
        </p:txBody>
      </p:sp>
      <p:sp>
        <p:nvSpPr>
          <p:cNvPr id="15" name="diagram-520">
            <a:extLst>
              <a:ext uri="{FF2B5EF4-FFF2-40B4-BE49-F238E27FC236}">
                <a16:creationId xmlns:a16="http://schemas.microsoft.com/office/drawing/2014/main" id="{FAF13106-63BC-4F2C-81ED-B57B6F8EDDC7}"/>
              </a:ext>
            </a:extLst>
          </p:cNvPr>
          <p:cNvSpPr>
            <a:spLocks noGrp="1"/>
          </p:cNvSpPr>
          <p:nvPr/>
        </p:nvSpPr>
        <p:spPr>
          <a:xfrm>
            <a:off x="6949440" y="3434715"/>
            <a:ext cx="548640" cy="329184"/>
          </a:xfrm>
          <a:prstGeom prst="rect">
            <a:avLst/>
          </a:prstGeom>
          <a:solidFill>
            <a:srgbClr val="F1F4F5"/>
          </a:solidFill>
          <a:ln w="19050">
            <a:noFill/>
          </a:ln>
        </p:spPr>
        <p:txBody>
          <a:bodyPr/>
          <a:lstStyle/>
          <a:p>
            <a:endParaRPr lang="en-US"/>
          </a:p>
        </p:txBody>
      </p:sp>
      <p:sp>
        <p:nvSpPr>
          <p:cNvPr id="16" name="line-521">
            <a:extLst>
              <a:ext uri="{FF2B5EF4-FFF2-40B4-BE49-F238E27FC236}">
                <a16:creationId xmlns:a16="http://schemas.microsoft.com/office/drawing/2014/main" id="{F41EB31F-F732-4CD5-84A8-2E2F1999BC4B}"/>
              </a:ext>
            </a:extLst>
          </p:cNvPr>
          <p:cNvSpPr>
            <a:spLocks noGrp="1"/>
          </p:cNvSpPr>
          <p:nvPr/>
        </p:nvSpPr>
        <p:spPr>
          <a:xfrm>
            <a:off x="6846570" y="3846195"/>
            <a:ext cx="754380" cy="9525"/>
          </a:xfrm>
          <a:custGeom>
            <a:avLst/>
            <a:gdLst/>
            <a:ahLst/>
            <a:cxnLst/>
            <a:rect l="0" t="0" r="0" b="0"/>
            <a:pathLst>
              <a:path w="754380" h="9525">
                <a:moveTo>
                  <a:pt x="0" y="0"/>
                </a:moveTo>
                <a:lnTo>
                  <a:pt x="754380" y="0"/>
                </a:lnTo>
              </a:path>
            </a:pathLst>
          </a:custGeom>
          <a:noFill/>
          <a:ln w="38100">
            <a:solidFill>
              <a:srgbClr val="111111"/>
            </a:solidFill>
          </a:ln>
        </p:spPr>
        <p:txBody>
          <a:bodyPr/>
          <a:lstStyle/>
          <a:p>
            <a:endParaRPr lang="en-US"/>
          </a:p>
        </p:txBody>
      </p:sp>
      <p:sp>
        <p:nvSpPr>
          <p:cNvPr id="17" name="diagram-522">
            <a:extLst>
              <a:ext uri="{FF2B5EF4-FFF2-40B4-BE49-F238E27FC236}">
                <a16:creationId xmlns:a16="http://schemas.microsoft.com/office/drawing/2014/main" id="{D5C9F23C-A335-49EF-97EF-E673AD13B14D}"/>
              </a:ext>
            </a:extLst>
          </p:cNvPr>
          <p:cNvSpPr>
            <a:spLocks noGrp="1"/>
          </p:cNvSpPr>
          <p:nvPr/>
        </p:nvSpPr>
        <p:spPr>
          <a:xfrm>
            <a:off x="6248400" y="3949065"/>
            <a:ext cx="195072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1</a:t>
            </a:r>
          </a:p>
        </p:txBody>
      </p:sp>
      <p:sp>
        <p:nvSpPr>
          <p:cNvPr id="18" name="diagram-523">
            <a:extLst>
              <a:ext uri="{FF2B5EF4-FFF2-40B4-BE49-F238E27FC236}">
                <a16:creationId xmlns:a16="http://schemas.microsoft.com/office/drawing/2014/main" id="{7A6A3F5D-E1EF-48F5-95B3-0C1484E4B050}"/>
              </a:ext>
            </a:extLst>
          </p:cNvPr>
          <p:cNvSpPr>
            <a:spLocks noGrp="1"/>
          </p:cNvSpPr>
          <p:nvPr/>
        </p:nvSpPr>
        <p:spPr>
          <a:xfrm>
            <a:off x="10810875" y="3629025"/>
            <a:ext cx="307658" cy="566738"/>
          </a:xfrm>
          <a:prstGeom prst="roundRect">
            <a:avLst>
              <a:gd name="adj" fmla="val 24768"/>
            </a:avLst>
          </a:prstGeom>
          <a:solidFill>
            <a:srgbClr val="FFFFFF"/>
          </a:solidFill>
          <a:ln w="19050">
            <a:solidFill>
              <a:srgbClr val="111111"/>
            </a:solidFill>
          </a:ln>
        </p:spPr>
        <p:txBody>
          <a:bodyPr/>
          <a:lstStyle/>
          <a:p>
            <a:endParaRPr lang="en-US"/>
          </a:p>
        </p:txBody>
      </p:sp>
      <p:sp>
        <p:nvSpPr>
          <p:cNvPr id="19" name="diagram-524">
            <a:extLst>
              <a:ext uri="{FF2B5EF4-FFF2-40B4-BE49-F238E27FC236}">
                <a16:creationId xmlns:a16="http://schemas.microsoft.com/office/drawing/2014/main" id="{3DC3152D-46BB-4150-9AE3-F162345A3C7B}"/>
              </a:ext>
            </a:extLst>
          </p:cNvPr>
          <p:cNvSpPr>
            <a:spLocks noGrp="1"/>
          </p:cNvSpPr>
          <p:nvPr/>
        </p:nvSpPr>
        <p:spPr>
          <a:xfrm>
            <a:off x="10851356" y="3701891"/>
            <a:ext cx="226695" cy="404813"/>
          </a:xfrm>
          <a:prstGeom prst="rect">
            <a:avLst/>
          </a:prstGeom>
          <a:solidFill>
            <a:srgbClr val="F1F4F5"/>
          </a:solidFill>
          <a:ln w="9525">
            <a:solidFill>
              <a:srgbClr val="C9CDD0"/>
            </a:solidFill>
          </a:ln>
        </p:spPr>
        <p:txBody>
          <a:bodyPr/>
          <a:lstStyle/>
          <a:p>
            <a:endParaRPr lang="en-US"/>
          </a:p>
        </p:txBody>
      </p:sp>
      <p:sp>
        <p:nvSpPr>
          <p:cNvPr id="20" name="diagram-525">
            <a:extLst>
              <a:ext uri="{FF2B5EF4-FFF2-40B4-BE49-F238E27FC236}">
                <a16:creationId xmlns:a16="http://schemas.microsoft.com/office/drawing/2014/main" id="{DEE4B5BD-28F9-4DC2-BC21-81D498E6033F}"/>
              </a:ext>
            </a:extLst>
          </p:cNvPr>
          <p:cNvSpPr>
            <a:spLocks noGrp="1"/>
          </p:cNvSpPr>
          <p:nvPr/>
        </p:nvSpPr>
        <p:spPr>
          <a:xfrm>
            <a:off x="10940415" y="4122896"/>
            <a:ext cx="40481" cy="40481"/>
          </a:xfrm>
          <a:prstGeom prst="ellipse">
            <a:avLst/>
          </a:prstGeom>
          <a:solidFill>
            <a:srgbClr val="C9CDD0"/>
          </a:solidFill>
          <a:ln w="19050">
            <a:noFill/>
          </a:ln>
        </p:spPr>
        <p:txBody>
          <a:bodyPr/>
          <a:lstStyle/>
          <a:p>
            <a:endParaRPr lang="en-US"/>
          </a:p>
        </p:txBody>
      </p:sp>
      <p:sp>
        <p:nvSpPr>
          <p:cNvPr id="21" name="diagram-526">
            <a:extLst>
              <a:ext uri="{FF2B5EF4-FFF2-40B4-BE49-F238E27FC236}">
                <a16:creationId xmlns:a16="http://schemas.microsoft.com/office/drawing/2014/main" id="{78AE0FC4-701A-499E-8C4E-868FE4D729DD}"/>
              </a:ext>
            </a:extLst>
          </p:cNvPr>
          <p:cNvSpPr>
            <a:spLocks noGrp="1"/>
          </p:cNvSpPr>
          <p:nvPr/>
        </p:nvSpPr>
        <p:spPr>
          <a:xfrm>
            <a:off x="10144125" y="4373880"/>
            <a:ext cx="1641158"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2</a:t>
            </a:r>
          </a:p>
        </p:txBody>
      </p:sp>
      <p:sp>
        <p:nvSpPr>
          <p:cNvPr id="22" name="diagram-527">
            <a:extLst>
              <a:ext uri="{FF2B5EF4-FFF2-40B4-BE49-F238E27FC236}">
                <a16:creationId xmlns:a16="http://schemas.microsoft.com/office/drawing/2014/main" id="{D0AC3BA0-9437-4EE0-895B-F95209F99795}"/>
              </a:ext>
            </a:extLst>
          </p:cNvPr>
          <p:cNvSpPr>
            <a:spLocks noGrp="1"/>
          </p:cNvSpPr>
          <p:nvPr/>
        </p:nvSpPr>
        <p:spPr>
          <a:xfrm>
            <a:off x="9382125" y="5267325"/>
            <a:ext cx="557213" cy="359093"/>
          </a:xfrm>
          <a:prstGeom prst="rect">
            <a:avLst/>
          </a:prstGeom>
          <a:solidFill>
            <a:srgbClr val="FFFFFF"/>
          </a:solidFill>
          <a:ln w="19050">
            <a:solidFill>
              <a:srgbClr val="111111"/>
            </a:solidFill>
          </a:ln>
        </p:spPr>
        <p:txBody>
          <a:bodyPr/>
          <a:lstStyle/>
          <a:p>
            <a:endParaRPr lang="en-US"/>
          </a:p>
        </p:txBody>
      </p:sp>
      <p:sp>
        <p:nvSpPr>
          <p:cNvPr id="23" name="diagram-528">
            <a:extLst>
              <a:ext uri="{FF2B5EF4-FFF2-40B4-BE49-F238E27FC236}">
                <a16:creationId xmlns:a16="http://schemas.microsoft.com/office/drawing/2014/main" id="{131B586A-B3A0-40ED-A3B1-79DBEFBB7608}"/>
              </a:ext>
            </a:extLst>
          </p:cNvPr>
          <p:cNvSpPr>
            <a:spLocks noGrp="1"/>
          </p:cNvSpPr>
          <p:nvPr/>
        </p:nvSpPr>
        <p:spPr>
          <a:xfrm>
            <a:off x="9413081" y="5298281"/>
            <a:ext cx="495300" cy="297180"/>
          </a:xfrm>
          <a:prstGeom prst="rect">
            <a:avLst/>
          </a:prstGeom>
          <a:solidFill>
            <a:srgbClr val="F1F4F5"/>
          </a:solidFill>
          <a:ln w="19050">
            <a:noFill/>
          </a:ln>
        </p:spPr>
        <p:txBody>
          <a:bodyPr/>
          <a:lstStyle/>
          <a:p>
            <a:endParaRPr lang="en-US"/>
          </a:p>
        </p:txBody>
      </p:sp>
      <p:sp>
        <p:nvSpPr>
          <p:cNvPr id="24" name="line-529">
            <a:extLst>
              <a:ext uri="{FF2B5EF4-FFF2-40B4-BE49-F238E27FC236}">
                <a16:creationId xmlns:a16="http://schemas.microsoft.com/office/drawing/2014/main" id="{C2DE7D0F-5F62-4EBA-82EA-ACFDB7C8B7FC}"/>
              </a:ext>
            </a:extLst>
          </p:cNvPr>
          <p:cNvSpPr>
            <a:spLocks noGrp="1"/>
          </p:cNvSpPr>
          <p:nvPr/>
        </p:nvSpPr>
        <p:spPr>
          <a:xfrm>
            <a:off x="9660731" y="5626418"/>
            <a:ext cx="9525" cy="80486"/>
          </a:xfrm>
          <a:custGeom>
            <a:avLst/>
            <a:gdLst/>
            <a:ahLst/>
            <a:cxnLst/>
            <a:rect l="0" t="0" r="0" b="0"/>
            <a:pathLst>
              <a:path w="9525" h="80486">
                <a:moveTo>
                  <a:pt x="0" y="0"/>
                </a:moveTo>
                <a:lnTo>
                  <a:pt x="0" y="80486"/>
                </a:lnTo>
              </a:path>
            </a:pathLst>
          </a:custGeom>
          <a:noFill/>
          <a:ln w="19050">
            <a:solidFill>
              <a:srgbClr val="111111"/>
            </a:solidFill>
          </a:ln>
        </p:spPr>
        <p:txBody>
          <a:bodyPr/>
          <a:lstStyle/>
          <a:p>
            <a:endParaRPr lang="en-US"/>
          </a:p>
        </p:txBody>
      </p:sp>
      <p:sp>
        <p:nvSpPr>
          <p:cNvPr id="25" name="line-530">
            <a:extLst>
              <a:ext uri="{FF2B5EF4-FFF2-40B4-BE49-F238E27FC236}">
                <a16:creationId xmlns:a16="http://schemas.microsoft.com/office/drawing/2014/main" id="{AF051946-78EF-4868-A5AF-D8659D864879}"/>
              </a:ext>
            </a:extLst>
          </p:cNvPr>
          <p:cNvSpPr>
            <a:spLocks noGrp="1"/>
          </p:cNvSpPr>
          <p:nvPr/>
        </p:nvSpPr>
        <p:spPr>
          <a:xfrm>
            <a:off x="9505950" y="5706904"/>
            <a:ext cx="309563" cy="9525"/>
          </a:xfrm>
          <a:custGeom>
            <a:avLst/>
            <a:gdLst/>
            <a:ahLst/>
            <a:cxnLst/>
            <a:rect l="0" t="0" r="0" b="0"/>
            <a:pathLst>
              <a:path w="309563" h="9525">
                <a:moveTo>
                  <a:pt x="0" y="0"/>
                </a:moveTo>
                <a:lnTo>
                  <a:pt x="309563" y="0"/>
                </a:lnTo>
              </a:path>
            </a:pathLst>
          </a:custGeom>
          <a:noFill/>
          <a:ln w="28575">
            <a:solidFill>
              <a:srgbClr val="111111"/>
            </a:solidFill>
          </a:ln>
        </p:spPr>
        <p:txBody>
          <a:bodyPr/>
          <a:lstStyle/>
          <a:p>
            <a:endParaRPr lang="en-US"/>
          </a:p>
        </p:txBody>
      </p:sp>
      <p:sp>
        <p:nvSpPr>
          <p:cNvPr id="26" name="diagram-531">
            <a:extLst>
              <a:ext uri="{FF2B5EF4-FFF2-40B4-BE49-F238E27FC236}">
                <a16:creationId xmlns:a16="http://schemas.microsoft.com/office/drawing/2014/main" id="{6909E3FD-7E2A-477D-A4B8-EAB78AF6EA62}"/>
              </a:ext>
            </a:extLst>
          </p:cNvPr>
          <p:cNvSpPr>
            <a:spLocks noGrp="1"/>
          </p:cNvSpPr>
          <p:nvPr/>
        </p:nvSpPr>
        <p:spPr>
          <a:xfrm>
            <a:off x="8715375" y="5762625"/>
            <a:ext cx="1890713"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Client 3</a:t>
            </a:r>
          </a:p>
        </p:txBody>
      </p:sp>
      <p:sp>
        <p:nvSpPr>
          <p:cNvPr id="27" name="line-532">
            <a:extLst>
              <a:ext uri="{FF2B5EF4-FFF2-40B4-BE49-F238E27FC236}">
                <a16:creationId xmlns:a16="http://schemas.microsoft.com/office/drawing/2014/main" id="{07DF218C-B69C-4517-B01C-4F9D94FA5876}"/>
              </a:ext>
            </a:extLst>
          </p:cNvPr>
          <p:cNvSpPr>
            <a:spLocks noGrp="1"/>
          </p:cNvSpPr>
          <p:nvPr/>
        </p:nvSpPr>
        <p:spPr>
          <a:xfrm>
            <a:off x="7524750" y="3981450"/>
            <a:ext cx="361950" cy="428625"/>
          </a:xfrm>
          <a:custGeom>
            <a:avLst/>
            <a:gdLst/>
            <a:ahLst/>
            <a:cxnLst/>
            <a:rect l="0" t="0" r="0" b="0"/>
            <a:pathLst>
              <a:path w="361950" h="428625">
                <a:moveTo>
                  <a:pt x="0" y="0"/>
                </a:moveTo>
                <a:lnTo>
                  <a:pt x="361950" y="428625"/>
                </a:lnTo>
              </a:path>
            </a:pathLst>
          </a:custGeom>
          <a:noFill/>
          <a:ln w="28575">
            <a:solidFill>
              <a:srgbClr val="17698C"/>
            </a:solidFill>
          </a:ln>
        </p:spPr>
        <p:txBody>
          <a:bodyPr/>
          <a:lstStyle/>
          <a:p>
            <a:endParaRPr lang="en-US"/>
          </a:p>
        </p:txBody>
      </p:sp>
      <p:sp>
        <p:nvSpPr>
          <p:cNvPr id="28" name="line-533">
            <a:extLst>
              <a:ext uri="{FF2B5EF4-FFF2-40B4-BE49-F238E27FC236}">
                <a16:creationId xmlns:a16="http://schemas.microsoft.com/office/drawing/2014/main" id="{FBBB7E04-B9CF-453C-BEB3-456E20BBF537}"/>
              </a:ext>
            </a:extLst>
          </p:cNvPr>
          <p:cNvSpPr>
            <a:spLocks noGrp="1"/>
          </p:cNvSpPr>
          <p:nvPr/>
        </p:nvSpPr>
        <p:spPr>
          <a:xfrm>
            <a:off x="7799710" y="4371276"/>
            <a:ext cx="86990" cy="38799"/>
          </a:xfrm>
          <a:custGeom>
            <a:avLst/>
            <a:gdLst/>
            <a:ahLst/>
            <a:cxnLst/>
            <a:rect l="0" t="0" r="0" b="0"/>
            <a:pathLst>
              <a:path w="86990" h="38799">
                <a:moveTo>
                  <a:pt x="86990" y="38799"/>
                </a:moveTo>
                <a:lnTo>
                  <a:pt x="0" y="0"/>
                </a:lnTo>
              </a:path>
            </a:pathLst>
          </a:custGeom>
          <a:noFill/>
          <a:ln w="28575">
            <a:solidFill>
              <a:srgbClr val="17698C"/>
            </a:solidFill>
          </a:ln>
        </p:spPr>
        <p:txBody>
          <a:bodyPr/>
          <a:lstStyle/>
          <a:p>
            <a:endParaRPr lang="en-US"/>
          </a:p>
        </p:txBody>
      </p:sp>
      <p:sp>
        <p:nvSpPr>
          <p:cNvPr id="29" name="line-534">
            <a:extLst>
              <a:ext uri="{FF2B5EF4-FFF2-40B4-BE49-F238E27FC236}">
                <a16:creationId xmlns:a16="http://schemas.microsoft.com/office/drawing/2014/main" id="{CE72B2E8-870D-4764-8155-80CF8750B114}"/>
              </a:ext>
            </a:extLst>
          </p:cNvPr>
          <p:cNvSpPr>
            <a:spLocks noGrp="1"/>
          </p:cNvSpPr>
          <p:nvPr/>
        </p:nvSpPr>
        <p:spPr>
          <a:xfrm>
            <a:off x="7863019" y="4317816"/>
            <a:ext cx="23681" cy="92259"/>
          </a:xfrm>
          <a:custGeom>
            <a:avLst/>
            <a:gdLst/>
            <a:ahLst/>
            <a:cxnLst/>
            <a:rect l="0" t="0" r="0" b="0"/>
            <a:pathLst>
              <a:path w="23681" h="92259">
                <a:moveTo>
                  <a:pt x="23681" y="92259"/>
                </a:moveTo>
                <a:lnTo>
                  <a:pt x="0" y="0"/>
                </a:lnTo>
              </a:path>
            </a:pathLst>
          </a:custGeom>
          <a:noFill/>
          <a:ln w="28575">
            <a:solidFill>
              <a:srgbClr val="17698C"/>
            </a:solidFill>
          </a:ln>
        </p:spPr>
        <p:txBody>
          <a:bodyPr/>
          <a:lstStyle/>
          <a:p>
            <a:endParaRPr lang="en-US"/>
          </a:p>
        </p:txBody>
      </p:sp>
      <p:sp>
        <p:nvSpPr>
          <p:cNvPr id="30" name="line-535">
            <a:extLst>
              <a:ext uri="{FF2B5EF4-FFF2-40B4-BE49-F238E27FC236}">
                <a16:creationId xmlns:a16="http://schemas.microsoft.com/office/drawing/2014/main" id="{42C66663-7064-4F82-B706-48F8637A4C2C}"/>
              </a:ext>
            </a:extLst>
          </p:cNvPr>
          <p:cNvSpPr>
            <a:spLocks noGrp="1"/>
          </p:cNvSpPr>
          <p:nvPr/>
        </p:nvSpPr>
        <p:spPr>
          <a:xfrm>
            <a:off x="9020175" y="4124325"/>
            <a:ext cx="1657350" cy="466725"/>
          </a:xfrm>
          <a:custGeom>
            <a:avLst/>
            <a:gdLst/>
            <a:ahLst/>
            <a:cxnLst/>
            <a:rect l="0" t="0" r="0" b="0"/>
            <a:pathLst>
              <a:path w="1657350" h="466725">
                <a:moveTo>
                  <a:pt x="1657350" y="0"/>
                </a:moveTo>
                <a:lnTo>
                  <a:pt x="0" y="466725"/>
                </a:lnTo>
              </a:path>
            </a:pathLst>
          </a:custGeom>
          <a:noFill/>
          <a:ln w="23813">
            <a:solidFill>
              <a:srgbClr val="17698C"/>
            </a:solidFill>
          </a:ln>
        </p:spPr>
        <p:txBody>
          <a:bodyPr/>
          <a:lstStyle/>
          <a:p>
            <a:endParaRPr lang="en-US"/>
          </a:p>
        </p:txBody>
      </p:sp>
      <p:sp>
        <p:nvSpPr>
          <p:cNvPr id="31" name="line-536">
            <a:extLst>
              <a:ext uri="{FF2B5EF4-FFF2-40B4-BE49-F238E27FC236}">
                <a16:creationId xmlns:a16="http://schemas.microsoft.com/office/drawing/2014/main" id="{AFB94404-105B-431A-84B6-82782D802C9A}"/>
              </a:ext>
            </a:extLst>
          </p:cNvPr>
          <p:cNvSpPr>
            <a:spLocks noGrp="1"/>
          </p:cNvSpPr>
          <p:nvPr/>
        </p:nvSpPr>
        <p:spPr>
          <a:xfrm>
            <a:off x="9020175" y="4527922"/>
            <a:ext cx="71326" cy="63128"/>
          </a:xfrm>
          <a:custGeom>
            <a:avLst/>
            <a:gdLst/>
            <a:ahLst/>
            <a:cxnLst/>
            <a:rect l="0" t="0" r="0" b="0"/>
            <a:pathLst>
              <a:path w="71326" h="63128">
                <a:moveTo>
                  <a:pt x="0" y="63128"/>
                </a:moveTo>
                <a:lnTo>
                  <a:pt x="71326" y="0"/>
                </a:lnTo>
              </a:path>
            </a:pathLst>
          </a:custGeom>
          <a:noFill/>
          <a:ln w="23813">
            <a:solidFill>
              <a:srgbClr val="17698C"/>
            </a:solidFill>
          </a:ln>
        </p:spPr>
        <p:txBody>
          <a:bodyPr/>
          <a:lstStyle/>
          <a:p>
            <a:endParaRPr lang="en-US"/>
          </a:p>
        </p:txBody>
      </p:sp>
      <p:sp>
        <p:nvSpPr>
          <p:cNvPr id="32" name="line-537">
            <a:extLst>
              <a:ext uri="{FF2B5EF4-FFF2-40B4-BE49-F238E27FC236}">
                <a16:creationId xmlns:a16="http://schemas.microsoft.com/office/drawing/2014/main" id="{42A3B401-86DE-4E8F-AF5D-030104A0BD5D}"/>
              </a:ext>
            </a:extLst>
          </p:cNvPr>
          <p:cNvSpPr>
            <a:spLocks noGrp="1"/>
          </p:cNvSpPr>
          <p:nvPr/>
        </p:nvSpPr>
        <p:spPr>
          <a:xfrm>
            <a:off x="9020175" y="4591050"/>
            <a:ext cx="93787" cy="16631"/>
          </a:xfrm>
          <a:custGeom>
            <a:avLst/>
            <a:gdLst/>
            <a:ahLst/>
            <a:cxnLst/>
            <a:rect l="0" t="0" r="0" b="0"/>
            <a:pathLst>
              <a:path w="93787" h="16631">
                <a:moveTo>
                  <a:pt x="0" y="0"/>
                </a:moveTo>
                <a:lnTo>
                  <a:pt x="93787" y="16631"/>
                </a:lnTo>
              </a:path>
            </a:pathLst>
          </a:custGeom>
          <a:noFill/>
          <a:ln w="23813">
            <a:solidFill>
              <a:srgbClr val="17698C"/>
            </a:solidFill>
          </a:ln>
        </p:spPr>
        <p:txBody>
          <a:bodyPr/>
          <a:lstStyle/>
          <a:p>
            <a:endParaRPr lang="en-US"/>
          </a:p>
        </p:txBody>
      </p:sp>
      <p:sp>
        <p:nvSpPr>
          <p:cNvPr id="33" name="line-538">
            <a:extLst>
              <a:ext uri="{FF2B5EF4-FFF2-40B4-BE49-F238E27FC236}">
                <a16:creationId xmlns:a16="http://schemas.microsoft.com/office/drawing/2014/main" id="{22A6788F-5DDF-4BB5-965D-E53250638E95}"/>
              </a:ext>
            </a:extLst>
          </p:cNvPr>
          <p:cNvSpPr>
            <a:spLocks noGrp="1"/>
          </p:cNvSpPr>
          <p:nvPr/>
        </p:nvSpPr>
        <p:spPr>
          <a:xfrm>
            <a:off x="8943975" y="5114925"/>
            <a:ext cx="409575" cy="247650"/>
          </a:xfrm>
          <a:custGeom>
            <a:avLst/>
            <a:gdLst/>
            <a:ahLst/>
            <a:cxnLst/>
            <a:rect l="0" t="0" r="0" b="0"/>
            <a:pathLst>
              <a:path w="409575" h="247650">
                <a:moveTo>
                  <a:pt x="409575" y="247650"/>
                </a:moveTo>
                <a:lnTo>
                  <a:pt x="0" y="0"/>
                </a:lnTo>
              </a:path>
            </a:pathLst>
          </a:custGeom>
          <a:noFill/>
          <a:ln w="23813">
            <a:solidFill>
              <a:srgbClr val="17698C"/>
            </a:solidFill>
          </a:ln>
        </p:spPr>
        <p:txBody>
          <a:bodyPr/>
          <a:lstStyle/>
          <a:p>
            <a:endParaRPr lang="en-US"/>
          </a:p>
        </p:txBody>
      </p:sp>
      <p:sp>
        <p:nvSpPr>
          <p:cNvPr id="34" name="line-539">
            <a:extLst>
              <a:ext uri="{FF2B5EF4-FFF2-40B4-BE49-F238E27FC236}">
                <a16:creationId xmlns:a16="http://schemas.microsoft.com/office/drawing/2014/main" id="{B60CB248-67B6-4A2F-9465-7BED2F795D4E}"/>
              </a:ext>
            </a:extLst>
          </p:cNvPr>
          <p:cNvSpPr>
            <a:spLocks noGrp="1"/>
          </p:cNvSpPr>
          <p:nvPr/>
        </p:nvSpPr>
        <p:spPr>
          <a:xfrm>
            <a:off x="8943975" y="5114925"/>
            <a:ext cx="94831" cy="9525"/>
          </a:xfrm>
          <a:custGeom>
            <a:avLst/>
            <a:gdLst/>
            <a:ahLst/>
            <a:cxnLst/>
            <a:rect l="0" t="0" r="0" b="0"/>
            <a:pathLst>
              <a:path w="94831" h="9525">
                <a:moveTo>
                  <a:pt x="0" y="0"/>
                </a:moveTo>
                <a:lnTo>
                  <a:pt x="94831" y="8924"/>
                </a:lnTo>
              </a:path>
            </a:pathLst>
          </a:custGeom>
          <a:noFill/>
          <a:ln w="23813">
            <a:solidFill>
              <a:srgbClr val="17698C"/>
            </a:solidFill>
          </a:ln>
        </p:spPr>
        <p:txBody>
          <a:bodyPr/>
          <a:lstStyle/>
          <a:p>
            <a:endParaRPr lang="en-US"/>
          </a:p>
        </p:txBody>
      </p:sp>
      <p:sp>
        <p:nvSpPr>
          <p:cNvPr id="35" name="line-540">
            <a:extLst>
              <a:ext uri="{FF2B5EF4-FFF2-40B4-BE49-F238E27FC236}">
                <a16:creationId xmlns:a16="http://schemas.microsoft.com/office/drawing/2014/main" id="{D6E0ACAF-096A-45B0-985E-F204456DC0FC}"/>
              </a:ext>
            </a:extLst>
          </p:cNvPr>
          <p:cNvSpPr>
            <a:spLocks noGrp="1"/>
          </p:cNvSpPr>
          <p:nvPr/>
        </p:nvSpPr>
        <p:spPr>
          <a:xfrm>
            <a:off x="8943975" y="5114925"/>
            <a:ext cx="51957" cy="79831"/>
          </a:xfrm>
          <a:custGeom>
            <a:avLst/>
            <a:gdLst/>
            <a:ahLst/>
            <a:cxnLst/>
            <a:rect l="0" t="0" r="0" b="0"/>
            <a:pathLst>
              <a:path w="51957" h="79831">
                <a:moveTo>
                  <a:pt x="0" y="0"/>
                </a:moveTo>
                <a:lnTo>
                  <a:pt x="51957" y="79831"/>
                </a:lnTo>
              </a:path>
            </a:pathLst>
          </a:custGeom>
          <a:noFill/>
          <a:ln w="23813">
            <a:solidFill>
              <a:srgbClr val="17698C"/>
            </a:solidFill>
          </a:ln>
        </p:spPr>
        <p:txBody>
          <a:bodyPr/>
          <a:lstStyle/>
          <a:p>
            <a:endParaRPr lang="en-US"/>
          </a:p>
        </p:txBody>
      </p:sp>
      <p:sp>
        <p:nvSpPr>
          <p:cNvPr id="36" name="line-541">
            <a:extLst>
              <a:ext uri="{FF2B5EF4-FFF2-40B4-BE49-F238E27FC236}">
                <a16:creationId xmlns:a16="http://schemas.microsoft.com/office/drawing/2014/main" id="{E3E9D6A5-03B3-4625-A7F9-3EEFAC3C84C0}"/>
              </a:ext>
            </a:extLst>
          </p:cNvPr>
          <p:cNvSpPr>
            <a:spLocks noGrp="1"/>
          </p:cNvSpPr>
          <p:nvPr/>
        </p:nvSpPr>
        <p:spPr>
          <a:xfrm>
            <a:off x="7723847" y="4214057"/>
            <a:ext cx="24609" cy="47190"/>
          </a:xfrm>
          <a:custGeom>
            <a:avLst/>
            <a:gdLst/>
            <a:ahLst/>
            <a:cxnLst/>
            <a:rect l="0" t="0" r="0" b="0"/>
            <a:pathLst>
              <a:path w="24609" h="47190">
                <a:moveTo>
                  <a:pt x="0" y="47190"/>
                </a:moveTo>
                <a:lnTo>
                  <a:pt x="24609" y="0"/>
                </a:lnTo>
              </a:path>
            </a:pathLst>
          </a:custGeom>
          <a:noFill/>
          <a:ln w="19050">
            <a:solidFill>
              <a:srgbClr val="C76520"/>
            </a:solidFill>
          </a:ln>
        </p:spPr>
        <p:txBody>
          <a:bodyPr/>
          <a:lstStyle/>
          <a:p>
            <a:endParaRPr lang="en-US"/>
          </a:p>
        </p:txBody>
      </p:sp>
      <p:sp>
        <p:nvSpPr>
          <p:cNvPr id="37" name="line-542">
            <a:extLst>
              <a:ext uri="{FF2B5EF4-FFF2-40B4-BE49-F238E27FC236}">
                <a16:creationId xmlns:a16="http://schemas.microsoft.com/office/drawing/2014/main" id="{F9C40E0A-0E60-4ABA-B77A-B08588F72A70}"/>
              </a:ext>
            </a:extLst>
          </p:cNvPr>
          <p:cNvSpPr>
            <a:spLocks noGrp="1"/>
          </p:cNvSpPr>
          <p:nvPr/>
        </p:nvSpPr>
        <p:spPr>
          <a:xfrm>
            <a:off x="7748457" y="4169233"/>
            <a:ext cx="28694" cy="44824"/>
          </a:xfrm>
          <a:custGeom>
            <a:avLst/>
            <a:gdLst/>
            <a:ahLst/>
            <a:cxnLst/>
            <a:rect l="0" t="0" r="0" b="0"/>
            <a:pathLst>
              <a:path w="28694" h="44824">
                <a:moveTo>
                  <a:pt x="0" y="44824"/>
                </a:moveTo>
                <a:lnTo>
                  <a:pt x="28694" y="0"/>
                </a:lnTo>
              </a:path>
            </a:pathLst>
          </a:custGeom>
          <a:noFill/>
          <a:ln w="19050">
            <a:solidFill>
              <a:srgbClr val="C76520"/>
            </a:solidFill>
          </a:ln>
        </p:spPr>
        <p:txBody>
          <a:bodyPr/>
          <a:lstStyle/>
          <a:p>
            <a:endParaRPr lang="en-US"/>
          </a:p>
        </p:txBody>
      </p:sp>
      <p:sp>
        <p:nvSpPr>
          <p:cNvPr id="38" name="line-543">
            <a:extLst>
              <a:ext uri="{FF2B5EF4-FFF2-40B4-BE49-F238E27FC236}">
                <a16:creationId xmlns:a16="http://schemas.microsoft.com/office/drawing/2014/main" id="{9C8AB25D-19DC-4ADF-85AA-5F8D8DB040AA}"/>
              </a:ext>
            </a:extLst>
          </p:cNvPr>
          <p:cNvSpPr>
            <a:spLocks noGrp="1"/>
          </p:cNvSpPr>
          <p:nvPr/>
        </p:nvSpPr>
        <p:spPr>
          <a:xfrm>
            <a:off x="7777151" y="4127127"/>
            <a:ext cx="32553" cy="42106"/>
          </a:xfrm>
          <a:custGeom>
            <a:avLst/>
            <a:gdLst/>
            <a:ahLst/>
            <a:cxnLst/>
            <a:rect l="0" t="0" r="0" b="0"/>
            <a:pathLst>
              <a:path w="32553" h="42106">
                <a:moveTo>
                  <a:pt x="0" y="42106"/>
                </a:moveTo>
                <a:lnTo>
                  <a:pt x="32553" y="0"/>
                </a:lnTo>
              </a:path>
            </a:pathLst>
          </a:custGeom>
          <a:noFill/>
          <a:ln w="19050">
            <a:solidFill>
              <a:srgbClr val="C76520"/>
            </a:solidFill>
          </a:ln>
        </p:spPr>
        <p:txBody>
          <a:bodyPr/>
          <a:lstStyle/>
          <a:p>
            <a:endParaRPr lang="en-US"/>
          </a:p>
        </p:txBody>
      </p:sp>
      <p:sp>
        <p:nvSpPr>
          <p:cNvPr id="39" name="line-544">
            <a:extLst>
              <a:ext uri="{FF2B5EF4-FFF2-40B4-BE49-F238E27FC236}">
                <a16:creationId xmlns:a16="http://schemas.microsoft.com/office/drawing/2014/main" id="{553DA889-691A-45F0-BF5A-E463230E15D9}"/>
              </a:ext>
            </a:extLst>
          </p:cNvPr>
          <p:cNvSpPr>
            <a:spLocks noGrp="1"/>
          </p:cNvSpPr>
          <p:nvPr/>
        </p:nvSpPr>
        <p:spPr>
          <a:xfrm>
            <a:off x="7809703" y="4088072"/>
            <a:ext cx="36155" cy="39056"/>
          </a:xfrm>
          <a:custGeom>
            <a:avLst/>
            <a:gdLst/>
            <a:ahLst/>
            <a:cxnLst/>
            <a:rect l="0" t="0" r="0" b="0"/>
            <a:pathLst>
              <a:path w="36155" h="39056">
                <a:moveTo>
                  <a:pt x="0" y="39056"/>
                </a:moveTo>
                <a:lnTo>
                  <a:pt x="36155" y="0"/>
                </a:lnTo>
              </a:path>
            </a:pathLst>
          </a:custGeom>
          <a:noFill/>
          <a:ln w="19050">
            <a:solidFill>
              <a:srgbClr val="C76520"/>
            </a:solidFill>
          </a:ln>
        </p:spPr>
        <p:txBody>
          <a:bodyPr/>
          <a:lstStyle/>
          <a:p>
            <a:endParaRPr lang="en-US"/>
          </a:p>
        </p:txBody>
      </p:sp>
      <p:sp>
        <p:nvSpPr>
          <p:cNvPr id="40" name="line-545">
            <a:extLst>
              <a:ext uri="{FF2B5EF4-FFF2-40B4-BE49-F238E27FC236}">
                <a16:creationId xmlns:a16="http://schemas.microsoft.com/office/drawing/2014/main" id="{BF2F5811-823E-476E-BFD7-FF8CB1155089}"/>
              </a:ext>
            </a:extLst>
          </p:cNvPr>
          <p:cNvSpPr>
            <a:spLocks noGrp="1"/>
          </p:cNvSpPr>
          <p:nvPr/>
        </p:nvSpPr>
        <p:spPr>
          <a:xfrm>
            <a:off x="7845859" y="4052373"/>
            <a:ext cx="39474" cy="35698"/>
          </a:xfrm>
          <a:custGeom>
            <a:avLst/>
            <a:gdLst/>
            <a:ahLst/>
            <a:cxnLst/>
            <a:rect l="0" t="0" r="0" b="0"/>
            <a:pathLst>
              <a:path w="39474" h="35698">
                <a:moveTo>
                  <a:pt x="0" y="35698"/>
                </a:moveTo>
                <a:lnTo>
                  <a:pt x="39474" y="0"/>
                </a:lnTo>
              </a:path>
            </a:pathLst>
          </a:custGeom>
          <a:noFill/>
          <a:ln w="19050">
            <a:solidFill>
              <a:srgbClr val="C76520"/>
            </a:solidFill>
          </a:ln>
        </p:spPr>
        <p:txBody>
          <a:bodyPr/>
          <a:lstStyle/>
          <a:p>
            <a:endParaRPr lang="en-US"/>
          </a:p>
        </p:txBody>
      </p:sp>
      <p:sp>
        <p:nvSpPr>
          <p:cNvPr id="41" name="line-546">
            <a:extLst>
              <a:ext uri="{FF2B5EF4-FFF2-40B4-BE49-F238E27FC236}">
                <a16:creationId xmlns:a16="http://schemas.microsoft.com/office/drawing/2014/main" id="{E5373155-6DA4-48BE-AF1B-49FC83931D40}"/>
              </a:ext>
            </a:extLst>
          </p:cNvPr>
          <p:cNvSpPr>
            <a:spLocks noGrp="1"/>
          </p:cNvSpPr>
          <p:nvPr/>
        </p:nvSpPr>
        <p:spPr>
          <a:xfrm>
            <a:off x="7885332" y="4020312"/>
            <a:ext cx="42481" cy="32061"/>
          </a:xfrm>
          <a:custGeom>
            <a:avLst/>
            <a:gdLst/>
            <a:ahLst/>
            <a:cxnLst/>
            <a:rect l="0" t="0" r="0" b="0"/>
            <a:pathLst>
              <a:path w="42481" h="32061">
                <a:moveTo>
                  <a:pt x="0" y="32061"/>
                </a:moveTo>
                <a:lnTo>
                  <a:pt x="42481" y="0"/>
                </a:lnTo>
              </a:path>
            </a:pathLst>
          </a:custGeom>
          <a:noFill/>
          <a:ln w="19050">
            <a:solidFill>
              <a:srgbClr val="C76520"/>
            </a:solidFill>
          </a:ln>
        </p:spPr>
        <p:txBody>
          <a:bodyPr/>
          <a:lstStyle/>
          <a:p>
            <a:endParaRPr lang="en-US"/>
          </a:p>
        </p:txBody>
      </p:sp>
      <p:sp>
        <p:nvSpPr>
          <p:cNvPr id="42" name="line-547">
            <a:extLst>
              <a:ext uri="{FF2B5EF4-FFF2-40B4-BE49-F238E27FC236}">
                <a16:creationId xmlns:a16="http://schemas.microsoft.com/office/drawing/2014/main" id="{10032BE4-CE61-414E-B855-8AF0DFCA4BC8}"/>
              </a:ext>
            </a:extLst>
          </p:cNvPr>
          <p:cNvSpPr>
            <a:spLocks noGrp="1"/>
          </p:cNvSpPr>
          <p:nvPr/>
        </p:nvSpPr>
        <p:spPr>
          <a:xfrm>
            <a:off x="7927814" y="3992142"/>
            <a:ext cx="45155" cy="28170"/>
          </a:xfrm>
          <a:custGeom>
            <a:avLst/>
            <a:gdLst/>
            <a:ahLst/>
            <a:cxnLst/>
            <a:rect l="0" t="0" r="0" b="0"/>
            <a:pathLst>
              <a:path w="45155" h="28170">
                <a:moveTo>
                  <a:pt x="0" y="28170"/>
                </a:moveTo>
                <a:lnTo>
                  <a:pt x="45155" y="0"/>
                </a:lnTo>
              </a:path>
            </a:pathLst>
          </a:custGeom>
          <a:noFill/>
          <a:ln w="19050">
            <a:solidFill>
              <a:srgbClr val="C76520"/>
            </a:solidFill>
          </a:ln>
        </p:spPr>
        <p:txBody>
          <a:bodyPr/>
          <a:lstStyle/>
          <a:p>
            <a:endParaRPr lang="en-US"/>
          </a:p>
        </p:txBody>
      </p:sp>
      <p:sp>
        <p:nvSpPr>
          <p:cNvPr id="43" name="line-548">
            <a:extLst>
              <a:ext uri="{FF2B5EF4-FFF2-40B4-BE49-F238E27FC236}">
                <a16:creationId xmlns:a16="http://schemas.microsoft.com/office/drawing/2014/main" id="{3B0ADDD8-28FD-4052-943B-2934504A5B41}"/>
              </a:ext>
            </a:extLst>
          </p:cNvPr>
          <p:cNvSpPr>
            <a:spLocks noGrp="1"/>
          </p:cNvSpPr>
          <p:nvPr/>
        </p:nvSpPr>
        <p:spPr>
          <a:xfrm>
            <a:off x="7972969" y="3968083"/>
            <a:ext cx="47474" cy="24059"/>
          </a:xfrm>
          <a:custGeom>
            <a:avLst/>
            <a:gdLst/>
            <a:ahLst/>
            <a:cxnLst/>
            <a:rect l="0" t="0" r="0" b="0"/>
            <a:pathLst>
              <a:path w="47474" h="24059">
                <a:moveTo>
                  <a:pt x="0" y="24059"/>
                </a:moveTo>
                <a:lnTo>
                  <a:pt x="47474" y="0"/>
                </a:lnTo>
              </a:path>
            </a:pathLst>
          </a:custGeom>
          <a:noFill/>
          <a:ln w="19050">
            <a:solidFill>
              <a:srgbClr val="C76520"/>
            </a:solidFill>
          </a:ln>
        </p:spPr>
        <p:txBody>
          <a:bodyPr/>
          <a:lstStyle/>
          <a:p>
            <a:endParaRPr lang="en-US"/>
          </a:p>
        </p:txBody>
      </p:sp>
      <p:sp>
        <p:nvSpPr>
          <p:cNvPr id="44" name="line-549">
            <a:extLst>
              <a:ext uri="{FF2B5EF4-FFF2-40B4-BE49-F238E27FC236}">
                <a16:creationId xmlns:a16="http://schemas.microsoft.com/office/drawing/2014/main" id="{7F6060C6-3035-4595-8BBA-8B4EA22E2361}"/>
              </a:ext>
            </a:extLst>
          </p:cNvPr>
          <p:cNvSpPr>
            <a:spLocks noGrp="1"/>
          </p:cNvSpPr>
          <p:nvPr/>
        </p:nvSpPr>
        <p:spPr>
          <a:xfrm>
            <a:off x="8020442" y="3948326"/>
            <a:ext cx="49419" cy="19758"/>
          </a:xfrm>
          <a:custGeom>
            <a:avLst/>
            <a:gdLst/>
            <a:ahLst/>
            <a:cxnLst/>
            <a:rect l="0" t="0" r="0" b="0"/>
            <a:pathLst>
              <a:path w="49419" h="19758">
                <a:moveTo>
                  <a:pt x="0" y="19758"/>
                </a:moveTo>
                <a:lnTo>
                  <a:pt x="49419" y="0"/>
                </a:lnTo>
              </a:path>
            </a:pathLst>
          </a:custGeom>
          <a:noFill/>
          <a:ln w="19050">
            <a:solidFill>
              <a:srgbClr val="C76520"/>
            </a:solidFill>
          </a:ln>
        </p:spPr>
        <p:txBody>
          <a:bodyPr/>
          <a:lstStyle/>
          <a:p>
            <a:endParaRPr lang="en-US"/>
          </a:p>
        </p:txBody>
      </p:sp>
      <p:sp>
        <p:nvSpPr>
          <p:cNvPr id="45" name="line-550">
            <a:extLst>
              <a:ext uri="{FF2B5EF4-FFF2-40B4-BE49-F238E27FC236}">
                <a16:creationId xmlns:a16="http://schemas.microsoft.com/office/drawing/2014/main" id="{0DD4E619-B984-4097-AC45-88A94ADBA44D}"/>
              </a:ext>
            </a:extLst>
          </p:cNvPr>
          <p:cNvSpPr>
            <a:spLocks noGrp="1"/>
          </p:cNvSpPr>
          <p:nvPr/>
        </p:nvSpPr>
        <p:spPr>
          <a:xfrm>
            <a:off x="8069861" y="3933025"/>
            <a:ext cx="50975" cy="15301"/>
          </a:xfrm>
          <a:custGeom>
            <a:avLst/>
            <a:gdLst/>
            <a:ahLst/>
            <a:cxnLst/>
            <a:rect l="0" t="0" r="0" b="0"/>
            <a:pathLst>
              <a:path w="50975" h="15301">
                <a:moveTo>
                  <a:pt x="0" y="15301"/>
                </a:moveTo>
                <a:lnTo>
                  <a:pt x="50975" y="0"/>
                </a:lnTo>
              </a:path>
            </a:pathLst>
          </a:custGeom>
          <a:noFill/>
          <a:ln w="19050">
            <a:solidFill>
              <a:srgbClr val="C76520"/>
            </a:solidFill>
          </a:ln>
        </p:spPr>
        <p:txBody>
          <a:bodyPr/>
          <a:lstStyle/>
          <a:p>
            <a:endParaRPr lang="en-US"/>
          </a:p>
        </p:txBody>
      </p:sp>
      <p:sp>
        <p:nvSpPr>
          <p:cNvPr id="46" name="line-551">
            <a:extLst>
              <a:ext uri="{FF2B5EF4-FFF2-40B4-BE49-F238E27FC236}">
                <a16:creationId xmlns:a16="http://schemas.microsoft.com/office/drawing/2014/main" id="{986D5ED8-C5F7-4C12-9136-B30B79BC3073}"/>
              </a:ext>
            </a:extLst>
          </p:cNvPr>
          <p:cNvSpPr>
            <a:spLocks noGrp="1"/>
          </p:cNvSpPr>
          <p:nvPr/>
        </p:nvSpPr>
        <p:spPr>
          <a:xfrm>
            <a:off x="8120836" y="3922300"/>
            <a:ext cx="52130" cy="10724"/>
          </a:xfrm>
          <a:custGeom>
            <a:avLst/>
            <a:gdLst/>
            <a:ahLst/>
            <a:cxnLst/>
            <a:rect l="0" t="0" r="0" b="0"/>
            <a:pathLst>
              <a:path w="52130" h="10724">
                <a:moveTo>
                  <a:pt x="0" y="10724"/>
                </a:moveTo>
                <a:lnTo>
                  <a:pt x="52130" y="0"/>
                </a:lnTo>
              </a:path>
            </a:pathLst>
          </a:custGeom>
          <a:noFill/>
          <a:ln w="19050">
            <a:solidFill>
              <a:srgbClr val="C76520"/>
            </a:solidFill>
          </a:ln>
        </p:spPr>
        <p:txBody>
          <a:bodyPr/>
          <a:lstStyle/>
          <a:p>
            <a:endParaRPr lang="en-US"/>
          </a:p>
        </p:txBody>
      </p:sp>
      <p:sp>
        <p:nvSpPr>
          <p:cNvPr id="47" name="line-552">
            <a:extLst>
              <a:ext uri="{FF2B5EF4-FFF2-40B4-BE49-F238E27FC236}">
                <a16:creationId xmlns:a16="http://schemas.microsoft.com/office/drawing/2014/main" id="{72D864A2-C6C7-4263-B6CD-197CCC16669E}"/>
              </a:ext>
            </a:extLst>
          </p:cNvPr>
          <p:cNvSpPr>
            <a:spLocks noGrp="1"/>
          </p:cNvSpPr>
          <p:nvPr/>
        </p:nvSpPr>
        <p:spPr>
          <a:xfrm>
            <a:off x="8172966" y="3916237"/>
            <a:ext cx="52875" cy="9525"/>
          </a:xfrm>
          <a:custGeom>
            <a:avLst/>
            <a:gdLst/>
            <a:ahLst/>
            <a:cxnLst/>
            <a:rect l="0" t="0" r="0" b="0"/>
            <a:pathLst>
              <a:path w="52875" h="9525">
                <a:moveTo>
                  <a:pt x="0" y="6063"/>
                </a:moveTo>
                <a:lnTo>
                  <a:pt x="52875" y="0"/>
                </a:lnTo>
              </a:path>
            </a:pathLst>
          </a:custGeom>
          <a:noFill/>
          <a:ln w="19050">
            <a:solidFill>
              <a:srgbClr val="C76520"/>
            </a:solidFill>
          </a:ln>
        </p:spPr>
        <p:txBody>
          <a:bodyPr/>
          <a:lstStyle/>
          <a:p>
            <a:endParaRPr lang="en-US"/>
          </a:p>
        </p:txBody>
      </p:sp>
      <p:sp>
        <p:nvSpPr>
          <p:cNvPr id="48" name="line-553">
            <a:extLst>
              <a:ext uri="{FF2B5EF4-FFF2-40B4-BE49-F238E27FC236}">
                <a16:creationId xmlns:a16="http://schemas.microsoft.com/office/drawing/2014/main" id="{DF26D65D-8A51-47D9-80AE-FCB11D9FC6C1}"/>
              </a:ext>
            </a:extLst>
          </p:cNvPr>
          <p:cNvSpPr>
            <a:spLocks noGrp="1"/>
          </p:cNvSpPr>
          <p:nvPr/>
        </p:nvSpPr>
        <p:spPr>
          <a:xfrm>
            <a:off x="8225841" y="3914882"/>
            <a:ext cx="53204" cy="9525"/>
          </a:xfrm>
          <a:custGeom>
            <a:avLst/>
            <a:gdLst/>
            <a:ahLst/>
            <a:cxnLst/>
            <a:rect l="0" t="0" r="0" b="0"/>
            <a:pathLst>
              <a:path w="53204" h="9525">
                <a:moveTo>
                  <a:pt x="0" y="1354"/>
                </a:moveTo>
                <a:lnTo>
                  <a:pt x="53204" y="0"/>
                </a:lnTo>
              </a:path>
            </a:pathLst>
          </a:custGeom>
          <a:noFill/>
          <a:ln w="19050">
            <a:solidFill>
              <a:srgbClr val="C76520"/>
            </a:solidFill>
          </a:ln>
        </p:spPr>
        <p:txBody>
          <a:bodyPr/>
          <a:lstStyle/>
          <a:p>
            <a:endParaRPr lang="en-US"/>
          </a:p>
        </p:txBody>
      </p:sp>
      <p:sp>
        <p:nvSpPr>
          <p:cNvPr id="49" name="line-554">
            <a:extLst>
              <a:ext uri="{FF2B5EF4-FFF2-40B4-BE49-F238E27FC236}">
                <a16:creationId xmlns:a16="http://schemas.microsoft.com/office/drawing/2014/main" id="{40DFC066-7FCB-40AF-8381-44E40889C2F3}"/>
              </a:ext>
            </a:extLst>
          </p:cNvPr>
          <p:cNvSpPr>
            <a:spLocks noGrp="1"/>
          </p:cNvSpPr>
          <p:nvPr/>
        </p:nvSpPr>
        <p:spPr>
          <a:xfrm>
            <a:off x="8279045" y="3914882"/>
            <a:ext cx="53115" cy="9525"/>
          </a:xfrm>
          <a:custGeom>
            <a:avLst/>
            <a:gdLst/>
            <a:ahLst/>
            <a:cxnLst/>
            <a:rect l="0" t="0" r="0" b="0"/>
            <a:pathLst>
              <a:path w="53115" h="9525">
                <a:moveTo>
                  <a:pt x="0" y="0"/>
                </a:moveTo>
                <a:lnTo>
                  <a:pt x="53115" y="3365"/>
                </a:lnTo>
              </a:path>
            </a:pathLst>
          </a:custGeom>
          <a:noFill/>
          <a:ln w="19050">
            <a:solidFill>
              <a:srgbClr val="C76520"/>
            </a:solidFill>
          </a:ln>
        </p:spPr>
        <p:txBody>
          <a:bodyPr/>
          <a:lstStyle/>
          <a:p>
            <a:endParaRPr lang="en-US"/>
          </a:p>
        </p:txBody>
      </p:sp>
      <p:sp>
        <p:nvSpPr>
          <p:cNvPr id="50" name="line-555">
            <a:extLst>
              <a:ext uri="{FF2B5EF4-FFF2-40B4-BE49-F238E27FC236}">
                <a16:creationId xmlns:a16="http://schemas.microsoft.com/office/drawing/2014/main" id="{6C03C7A7-0B67-4EE3-9F24-B253D61270D2}"/>
              </a:ext>
            </a:extLst>
          </p:cNvPr>
          <p:cNvSpPr>
            <a:spLocks noGrp="1"/>
          </p:cNvSpPr>
          <p:nvPr/>
        </p:nvSpPr>
        <p:spPr>
          <a:xfrm>
            <a:off x="8332161" y="3918247"/>
            <a:ext cx="52608" cy="9525"/>
          </a:xfrm>
          <a:custGeom>
            <a:avLst/>
            <a:gdLst/>
            <a:ahLst/>
            <a:cxnLst/>
            <a:rect l="0" t="0" r="0" b="0"/>
            <a:pathLst>
              <a:path w="52608" h="9525">
                <a:moveTo>
                  <a:pt x="0" y="0"/>
                </a:moveTo>
                <a:lnTo>
                  <a:pt x="52608" y="8058"/>
                </a:lnTo>
              </a:path>
            </a:pathLst>
          </a:custGeom>
          <a:noFill/>
          <a:ln w="19050">
            <a:solidFill>
              <a:srgbClr val="C76520"/>
            </a:solidFill>
          </a:ln>
        </p:spPr>
        <p:txBody>
          <a:bodyPr/>
          <a:lstStyle/>
          <a:p>
            <a:endParaRPr lang="en-US"/>
          </a:p>
        </p:txBody>
      </p:sp>
      <p:sp>
        <p:nvSpPr>
          <p:cNvPr id="51" name="line-556">
            <a:extLst>
              <a:ext uri="{FF2B5EF4-FFF2-40B4-BE49-F238E27FC236}">
                <a16:creationId xmlns:a16="http://schemas.microsoft.com/office/drawing/2014/main" id="{ADC87499-1533-4755-94EB-1E6F5A387E86}"/>
              </a:ext>
            </a:extLst>
          </p:cNvPr>
          <p:cNvSpPr>
            <a:spLocks noGrp="1"/>
          </p:cNvSpPr>
          <p:nvPr/>
        </p:nvSpPr>
        <p:spPr>
          <a:xfrm>
            <a:off x="8384769" y="3926305"/>
            <a:ext cx="51687" cy="12688"/>
          </a:xfrm>
          <a:custGeom>
            <a:avLst/>
            <a:gdLst/>
            <a:ahLst/>
            <a:cxnLst/>
            <a:rect l="0" t="0" r="0" b="0"/>
            <a:pathLst>
              <a:path w="51687" h="12688">
                <a:moveTo>
                  <a:pt x="0" y="0"/>
                </a:moveTo>
                <a:lnTo>
                  <a:pt x="51687" y="12688"/>
                </a:lnTo>
              </a:path>
            </a:pathLst>
          </a:custGeom>
          <a:noFill/>
          <a:ln w="19050">
            <a:solidFill>
              <a:srgbClr val="C76520"/>
            </a:solidFill>
          </a:ln>
        </p:spPr>
        <p:txBody>
          <a:bodyPr/>
          <a:lstStyle/>
          <a:p>
            <a:endParaRPr lang="en-US"/>
          </a:p>
        </p:txBody>
      </p:sp>
      <p:sp>
        <p:nvSpPr>
          <p:cNvPr id="52" name="line-557">
            <a:extLst>
              <a:ext uri="{FF2B5EF4-FFF2-40B4-BE49-F238E27FC236}">
                <a16:creationId xmlns:a16="http://schemas.microsoft.com/office/drawing/2014/main" id="{693EFD27-5F81-4766-95E8-F987CEDAA7D0}"/>
              </a:ext>
            </a:extLst>
          </p:cNvPr>
          <p:cNvSpPr>
            <a:spLocks noGrp="1"/>
          </p:cNvSpPr>
          <p:nvPr/>
        </p:nvSpPr>
        <p:spPr>
          <a:xfrm>
            <a:off x="8436456" y="3938993"/>
            <a:ext cx="50360" cy="17217"/>
          </a:xfrm>
          <a:custGeom>
            <a:avLst/>
            <a:gdLst/>
            <a:ahLst/>
            <a:cxnLst/>
            <a:rect l="0" t="0" r="0" b="0"/>
            <a:pathLst>
              <a:path w="50360" h="17217">
                <a:moveTo>
                  <a:pt x="0" y="0"/>
                </a:moveTo>
                <a:lnTo>
                  <a:pt x="50360" y="17217"/>
                </a:lnTo>
              </a:path>
            </a:pathLst>
          </a:custGeom>
          <a:noFill/>
          <a:ln w="19050">
            <a:solidFill>
              <a:srgbClr val="C76520"/>
            </a:solidFill>
          </a:ln>
        </p:spPr>
        <p:txBody>
          <a:bodyPr/>
          <a:lstStyle/>
          <a:p>
            <a:endParaRPr lang="en-US"/>
          </a:p>
        </p:txBody>
      </p:sp>
      <p:sp>
        <p:nvSpPr>
          <p:cNvPr id="53" name="line-558">
            <a:extLst>
              <a:ext uri="{FF2B5EF4-FFF2-40B4-BE49-F238E27FC236}">
                <a16:creationId xmlns:a16="http://schemas.microsoft.com/office/drawing/2014/main" id="{4CC1717D-F526-482F-9631-AFB8C110EF65}"/>
              </a:ext>
            </a:extLst>
          </p:cNvPr>
          <p:cNvSpPr>
            <a:spLocks noGrp="1"/>
          </p:cNvSpPr>
          <p:nvPr/>
        </p:nvSpPr>
        <p:spPr>
          <a:xfrm>
            <a:off x="8486816" y="3956210"/>
            <a:ext cx="48636" cy="21612"/>
          </a:xfrm>
          <a:custGeom>
            <a:avLst/>
            <a:gdLst/>
            <a:ahLst/>
            <a:cxnLst/>
            <a:rect l="0" t="0" r="0" b="0"/>
            <a:pathLst>
              <a:path w="48636" h="21612">
                <a:moveTo>
                  <a:pt x="0" y="0"/>
                </a:moveTo>
                <a:lnTo>
                  <a:pt x="48636" y="21612"/>
                </a:lnTo>
              </a:path>
            </a:pathLst>
          </a:custGeom>
          <a:noFill/>
          <a:ln w="19050">
            <a:solidFill>
              <a:srgbClr val="C76520"/>
            </a:solidFill>
          </a:ln>
        </p:spPr>
        <p:txBody>
          <a:bodyPr/>
          <a:lstStyle/>
          <a:p>
            <a:endParaRPr lang="en-US"/>
          </a:p>
        </p:txBody>
      </p:sp>
      <p:sp>
        <p:nvSpPr>
          <p:cNvPr id="54" name="line-559">
            <a:extLst>
              <a:ext uri="{FF2B5EF4-FFF2-40B4-BE49-F238E27FC236}">
                <a16:creationId xmlns:a16="http://schemas.microsoft.com/office/drawing/2014/main" id="{5A6CECE3-CA64-4524-906C-86F3C1E95CBB}"/>
              </a:ext>
            </a:extLst>
          </p:cNvPr>
          <p:cNvSpPr>
            <a:spLocks noGrp="1"/>
          </p:cNvSpPr>
          <p:nvPr/>
        </p:nvSpPr>
        <p:spPr>
          <a:xfrm>
            <a:off x="8535452" y="3977822"/>
            <a:ext cx="46530" cy="25836"/>
          </a:xfrm>
          <a:custGeom>
            <a:avLst/>
            <a:gdLst/>
            <a:ahLst/>
            <a:cxnLst/>
            <a:rect l="0" t="0" r="0" b="0"/>
            <a:pathLst>
              <a:path w="46530" h="25836">
                <a:moveTo>
                  <a:pt x="0" y="0"/>
                </a:moveTo>
                <a:lnTo>
                  <a:pt x="46530" y="25836"/>
                </a:lnTo>
              </a:path>
            </a:pathLst>
          </a:custGeom>
          <a:noFill/>
          <a:ln w="19050">
            <a:solidFill>
              <a:srgbClr val="C76520"/>
            </a:solidFill>
          </a:ln>
        </p:spPr>
        <p:txBody>
          <a:bodyPr/>
          <a:lstStyle/>
          <a:p>
            <a:endParaRPr lang="en-US"/>
          </a:p>
        </p:txBody>
      </p:sp>
      <p:sp>
        <p:nvSpPr>
          <p:cNvPr id="55" name="line-560">
            <a:extLst>
              <a:ext uri="{FF2B5EF4-FFF2-40B4-BE49-F238E27FC236}">
                <a16:creationId xmlns:a16="http://schemas.microsoft.com/office/drawing/2014/main" id="{05BCA31B-6C7B-450F-8D26-BDA12C205253}"/>
              </a:ext>
            </a:extLst>
          </p:cNvPr>
          <p:cNvSpPr>
            <a:spLocks noGrp="1"/>
          </p:cNvSpPr>
          <p:nvPr/>
        </p:nvSpPr>
        <p:spPr>
          <a:xfrm>
            <a:off x="8581982" y="4003659"/>
            <a:ext cx="44058" cy="29857"/>
          </a:xfrm>
          <a:custGeom>
            <a:avLst/>
            <a:gdLst/>
            <a:ahLst/>
            <a:cxnLst/>
            <a:rect l="0" t="0" r="0" b="0"/>
            <a:pathLst>
              <a:path w="44058" h="29857">
                <a:moveTo>
                  <a:pt x="0" y="0"/>
                </a:moveTo>
                <a:lnTo>
                  <a:pt x="44058" y="29857"/>
                </a:lnTo>
              </a:path>
            </a:pathLst>
          </a:custGeom>
          <a:noFill/>
          <a:ln w="19050">
            <a:solidFill>
              <a:srgbClr val="C76520"/>
            </a:solidFill>
          </a:ln>
        </p:spPr>
        <p:txBody>
          <a:bodyPr/>
          <a:lstStyle/>
          <a:p>
            <a:endParaRPr lang="en-US"/>
          </a:p>
        </p:txBody>
      </p:sp>
      <p:sp>
        <p:nvSpPr>
          <p:cNvPr id="56" name="line-561">
            <a:extLst>
              <a:ext uri="{FF2B5EF4-FFF2-40B4-BE49-F238E27FC236}">
                <a16:creationId xmlns:a16="http://schemas.microsoft.com/office/drawing/2014/main" id="{66B1955E-B3F4-48F7-9AC1-D64E46D105B8}"/>
              </a:ext>
            </a:extLst>
          </p:cNvPr>
          <p:cNvSpPr>
            <a:spLocks noGrp="1"/>
          </p:cNvSpPr>
          <p:nvPr/>
        </p:nvSpPr>
        <p:spPr>
          <a:xfrm>
            <a:off x="8626040" y="4033516"/>
            <a:ext cx="41239" cy="33644"/>
          </a:xfrm>
          <a:custGeom>
            <a:avLst/>
            <a:gdLst/>
            <a:ahLst/>
            <a:cxnLst/>
            <a:rect l="0" t="0" r="0" b="0"/>
            <a:pathLst>
              <a:path w="41239" h="33644">
                <a:moveTo>
                  <a:pt x="0" y="0"/>
                </a:moveTo>
                <a:lnTo>
                  <a:pt x="41239" y="33644"/>
                </a:lnTo>
              </a:path>
            </a:pathLst>
          </a:custGeom>
          <a:noFill/>
          <a:ln w="19050">
            <a:solidFill>
              <a:srgbClr val="C76520"/>
            </a:solidFill>
          </a:ln>
        </p:spPr>
        <p:txBody>
          <a:bodyPr/>
          <a:lstStyle/>
          <a:p>
            <a:endParaRPr lang="en-US"/>
          </a:p>
        </p:txBody>
      </p:sp>
      <p:sp>
        <p:nvSpPr>
          <p:cNvPr id="57" name="line-562">
            <a:extLst>
              <a:ext uri="{FF2B5EF4-FFF2-40B4-BE49-F238E27FC236}">
                <a16:creationId xmlns:a16="http://schemas.microsoft.com/office/drawing/2014/main" id="{0A88C14C-1E42-4ADE-B4F8-B3746113C739}"/>
              </a:ext>
            </a:extLst>
          </p:cNvPr>
          <p:cNvSpPr>
            <a:spLocks noGrp="1"/>
          </p:cNvSpPr>
          <p:nvPr/>
        </p:nvSpPr>
        <p:spPr>
          <a:xfrm>
            <a:off x="8667279" y="4067160"/>
            <a:ext cx="38096" cy="37165"/>
          </a:xfrm>
          <a:custGeom>
            <a:avLst/>
            <a:gdLst/>
            <a:ahLst/>
            <a:cxnLst/>
            <a:rect l="0" t="0" r="0" b="0"/>
            <a:pathLst>
              <a:path w="38096" h="37165">
                <a:moveTo>
                  <a:pt x="0" y="0"/>
                </a:moveTo>
                <a:lnTo>
                  <a:pt x="38096" y="37165"/>
                </a:lnTo>
              </a:path>
            </a:pathLst>
          </a:custGeom>
          <a:noFill/>
          <a:ln w="19050">
            <a:solidFill>
              <a:srgbClr val="C76520"/>
            </a:solidFill>
          </a:ln>
        </p:spPr>
        <p:txBody>
          <a:bodyPr/>
          <a:lstStyle/>
          <a:p>
            <a:endParaRPr lang="en-US"/>
          </a:p>
        </p:txBody>
      </p:sp>
      <p:sp>
        <p:nvSpPr>
          <p:cNvPr id="58" name="line-563">
            <a:extLst>
              <a:ext uri="{FF2B5EF4-FFF2-40B4-BE49-F238E27FC236}">
                <a16:creationId xmlns:a16="http://schemas.microsoft.com/office/drawing/2014/main" id="{45FDBDD2-41EE-4273-A18E-EABFAF239A53}"/>
              </a:ext>
            </a:extLst>
          </p:cNvPr>
          <p:cNvSpPr>
            <a:spLocks noGrp="1"/>
          </p:cNvSpPr>
          <p:nvPr/>
        </p:nvSpPr>
        <p:spPr>
          <a:xfrm>
            <a:off x="8705375" y="4104325"/>
            <a:ext cx="34653" cy="40395"/>
          </a:xfrm>
          <a:custGeom>
            <a:avLst/>
            <a:gdLst/>
            <a:ahLst/>
            <a:cxnLst/>
            <a:rect l="0" t="0" r="0" b="0"/>
            <a:pathLst>
              <a:path w="34653" h="40395">
                <a:moveTo>
                  <a:pt x="0" y="0"/>
                </a:moveTo>
                <a:lnTo>
                  <a:pt x="34653" y="40395"/>
                </a:lnTo>
              </a:path>
            </a:pathLst>
          </a:custGeom>
          <a:noFill/>
          <a:ln w="19050">
            <a:solidFill>
              <a:srgbClr val="C76520"/>
            </a:solidFill>
          </a:ln>
        </p:spPr>
        <p:txBody>
          <a:bodyPr/>
          <a:lstStyle/>
          <a:p>
            <a:endParaRPr lang="en-US"/>
          </a:p>
        </p:txBody>
      </p:sp>
      <p:sp>
        <p:nvSpPr>
          <p:cNvPr id="59" name="line-564">
            <a:extLst>
              <a:ext uri="{FF2B5EF4-FFF2-40B4-BE49-F238E27FC236}">
                <a16:creationId xmlns:a16="http://schemas.microsoft.com/office/drawing/2014/main" id="{1C6E7189-1D36-4561-96F7-869FD3B0DDAA}"/>
              </a:ext>
            </a:extLst>
          </p:cNvPr>
          <p:cNvSpPr>
            <a:spLocks noGrp="1"/>
          </p:cNvSpPr>
          <p:nvPr/>
        </p:nvSpPr>
        <p:spPr>
          <a:xfrm>
            <a:off x="8740028" y="4144720"/>
            <a:ext cx="30938" cy="43306"/>
          </a:xfrm>
          <a:custGeom>
            <a:avLst/>
            <a:gdLst/>
            <a:ahLst/>
            <a:cxnLst/>
            <a:rect l="0" t="0" r="0" b="0"/>
            <a:pathLst>
              <a:path w="30938" h="43306">
                <a:moveTo>
                  <a:pt x="0" y="0"/>
                </a:moveTo>
                <a:lnTo>
                  <a:pt x="30938" y="43306"/>
                </a:lnTo>
              </a:path>
            </a:pathLst>
          </a:custGeom>
          <a:noFill/>
          <a:ln w="19050">
            <a:solidFill>
              <a:srgbClr val="C76520"/>
            </a:solidFill>
          </a:ln>
        </p:spPr>
        <p:txBody>
          <a:bodyPr/>
          <a:lstStyle/>
          <a:p>
            <a:endParaRPr lang="en-US"/>
          </a:p>
        </p:txBody>
      </p:sp>
      <p:sp>
        <p:nvSpPr>
          <p:cNvPr id="60" name="diagram-565">
            <a:extLst>
              <a:ext uri="{FF2B5EF4-FFF2-40B4-BE49-F238E27FC236}">
                <a16:creationId xmlns:a16="http://schemas.microsoft.com/office/drawing/2014/main" id="{92E9592C-B18A-4B8B-BCFD-57AE77D09B72}"/>
              </a:ext>
            </a:extLst>
          </p:cNvPr>
          <p:cNvSpPr>
            <a:spLocks noGrp="1"/>
          </p:cNvSpPr>
          <p:nvPr/>
        </p:nvSpPr>
        <p:spPr>
          <a:xfrm>
            <a:off x="6677025" y="3048000"/>
            <a:ext cx="4667250" cy="323850"/>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Upper / lower spatial directions</a:t>
            </a:r>
          </a:p>
        </p:txBody>
      </p:sp>
      <p:sp>
        <p:nvSpPr>
          <p:cNvPr id="64" name="added-text-11">
            <a:extLst>
              <a:ext uri="{FF2B5EF4-FFF2-40B4-BE49-F238E27FC236}">
                <a16:creationId xmlns:a16="http://schemas.microsoft.com/office/drawing/2014/main" id="{A288F0B4-C568-4531-B06F-645FAD030F31}"/>
              </a:ext>
            </a:extLst>
          </p:cNvPr>
          <p:cNvSpPr>
            <a:spLocks noGrp="1"/>
          </p:cNvSpPr>
          <p:nvPr/>
        </p:nvSpPr>
        <p:spPr>
          <a:xfrm>
            <a:off x="933450" y="3152775"/>
            <a:ext cx="561975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q = (γ, α): shared pan–tilt state    Ti: delivered rate of client i</a:t>
            </a:r>
          </a:p>
        </p:txBody>
      </p:sp>
      <p:sp>
        <p:nvSpPr>
          <p:cNvPr id="65" name="added-text-99">
            <a:extLst>
              <a:ext uri="{FF2B5EF4-FFF2-40B4-BE49-F238E27FC236}">
                <a16:creationId xmlns:a16="http://schemas.microsoft.com/office/drawing/2014/main" id="{6E138DFA-E7CE-45AB-B963-3BAE0B23BF8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28</a:t>
            </a:r>
          </a:p>
        </p:txBody>
      </p:sp>
    </p:spTree>
    <p:extLst>
      <p:ext uri="{BB962C8B-B14F-4D97-AF65-F5344CB8AC3E}">
        <p14:creationId xmlns:p14="http://schemas.microsoft.com/office/powerpoint/2010/main" val="2955090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2-D: service priorities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68" name="Picture 67"/>
          <p:cNvPicPr>
            <a:picLocks noChangeAspect="1"/>
          </p:cNvPicPr>
          <p:nvPr/>
        </p:nvPicPr>
        <p:blipFill>
          <a:blip r:embed="rId3"/>
          <a:stretch/>
        </p:blipFill>
        <p:spPr>
          <a:xfrm>
            <a:off x="933450" y="1885950"/>
            <a:ext cx="2767051" cy="568518"/>
          </a:xfrm>
          <a:prstGeom prst="rect">
            <a:avLst/>
          </a:prstGeom>
        </p:spPr>
      </p:pic>
      <p:pic>
        <p:nvPicPr>
          <p:cNvPr id="69" name="Picture 68"/>
          <p:cNvPicPr>
            <a:picLocks noChangeAspect="1"/>
          </p:cNvPicPr>
          <p:nvPr/>
        </p:nvPicPr>
        <p:blipFill>
          <a:blip r:embed="rId4"/>
          <a:stretch/>
        </p:blipFill>
        <p:spPr>
          <a:xfrm>
            <a:off x="933450" y="2625918"/>
            <a:ext cx="3140762" cy="397565"/>
          </a:xfrm>
          <a:prstGeom prst="rect">
            <a:avLst/>
          </a:prstGeom>
        </p:spPr>
      </p:pic>
      <p:sp>
        <p:nvSpPr>
          <p:cNvPr id="6" name="diagram-566">
            <a:extLst>
              <a:ext uri="{FF2B5EF4-FFF2-40B4-BE49-F238E27FC236}">
                <a16:creationId xmlns:a16="http://schemas.microsoft.com/office/drawing/2014/main" id="{CEFB4F18-21FC-44D2-8352-F63758F150CD}"/>
              </a:ext>
            </a:extLst>
          </p:cNvPr>
          <p:cNvSpPr>
            <a:spLocks noGrp="1"/>
          </p:cNvSpPr>
          <p:nvPr/>
        </p:nvSpPr>
        <p:spPr>
          <a:xfrm>
            <a:off x="933450" y="3724275"/>
            <a:ext cx="5457825" cy="2667000"/>
          </a:xfrm>
          <a:prstGeom prst="rect">
            <a:avLst/>
          </a:prstGeom>
          <a:noFill/>
          <a:ln w="0">
            <a:noFill/>
          </a:ln>
        </p:spPr>
        <p:txBody>
          <a:bodyPr lIns="0" tIns="0" rIns="0" bIns="0" anchor="t">
            <a:noAutofit/>
          </a:bodyPr>
          <a:lstStyle/>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Optimize weighted service delivery under one common pan–tilt state.</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A newly urgent service can change the best state even when channels stay fixed.</a:t>
            </a:r>
          </a:p>
          <a:p>
            <a:pPr marL="228600" indent="-165100" algn="l">
              <a:spcAft>
                <a:spcPts val="1600"/>
              </a:spcAft>
              <a:buChar char="•"/>
              <a:defRPr sz="1875" b="0">
                <a:solidFill>
                  <a:srgbClr val="111111"/>
                </a:solidFill>
                <a:latin typeface="Aptos"/>
                <a:ea typeface="Aptos"/>
                <a:cs typeface="Aptos"/>
              </a:defRPr>
            </a:pPr>
            <a:r>
              <a:rPr sz="1875" b="0">
                <a:solidFill>
                  <a:srgbClr val="111111"/>
                </a:solidFill>
                <a:latin typeface="Aptos"/>
                <a:ea typeface="Aptos"/>
                <a:cs typeface="Aptos"/>
              </a:rPr>
              <a:t>Rescore valid models, verify delay/rate constraints, and report infeasibility if necessary.</a:t>
            </a:r>
          </a:p>
        </p:txBody>
      </p:sp>
      <p:sp>
        <p:nvSpPr>
          <p:cNvPr id="7" name="diagram-567">
            <a:extLst>
              <a:ext uri="{FF2B5EF4-FFF2-40B4-BE49-F238E27FC236}">
                <a16:creationId xmlns:a16="http://schemas.microsoft.com/office/drawing/2014/main" id="{BD1F099E-9312-45F6-B0BB-E85E202746FC}"/>
              </a:ext>
            </a:extLst>
          </p:cNvPr>
          <p:cNvSpPr>
            <a:spLocks noGrp="1"/>
          </p:cNvSpPr>
          <p:nvPr/>
        </p:nvSpPr>
        <p:spPr>
          <a:xfrm>
            <a:off x="7762875" y="4772025"/>
            <a:ext cx="1143000" cy="457200"/>
          </a:xfrm>
          <a:prstGeom prst="roundRect">
            <a:avLst>
              <a:gd name="adj" fmla="val 16667"/>
            </a:avLst>
          </a:prstGeom>
          <a:solidFill>
            <a:srgbClr val="FFFFFF"/>
          </a:solidFill>
          <a:ln w="19050">
            <a:solidFill>
              <a:srgbClr val="111111"/>
            </a:solidFill>
          </a:ln>
        </p:spPr>
        <p:txBody>
          <a:bodyPr/>
          <a:lstStyle/>
          <a:p>
            <a:endParaRPr lang="en-US"/>
          </a:p>
        </p:txBody>
      </p:sp>
      <p:sp>
        <p:nvSpPr>
          <p:cNvPr id="8" name="line-568">
            <a:extLst>
              <a:ext uri="{FF2B5EF4-FFF2-40B4-BE49-F238E27FC236}">
                <a16:creationId xmlns:a16="http://schemas.microsoft.com/office/drawing/2014/main" id="{52728F8C-F2A3-4995-B55C-116D82CD440C}"/>
              </a:ext>
            </a:extLst>
          </p:cNvPr>
          <p:cNvSpPr>
            <a:spLocks noGrp="1"/>
          </p:cNvSpPr>
          <p:nvPr/>
        </p:nvSpPr>
        <p:spPr>
          <a:xfrm>
            <a:off x="7972425" y="4219575"/>
            <a:ext cx="9525" cy="552450"/>
          </a:xfrm>
          <a:custGeom>
            <a:avLst/>
            <a:gdLst/>
            <a:ahLst/>
            <a:cxnLst/>
            <a:rect l="0" t="0" r="0" b="0"/>
            <a:pathLst>
              <a:path w="9525" h="552450">
                <a:moveTo>
                  <a:pt x="0" y="552450"/>
                </a:moveTo>
                <a:lnTo>
                  <a:pt x="0" y="0"/>
                </a:lnTo>
              </a:path>
            </a:pathLst>
          </a:custGeom>
          <a:noFill/>
          <a:ln w="47625">
            <a:solidFill>
              <a:srgbClr val="111111"/>
            </a:solidFill>
          </a:ln>
        </p:spPr>
        <p:txBody>
          <a:bodyPr/>
          <a:lstStyle/>
          <a:p>
            <a:endParaRPr lang="en-US"/>
          </a:p>
        </p:txBody>
      </p:sp>
      <p:sp>
        <p:nvSpPr>
          <p:cNvPr id="9" name="line-569">
            <a:extLst>
              <a:ext uri="{FF2B5EF4-FFF2-40B4-BE49-F238E27FC236}">
                <a16:creationId xmlns:a16="http://schemas.microsoft.com/office/drawing/2014/main" id="{B801E91F-B4DB-4FB2-9437-7A6BBA8F1EA3}"/>
              </a:ext>
            </a:extLst>
          </p:cNvPr>
          <p:cNvSpPr>
            <a:spLocks noGrp="1"/>
          </p:cNvSpPr>
          <p:nvPr/>
        </p:nvSpPr>
        <p:spPr>
          <a:xfrm>
            <a:off x="8639175" y="4200525"/>
            <a:ext cx="247650" cy="571500"/>
          </a:xfrm>
          <a:custGeom>
            <a:avLst/>
            <a:gdLst/>
            <a:ahLst/>
            <a:cxnLst/>
            <a:rect l="0" t="0" r="0" b="0"/>
            <a:pathLst>
              <a:path w="247650" h="571500">
                <a:moveTo>
                  <a:pt x="0" y="571500"/>
                </a:moveTo>
                <a:lnTo>
                  <a:pt x="247650" y="0"/>
                </a:lnTo>
              </a:path>
            </a:pathLst>
          </a:custGeom>
          <a:noFill/>
          <a:ln w="47625">
            <a:solidFill>
              <a:srgbClr val="C76520"/>
            </a:solidFill>
          </a:ln>
        </p:spPr>
        <p:txBody>
          <a:bodyPr/>
          <a:lstStyle/>
          <a:p>
            <a:endParaRPr lang="en-US"/>
          </a:p>
        </p:txBody>
      </p:sp>
      <p:sp>
        <p:nvSpPr>
          <p:cNvPr id="10" name="diagram-570">
            <a:extLst>
              <a:ext uri="{FF2B5EF4-FFF2-40B4-BE49-F238E27FC236}">
                <a16:creationId xmlns:a16="http://schemas.microsoft.com/office/drawing/2014/main" id="{6CC7F8D3-BAC8-4F66-BF18-88098BCBABE2}"/>
              </a:ext>
            </a:extLst>
          </p:cNvPr>
          <p:cNvSpPr>
            <a:spLocks noGrp="1"/>
          </p:cNvSpPr>
          <p:nvPr/>
        </p:nvSpPr>
        <p:spPr>
          <a:xfrm>
            <a:off x="7953375" y="5029200"/>
            <a:ext cx="47625" cy="47625"/>
          </a:xfrm>
          <a:prstGeom prst="ellipse">
            <a:avLst/>
          </a:prstGeom>
          <a:solidFill>
            <a:srgbClr val="287653"/>
          </a:solidFill>
          <a:ln w="19050">
            <a:noFill/>
          </a:ln>
        </p:spPr>
        <p:txBody>
          <a:bodyPr/>
          <a:lstStyle/>
          <a:p>
            <a:endParaRPr lang="en-US"/>
          </a:p>
        </p:txBody>
      </p:sp>
      <p:sp>
        <p:nvSpPr>
          <p:cNvPr id="11" name="diagram-571">
            <a:extLst>
              <a:ext uri="{FF2B5EF4-FFF2-40B4-BE49-F238E27FC236}">
                <a16:creationId xmlns:a16="http://schemas.microsoft.com/office/drawing/2014/main" id="{FBCABD1F-EA7A-4473-8242-FF4051BDC818}"/>
              </a:ext>
            </a:extLst>
          </p:cNvPr>
          <p:cNvSpPr>
            <a:spLocks noGrp="1"/>
          </p:cNvSpPr>
          <p:nvPr/>
        </p:nvSpPr>
        <p:spPr>
          <a:xfrm>
            <a:off x="8105775" y="5029200"/>
            <a:ext cx="47625" cy="47625"/>
          </a:xfrm>
          <a:prstGeom prst="ellipse">
            <a:avLst/>
          </a:prstGeom>
          <a:solidFill>
            <a:srgbClr val="C9CDD0"/>
          </a:solidFill>
          <a:ln w="19050">
            <a:noFill/>
          </a:ln>
        </p:spPr>
        <p:txBody>
          <a:bodyPr/>
          <a:lstStyle/>
          <a:p>
            <a:endParaRPr lang="en-US"/>
          </a:p>
        </p:txBody>
      </p:sp>
      <p:sp>
        <p:nvSpPr>
          <p:cNvPr id="12" name="diagram-572">
            <a:extLst>
              <a:ext uri="{FF2B5EF4-FFF2-40B4-BE49-F238E27FC236}">
                <a16:creationId xmlns:a16="http://schemas.microsoft.com/office/drawing/2014/main" id="{B65ABEDC-E75B-48D8-90A8-805FC3E2927F}"/>
              </a:ext>
            </a:extLst>
          </p:cNvPr>
          <p:cNvSpPr>
            <a:spLocks noGrp="1"/>
          </p:cNvSpPr>
          <p:nvPr/>
        </p:nvSpPr>
        <p:spPr>
          <a:xfrm>
            <a:off x="8258175" y="5029200"/>
            <a:ext cx="47625" cy="47625"/>
          </a:xfrm>
          <a:prstGeom prst="ellipse">
            <a:avLst/>
          </a:prstGeom>
          <a:solidFill>
            <a:srgbClr val="C9CDD0"/>
          </a:solidFill>
          <a:ln w="19050">
            <a:noFill/>
          </a:ln>
        </p:spPr>
        <p:txBody>
          <a:bodyPr/>
          <a:lstStyle/>
          <a:p>
            <a:endParaRPr lang="en-US"/>
          </a:p>
        </p:txBody>
      </p:sp>
      <p:sp>
        <p:nvSpPr>
          <p:cNvPr id="13" name="diagram-573">
            <a:extLst>
              <a:ext uri="{FF2B5EF4-FFF2-40B4-BE49-F238E27FC236}">
                <a16:creationId xmlns:a16="http://schemas.microsoft.com/office/drawing/2014/main" id="{73F68E6A-6751-4264-A792-EF59D3DD3CE7}"/>
              </a:ext>
            </a:extLst>
          </p:cNvPr>
          <p:cNvSpPr>
            <a:spLocks noGrp="1"/>
          </p:cNvSpPr>
          <p:nvPr/>
        </p:nvSpPr>
        <p:spPr>
          <a:xfrm>
            <a:off x="7381875" y="5305425"/>
            <a:ext cx="1905000" cy="476250"/>
          </a:xfrm>
          <a:prstGeom prst="rect">
            <a:avLst/>
          </a:prstGeom>
          <a:noFill/>
          <a:ln w="0">
            <a:noFill/>
          </a:ln>
        </p:spPr>
        <p:txBody>
          <a:bodyPr lIns="0" tIns="0" rIns="0" bIns="0" anchor="t">
            <a:noAutofit/>
          </a:bodyPr>
          <a:lstStyle/>
          <a:p>
            <a:pPr algn="ctr">
              <a:buNone/>
              <a:defRPr sz="1575" b="1">
                <a:solidFill>
                  <a:srgbClr val="111111"/>
                </a:solidFill>
                <a:latin typeface="Aptos"/>
                <a:ea typeface="Aptos"/>
                <a:cs typeface="Aptos"/>
              </a:defRPr>
            </a:pPr>
            <a:r>
              <a:rPr sz="1575" b="1">
                <a:solidFill>
                  <a:srgbClr val="111111"/>
                </a:solidFill>
                <a:latin typeface="Aptos"/>
                <a:ea typeface="Aptos"/>
                <a:cs typeface="Aptos"/>
              </a:rPr>
              <a:t>Shared AP orientation</a:t>
            </a:r>
          </a:p>
        </p:txBody>
      </p:sp>
      <p:sp>
        <p:nvSpPr>
          <p:cNvPr id="14" name="diagram-574">
            <a:extLst>
              <a:ext uri="{FF2B5EF4-FFF2-40B4-BE49-F238E27FC236}">
                <a16:creationId xmlns:a16="http://schemas.microsoft.com/office/drawing/2014/main" id="{87D90232-23EF-4BB0-9F33-C07BF7CB8FE8}"/>
              </a:ext>
            </a:extLst>
          </p:cNvPr>
          <p:cNvSpPr>
            <a:spLocks noGrp="1"/>
          </p:cNvSpPr>
          <p:nvPr/>
        </p:nvSpPr>
        <p:spPr>
          <a:xfrm>
            <a:off x="6915150" y="3400425"/>
            <a:ext cx="617220" cy="397764"/>
          </a:xfrm>
          <a:prstGeom prst="rect">
            <a:avLst/>
          </a:prstGeom>
          <a:solidFill>
            <a:srgbClr val="FFFFFF"/>
          </a:solidFill>
          <a:ln w="19050">
            <a:solidFill>
              <a:srgbClr val="111111"/>
            </a:solidFill>
          </a:ln>
        </p:spPr>
        <p:txBody>
          <a:bodyPr/>
          <a:lstStyle/>
          <a:p>
            <a:endParaRPr lang="en-US"/>
          </a:p>
        </p:txBody>
      </p:sp>
      <p:sp>
        <p:nvSpPr>
          <p:cNvPr id="15" name="diagram-575">
            <a:extLst>
              <a:ext uri="{FF2B5EF4-FFF2-40B4-BE49-F238E27FC236}">
                <a16:creationId xmlns:a16="http://schemas.microsoft.com/office/drawing/2014/main" id="{0F812372-4CEB-421F-89F2-4616B03C1783}"/>
              </a:ext>
            </a:extLst>
          </p:cNvPr>
          <p:cNvSpPr>
            <a:spLocks noGrp="1"/>
          </p:cNvSpPr>
          <p:nvPr/>
        </p:nvSpPr>
        <p:spPr>
          <a:xfrm>
            <a:off x="6949440" y="3434715"/>
            <a:ext cx="548640" cy="329184"/>
          </a:xfrm>
          <a:prstGeom prst="rect">
            <a:avLst/>
          </a:prstGeom>
          <a:solidFill>
            <a:srgbClr val="F1F4F5"/>
          </a:solidFill>
          <a:ln w="19050">
            <a:noFill/>
          </a:ln>
        </p:spPr>
        <p:txBody>
          <a:bodyPr/>
          <a:lstStyle/>
          <a:p>
            <a:endParaRPr lang="en-US"/>
          </a:p>
        </p:txBody>
      </p:sp>
      <p:sp>
        <p:nvSpPr>
          <p:cNvPr id="16" name="line-576">
            <a:extLst>
              <a:ext uri="{FF2B5EF4-FFF2-40B4-BE49-F238E27FC236}">
                <a16:creationId xmlns:a16="http://schemas.microsoft.com/office/drawing/2014/main" id="{EF3ECC54-3E6B-4BA5-A32D-313B7AD4CF68}"/>
              </a:ext>
            </a:extLst>
          </p:cNvPr>
          <p:cNvSpPr>
            <a:spLocks noGrp="1"/>
          </p:cNvSpPr>
          <p:nvPr/>
        </p:nvSpPr>
        <p:spPr>
          <a:xfrm>
            <a:off x="6846570" y="3846195"/>
            <a:ext cx="754380" cy="9525"/>
          </a:xfrm>
          <a:custGeom>
            <a:avLst/>
            <a:gdLst/>
            <a:ahLst/>
            <a:cxnLst/>
            <a:rect l="0" t="0" r="0" b="0"/>
            <a:pathLst>
              <a:path w="754380" h="9525">
                <a:moveTo>
                  <a:pt x="0" y="0"/>
                </a:moveTo>
                <a:lnTo>
                  <a:pt x="754380" y="0"/>
                </a:lnTo>
              </a:path>
            </a:pathLst>
          </a:custGeom>
          <a:noFill/>
          <a:ln w="38100">
            <a:solidFill>
              <a:srgbClr val="111111"/>
            </a:solidFill>
          </a:ln>
        </p:spPr>
        <p:txBody>
          <a:bodyPr/>
          <a:lstStyle/>
          <a:p>
            <a:endParaRPr lang="en-US"/>
          </a:p>
        </p:txBody>
      </p:sp>
      <p:sp>
        <p:nvSpPr>
          <p:cNvPr id="17" name="diagram-577">
            <a:extLst>
              <a:ext uri="{FF2B5EF4-FFF2-40B4-BE49-F238E27FC236}">
                <a16:creationId xmlns:a16="http://schemas.microsoft.com/office/drawing/2014/main" id="{CD0F33BF-DE11-47BD-8527-DD9F28744DA8}"/>
              </a:ext>
            </a:extLst>
          </p:cNvPr>
          <p:cNvSpPr>
            <a:spLocks noGrp="1"/>
          </p:cNvSpPr>
          <p:nvPr/>
        </p:nvSpPr>
        <p:spPr>
          <a:xfrm>
            <a:off x="6248400" y="3949065"/>
            <a:ext cx="195072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Call / gaming</a:t>
            </a:r>
          </a:p>
        </p:txBody>
      </p:sp>
      <p:sp>
        <p:nvSpPr>
          <p:cNvPr id="18" name="diagram-578">
            <a:extLst>
              <a:ext uri="{FF2B5EF4-FFF2-40B4-BE49-F238E27FC236}">
                <a16:creationId xmlns:a16="http://schemas.microsoft.com/office/drawing/2014/main" id="{51DACDAA-8161-4A25-9FAF-FBCFC3A958E3}"/>
              </a:ext>
            </a:extLst>
          </p:cNvPr>
          <p:cNvSpPr>
            <a:spLocks noGrp="1"/>
          </p:cNvSpPr>
          <p:nvPr/>
        </p:nvSpPr>
        <p:spPr>
          <a:xfrm>
            <a:off x="10810875" y="3629025"/>
            <a:ext cx="307658" cy="566738"/>
          </a:xfrm>
          <a:prstGeom prst="roundRect">
            <a:avLst>
              <a:gd name="adj" fmla="val 24768"/>
            </a:avLst>
          </a:prstGeom>
          <a:solidFill>
            <a:srgbClr val="FFFFFF"/>
          </a:solidFill>
          <a:ln w="19050">
            <a:solidFill>
              <a:srgbClr val="111111"/>
            </a:solidFill>
          </a:ln>
        </p:spPr>
        <p:txBody>
          <a:bodyPr/>
          <a:lstStyle/>
          <a:p>
            <a:endParaRPr lang="en-US"/>
          </a:p>
        </p:txBody>
      </p:sp>
      <p:sp>
        <p:nvSpPr>
          <p:cNvPr id="19" name="diagram-579">
            <a:extLst>
              <a:ext uri="{FF2B5EF4-FFF2-40B4-BE49-F238E27FC236}">
                <a16:creationId xmlns:a16="http://schemas.microsoft.com/office/drawing/2014/main" id="{7FF3E689-4762-4B1B-B936-F3C1653ECCF0}"/>
              </a:ext>
            </a:extLst>
          </p:cNvPr>
          <p:cNvSpPr>
            <a:spLocks noGrp="1"/>
          </p:cNvSpPr>
          <p:nvPr/>
        </p:nvSpPr>
        <p:spPr>
          <a:xfrm>
            <a:off x="10851356" y="3701891"/>
            <a:ext cx="226695" cy="404813"/>
          </a:xfrm>
          <a:prstGeom prst="rect">
            <a:avLst/>
          </a:prstGeom>
          <a:solidFill>
            <a:srgbClr val="F1F4F5"/>
          </a:solidFill>
          <a:ln w="9525">
            <a:solidFill>
              <a:srgbClr val="C9CDD0"/>
            </a:solidFill>
          </a:ln>
        </p:spPr>
        <p:txBody>
          <a:bodyPr/>
          <a:lstStyle/>
          <a:p>
            <a:endParaRPr lang="en-US"/>
          </a:p>
        </p:txBody>
      </p:sp>
      <p:sp>
        <p:nvSpPr>
          <p:cNvPr id="20" name="diagram-580">
            <a:extLst>
              <a:ext uri="{FF2B5EF4-FFF2-40B4-BE49-F238E27FC236}">
                <a16:creationId xmlns:a16="http://schemas.microsoft.com/office/drawing/2014/main" id="{57F0042A-6082-4606-98A7-64E45876847C}"/>
              </a:ext>
            </a:extLst>
          </p:cNvPr>
          <p:cNvSpPr>
            <a:spLocks noGrp="1"/>
          </p:cNvSpPr>
          <p:nvPr/>
        </p:nvSpPr>
        <p:spPr>
          <a:xfrm>
            <a:off x="10940415" y="4122896"/>
            <a:ext cx="40481" cy="40481"/>
          </a:xfrm>
          <a:prstGeom prst="ellipse">
            <a:avLst/>
          </a:prstGeom>
          <a:solidFill>
            <a:srgbClr val="C9CDD0"/>
          </a:solidFill>
          <a:ln w="19050">
            <a:noFill/>
          </a:ln>
        </p:spPr>
        <p:txBody>
          <a:bodyPr/>
          <a:lstStyle/>
          <a:p>
            <a:endParaRPr lang="en-US"/>
          </a:p>
        </p:txBody>
      </p:sp>
      <p:sp>
        <p:nvSpPr>
          <p:cNvPr id="21" name="diagram-581">
            <a:extLst>
              <a:ext uri="{FF2B5EF4-FFF2-40B4-BE49-F238E27FC236}">
                <a16:creationId xmlns:a16="http://schemas.microsoft.com/office/drawing/2014/main" id="{6A256030-4781-4EE9-8B08-731D266BA388}"/>
              </a:ext>
            </a:extLst>
          </p:cNvPr>
          <p:cNvSpPr>
            <a:spLocks noGrp="1"/>
          </p:cNvSpPr>
          <p:nvPr/>
        </p:nvSpPr>
        <p:spPr>
          <a:xfrm>
            <a:off x="10144125" y="4373880"/>
            <a:ext cx="1641158"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Video call</a:t>
            </a:r>
          </a:p>
        </p:txBody>
      </p:sp>
      <p:sp>
        <p:nvSpPr>
          <p:cNvPr id="22" name="diagram-582">
            <a:extLst>
              <a:ext uri="{FF2B5EF4-FFF2-40B4-BE49-F238E27FC236}">
                <a16:creationId xmlns:a16="http://schemas.microsoft.com/office/drawing/2014/main" id="{CCE7273E-3680-4DB1-8E59-C219B9EF2BB9}"/>
              </a:ext>
            </a:extLst>
          </p:cNvPr>
          <p:cNvSpPr>
            <a:spLocks noGrp="1"/>
          </p:cNvSpPr>
          <p:nvPr/>
        </p:nvSpPr>
        <p:spPr>
          <a:xfrm>
            <a:off x="9382125" y="5267325"/>
            <a:ext cx="557213" cy="359093"/>
          </a:xfrm>
          <a:prstGeom prst="rect">
            <a:avLst/>
          </a:prstGeom>
          <a:solidFill>
            <a:srgbClr val="FFFFFF"/>
          </a:solidFill>
          <a:ln w="19050">
            <a:solidFill>
              <a:srgbClr val="111111"/>
            </a:solidFill>
          </a:ln>
        </p:spPr>
        <p:txBody>
          <a:bodyPr/>
          <a:lstStyle/>
          <a:p>
            <a:endParaRPr lang="en-US"/>
          </a:p>
        </p:txBody>
      </p:sp>
      <p:sp>
        <p:nvSpPr>
          <p:cNvPr id="23" name="diagram-583">
            <a:extLst>
              <a:ext uri="{FF2B5EF4-FFF2-40B4-BE49-F238E27FC236}">
                <a16:creationId xmlns:a16="http://schemas.microsoft.com/office/drawing/2014/main" id="{83C27419-7060-434C-9247-397F075D674A}"/>
              </a:ext>
            </a:extLst>
          </p:cNvPr>
          <p:cNvSpPr>
            <a:spLocks noGrp="1"/>
          </p:cNvSpPr>
          <p:nvPr/>
        </p:nvSpPr>
        <p:spPr>
          <a:xfrm>
            <a:off x="9413081" y="5298281"/>
            <a:ext cx="495300" cy="297180"/>
          </a:xfrm>
          <a:prstGeom prst="rect">
            <a:avLst/>
          </a:prstGeom>
          <a:solidFill>
            <a:srgbClr val="F1F4F5"/>
          </a:solidFill>
          <a:ln w="19050">
            <a:noFill/>
          </a:ln>
        </p:spPr>
        <p:txBody>
          <a:bodyPr/>
          <a:lstStyle/>
          <a:p>
            <a:endParaRPr lang="en-US"/>
          </a:p>
        </p:txBody>
      </p:sp>
      <p:sp>
        <p:nvSpPr>
          <p:cNvPr id="24" name="line-584">
            <a:extLst>
              <a:ext uri="{FF2B5EF4-FFF2-40B4-BE49-F238E27FC236}">
                <a16:creationId xmlns:a16="http://schemas.microsoft.com/office/drawing/2014/main" id="{593E2252-6EA3-48A6-A663-9D827AAD4CFB}"/>
              </a:ext>
            </a:extLst>
          </p:cNvPr>
          <p:cNvSpPr>
            <a:spLocks noGrp="1"/>
          </p:cNvSpPr>
          <p:nvPr/>
        </p:nvSpPr>
        <p:spPr>
          <a:xfrm>
            <a:off x="9660731" y="5626418"/>
            <a:ext cx="9525" cy="80486"/>
          </a:xfrm>
          <a:custGeom>
            <a:avLst/>
            <a:gdLst/>
            <a:ahLst/>
            <a:cxnLst/>
            <a:rect l="0" t="0" r="0" b="0"/>
            <a:pathLst>
              <a:path w="9525" h="80486">
                <a:moveTo>
                  <a:pt x="0" y="0"/>
                </a:moveTo>
                <a:lnTo>
                  <a:pt x="0" y="80486"/>
                </a:lnTo>
              </a:path>
            </a:pathLst>
          </a:custGeom>
          <a:noFill/>
          <a:ln w="19050">
            <a:solidFill>
              <a:srgbClr val="111111"/>
            </a:solidFill>
          </a:ln>
        </p:spPr>
        <p:txBody>
          <a:bodyPr/>
          <a:lstStyle/>
          <a:p>
            <a:endParaRPr lang="en-US"/>
          </a:p>
        </p:txBody>
      </p:sp>
      <p:sp>
        <p:nvSpPr>
          <p:cNvPr id="25" name="line-585">
            <a:extLst>
              <a:ext uri="{FF2B5EF4-FFF2-40B4-BE49-F238E27FC236}">
                <a16:creationId xmlns:a16="http://schemas.microsoft.com/office/drawing/2014/main" id="{B0552025-C4F1-4A4B-A393-720000104C8F}"/>
              </a:ext>
            </a:extLst>
          </p:cNvPr>
          <p:cNvSpPr>
            <a:spLocks noGrp="1"/>
          </p:cNvSpPr>
          <p:nvPr/>
        </p:nvSpPr>
        <p:spPr>
          <a:xfrm>
            <a:off x="9505950" y="5706904"/>
            <a:ext cx="309563" cy="9525"/>
          </a:xfrm>
          <a:custGeom>
            <a:avLst/>
            <a:gdLst/>
            <a:ahLst/>
            <a:cxnLst/>
            <a:rect l="0" t="0" r="0" b="0"/>
            <a:pathLst>
              <a:path w="309563" h="9525">
                <a:moveTo>
                  <a:pt x="0" y="0"/>
                </a:moveTo>
                <a:lnTo>
                  <a:pt x="309563" y="0"/>
                </a:lnTo>
              </a:path>
            </a:pathLst>
          </a:custGeom>
          <a:noFill/>
          <a:ln w="28575">
            <a:solidFill>
              <a:srgbClr val="111111"/>
            </a:solidFill>
          </a:ln>
        </p:spPr>
        <p:txBody>
          <a:bodyPr/>
          <a:lstStyle/>
          <a:p>
            <a:endParaRPr lang="en-US"/>
          </a:p>
        </p:txBody>
      </p:sp>
      <p:sp>
        <p:nvSpPr>
          <p:cNvPr id="26" name="diagram-586">
            <a:extLst>
              <a:ext uri="{FF2B5EF4-FFF2-40B4-BE49-F238E27FC236}">
                <a16:creationId xmlns:a16="http://schemas.microsoft.com/office/drawing/2014/main" id="{D673162D-ED28-4D0F-95FB-D0A59F52F18D}"/>
              </a:ext>
            </a:extLst>
          </p:cNvPr>
          <p:cNvSpPr>
            <a:spLocks noGrp="1"/>
          </p:cNvSpPr>
          <p:nvPr/>
        </p:nvSpPr>
        <p:spPr>
          <a:xfrm>
            <a:off x="8715375" y="5762625"/>
            <a:ext cx="1890713"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Streaming</a:t>
            </a:r>
          </a:p>
        </p:txBody>
      </p:sp>
      <p:sp>
        <p:nvSpPr>
          <p:cNvPr id="27" name="line-587">
            <a:extLst>
              <a:ext uri="{FF2B5EF4-FFF2-40B4-BE49-F238E27FC236}">
                <a16:creationId xmlns:a16="http://schemas.microsoft.com/office/drawing/2014/main" id="{F18719E1-7BF7-417D-BADC-8D174A7DBA2D}"/>
              </a:ext>
            </a:extLst>
          </p:cNvPr>
          <p:cNvSpPr>
            <a:spLocks noGrp="1"/>
          </p:cNvSpPr>
          <p:nvPr/>
        </p:nvSpPr>
        <p:spPr>
          <a:xfrm>
            <a:off x="7524750" y="3981450"/>
            <a:ext cx="361950" cy="428625"/>
          </a:xfrm>
          <a:custGeom>
            <a:avLst/>
            <a:gdLst/>
            <a:ahLst/>
            <a:cxnLst/>
            <a:rect l="0" t="0" r="0" b="0"/>
            <a:pathLst>
              <a:path w="361950" h="428625">
                <a:moveTo>
                  <a:pt x="0" y="0"/>
                </a:moveTo>
                <a:lnTo>
                  <a:pt x="361950" y="428625"/>
                </a:lnTo>
              </a:path>
            </a:pathLst>
          </a:custGeom>
          <a:noFill/>
          <a:ln w="28575">
            <a:solidFill>
              <a:srgbClr val="C76520"/>
            </a:solidFill>
          </a:ln>
        </p:spPr>
        <p:txBody>
          <a:bodyPr/>
          <a:lstStyle/>
          <a:p>
            <a:endParaRPr lang="en-US"/>
          </a:p>
        </p:txBody>
      </p:sp>
      <p:sp>
        <p:nvSpPr>
          <p:cNvPr id="28" name="line-588">
            <a:extLst>
              <a:ext uri="{FF2B5EF4-FFF2-40B4-BE49-F238E27FC236}">
                <a16:creationId xmlns:a16="http://schemas.microsoft.com/office/drawing/2014/main" id="{B7A9A3CA-049A-4683-97ED-173E9FF25BFE}"/>
              </a:ext>
            </a:extLst>
          </p:cNvPr>
          <p:cNvSpPr>
            <a:spLocks noGrp="1"/>
          </p:cNvSpPr>
          <p:nvPr/>
        </p:nvSpPr>
        <p:spPr>
          <a:xfrm>
            <a:off x="7799710" y="4371276"/>
            <a:ext cx="86990" cy="38799"/>
          </a:xfrm>
          <a:custGeom>
            <a:avLst/>
            <a:gdLst/>
            <a:ahLst/>
            <a:cxnLst/>
            <a:rect l="0" t="0" r="0" b="0"/>
            <a:pathLst>
              <a:path w="86990" h="38799">
                <a:moveTo>
                  <a:pt x="86990" y="38799"/>
                </a:moveTo>
                <a:lnTo>
                  <a:pt x="0" y="0"/>
                </a:lnTo>
              </a:path>
            </a:pathLst>
          </a:custGeom>
          <a:noFill/>
          <a:ln w="28575">
            <a:solidFill>
              <a:srgbClr val="C76520"/>
            </a:solidFill>
          </a:ln>
        </p:spPr>
        <p:txBody>
          <a:bodyPr/>
          <a:lstStyle/>
          <a:p>
            <a:endParaRPr lang="en-US"/>
          </a:p>
        </p:txBody>
      </p:sp>
      <p:sp>
        <p:nvSpPr>
          <p:cNvPr id="29" name="line-589">
            <a:extLst>
              <a:ext uri="{FF2B5EF4-FFF2-40B4-BE49-F238E27FC236}">
                <a16:creationId xmlns:a16="http://schemas.microsoft.com/office/drawing/2014/main" id="{7888E324-3A24-4513-B180-915F6EF5D0AE}"/>
              </a:ext>
            </a:extLst>
          </p:cNvPr>
          <p:cNvSpPr>
            <a:spLocks noGrp="1"/>
          </p:cNvSpPr>
          <p:nvPr/>
        </p:nvSpPr>
        <p:spPr>
          <a:xfrm>
            <a:off x="7863019" y="4317816"/>
            <a:ext cx="23681" cy="92259"/>
          </a:xfrm>
          <a:custGeom>
            <a:avLst/>
            <a:gdLst/>
            <a:ahLst/>
            <a:cxnLst/>
            <a:rect l="0" t="0" r="0" b="0"/>
            <a:pathLst>
              <a:path w="23681" h="92259">
                <a:moveTo>
                  <a:pt x="23681" y="92259"/>
                </a:moveTo>
                <a:lnTo>
                  <a:pt x="0" y="0"/>
                </a:lnTo>
              </a:path>
            </a:pathLst>
          </a:custGeom>
          <a:noFill/>
          <a:ln w="28575">
            <a:solidFill>
              <a:srgbClr val="C76520"/>
            </a:solidFill>
          </a:ln>
        </p:spPr>
        <p:txBody>
          <a:bodyPr/>
          <a:lstStyle/>
          <a:p>
            <a:endParaRPr lang="en-US"/>
          </a:p>
        </p:txBody>
      </p:sp>
      <p:sp>
        <p:nvSpPr>
          <p:cNvPr id="30" name="line-590">
            <a:extLst>
              <a:ext uri="{FF2B5EF4-FFF2-40B4-BE49-F238E27FC236}">
                <a16:creationId xmlns:a16="http://schemas.microsoft.com/office/drawing/2014/main" id="{DFBC34B5-35CB-4613-B5D9-6B355AD1DB47}"/>
              </a:ext>
            </a:extLst>
          </p:cNvPr>
          <p:cNvSpPr>
            <a:spLocks noGrp="1"/>
          </p:cNvSpPr>
          <p:nvPr/>
        </p:nvSpPr>
        <p:spPr>
          <a:xfrm>
            <a:off x="9020175" y="4124325"/>
            <a:ext cx="1657350" cy="466725"/>
          </a:xfrm>
          <a:custGeom>
            <a:avLst/>
            <a:gdLst/>
            <a:ahLst/>
            <a:cxnLst/>
            <a:rect l="0" t="0" r="0" b="0"/>
            <a:pathLst>
              <a:path w="1657350" h="466725">
                <a:moveTo>
                  <a:pt x="1657350" y="0"/>
                </a:moveTo>
                <a:lnTo>
                  <a:pt x="0" y="466725"/>
                </a:lnTo>
              </a:path>
            </a:pathLst>
          </a:custGeom>
          <a:noFill/>
          <a:ln w="23813">
            <a:solidFill>
              <a:srgbClr val="17698C"/>
            </a:solidFill>
          </a:ln>
        </p:spPr>
        <p:txBody>
          <a:bodyPr/>
          <a:lstStyle/>
          <a:p>
            <a:endParaRPr lang="en-US"/>
          </a:p>
        </p:txBody>
      </p:sp>
      <p:sp>
        <p:nvSpPr>
          <p:cNvPr id="31" name="line-591">
            <a:extLst>
              <a:ext uri="{FF2B5EF4-FFF2-40B4-BE49-F238E27FC236}">
                <a16:creationId xmlns:a16="http://schemas.microsoft.com/office/drawing/2014/main" id="{E81EB0DC-87BF-4F27-86FC-9DA04EB0E6FD}"/>
              </a:ext>
            </a:extLst>
          </p:cNvPr>
          <p:cNvSpPr>
            <a:spLocks noGrp="1"/>
          </p:cNvSpPr>
          <p:nvPr/>
        </p:nvSpPr>
        <p:spPr>
          <a:xfrm>
            <a:off x="9020175" y="4527922"/>
            <a:ext cx="71326" cy="63128"/>
          </a:xfrm>
          <a:custGeom>
            <a:avLst/>
            <a:gdLst/>
            <a:ahLst/>
            <a:cxnLst/>
            <a:rect l="0" t="0" r="0" b="0"/>
            <a:pathLst>
              <a:path w="71326" h="63128">
                <a:moveTo>
                  <a:pt x="0" y="63128"/>
                </a:moveTo>
                <a:lnTo>
                  <a:pt x="71326" y="0"/>
                </a:lnTo>
              </a:path>
            </a:pathLst>
          </a:custGeom>
          <a:noFill/>
          <a:ln w="23813">
            <a:solidFill>
              <a:srgbClr val="17698C"/>
            </a:solidFill>
          </a:ln>
        </p:spPr>
        <p:txBody>
          <a:bodyPr/>
          <a:lstStyle/>
          <a:p>
            <a:endParaRPr lang="en-US"/>
          </a:p>
        </p:txBody>
      </p:sp>
      <p:sp>
        <p:nvSpPr>
          <p:cNvPr id="32" name="line-592">
            <a:extLst>
              <a:ext uri="{FF2B5EF4-FFF2-40B4-BE49-F238E27FC236}">
                <a16:creationId xmlns:a16="http://schemas.microsoft.com/office/drawing/2014/main" id="{604FEBB6-1AF9-49E6-AC3D-43306E892515}"/>
              </a:ext>
            </a:extLst>
          </p:cNvPr>
          <p:cNvSpPr>
            <a:spLocks noGrp="1"/>
          </p:cNvSpPr>
          <p:nvPr/>
        </p:nvSpPr>
        <p:spPr>
          <a:xfrm>
            <a:off x="9020175" y="4591050"/>
            <a:ext cx="93787" cy="16631"/>
          </a:xfrm>
          <a:custGeom>
            <a:avLst/>
            <a:gdLst/>
            <a:ahLst/>
            <a:cxnLst/>
            <a:rect l="0" t="0" r="0" b="0"/>
            <a:pathLst>
              <a:path w="93787" h="16631">
                <a:moveTo>
                  <a:pt x="0" y="0"/>
                </a:moveTo>
                <a:lnTo>
                  <a:pt x="93787" y="16631"/>
                </a:lnTo>
              </a:path>
            </a:pathLst>
          </a:custGeom>
          <a:noFill/>
          <a:ln w="23813">
            <a:solidFill>
              <a:srgbClr val="17698C"/>
            </a:solidFill>
          </a:ln>
        </p:spPr>
        <p:txBody>
          <a:bodyPr/>
          <a:lstStyle/>
          <a:p>
            <a:endParaRPr lang="en-US"/>
          </a:p>
        </p:txBody>
      </p:sp>
      <p:sp>
        <p:nvSpPr>
          <p:cNvPr id="33" name="line-593">
            <a:extLst>
              <a:ext uri="{FF2B5EF4-FFF2-40B4-BE49-F238E27FC236}">
                <a16:creationId xmlns:a16="http://schemas.microsoft.com/office/drawing/2014/main" id="{123D1AC9-4114-4AAF-A848-3DB316D18940}"/>
              </a:ext>
            </a:extLst>
          </p:cNvPr>
          <p:cNvSpPr>
            <a:spLocks noGrp="1"/>
          </p:cNvSpPr>
          <p:nvPr/>
        </p:nvSpPr>
        <p:spPr>
          <a:xfrm>
            <a:off x="8943975" y="5114925"/>
            <a:ext cx="409575" cy="247650"/>
          </a:xfrm>
          <a:custGeom>
            <a:avLst/>
            <a:gdLst/>
            <a:ahLst/>
            <a:cxnLst/>
            <a:rect l="0" t="0" r="0" b="0"/>
            <a:pathLst>
              <a:path w="409575" h="247650">
                <a:moveTo>
                  <a:pt x="409575" y="247650"/>
                </a:moveTo>
                <a:lnTo>
                  <a:pt x="0" y="0"/>
                </a:lnTo>
              </a:path>
            </a:pathLst>
          </a:custGeom>
          <a:noFill/>
          <a:ln w="23813">
            <a:solidFill>
              <a:srgbClr val="17698C"/>
            </a:solidFill>
          </a:ln>
        </p:spPr>
        <p:txBody>
          <a:bodyPr/>
          <a:lstStyle/>
          <a:p>
            <a:endParaRPr lang="en-US"/>
          </a:p>
        </p:txBody>
      </p:sp>
      <p:sp>
        <p:nvSpPr>
          <p:cNvPr id="34" name="line-594">
            <a:extLst>
              <a:ext uri="{FF2B5EF4-FFF2-40B4-BE49-F238E27FC236}">
                <a16:creationId xmlns:a16="http://schemas.microsoft.com/office/drawing/2014/main" id="{EF3401A5-4E77-41FC-A9B3-38E4A65B25F0}"/>
              </a:ext>
            </a:extLst>
          </p:cNvPr>
          <p:cNvSpPr>
            <a:spLocks noGrp="1"/>
          </p:cNvSpPr>
          <p:nvPr/>
        </p:nvSpPr>
        <p:spPr>
          <a:xfrm>
            <a:off x="8943975" y="5114925"/>
            <a:ext cx="94831" cy="9525"/>
          </a:xfrm>
          <a:custGeom>
            <a:avLst/>
            <a:gdLst/>
            <a:ahLst/>
            <a:cxnLst/>
            <a:rect l="0" t="0" r="0" b="0"/>
            <a:pathLst>
              <a:path w="94831" h="9525">
                <a:moveTo>
                  <a:pt x="0" y="0"/>
                </a:moveTo>
                <a:lnTo>
                  <a:pt x="94831" y="8924"/>
                </a:lnTo>
              </a:path>
            </a:pathLst>
          </a:custGeom>
          <a:noFill/>
          <a:ln w="23813">
            <a:solidFill>
              <a:srgbClr val="17698C"/>
            </a:solidFill>
          </a:ln>
        </p:spPr>
        <p:txBody>
          <a:bodyPr/>
          <a:lstStyle/>
          <a:p>
            <a:endParaRPr lang="en-US"/>
          </a:p>
        </p:txBody>
      </p:sp>
      <p:sp>
        <p:nvSpPr>
          <p:cNvPr id="35" name="line-595">
            <a:extLst>
              <a:ext uri="{FF2B5EF4-FFF2-40B4-BE49-F238E27FC236}">
                <a16:creationId xmlns:a16="http://schemas.microsoft.com/office/drawing/2014/main" id="{599038DF-1D41-4143-8986-C2D8094D12CC}"/>
              </a:ext>
            </a:extLst>
          </p:cNvPr>
          <p:cNvSpPr>
            <a:spLocks noGrp="1"/>
          </p:cNvSpPr>
          <p:nvPr/>
        </p:nvSpPr>
        <p:spPr>
          <a:xfrm>
            <a:off x="8943975" y="5114925"/>
            <a:ext cx="51957" cy="79831"/>
          </a:xfrm>
          <a:custGeom>
            <a:avLst/>
            <a:gdLst/>
            <a:ahLst/>
            <a:cxnLst/>
            <a:rect l="0" t="0" r="0" b="0"/>
            <a:pathLst>
              <a:path w="51957" h="79831">
                <a:moveTo>
                  <a:pt x="0" y="0"/>
                </a:moveTo>
                <a:lnTo>
                  <a:pt x="51957" y="79831"/>
                </a:lnTo>
              </a:path>
            </a:pathLst>
          </a:custGeom>
          <a:noFill/>
          <a:ln w="23813">
            <a:solidFill>
              <a:srgbClr val="17698C"/>
            </a:solidFill>
          </a:ln>
        </p:spPr>
        <p:txBody>
          <a:bodyPr/>
          <a:lstStyle/>
          <a:p>
            <a:endParaRPr lang="en-US"/>
          </a:p>
        </p:txBody>
      </p:sp>
      <p:sp>
        <p:nvSpPr>
          <p:cNvPr id="36" name="line-596">
            <a:extLst>
              <a:ext uri="{FF2B5EF4-FFF2-40B4-BE49-F238E27FC236}">
                <a16:creationId xmlns:a16="http://schemas.microsoft.com/office/drawing/2014/main" id="{6881B6CD-8D41-4AA7-8FA0-B99B9AF6B8AB}"/>
              </a:ext>
            </a:extLst>
          </p:cNvPr>
          <p:cNvSpPr>
            <a:spLocks noGrp="1"/>
          </p:cNvSpPr>
          <p:nvPr/>
        </p:nvSpPr>
        <p:spPr>
          <a:xfrm>
            <a:off x="7723847" y="4214057"/>
            <a:ext cx="24609" cy="47190"/>
          </a:xfrm>
          <a:custGeom>
            <a:avLst/>
            <a:gdLst/>
            <a:ahLst/>
            <a:cxnLst/>
            <a:rect l="0" t="0" r="0" b="0"/>
            <a:pathLst>
              <a:path w="24609" h="47190">
                <a:moveTo>
                  <a:pt x="0" y="47190"/>
                </a:moveTo>
                <a:lnTo>
                  <a:pt x="24609" y="0"/>
                </a:lnTo>
              </a:path>
            </a:pathLst>
          </a:custGeom>
          <a:noFill/>
          <a:ln w="19050">
            <a:solidFill>
              <a:srgbClr val="C76520"/>
            </a:solidFill>
          </a:ln>
        </p:spPr>
        <p:txBody>
          <a:bodyPr/>
          <a:lstStyle/>
          <a:p>
            <a:endParaRPr lang="en-US"/>
          </a:p>
        </p:txBody>
      </p:sp>
      <p:sp>
        <p:nvSpPr>
          <p:cNvPr id="37" name="line-597">
            <a:extLst>
              <a:ext uri="{FF2B5EF4-FFF2-40B4-BE49-F238E27FC236}">
                <a16:creationId xmlns:a16="http://schemas.microsoft.com/office/drawing/2014/main" id="{BB90F842-ADF6-417A-AF53-1CFBEEF7B78A}"/>
              </a:ext>
            </a:extLst>
          </p:cNvPr>
          <p:cNvSpPr>
            <a:spLocks noGrp="1"/>
          </p:cNvSpPr>
          <p:nvPr/>
        </p:nvSpPr>
        <p:spPr>
          <a:xfrm>
            <a:off x="7748457" y="4169233"/>
            <a:ext cx="28694" cy="44824"/>
          </a:xfrm>
          <a:custGeom>
            <a:avLst/>
            <a:gdLst/>
            <a:ahLst/>
            <a:cxnLst/>
            <a:rect l="0" t="0" r="0" b="0"/>
            <a:pathLst>
              <a:path w="28694" h="44824">
                <a:moveTo>
                  <a:pt x="0" y="44824"/>
                </a:moveTo>
                <a:lnTo>
                  <a:pt x="28694" y="0"/>
                </a:lnTo>
              </a:path>
            </a:pathLst>
          </a:custGeom>
          <a:noFill/>
          <a:ln w="19050">
            <a:solidFill>
              <a:srgbClr val="C76520"/>
            </a:solidFill>
          </a:ln>
        </p:spPr>
        <p:txBody>
          <a:bodyPr/>
          <a:lstStyle/>
          <a:p>
            <a:endParaRPr lang="en-US"/>
          </a:p>
        </p:txBody>
      </p:sp>
      <p:sp>
        <p:nvSpPr>
          <p:cNvPr id="38" name="line-598">
            <a:extLst>
              <a:ext uri="{FF2B5EF4-FFF2-40B4-BE49-F238E27FC236}">
                <a16:creationId xmlns:a16="http://schemas.microsoft.com/office/drawing/2014/main" id="{47AF1474-C14E-4631-AA77-DE9DEFC2A689}"/>
              </a:ext>
            </a:extLst>
          </p:cNvPr>
          <p:cNvSpPr>
            <a:spLocks noGrp="1"/>
          </p:cNvSpPr>
          <p:nvPr/>
        </p:nvSpPr>
        <p:spPr>
          <a:xfrm>
            <a:off x="7777151" y="4127127"/>
            <a:ext cx="32553" cy="42106"/>
          </a:xfrm>
          <a:custGeom>
            <a:avLst/>
            <a:gdLst/>
            <a:ahLst/>
            <a:cxnLst/>
            <a:rect l="0" t="0" r="0" b="0"/>
            <a:pathLst>
              <a:path w="32553" h="42106">
                <a:moveTo>
                  <a:pt x="0" y="42106"/>
                </a:moveTo>
                <a:lnTo>
                  <a:pt x="32553" y="0"/>
                </a:lnTo>
              </a:path>
            </a:pathLst>
          </a:custGeom>
          <a:noFill/>
          <a:ln w="19050">
            <a:solidFill>
              <a:srgbClr val="C76520"/>
            </a:solidFill>
          </a:ln>
        </p:spPr>
        <p:txBody>
          <a:bodyPr/>
          <a:lstStyle/>
          <a:p>
            <a:endParaRPr lang="en-US"/>
          </a:p>
        </p:txBody>
      </p:sp>
      <p:sp>
        <p:nvSpPr>
          <p:cNvPr id="39" name="line-599">
            <a:extLst>
              <a:ext uri="{FF2B5EF4-FFF2-40B4-BE49-F238E27FC236}">
                <a16:creationId xmlns:a16="http://schemas.microsoft.com/office/drawing/2014/main" id="{3BA06A94-C196-4847-BBE3-FA46309F4C16}"/>
              </a:ext>
            </a:extLst>
          </p:cNvPr>
          <p:cNvSpPr>
            <a:spLocks noGrp="1"/>
          </p:cNvSpPr>
          <p:nvPr/>
        </p:nvSpPr>
        <p:spPr>
          <a:xfrm>
            <a:off x="7809703" y="4088072"/>
            <a:ext cx="36155" cy="39056"/>
          </a:xfrm>
          <a:custGeom>
            <a:avLst/>
            <a:gdLst/>
            <a:ahLst/>
            <a:cxnLst/>
            <a:rect l="0" t="0" r="0" b="0"/>
            <a:pathLst>
              <a:path w="36155" h="39056">
                <a:moveTo>
                  <a:pt x="0" y="39056"/>
                </a:moveTo>
                <a:lnTo>
                  <a:pt x="36155" y="0"/>
                </a:lnTo>
              </a:path>
            </a:pathLst>
          </a:custGeom>
          <a:noFill/>
          <a:ln w="19050">
            <a:solidFill>
              <a:srgbClr val="C76520"/>
            </a:solidFill>
          </a:ln>
        </p:spPr>
        <p:txBody>
          <a:bodyPr/>
          <a:lstStyle/>
          <a:p>
            <a:endParaRPr lang="en-US"/>
          </a:p>
        </p:txBody>
      </p:sp>
      <p:sp>
        <p:nvSpPr>
          <p:cNvPr id="40" name="line-600">
            <a:extLst>
              <a:ext uri="{FF2B5EF4-FFF2-40B4-BE49-F238E27FC236}">
                <a16:creationId xmlns:a16="http://schemas.microsoft.com/office/drawing/2014/main" id="{CD57AF78-1318-4627-A8D6-434F150C305E}"/>
              </a:ext>
            </a:extLst>
          </p:cNvPr>
          <p:cNvSpPr>
            <a:spLocks noGrp="1"/>
          </p:cNvSpPr>
          <p:nvPr/>
        </p:nvSpPr>
        <p:spPr>
          <a:xfrm>
            <a:off x="7845859" y="4052373"/>
            <a:ext cx="39474" cy="35698"/>
          </a:xfrm>
          <a:custGeom>
            <a:avLst/>
            <a:gdLst/>
            <a:ahLst/>
            <a:cxnLst/>
            <a:rect l="0" t="0" r="0" b="0"/>
            <a:pathLst>
              <a:path w="39474" h="35698">
                <a:moveTo>
                  <a:pt x="0" y="35698"/>
                </a:moveTo>
                <a:lnTo>
                  <a:pt x="39474" y="0"/>
                </a:lnTo>
              </a:path>
            </a:pathLst>
          </a:custGeom>
          <a:noFill/>
          <a:ln w="19050">
            <a:solidFill>
              <a:srgbClr val="C76520"/>
            </a:solidFill>
          </a:ln>
        </p:spPr>
        <p:txBody>
          <a:bodyPr/>
          <a:lstStyle/>
          <a:p>
            <a:endParaRPr lang="en-US"/>
          </a:p>
        </p:txBody>
      </p:sp>
      <p:sp>
        <p:nvSpPr>
          <p:cNvPr id="41" name="line-601">
            <a:extLst>
              <a:ext uri="{FF2B5EF4-FFF2-40B4-BE49-F238E27FC236}">
                <a16:creationId xmlns:a16="http://schemas.microsoft.com/office/drawing/2014/main" id="{C35A2A5B-B5A1-4EFE-8480-DB3E782FB2CE}"/>
              </a:ext>
            </a:extLst>
          </p:cNvPr>
          <p:cNvSpPr>
            <a:spLocks noGrp="1"/>
          </p:cNvSpPr>
          <p:nvPr/>
        </p:nvSpPr>
        <p:spPr>
          <a:xfrm>
            <a:off x="7885332" y="4020312"/>
            <a:ext cx="42481" cy="32061"/>
          </a:xfrm>
          <a:custGeom>
            <a:avLst/>
            <a:gdLst/>
            <a:ahLst/>
            <a:cxnLst/>
            <a:rect l="0" t="0" r="0" b="0"/>
            <a:pathLst>
              <a:path w="42481" h="32061">
                <a:moveTo>
                  <a:pt x="0" y="32061"/>
                </a:moveTo>
                <a:lnTo>
                  <a:pt x="42481" y="0"/>
                </a:lnTo>
              </a:path>
            </a:pathLst>
          </a:custGeom>
          <a:noFill/>
          <a:ln w="19050">
            <a:solidFill>
              <a:srgbClr val="C76520"/>
            </a:solidFill>
          </a:ln>
        </p:spPr>
        <p:txBody>
          <a:bodyPr/>
          <a:lstStyle/>
          <a:p>
            <a:endParaRPr lang="en-US"/>
          </a:p>
        </p:txBody>
      </p:sp>
      <p:sp>
        <p:nvSpPr>
          <p:cNvPr id="42" name="line-602">
            <a:extLst>
              <a:ext uri="{FF2B5EF4-FFF2-40B4-BE49-F238E27FC236}">
                <a16:creationId xmlns:a16="http://schemas.microsoft.com/office/drawing/2014/main" id="{2136A132-92B3-4539-AB03-239A39CBEB2B}"/>
              </a:ext>
            </a:extLst>
          </p:cNvPr>
          <p:cNvSpPr>
            <a:spLocks noGrp="1"/>
          </p:cNvSpPr>
          <p:nvPr/>
        </p:nvSpPr>
        <p:spPr>
          <a:xfrm>
            <a:off x="7927814" y="3992142"/>
            <a:ext cx="45155" cy="28170"/>
          </a:xfrm>
          <a:custGeom>
            <a:avLst/>
            <a:gdLst/>
            <a:ahLst/>
            <a:cxnLst/>
            <a:rect l="0" t="0" r="0" b="0"/>
            <a:pathLst>
              <a:path w="45155" h="28170">
                <a:moveTo>
                  <a:pt x="0" y="28170"/>
                </a:moveTo>
                <a:lnTo>
                  <a:pt x="45155" y="0"/>
                </a:lnTo>
              </a:path>
            </a:pathLst>
          </a:custGeom>
          <a:noFill/>
          <a:ln w="19050">
            <a:solidFill>
              <a:srgbClr val="C76520"/>
            </a:solidFill>
          </a:ln>
        </p:spPr>
        <p:txBody>
          <a:bodyPr/>
          <a:lstStyle/>
          <a:p>
            <a:endParaRPr lang="en-US"/>
          </a:p>
        </p:txBody>
      </p:sp>
      <p:sp>
        <p:nvSpPr>
          <p:cNvPr id="43" name="line-603">
            <a:extLst>
              <a:ext uri="{FF2B5EF4-FFF2-40B4-BE49-F238E27FC236}">
                <a16:creationId xmlns:a16="http://schemas.microsoft.com/office/drawing/2014/main" id="{5BF2C4CB-4CF3-4B64-AB8B-A957F37CBF54}"/>
              </a:ext>
            </a:extLst>
          </p:cNvPr>
          <p:cNvSpPr>
            <a:spLocks noGrp="1"/>
          </p:cNvSpPr>
          <p:nvPr/>
        </p:nvSpPr>
        <p:spPr>
          <a:xfrm>
            <a:off x="7972969" y="3968083"/>
            <a:ext cx="47474" cy="24059"/>
          </a:xfrm>
          <a:custGeom>
            <a:avLst/>
            <a:gdLst/>
            <a:ahLst/>
            <a:cxnLst/>
            <a:rect l="0" t="0" r="0" b="0"/>
            <a:pathLst>
              <a:path w="47474" h="24059">
                <a:moveTo>
                  <a:pt x="0" y="24059"/>
                </a:moveTo>
                <a:lnTo>
                  <a:pt x="47474" y="0"/>
                </a:lnTo>
              </a:path>
            </a:pathLst>
          </a:custGeom>
          <a:noFill/>
          <a:ln w="19050">
            <a:solidFill>
              <a:srgbClr val="C76520"/>
            </a:solidFill>
          </a:ln>
        </p:spPr>
        <p:txBody>
          <a:bodyPr/>
          <a:lstStyle/>
          <a:p>
            <a:endParaRPr lang="en-US"/>
          </a:p>
        </p:txBody>
      </p:sp>
      <p:sp>
        <p:nvSpPr>
          <p:cNvPr id="44" name="line-604">
            <a:extLst>
              <a:ext uri="{FF2B5EF4-FFF2-40B4-BE49-F238E27FC236}">
                <a16:creationId xmlns:a16="http://schemas.microsoft.com/office/drawing/2014/main" id="{9690D5A6-DC00-4A5F-BC59-154A6EE17E59}"/>
              </a:ext>
            </a:extLst>
          </p:cNvPr>
          <p:cNvSpPr>
            <a:spLocks noGrp="1"/>
          </p:cNvSpPr>
          <p:nvPr/>
        </p:nvSpPr>
        <p:spPr>
          <a:xfrm>
            <a:off x="8020442" y="3948326"/>
            <a:ext cx="49419" cy="19758"/>
          </a:xfrm>
          <a:custGeom>
            <a:avLst/>
            <a:gdLst/>
            <a:ahLst/>
            <a:cxnLst/>
            <a:rect l="0" t="0" r="0" b="0"/>
            <a:pathLst>
              <a:path w="49419" h="19758">
                <a:moveTo>
                  <a:pt x="0" y="19758"/>
                </a:moveTo>
                <a:lnTo>
                  <a:pt x="49419" y="0"/>
                </a:lnTo>
              </a:path>
            </a:pathLst>
          </a:custGeom>
          <a:noFill/>
          <a:ln w="19050">
            <a:solidFill>
              <a:srgbClr val="C76520"/>
            </a:solidFill>
          </a:ln>
        </p:spPr>
        <p:txBody>
          <a:bodyPr/>
          <a:lstStyle/>
          <a:p>
            <a:endParaRPr lang="en-US"/>
          </a:p>
        </p:txBody>
      </p:sp>
      <p:sp>
        <p:nvSpPr>
          <p:cNvPr id="45" name="line-605">
            <a:extLst>
              <a:ext uri="{FF2B5EF4-FFF2-40B4-BE49-F238E27FC236}">
                <a16:creationId xmlns:a16="http://schemas.microsoft.com/office/drawing/2014/main" id="{B027F048-DBFD-4B13-B92F-537408751FED}"/>
              </a:ext>
            </a:extLst>
          </p:cNvPr>
          <p:cNvSpPr>
            <a:spLocks noGrp="1"/>
          </p:cNvSpPr>
          <p:nvPr/>
        </p:nvSpPr>
        <p:spPr>
          <a:xfrm>
            <a:off x="8069861" y="3933025"/>
            <a:ext cx="50975" cy="15301"/>
          </a:xfrm>
          <a:custGeom>
            <a:avLst/>
            <a:gdLst/>
            <a:ahLst/>
            <a:cxnLst/>
            <a:rect l="0" t="0" r="0" b="0"/>
            <a:pathLst>
              <a:path w="50975" h="15301">
                <a:moveTo>
                  <a:pt x="0" y="15301"/>
                </a:moveTo>
                <a:lnTo>
                  <a:pt x="50975" y="0"/>
                </a:lnTo>
              </a:path>
            </a:pathLst>
          </a:custGeom>
          <a:noFill/>
          <a:ln w="19050">
            <a:solidFill>
              <a:srgbClr val="C76520"/>
            </a:solidFill>
          </a:ln>
        </p:spPr>
        <p:txBody>
          <a:bodyPr/>
          <a:lstStyle/>
          <a:p>
            <a:endParaRPr lang="en-US"/>
          </a:p>
        </p:txBody>
      </p:sp>
      <p:sp>
        <p:nvSpPr>
          <p:cNvPr id="46" name="line-606">
            <a:extLst>
              <a:ext uri="{FF2B5EF4-FFF2-40B4-BE49-F238E27FC236}">
                <a16:creationId xmlns:a16="http://schemas.microsoft.com/office/drawing/2014/main" id="{6E1F1023-EC4F-415B-B941-E33619ED3C64}"/>
              </a:ext>
            </a:extLst>
          </p:cNvPr>
          <p:cNvSpPr>
            <a:spLocks noGrp="1"/>
          </p:cNvSpPr>
          <p:nvPr/>
        </p:nvSpPr>
        <p:spPr>
          <a:xfrm>
            <a:off x="8120836" y="3922300"/>
            <a:ext cx="52130" cy="10724"/>
          </a:xfrm>
          <a:custGeom>
            <a:avLst/>
            <a:gdLst/>
            <a:ahLst/>
            <a:cxnLst/>
            <a:rect l="0" t="0" r="0" b="0"/>
            <a:pathLst>
              <a:path w="52130" h="10724">
                <a:moveTo>
                  <a:pt x="0" y="10724"/>
                </a:moveTo>
                <a:lnTo>
                  <a:pt x="52130" y="0"/>
                </a:lnTo>
              </a:path>
            </a:pathLst>
          </a:custGeom>
          <a:noFill/>
          <a:ln w="19050">
            <a:solidFill>
              <a:srgbClr val="C76520"/>
            </a:solidFill>
          </a:ln>
        </p:spPr>
        <p:txBody>
          <a:bodyPr/>
          <a:lstStyle/>
          <a:p>
            <a:endParaRPr lang="en-US"/>
          </a:p>
        </p:txBody>
      </p:sp>
      <p:sp>
        <p:nvSpPr>
          <p:cNvPr id="47" name="line-607">
            <a:extLst>
              <a:ext uri="{FF2B5EF4-FFF2-40B4-BE49-F238E27FC236}">
                <a16:creationId xmlns:a16="http://schemas.microsoft.com/office/drawing/2014/main" id="{430E0F4C-1961-4532-B7AA-6C868D1A4561}"/>
              </a:ext>
            </a:extLst>
          </p:cNvPr>
          <p:cNvSpPr>
            <a:spLocks noGrp="1"/>
          </p:cNvSpPr>
          <p:nvPr/>
        </p:nvSpPr>
        <p:spPr>
          <a:xfrm>
            <a:off x="8172966" y="3916237"/>
            <a:ext cx="52875" cy="9525"/>
          </a:xfrm>
          <a:custGeom>
            <a:avLst/>
            <a:gdLst/>
            <a:ahLst/>
            <a:cxnLst/>
            <a:rect l="0" t="0" r="0" b="0"/>
            <a:pathLst>
              <a:path w="52875" h="9525">
                <a:moveTo>
                  <a:pt x="0" y="6063"/>
                </a:moveTo>
                <a:lnTo>
                  <a:pt x="52875" y="0"/>
                </a:lnTo>
              </a:path>
            </a:pathLst>
          </a:custGeom>
          <a:noFill/>
          <a:ln w="19050">
            <a:solidFill>
              <a:srgbClr val="C76520"/>
            </a:solidFill>
          </a:ln>
        </p:spPr>
        <p:txBody>
          <a:bodyPr/>
          <a:lstStyle/>
          <a:p>
            <a:endParaRPr lang="en-US"/>
          </a:p>
        </p:txBody>
      </p:sp>
      <p:sp>
        <p:nvSpPr>
          <p:cNvPr id="48" name="line-608">
            <a:extLst>
              <a:ext uri="{FF2B5EF4-FFF2-40B4-BE49-F238E27FC236}">
                <a16:creationId xmlns:a16="http://schemas.microsoft.com/office/drawing/2014/main" id="{A30A5A5D-453E-4937-BEAE-7C4824E0A6F9}"/>
              </a:ext>
            </a:extLst>
          </p:cNvPr>
          <p:cNvSpPr>
            <a:spLocks noGrp="1"/>
          </p:cNvSpPr>
          <p:nvPr/>
        </p:nvSpPr>
        <p:spPr>
          <a:xfrm>
            <a:off x="8225841" y="3914882"/>
            <a:ext cx="53204" cy="9525"/>
          </a:xfrm>
          <a:custGeom>
            <a:avLst/>
            <a:gdLst/>
            <a:ahLst/>
            <a:cxnLst/>
            <a:rect l="0" t="0" r="0" b="0"/>
            <a:pathLst>
              <a:path w="53204" h="9525">
                <a:moveTo>
                  <a:pt x="0" y="1354"/>
                </a:moveTo>
                <a:lnTo>
                  <a:pt x="53204" y="0"/>
                </a:lnTo>
              </a:path>
            </a:pathLst>
          </a:custGeom>
          <a:noFill/>
          <a:ln w="19050">
            <a:solidFill>
              <a:srgbClr val="C76520"/>
            </a:solidFill>
          </a:ln>
        </p:spPr>
        <p:txBody>
          <a:bodyPr/>
          <a:lstStyle/>
          <a:p>
            <a:endParaRPr lang="en-US"/>
          </a:p>
        </p:txBody>
      </p:sp>
      <p:sp>
        <p:nvSpPr>
          <p:cNvPr id="49" name="line-609">
            <a:extLst>
              <a:ext uri="{FF2B5EF4-FFF2-40B4-BE49-F238E27FC236}">
                <a16:creationId xmlns:a16="http://schemas.microsoft.com/office/drawing/2014/main" id="{150FCBA8-89B8-47DA-A245-4A7FFDAB83D3}"/>
              </a:ext>
            </a:extLst>
          </p:cNvPr>
          <p:cNvSpPr>
            <a:spLocks noGrp="1"/>
          </p:cNvSpPr>
          <p:nvPr/>
        </p:nvSpPr>
        <p:spPr>
          <a:xfrm>
            <a:off x="8279045" y="3914882"/>
            <a:ext cx="53115" cy="9525"/>
          </a:xfrm>
          <a:custGeom>
            <a:avLst/>
            <a:gdLst/>
            <a:ahLst/>
            <a:cxnLst/>
            <a:rect l="0" t="0" r="0" b="0"/>
            <a:pathLst>
              <a:path w="53115" h="9525">
                <a:moveTo>
                  <a:pt x="0" y="0"/>
                </a:moveTo>
                <a:lnTo>
                  <a:pt x="53115" y="3365"/>
                </a:lnTo>
              </a:path>
            </a:pathLst>
          </a:custGeom>
          <a:noFill/>
          <a:ln w="19050">
            <a:solidFill>
              <a:srgbClr val="C76520"/>
            </a:solidFill>
          </a:ln>
        </p:spPr>
        <p:txBody>
          <a:bodyPr/>
          <a:lstStyle/>
          <a:p>
            <a:endParaRPr lang="en-US"/>
          </a:p>
        </p:txBody>
      </p:sp>
      <p:sp>
        <p:nvSpPr>
          <p:cNvPr id="50" name="line-610">
            <a:extLst>
              <a:ext uri="{FF2B5EF4-FFF2-40B4-BE49-F238E27FC236}">
                <a16:creationId xmlns:a16="http://schemas.microsoft.com/office/drawing/2014/main" id="{5AE4CFEC-7413-45BA-BA9E-C852FD5B2C80}"/>
              </a:ext>
            </a:extLst>
          </p:cNvPr>
          <p:cNvSpPr>
            <a:spLocks noGrp="1"/>
          </p:cNvSpPr>
          <p:nvPr/>
        </p:nvSpPr>
        <p:spPr>
          <a:xfrm>
            <a:off x="8332161" y="3918247"/>
            <a:ext cx="52608" cy="9525"/>
          </a:xfrm>
          <a:custGeom>
            <a:avLst/>
            <a:gdLst/>
            <a:ahLst/>
            <a:cxnLst/>
            <a:rect l="0" t="0" r="0" b="0"/>
            <a:pathLst>
              <a:path w="52608" h="9525">
                <a:moveTo>
                  <a:pt x="0" y="0"/>
                </a:moveTo>
                <a:lnTo>
                  <a:pt x="52608" y="8058"/>
                </a:lnTo>
              </a:path>
            </a:pathLst>
          </a:custGeom>
          <a:noFill/>
          <a:ln w="19050">
            <a:solidFill>
              <a:srgbClr val="C76520"/>
            </a:solidFill>
          </a:ln>
        </p:spPr>
        <p:txBody>
          <a:bodyPr/>
          <a:lstStyle/>
          <a:p>
            <a:endParaRPr lang="en-US"/>
          </a:p>
        </p:txBody>
      </p:sp>
      <p:sp>
        <p:nvSpPr>
          <p:cNvPr id="51" name="line-611">
            <a:extLst>
              <a:ext uri="{FF2B5EF4-FFF2-40B4-BE49-F238E27FC236}">
                <a16:creationId xmlns:a16="http://schemas.microsoft.com/office/drawing/2014/main" id="{CD3FA756-864D-4E1A-806B-AD3C16BCF500}"/>
              </a:ext>
            </a:extLst>
          </p:cNvPr>
          <p:cNvSpPr>
            <a:spLocks noGrp="1"/>
          </p:cNvSpPr>
          <p:nvPr/>
        </p:nvSpPr>
        <p:spPr>
          <a:xfrm>
            <a:off x="8384769" y="3926305"/>
            <a:ext cx="51687" cy="12688"/>
          </a:xfrm>
          <a:custGeom>
            <a:avLst/>
            <a:gdLst/>
            <a:ahLst/>
            <a:cxnLst/>
            <a:rect l="0" t="0" r="0" b="0"/>
            <a:pathLst>
              <a:path w="51687" h="12688">
                <a:moveTo>
                  <a:pt x="0" y="0"/>
                </a:moveTo>
                <a:lnTo>
                  <a:pt x="51687" y="12688"/>
                </a:lnTo>
              </a:path>
            </a:pathLst>
          </a:custGeom>
          <a:noFill/>
          <a:ln w="19050">
            <a:solidFill>
              <a:srgbClr val="C76520"/>
            </a:solidFill>
          </a:ln>
        </p:spPr>
        <p:txBody>
          <a:bodyPr/>
          <a:lstStyle/>
          <a:p>
            <a:endParaRPr lang="en-US"/>
          </a:p>
        </p:txBody>
      </p:sp>
      <p:sp>
        <p:nvSpPr>
          <p:cNvPr id="52" name="line-612">
            <a:extLst>
              <a:ext uri="{FF2B5EF4-FFF2-40B4-BE49-F238E27FC236}">
                <a16:creationId xmlns:a16="http://schemas.microsoft.com/office/drawing/2014/main" id="{FC8D84C3-0F95-470C-953C-5BE0B816F7DA}"/>
              </a:ext>
            </a:extLst>
          </p:cNvPr>
          <p:cNvSpPr>
            <a:spLocks noGrp="1"/>
          </p:cNvSpPr>
          <p:nvPr/>
        </p:nvSpPr>
        <p:spPr>
          <a:xfrm>
            <a:off x="8436456" y="3938993"/>
            <a:ext cx="50360" cy="17217"/>
          </a:xfrm>
          <a:custGeom>
            <a:avLst/>
            <a:gdLst/>
            <a:ahLst/>
            <a:cxnLst/>
            <a:rect l="0" t="0" r="0" b="0"/>
            <a:pathLst>
              <a:path w="50360" h="17217">
                <a:moveTo>
                  <a:pt x="0" y="0"/>
                </a:moveTo>
                <a:lnTo>
                  <a:pt x="50360" y="17217"/>
                </a:lnTo>
              </a:path>
            </a:pathLst>
          </a:custGeom>
          <a:noFill/>
          <a:ln w="19050">
            <a:solidFill>
              <a:srgbClr val="C76520"/>
            </a:solidFill>
          </a:ln>
        </p:spPr>
        <p:txBody>
          <a:bodyPr/>
          <a:lstStyle/>
          <a:p>
            <a:endParaRPr lang="en-US"/>
          </a:p>
        </p:txBody>
      </p:sp>
      <p:sp>
        <p:nvSpPr>
          <p:cNvPr id="53" name="line-613">
            <a:extLst>
              <a:ext uri="{FF2B5EF4-FFF2-40B4-BE49-F238E27FC236}">
                <a16:creationId xmlns:a16="http://schemas.microsoft.com/office/drawing/2014/main" id="{06587AD2-85F5-4C10-BBD1-74CE2DF95FA6}"/>
              </a:ext>
            </a:extLst>
          </p:cNvPr>
          <p:cNvSpPr>
            <a:spLocks noGrp="1"/>
          </p:cNvSpPr>
          <p:nvPr/>
        </p:nvSpPr>
        <p:spPr>
          <a:xfrm>
            <a:off x="8486816" y="3956210"/>
            <a:ext cx="48636" cy="21612"/>
          </a:xfrm>
          <a:custGeom>
            <a:avLst/>
            <a:gdLst/>
            <a:ahLst/>
            <a:cxnLst/>
            <a:rect l="0" t="0" r="0" b="0"/>
            <a:pathLst>
              <a:path w="48636" h="21612">
                <a:moveTo>
                  <a:pt x="0" y="0"/>
                </a:moveTo>
                <a:lnTo>
                  <a:pt x="48636" y="21612"/>
                </a:lnTo>
              </a:path>
            </a:pathLst>
          </a:custGeom>
          <a:noFill/>
          <a:ln w="19050">
            <a:solidFill>
              <a:srgbClr val="C76520"/>
            </a:solidFill>
          </a:ln>
        </p:spPr>
        <p:txBody>
          <a:bodyPr/>
          <a:lstStyle/>
          <a:p>
            <a:endParaRPr lang="en-US"/>
          </a:p>
        </p:txBody>
      </p:sp>
      <p:sp>
        <p:nvSpPr>
          <p:cNvPr id="54" name="line-614">
            <a:extLst>
              <a:ext uri="{FF2B5EF4-FFF2-40B4-BE49-F238E27FC236}">
                <a16:creationId xmlns:a16="http://schemas.microsoft.com/office/drawing/2014/main" id="{DE02F4A6-FF49-4C3D-A169-28F2293B16AF}"/>
              </a:ext>
            </a:extLst>
          </p:cNvPr>
          <p:cNvSpPr>
            <a:spLocks noGrp="1"/>
          </p:cNvSpPr>
          <p:nvPr/>
        </p:nvSpPr>
        <p:spPr>
          <a:xfrm>
            <a:off x="8535452" y="3977822"/>
            <a:ext cx="46530" cy="25836"/>
          </a:xfrm>
          <a:custGeom>
            <a:avLst/>
            <a:gdLst/>
            <a:ahLst/>
            <a:cxnLst/>
            <a:rect l="0" t="0" r="0" b="0"/>
            <a:pathLst>
              <a:path w="46530" h="25836">
                <a:moveTo>
                  <a:pt x="0" y="0"/>
                </a:moveTo>
                <a:lnTo>
                  <a:pt x="46530" y="25836"/>
                </a:lnTo>
              </a:path>
            </a:pathLst>
          </a:custGeom>
          <a:noFill/>
          <a:ln w="19050">
            <a:solidFill>
              <a:srgbClr val="C76520"/>
            </a:solidFill>
          </a:ln>
        </p:spPr>
        <p:txBody>
          <a:bodyPr/>
          <a:lstStyle/>
          <a:p>
            <a:endParaRPr lang="en-US"/>
          </a:p>
        </p:txBody>
      </p:sp>
      <p:sp>
        <p:nvSpPr>
          <p:cNvPr id="55" name="line-615">
            <a:extLst>
              <a:ext uri="{FF2B5EF4-FFF2-40B4-BE49-F238E27FC236}">
                <a16:creationId xmlns:a16="http://schemas.microsoft.com/office/drawing/2014/main" id="{EF639D92-F403-4619-AFA4-A5E29156C544}"/>
              </a:ext>
            </a:extLst>
          </p:cNvPr>
          <p:cNvSpPr>
            <a:spLocks noGrp="1"/>
          </p:cNvSpPr>
          <p:nvPr/>
        </p:nvSpPr>
        <p:spPr>
          <a:xfrm>
            <a:off x="8581982" y="4003659"/>
            <a:ext cx="44058" cy="29857"/>
          </a:xfrm>
          <a:custGeom>
            <a:avLst/>
            <a:gdLst/>
            <a:ahLst/>
            <a:cxnLst/>
            <a:rect l="0" t="0" r="0" b="0"/>
            <a:pathLst>
              <a:path w="44058" h="29857">
                <a:moveTo>
                  <a:pt x="0" y="0"/>
                </a:moveTo>
                <a:lnTo>
                  <a:pt x="44058" y="29857"/>
                </a:lnTo>
              </a:path>
            </a:pathLst>
          </a:custGeom>
          <a:noFill/>
          <a:ln w="19050">
            <a:solidFill>
              <a:srgbClr val="C76520"/>
            </a:solidFill>
          </a:ln>
        </p:spPr>
        <p:txBody>
          <a:bodyPr/>
          <a:lstStyle/>
          <a:p>
            <a:endParaRPr lang="en-US"/>
          </a:p>
        </p:txBody>
      </p:sp>
      <p:sp>
        <p:nvSpPr>
          <p:cNvPr id="56" name="line-616">
            <a:extLst>
              <a:ext uri="{FF2B5EF4-FFF2-40B4-BE49-F238E27FC236}">
                <a16:creationId xmlns:a16="http://schemas.microsoft.com/office/drawing/2014/main" id="{0B702580-EFC4-4B21-A863-D8A0DEEDF1E3}"/>
              </a:ext>
            </a:extLst>
          </p:cNvPr>
          <p:cNvSpPr>
            <a:spLocks noGrp="1"/>
          </p:cNvSpPr>
          <p:nvPr/>
        </p:nvSpPr>
        <p:spPr>
          <a:xfrm>
            <a:off x="8626040" y="4033516"/>
            <a:ext cx="41239" cy="33644"/>
          </a:xfrm>
          <a:custGeom>
            <a:avLst/>
            <a:gdLst/>
            <a:ahLst/>
            <a:cxnLst/>
            <a:rect l="0" t="0" r="0" b="0"/>
            <a:pathLst>
              <a:path w="41239" h="33644">
                <a:moveTo>
                  <a:pt x="0" y="0"/>
                </a:moveTo>
                <a:lnTo>
                  <a:pt x="41239" y="33644"/>
                </a:lnTo>
              </a:path>
            </a:pathLst>
          </a:custGeom>
          <a:noFill/>
          <a:ln w="19050">
            <a:solidFill>
              <a:srgbClr val="C76520"/>
            </a:solidFill>
          </a:ln>
        </p:spPr>
        <p:txBody>
          <a:bodyPr/>
          <a:lstStyle/>
          <a:p>
            <a:endParaRPr lang="en-US"/>
          </a:p>
        </p:txBody>
      </p:sp>
      <p:sp>
        <p:nvSpPr>
          <p:cNvPr id="57" name="line-617">
            <a:extLst>
              <a:ext uri="{FF2B5EF4-FFF2-40B4-BE49-F238E27FC236}">
                <a16:creationId xmlns:a16="http://schemas.microsoft.com/office/drawing/2014/main" id="{F69BEB00-30A5-4257-A5A6-63E738CD3A42}"/>
              </a:ext>
            </a:extLst>
          </p:cNvPr>
          <p:cNvSpPr>
            <a:spLocks noGrp="1"/>
          </p:cNvSpPr>
          <p:nvPr/>
        </p:nvSpPr>
        <p:spPr>
          <a:xfrm>
            <a:off x="8667279" y="4067160"/>
            <a:ext cx="38096" cy="37165"/>
          </a:xfrm>
          <a:custGeom>
            <a:avLst/>
            <a:gdLst/>
            <a:ahLst/>
            <a:cxnLst/>
            <a:rect l="0" t="0" r="0" b="0"/>
            <a:pathLst>
              <a:path w="38096" h="37165">
                <a:moveTo>
                  <a:pt x="0" y="0"/>
                </a:moveTo>
                <a:lnTo>
                  <a:pt x="38096" y="37165"/>
                </a:lnTo>
              </a:path>
            </a:pathLst>
          </a:custGeom>
          <a:noFill/>
          <a:ln w="19050">
            <a:solidFill>
              <a:srgbClr val="C76520"/>
            </a:solidFill>
          </a:ln>
        </p:spPr>
        <p:txBody>
          <a:bodyPr/>
          <a:lstStyle/>
          <a:p>
            <a:endParaRPr lang="en-US"/>
          </a:p>
        </p:txBody>
      </p:sp>
      <p:sp>
        <p:nvSpPr>
          <p:cNvPr id="58" name="line-618">
            <a:extLst>
              <a:ext uri="{FF2B5EF4-FFF2-40B4-BE49-F238E27FC236}">
                <a16:creationId xmlns:a16="http://schemas.microsoft.com/office/drawing/2014/main" id="{F2E6E9AA-7734-4856-89A2-0B87FDD5B782}"/>
              </a:ext>
            </a:extLst>
          </p:cNvPr>
          <p:cNvSpPr>
            <a:spLocks noGrp="1"/>
          </p:cNvSpPr>
          <p:nvPr/>
        </p:nvSpPr>
        <p:spPr>
          <a:xfrm>
            <a:off x="8705375" y="4104325"/>
            <a:ext cx="34653" cy="40395"/>
          </a:xfrm>
          <a:custGeom>
            <a:avLst/>
            <a:gdLst/>
            <a:ahLst/>
            <a:cxnLst/>
            <a:rect l="0" t="0" r="0" b="0"/>
            <a:pathLst>
              <a:path w="34653" h="40395">
                <a:moveTo>
                  <a:pt x="0" y="0"/>
                </a:moveTo>
                <a:lnTo>
                  <a:pt x="34653" y="40395"/>
                </a:lnTo>
              </a:path>
            </a:pathLst>
          </a:custGeom>
          <a:noFill/>
          <a:ln w="19050">
            <a:solidFill>
              <a:srgbClr val="C76520"/>
            </a:solidFill>
          </a:ln>
        </p:spPr>
        <p:txBody>
          <a:bodyPr/>
          <a:lstStyle/>
          <a:p>
            <a:endParaRPr lang="en-US"/>
          </a:p>
        </p:txBody>
      </p:sp>
      <p:sp>
        <p:nvSpPr>
          <p:cNvPr id="59" name="line-619">
            <a:extLst>
              <a:ext uri="{FF2B5EF4-FFF2-40B4-BE49-F238E27FC236}">
                <a16:creationId xmlns:a16="http://schemas.microsoft.com/office/drawing/2014/main" id="{8867FE23-ADA6-483B-8ED1-B98277BBD430}"/>
              </a:ext>
            </a:extLst>
          </p:cNvPr>
          <p:cNvSpPr>
            <a:spLocks noGrp="1"/>
          </p:cNvSpPr>
          <p:nvPr/>
        </p:nvSpPr>
        <p:spPr>
          <a:xfrm>
            <a:off x="8740028" y="4144720"/>
            <a:ext cx="30938" cy="43306"/>
          </a:xfrm>
          <a:custGeom>
            <a:avLst/>
            <a:gdLst/>
            <a:ahLst/>
            <a:cxnLst/>
            <a:rect l="0" t="0" r="0" b="0"/>
            <a:pathLst>
              <a:path w="30938" h="43306">
                <a:moveTo>
                  <a:pt x="0" y="0"/>
                </a:moveTo>
                <a:lnTo>
                  <a:pt x="30938" y="43306"/>
                </a:lnTo>
              </a:path>
            </a:pathLst>
          </a:custGeom>
          <a:noFill/>
          <a:ln w="19050">
            <a:solidFill>
              <a:srgbClr val="C76520"/>
            </a:solidFill>
          </a:ln>
        </p:spPr>
        <p:txBody>
          <a:bodyPr/>
          <a:lstStyle/>
          <a:p>
            <a:endParaRPr lang="en-US"/>
          </a:p>
        </p:txBody>
      </p:sp>
      <p:sp>
        <p:nvSpPr>
          <p:cNvPr id="60" name="diagram-620">
            <a:extLst>
              <a:ext uri="{FF2B5EF4-FFF2-40B4-BE49-F238E27FC236}">
                <a16:creationId xmlns:a16="http://schemas.microsoft.com/office/drawing/2014/main" id="{0F6F6AC7-F7F5-49AD-AD74-851EDA2B1A54}"/>
              </a:ext>
            </a:extLst>
          </p:cNvPr>
          <p:cNvSpPr>
            <a:spLocks noGrp="1"/>
          </p:cNvSpPr>
          <p:nvPr/>
        </p:nvSpPr>
        <p:spPr>
          <a:xfrm>
            <a:off x="6677025" y="3048000"/>
            <a:ext cx="4667250" cy="323850"/>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Upper / lower spatial directions</a:t>
            </a:r>
          </a:p>
        </p:txBody>
      </p:sp>
      <p:sp>
        <p:nvSpPr>
          <p:cNvPr id="64" name="added-text-12">
            <a:extLst>
              <a:ext uri="{FF2B5EF4-FFF2-40B4-BE49-F238E27FC236}">
                <a16:creationId xmlns:a16="http://schemas.microsoft.com/office/drawing/2014/main" id="{9A1C2840-D3B5-4979-8FC4-1792F2E1CF66}"/>
              </a:ext>
            </a:extLst>
          </p:cNvPr>
          <p:cNvSpPr>
            <a:spLocks noGrp="1"/>
          </p:cNvSpPr>
          <p:nvPr/>
        </p:nvSpPr>
        <p:spPr>
          <a:xfrm>
            <a:off x="933450" y="3152775"/>
            <a:ext cx="5619750" cy="5334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f: service    wf: weight    Fcritical: required-service set</a:t>
            </a:r>
          </a:p>
        </p:txBody>
      </p:sp>
      <p:sp>
        <p:nvSpPr>
          <p:cNvPr id="65" name="added-text-100">
            <a:extLst>
              <a:ext uri="{FF2B5EF4-FFF2-40B4-BE49-F238E27FC236}">
                <a16:creationId xmlns:a16="http://schemas.microsoft.com/office/drawing/2014/main" id="{B31B0E52-3CD5-4206-880E-8A70C555F17B}"/>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29</a:t>
            </a:r>
          </a:p>
        </p:txBody>
      </p:sp>
    </p:spTree>
    <p:extLst>
      <p:ext uri="{BB962C8B-B14F-4D97-AF65-F5344CB8AC3E}">
        <p14:creationId xmlns:p14="http://schemas.microsoft.com/office/powerpoint/2010/main" val="2955090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dded-text-42">
            <a:extLst>
              <a:ext uri="{FF2B5EF4-FFF2-40B4-BE49-F238E27FC236}">
                <a16:creationId xmlns:a16="http://schemas.microsoft.com/office/drawing/2014/main" id="{3404C719-A8B2-450D-AA85-5EF371BBF60E}"/>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 Worked airtime example</a:t>
            </a:r>
          </a:p>
        </p:txBody>
      </p:sp>
      <p:sp>
        <p:nvSpPr>
          <p:cNvPr id="2" name="added-text-43">
            <a:extLst>
              <a:ext uri="{FF2B5EF4-FFF2-40B4-BE49-F238E27FC236}">
                <a16:creationId xmlns:a16="http://schemas.microsoft.com/office/drawing/2014/main" id="{9E249F1F-78BD-44FB-973C-CE1332CB6ECC}"/>
              </a:ext>
            </a:extLst>
          </p:cNvPr>
          <p:cNvSpPr>
            <a:spLocks noGrp="1"/>
          </p:cNvSpPr>
          <p:nvPr/>
        </p:nvSpPr>
        <p:spPr>
          <a:xfrm>
            <a:off x="933450" y="1905000"/>
            <a:ext cx="10287000" cy="857250"/>
          </a:xfrm>
          <a:prstGeom prst="rect">
            <a:avLst/>
          </a:prstGeom>
          <a:noFill/>
          <a:ln w="0">
            <a:noFill/>
          </a:ln>
        </p:spPr>
        <p:txBody>
          <a:bodyPr lIns="0" tIns="0" rIns="0" bIns="0" anchor="t">
            <a:noAutofit/>
          </a:bodyPr>
          <a:lstStyle/>
          <a:p>
            <a:pPr algn="l">
              <a:defRPr sz="1875" b="0">
                <a:solidFill>
                  <a:srgbClr val="111111"/>
                </a:solidFill>
                <a:latin typeface="Aptos"/>
                <a:ea typeface="Aptos"/>
                <a:cs typeface="Aptos"/>
              </a:defRPr>
            </a:pPr>
            <a:r>
              <a:rPr sz="1875" b="0">
                <a:solidFill>
                  <a:srgbClr val="111111"/>
                </a:solidFill>
                <a:latin typeface="Aptos"/>
                <a:ea typeface="Aptos"/>
                <a:cs typeface="Aptos"/>
              </a:rPr>
              <a:t>Illustrative assumptions: two saturated clients, equal airtime a1 = a2 = 0.5.</a:t>
            </a:r>
          </a:p>
          <a:p>
            <a:pPr algn="l">
              <a:defRPr sz="1875" b="0">
                <a:solidFill>
                  <a:srgbClr val="111111"/>
                </a:solidFill>
                <a:latin typeface="Aptos"/>
                <a:ea typeface="Aptos"/>
                <a:cs typeface="Aptos"/>
              </a:defRPr>
            </a:pPr>
            <a:r>
              <a:rPr sz="1875" b="0">
                <a:solidFill>
                  <a:srgbClr val="111111"/>
                </a:solidFill>
                <a:latin typeface="Aptos"/>
                <a:ea typeface="Aptos"/>
                <a:cs typeface="Aptos"/>
              </a:rPr>
              <a:t>Candidate A has C = (100, 20) Mb/s. Candidate B has C = (65, 50) Mb/s.</a:t>
            </a:r>
          </a:p>
        </p:txBody>
      </p:sp>
      <p:graphicFrame>
        <p:nvGraphicFramePr>
          <p:cNvPr id="9" name="Table 8"/>
          <p:cNvGraphicFramePr/>
          <p:nvPr/>
        </p:nvGraphicFramePr>
        <p:xfrm>
          <a:off x="933450" y="3057525"/>
          <a:ext cx="10382250" cy="1714500"/>
        </p:xfrm>
        <a:graphic>
          <a:graphicData uri="http://schemas.openxmlformats.org/drawingml/2006/table">
            <a:tbl>
              <a:tblPr/>
              <a:tblGrid>
                <a:gridCol w="1952625">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333625">
                  <a:extLst>
                    <a:ext uri="{9D8B030D-6E8A-4147-A177-3AD203B41FA5}">
                      <a16:colId xmlns:a16="http://schemas.microsoft.com/office/drawing/2014/main" val="20004"/>
                    </a:ext>
                  </a:extLst>
                </a:gridCol>
              </a:tblGrid>
              <a:tr h="571500">
                <a:tc>
                  <a:txBody>
                    <a:bodyPr/>
                    <a:lstStyle/>
                    <a:p>
                      <a:r>
                        <a:rPr sz="1875" b="1">
                          <a:solidFill>
                            <a:srgbClr val="17698C"/>
                          </a:solidFill>
                          <a:latin typeface="Aptos"/>
                          <a:ea typeface="Aptos"/>
                          <a:cs typeface="Aptos"/>
                        </a:rPr>
                        <a:t>Candidate</a:t>
                      </a:r>
                    </a:p>
                  </a:txBody>
                  <a:tcPr marL="85725" marR="85725" marT="19050" marB="19050" anchor="ctr">
                    <a:solidFill>
                      <a:srgbClr val="F1F4F5"/>
                    </a:solidFill>
                  </a:tcPr>
                </a:tc>
                <a:tc>
                  <a:txBody>
                    <a:bodyPr/>
                    <a:lstStyle/>
                    <a:p>
                      <a:r>
                        <a:rPr sz="1875" b="1">
                          <a:solidFill>
                            <a:srgbClr val="17698C"/>
                          </a:solidFill>
                          <a:latin typeface="Aptos"/>
                          <a:ea typeface="Aptos"/>
                          <a:cs typeface="Aptos"/>
                        </a:rPr>
                        <a:t>T1 (Mb/s)</a:t>
                      </a:r>
                    </a:p>
                  </a:txBody>
                  <a:tcPr marL="85725" marR="85725" marT="19050" marB="19050" anchor="ctr">
                    <a:solidFill>
                      <a:srgbClr val="F1F4F5"/>
                    </a:solidFill>
                  </a:tcPr>
                </a:tc>
                <a:tc>
                  <a:txBody>
                    <a:bodyPr/>
                    <a:lstStyle/>
                    <a:p>
                      <a:r>
                        <a:rPr sz="1875" b="1">
                          <a:solidFill>
                            <a:srgbClr val="17698C"/>
                          </a:solidFill>
                          <a:latin typeface="Aptos"/>
                          <a:ea typeface="Aptos"/>
                          <a:cs typeface="Aptos"/>
                        </a:rPr>
                        <a:t>T2 (Mb/s)</a:t>
                      </a:r>
                    </a:p>
                  </a:txBody>
                  <a:tcPr marL="85725" marR="85725" marT="19050" marB="19050" anchor="ctr">
                    <a:solidFill>
                      <a:srgbClr val="F1F4F5"/>
                    </a:solidFill>
                  </a:tcPr>
                </a:tc>
                <a:tc>
                  <a:txBody>
                    <a:bodyPr/>
                    <a:lstStyle/>
                    <a:p>
                      <a:r>
                        <a:rPr sz="1875" b="1">
                          <a:solidFill>
                            <a:srgbClr val="17698C"/>
                          </a:solidFill>
                          <a:latin typeface="Aptos"/>
                          <a:ea typeface="Aptos"/>
                          <a:cs typeface="Aptos"/>
                        </a:rPr>
                        <a:t>T1 + T2</a:t>
                      </a:r>
                    </a:p>
                  </a:txBody>
                  <a:tcPr marL="85725" marR="85725" marT="19050" marB="19050" anchor="ctr">
                    <a:solidFill>
                      <a:srgbClr val="F1F4F5"/>
                    </a:solidFill>
                  </a:tcPr>
                </a:tc>
                <a:tc>
                  <a:txBody>
                    <a:bodyPr/>
                    <a:lstStyle/>
                    <a:p>
                      <a:r>
                        <a:rPr sz="1875" b="1">
                          <a:solidFill>
                            <a:srgbClr val="17698C"/>
                          </a:solidFill>
                          <a:latin typeface="Aptos"/>
                          <a:ea typeface="Aptos"/>
                          <a:cs typeface="Aptos"/>
                        </a:rPr>
                        <a:t>T1 + 4T2</a:t>
                      </a:r>
                    </a:p>
                  </a:txBody>
                  <a:tcPr marL="85725" marR="85725" marT="19050" marB="19050" anchor="ctr">
                    <a:solidFill>
                      <a:srgbClr val="F1F4F5"/>
                    </a:solidFill>
                  </a:tcPr>
                </a:tc>
                <a:extLst>
                  <a:ext uri="{0D108BD9-81ED-4DB2-BD59-A6C34878D82A}">
                    <a16:rowId xmlns:a16="http://schemas.microsoft.com/office/drawing/2014/main" val="10000"/>
                  </a:ext>
                </a:extLst>
              </a:tr>
              <a:tr h="571500">
                <a:tc>
                  <a:txBody>
                    <a:bodyPr/>
                    <a:lstStyle/>
                    <a:p>
                      <a:r>
                        <a:rPr sz="1875" b="1">
                          <a:solidFill>
                            <a:srgbClr val="111111"/>
                          </a:solidFill>
                          <a:latin typeface="Aptos"/>
                          <a:ea typeface="Aptos"/>
                          <a:cs typeface="Aptos"/>
                        </a:rPr>
                        <a:t>A</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50</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10</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60</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90</a:t>
                      </a:r>
                    </a:p>
                  </a:txBody>
                  <a:tcPr marL="85725" marR="85725" marT="19050" marB="19050" anchor="ctr">
                    <a:solidFill>
                      <a:srgbClr val="FFFFFF"/>
                    </a:solidFill>
                  </a:tcPr>
                </a:tc>
                <a:extLst>
                  <a:ext uri="{0D108BD9-81ED-4DB2-BD59-A6C34878D82A}">
                    <a16:rowId xmlns:a16="http://schemas.microsoft.com/office/drawing/2014/main" val="10001"/>
                  </a:ext>
                </a:extLst>
              </a:tr>
              <a:tr h="571500">
                <a:tc>
                  <a:txBody>
                    <a:bodyPr/>
                    <a:lstStyle/>
                    <a:p>
                      <a:r>
                        <a:rPr sz="1875" b="1">
                          <a:solidFill>
                            <a:srgbClr val="111111"/>
                          </a:solidFill>
                          <a:latin typeface="Aptos"/>
                          <a:ea typeface="Aptos"/>
                          <a:cs typeface="Aptos"/>
                        </a:rPr>
                        <a:t>B</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32.5</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25</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57.5</a:t>
                      </a:r>
                    </a:p>
                  </a:txBody>
                  <a:tcPr marL="85725" marR="85725" marT="19050" marB="19050" anchor="ctr">
                    <a:solidFill>
                      <a:srgbClr val="FFFFFF"/>
                    </a:solidFill>
                  </a:tcPr>
                </a:tc>
                <a:tc>
                  <a:txBody>
                    <a:bodyPr/>
                    <a:lstStyle/>
                    <a:p>
                      <a:r>
                        <a:rPr sz="1875" b="0">
                          <a:solidFill>
                            <a:srgbClr val="111111"/>
                          </a:solidFill>
                          <a:latin typeface="Aptos"/>
                          <a:ea typeface="Aptos"/>
                          <a:cs typeface="Aptos"/>
                        </a:rPr>
                        <a:t>132.5</a:t>
                      </a:r>
                    </a:p>
                  </a:txBody>
                  <a:tcPr marL="85725" marR="85725" marT="19050" marB="19050" anchor="ctr">
                    <a:solidFill>
                      <a:srgbClr val="FFFFFF"/>
                    </a:solidFill>
                  </a:tcPr>
                </a:tc>
                <a:extLst>
                  <a:ext uri="{0D108BD9-81ED-4DB2-BD59-A6C34878D82A}">
                    <a16:rowId xmlns:a16="http://schemas.microsoft.com/office/drawing/2014/main" val="10002"/>
                  </a:ext>
                </a:extLst>
              </a:tr>
            </a:tbl>
          </a:graphicData>
        </a:graphic>
      </p:graphicFrame>
      <p:sp>
        <p:nvSpPr>
          <p:cNvPr id="4" name="added-text-44">
            <a:extLst>
              <a:ext uri="{FF2B5EF4-FFF2-40B4-BE49-F238E27FC236}">
                <a16:creationId xmlns:a16="http://schemas.microsoft.com/office/drawing/2014/main" id="{9EFE0527-9D66-4CFA-9722-7C57E647A3C2}"/>
              </a:ext>
            </a:extLst>
          </p:cNvPr>
          <p:cNvSpPr>
            <a:spLocks noGrp="1"/>
          </p:cNvSpPr>
          <p:nvPr/>
        </p:nvSpPr>
        <p:spPr>
          <a:xfrm>
            <a:off x="933450" y="5105400"/>
            <a:ext cx="10287000" cy="1228725"/>
          </a:xfrm>
          <a:prstGeom prst="rect">
            <a:avLst/>
          </a:prstGeom>
          <a:noFill/>
          <a:ln w="0">
            <a:noFill/>
          </a:ln>
        </p:spPr>
        <p:txBody>
          <a:bodyPr lIns="0" tIns="0" rIns="0" bIns="0" anchor="t">
            <a:noAutofit/>
          </a:bodyPr>
          <a:lstStyle/>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Sum-goodput chooses A. Giving client 2 weight 4 chooses B.</a:t>
            </a:r>
          </a:p>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If client 2 requires at least 20 Mb/s, A is infeasible and B meets that rate.</a:t>
            </a:r>
          </a:p>
        </p:txBody>
      </p:sp>
      <p:sp>
        <p:nvSpPr>
          <p:cNvPr id="5" name="added-text-45">
            <a:extLst>
              <a:ext uri="{FF2B5EF4-FFF2-40B4-BE49-F238E27FC236}">
                <a16:creationId xmlns:a16="http://schemas.microsoft.com/office/drawing/2014/main" id="{1654FC04-6A95-408C-AE11-CA6792E68253}"/>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Assumed numbers demonstrate the objective only. They are not measured Wi-Fi performance.</a:t>
            </a:r>
          </a:p>
        </p:txBody>
      </p:sp>
      <p:sp>
        <p:nvSpPr>
          <p:cNvPr id="6" name="added-text-101">
            <a:extLst>
              <a:ext uri="{FF2B5EF4-FFF2-40B4-BE49-F238E27FC236}">
                <a16:creationId xmlns:a16="http://schemas.microsoft.com/office/drawing/2014/main" id="{DD61F847-496C-43EF-9D9D-546CE78AB0F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30</a:t>
            </a:r>
          </a:p>
        </p:txBody>
      </p:sp>
    </p:spTree>
    <p:extLst>
      <p:ext uri="{BB962C8B-B14F-4D97-AF65-F5344CB8AC3E}">
        <p14:creationId xmlns:p14="http://schemas.microsoft.com/office/powerpoint/2010/main" val="2041117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 Selection pseudocode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621">
            <a:extLst>
              <a:ext uri="{FF2B5EF4-FFF2-40B4-BE49-F238E27FC236}">
                <a16:creationId xmlns:a16="http://schemas.microsoft.com/office/drawing/2014/main" id="{4E05B5DF-549D-46CB-85B3-8EE015F74A55}"/>
              </a:ext>
            </a:extLst>
          </p:cNvPr>
          <p:cNvSpPr>
            <a:spLocks noGrp="1"/>
          </p:cNvSpPr>
          <p:nvPr/>
        </p:nvSpPr>
        <p:spPr>
          <a:xfrm>
            <a:off x="933450" y="2019300"/>
            <a:ext cx="10477500" cy="3933825"/>
          </a:xfrm>
          <a:prstGeom prst="rect">
            <a:avLst/>
          </a:prstGeom>
          <a:noFill/>
          <a:ln w="0">
            <a:noFill/>
          </a:ln>
        </p:spPr>
        <p:txBody>
          <a:bodyPr lIns="0" tIns="0" rIns="0" bIns="0" anchor="t">
            <a:noAutofit/>
          </a:bodyPr>
          <a:lstStyle/>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SELECT_AND_VERIFY(models, Q, objective, q0):</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candidates = Q plus incumbent q0</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if models are reliable:</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predict coherent channels and service utility</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shortlist separated high-score states; refine</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else: use a budgeted direct-probe candidate grid</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probe candidates and q0 under the same policy</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reject invalid comparisons; check service constraints</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choose best verified feasible candidate</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move only for confirmed gain or feasibility recovery</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confirm, hold, and record measured service outcomes</a:t>
            </a:r>
          </a:p>
        </p:txBody>
      </p:sp>
      <p:sp>
        <p:nvSpPr>
          <p:cNvPr id="5" name="diagram-622">
            <a:extLst>
              <a:ext uri="{FF2B5EF4-FFF2-40B4-BE49-F238E27FC236}">
                <a16:creationId xmlns:a16="http://schemas.microsoft.com/office/drawing/2014/main" id="{B8D8B015-F476-4CCC-B8AD-C76A349569D8}"/>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Best predicted grid point and best verified candidate are limited claims, not a continuous global optimum.</a:t>
            </a:r>
          </a:p>
        </p:txBody>
      </p:sp>
      <p:sp>
        <p:nvSpPr>
          <p:cNvPr id="6" name="added-text-102">
            <a:extLst>
              <a:ext uri="{FF2B5EF4-FFF2-40B4-BE49-F238E27FC236}">
                <a16:creationId xmlns:a16="http://schemas.microsoft.com/office/drawing/2014/main" id="{344689C5-E537-4F80-9EC3-3866CE39F0DE}"/>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31</a:t>
            </a:r>
          </a:p>
        </p:txBody>
      </p:sp>
    </p:spTree>
    <p:extLst>
      <p:ext uri="{BB962C8B-B14F-4D97-AF65-F5344CB8AC3E}">
        <p14:creationId xmlns:p14="http://schemas.microsoft.com/office/powerpoint/2010/main" val="2955090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46">
            <a:extLst>
              <a:ext uri="{FF2B5EF4-FFF2-40B4-BE49-F238E27FC236}">
                <a16:creationId xmlns:a16="http://schemas.microsoft.com/office/drawing/2014/main" id="{DC201690-D8AB-499B-A491-DCAAA00949D1}"/>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 Selection contract</a:t>
            </a:r>
          </a:p>
        </p:txBody>
      </p:sp>
      <p:graphicFrame>
        <p:nvGraphicFramePr>
          <p:cNvPr id="6" name="Table 5"/>
          <p:cNvGraphicFramePr/>
          <p:nvPr/>
        </p:nvGraphicFramePr>
        <p:xfrm>
          <a:off x="933450" y="1895475"/>
          <a:ext cx="10382250" cy="354901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725"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725" b="1">
                          <a:solidFill>
                            <a:srgbClr val="111111"/>
                          </a:solidFill>
                          <a:latin typeface="Aptos"/>
                          <a:ea typeface="Aptos"/>
                          <a:cs typeface="Aptos"/>
                        </a:rPr>
                        <a:t>models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Per-client fitted paths, calibration and reliability diagnostics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725" b="1">
                          <a:solidFill>
                            <a:srgbClr val="111111"/>
                          </a:solidFill>
                          <a:latin typeface="Aptos"/>
                          <a:ea typeface="Aptos"/>
                          <a:cs typeface="Aptos"/>
                        </a:rPr>
                        <a:t>Q, q0</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Reachable candidate grid and current orientation</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725" b="1">
                          <a:solidFill>
                            <a:srgbClr val="111111"/>
                          </a:solidFill>
                          <a:latin typeface="Aptos"/>
                          <a:ea typeface="Aptos"/>
                          <a:cs typeface="Aptos"/>
                        </a:rPr>
                        <a:t>objective / context</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Loads, weights, airtime policy and service constraints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Input; fixed for comparison</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725" b="1">
                          <a:solidFill>
                            <a:srgbClr val="111111"/>
                          </a:solidFill>
                          <a:latin typeface="Aptos"/>
                          <a:ea typeface="Aptos"/>
                          <a:cs typeface="Aptos"/>
                        </a:rPr>
                        <a:t>shortlist</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Several separated predicted winners plus the incumbent</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Intermediate</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725" b="1">
                          <a:solidFill>
                            <a:srgbClr val="111111"/>
                          </a:solidFill>
                          <a:latin typeface="Aptos"/>
                          <a:ea typeface="Aptos"/>
                          <a:cs typeface="Aptos"/>
                        </a:rPr>
                        <a:t>verified metrics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Comparable direct service measurements, with uncertainty</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Evidence</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725" b="1">
                          <a:solidFill>
                            <a:srgbClr val="111111"/>
                          </a:solidFill>
                          <a:latin typeface="Aptos"/>
                          <a:ea typeface="Aptos"/>
                          <a:cs typeface="Aptos"/>
                        </a:rPr>
                        <a:t>q★, status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Chosen candidate, measured scores, feasible/unreliable/unchanged status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Output</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725" b="1">
                          <a:solidFill>
                            <a:srgbClr val="111111"/>
                          </a:solidFill>
                          <a:latin typeface="Aptos"/>
                          <a:ea typeface="Aptos"/>
                          <a:cs typeface="Aptos"/>
                        </a:rPr>
                        <a:t>backup and logs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Recently checked fallback and all search/movement time</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Recovery and evaluation</a:t>
                      </a:r>
                    </a:p>
                  </a:txBody>
                  <a:tcPr marL="85725" marR="85725" marT="19050" marB="19050" anchor="ctr">
                    <a:solidFill>
                      <a:srgbClr val="FFFFFF"/>
                    </a:solidFill>
                  </a:tcPr>
                </a:tc>
                <a:extLst>
                  <a:ext uri="{0D108BD9-81ED-4DB2-BD59-A6C34878D82A}">
                    <a16:rowId xmlns:a16="http://schemas.microsoft.com/office/drawing/2014/main" val="10007"/>
                  </a:ext>
                </a:extLst>
              </a:tr>
            </a:tbl>
          </a:graphicData>
        </a:graphic>
      </p:graphicFrame>
      <p:sp>
        <p:nvSpPr>
          <p:cNvPr id="3" name="added-text-47">
            <a:extLst>
              <a:ext uri="{FF2B5EF4-FFF2-40B4-BE49-F238E27FC236}">
                <a16:creationId xmlns:a16="http://schemas.microsoft.com/office/drawing/2014/main" id="{5CFF1D2D-E2E5-4287-B952-D5C71239C1EE}"/>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Use a direct probe grid if models fail. Keep “unknown comparison,” “poor performance,” and “infeasible” distinct.</a:t>
            </a:r>
          </a:p>
        </p:txBody>
      </p:sp>
      <p:sp>
        <p:nvSpPr>
          <p:cNvPr id="4" name="added-text-103">
            <a:extLst>
              <a:ext uri="{FF2B5EF4-FFF2-40B4-BE49-F238E27FC236}">
                <a16:creationId xmlns:a16="http://schemas.microsoft.com/office/drawing/2014/main" id="{BAFA1DBA-9B5E-4D02-BB3B-4DA9AE8B4250}"/>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32</a:t>
            </a:r>
          </a:p>
        </p:txBody>
      </p:sp>
    </p:spTree>
    <p:extLst>
      <p:ext uri="{BB962C8B-B14F-4D97-AF65-F5344CB8AC3E}">
        <p14:creationId xmlns:p14="http://schemas.microsoft.com/office/powerpoint/2010/main" val="215948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A: periodic full scans</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623">
            <a:extLst>
              <a:ext uri="{FF2B5EF4-FFF2-40B4-BE49-F238E27FC236}">
                <a16:creationId xmlns:a16="http://schemas.microsoft.com/office/drawing/2014/main" id="{1A8AC893-A3ED-4D34-B557-A65119D7D2BF}"/>
              </a:ext>
            </a:extLst>
          </p:cNvPr>
          <p:cNvSpPr>
            <a:spLocks noGrp="1"/>
          </p:cNvSpPr>
          <p:nvPr/>
        </p:nvSpPr>
        <p:spPr>
          <a:xfrm>
            <a:off x="933450" y="1981200"/>
            <a:ext cx="2571750" cy="609600"/>
          </a:xfrm>
          <a:prstGeom prst="rect">
            <a:avLst/>
          </a:prstGeom>
          <a:solidFill>
            <a:srgbClr val="FFFFFF"/>
          </a:solidFill>
          <a:ln w="19050">
            <a:solidFill>
              <a:srgbClr val="111111"/>
            </a:solidFill>
          </a:ln>
        </p:spPr>
        <p:txBody>
          <a:bodyPr/>
          <a:lstStyle/>
          <a:p>
            <a:endParaRPr lang="en-US"/>
          </a:p>
        </p:txBody>
      </p:sp>
      <p:sp>
        <p:nvSpPr>
          <p:cNvPr id="5" name="diagram-624">
            <a:extLst>
              <a:ext uri="{FF2B5EF4-FFF2-40B4-BE49-F238E27FC236}">
                <a16:creationId xmlns:a16="http://schemas.microsoft.com/office/drawing/2014/main" id="{DC40F8BD-2B83-48B2-A584-F69A8539317A}"/>
              </a:ext>
            </a:extLst>
          </p:cNvPr>
          <p:cNvSpPr>
            <a:spLocks noGrp="1"/>
          </p:cNvSpPr>
          <p:nvPr/>
        </p:nvSpPr>
        <p:spPr>
          <a:xfrm>
            <a:off x="1009650" y="2095500"/>
            <a:ext cx="2419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Full scan + verify</a:t>
            </a:r>
          </a:p>
        </p:txBody>
      </p:sp>
      <p:sp>
        <p:nvSpPr>
          <p:cNvPr id="6" name="diagram-625">
            <a:extLst>
              <a:ext uri="{FF2B5EF4-FFF2-40B4-BE49-F238E27FC236}">
                <a16:creationId xmlns:a16="http://schemas.microsoft.com/office/drawing/2014/main" id="{EDF03D75-11D3-485F-81D1-943F5742E875}"/>
              </a:ext>
            </a:extLst>
          </p:cNvPr>
          <p:cNvSpPr>
            <a:spLocks noGrp="1"/>
          </p:cNvSpPr>
          <p:nvPr/>
        </p:nvSpPr>
        <p:spPr>
          <a:xfrm>
            <a:off x="4352925" y="1981200"/>
            <a:ext cx="2571750" cy="609600"/>
          </a:xfrm>
          <a:prstGeom prst="rect">
            <a:avLst/>
          </a:prstGeom>
          <a:solidFill>
            <a:srgbClr val="FFFFFF"/>
          </a:solidFill>
          <a:ln w="19050">
            <a:solidFill>
              <a:srgbClr val="111111"/>
            </a:solidFill>
          </a:ln>
        </p:spPr>
        <p:txBody>
          <a:bodyPr/>
          <a:lstStyle/>
          <a:p>
            <a:endParaRPr lang="en-US"/>
          </a:p>
        </p:txBody>
      </p:sp>
      <p:sp>
        <p:nvSpPr>
          <p:cNvPr id="7" name="diagram-626">
            <a:extLst>
              <a:ext uri="{FF2B5EF4-FFF2-40B4-BE49-F238E27FC236}">
                <a16:creationId xmlns:a16="http://schemas.microsoft.com/office/drawing/2014/main" id="{1D47AAAC-B645-4D7C-8A61-ACDDE24AAF56}"/>
              </a:ext>
            </a:extLst>
          </p:cNvPr>
          <p:cNvSpPr>
            <a:spLocks noGrp="1"/>
          </p:cNvSpPr>
          <p:nvPr/>
        </p:nvSpPr>
        <p:spPr>
          <a:xfrm>
            <a:off x="4429125" y="2095500"/>
            <a:ext cx="241935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Hold and serve</a:t>
            </a:r>
          </a:p>
        </p:txBody>
      </p:sp>
      <p:sp>
        <p:nvSpPr>
          <p:cNvPr id="8" name="diagram-627">
            <a:extLst>
              <a:ext uri="{FF2B5EF4-FFF2-40B4-BE49-F238E27FC236}">
                <a16:creationId xmlns:a16="http://schemas.microsoft.com/office/drawing/2014/main" id="{2482B4BB-3948-4252-92CF-888148E61F93}"/>
              </a:ext>
            </a:extLst>
          </p:cNvPr>
          <p:cNvSpPr>
            <a:spLocks noGrp="1"/>
          </p:cNvSpPr>
          <p:nvPr/>
        </p:nvSpPr>
        <p:spPr>
          <a:xfrm>
            <a:off x="7772400" y="1981200"/>
            <a:ext cx="3476625" cy="609600"/>
          </a:xfrm>
          <a:prstGeom prst="rect">
            <a:avLst/>
          </a:prstGeom>
          <a:solidFill>
            <a:srgbClr val="FFFFFF"/>
          </a:solidFill>
          <a:ln w="19050">
            <a:solidFill>
              <a:srgbClr val="111111"/>
            </a:solidFill>
          </a:ln>
        </p:spPr>
        <p:txBody>
          <a:bodyPr/>
          <a:lstStyle/>
          <a:p>
            <a:endParaRPr lang="en-US"/>
          </a:p>
        </p:txBody>
      </p:sp>
      <p:sp>
        <p:nvSpPr>
          <p:cNvPr id="9" name="diagram-628">
            <a:extLst>
              <a:ext uri="{FF2B5EF4-FFF2-40B4-BE49-F238E27FC236}">
                <a16:creationId xmlns:a16="http://schemas.microsoft.com/office/drawing/2014/main" id="{C68031AA-FDCD-4B2A-B1B8-6E4886FC2166}"/>
              </a:ext>
            </a:extLst>
          </p:cNvPr>
          <p:cNvSpPr>
            <a:spLocks noGrp="1"/>
          </p:cNvSpPr>
          <p:nvPr/>
        </p:nvSpPr>
        <p:spPr>
          <a:xfrm>
            <a:off x="7848600" y="2095500"/>
            <a:ext cx="33242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Next scheduled scan</a:t>
            </a:r>
          </a:p>
        </p:txBody>
      </p:sp>
      <p:sp>
        <p:nvSpPr>
          <p:cNvPr id="10" name="line-629">
            <a:extLst>
              <a:ext uri="{FF2B5EF4-FFF2-40B4-BE49-F238E27FC236}">
                <a16:creationId xmlns:a16="http://schemas.microsoft.com/office/drawing/2014/main" id="{A6B7E6E7-4757-47E3-AF48-0ED9E3CAF03A}"/>
              </a:ext>
            </a:extLst>
          </p:cNvPr>
          <p:cNvSpPr>
            <a:spLocks noGrp="1"/>
          </p:cNvSpPr>
          <p:nvPr/>
        </p:nvSpPr>
        <p:spPr>
          <a:xfrm>
            <a:off x="3571875" y="2286000"/>
            <a:ext cx="704850" cy="9525"/>
          </a:xfrm>
          <a:custGeom>
            <a:avLst/>
            <a:gdLst/>
            <a:ahLst/>
            <a:cxnLst/>
            <a:rect l="0" t="0" r="0" b="0"/>
            <a:pathLst>
              <a:path w="704850" h="9525">
                <a:moveTo>
                  <a:pt x="0" y="0"/>
                </a:moveTo>
                <a:lnTo>
                  <a:pt x="704850" y="0"/>
                </a:lnTo>
              </a:path>
            </a:pathLst>
          </a:custGeom>
          <a:noFill/>
          <a:ln w="23813">
            <a:solidFill>
              <a:srgbClr val="17698C"/>
            </a:solidFill>
          </a:ln>
        </p:spPr>
        <p:txBody>
          <a:bodyPr/>
          <a:lstStyle/>
          <a:p>
            <a:endParaRPr lang="en-US"/>
          </a:p>
        </p:txBody>
      </p:sp>
      <p:sp>
        <p:nvSpPr>
          <p:cNvPr id="11" name="line-630">
            <a:extLst>
              <a:ext uri="{FF2B5EF4-FFF2-40B4-BE49-F238E27FC236}">
                <a16:creationId xmlns:a16="http://schemas.microsoft.com/office/drawing/2014/main" id="{74C396CA-8AA2-4E3D-9B60-84190C6D9408}"/>
              </a:ext>
            </a:extLst>
          </p:cNvPr>
          <p:cNvSpPr>
            <a:spLocks noGrp="1"/>
          </p:cNvSpPr>
          <p:nvPr/>
        </p:nvSpPr>
        <p:spPr>
          <a:xfrm>
            <a:off x="4190957" y="2286000"/>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2" name="line-631">
            <a:extLst>
              <a:ext uri="{FF2B5EF4-FFF2-40B4-BE49-F238E27FC236}">
                <a16:creationId xmlns:a16="http://schemas.microsoft.com/office/drawing/2014/main" id="{41793878-0115-40A5-913B-7844E322A8A6}"/>
              </a:ext>
            </a:extLst>
          </p:cNvPr>
          <p:cNvSpPr>
            <a:spLocks noGrp="1"/>
          </p:cNvSpPr>
          <p:nvPr/>
        </p:nvSpPr>
        <p:spPr>
          <a:xfrm>
            <a:off x="4190957" y="2244570"/>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3" name="line-632">
            <a:extLst>
              <a:ext uri="{FF2B5EF4-FFF2-40B4-BE49-F238E27FC236}">
                <a16:creationId xmlns:a16="http://schemas.microsoft.com/office/drawing/2014/main" id="{A4EC8EF2-443F-44AE-8F0F-CD06DAB42A07}"/>
              </a:ext>
            </a:extLst>
          </p:cNvPr>
          <p:cNvSpPr>
            <a:spLocks noGrp="1"/>
          </p:cNvSpPr>
          <p:nvPr/>
        </p:nvSpPr>
        <p:spPr>
          <a:xfrm>
            <a:off x="6991350" y="2286000"/>
            <a:ext cx="704850" cy="9525"/>
          </a:xfrm>
          <a:custGeom>
            <a:avLst/>
            <a:gdLst/>
            <a:ahLst/>
            <a:cxnLst/>
            <a:rect l="0" t="0" r="0" b="0"/>
            <a:pathLst>
              <a:path w="704850" h="9525">
                <a:moveTo>
                  <a:pt x="0" y="0"/>
                </a:moveTo>
                <a:lnTo>
                  <a:pt x="704850" y="0"/>
                </a:lnTo>
              </a:path>
            </a:pathLst>
          </a:custGeom>
          <a:noFill/>
          <a:ln w="23813">
            <a:solidFill>
              <a:srgbClr val="17698C"/>
            </a:solidFill>
          </a:ln>
        </p:spPr>
        <p:txBody>
          <a:bodyPr/>
          <a:lstStyle/>
          <a:p>
            <a:endParaRPr lang="en-US"/>
          </a:p>
        </p:txBody>
      </p:sp>
      <p:sp>
        <p:nvSpPr>
          <p:cNvPr id="14" name="line-633">
            <a:extLst>
              <a:ext uri="{FF2B5EF4-FFF2-40B4-BE49-F238E27FC236}">
                <a16:creationId xmlns:a16="http://schemas.microsoft.com/office/drawing/2014/main" id="{2E354FC0-7011-4406-B67F-D7D9129DB6CF}"/>
              </a:ext>
            </a:extLst>
          </p:cNvPr>
          <p:cNvSpPr>
            <a:spLocks noGrp="1"/>
          </p:cNvSpPr>
          <p:nvPr/>
        </p:nvSpPr>
        <p:spPr>
          <a:xfrm>
            <a:off x="7610432" y="2286000"/>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5" name="line-634">
            <a:extLst>
              <a:ext uri="{FF2B5EF4-FFF2-40B4-BE49-F238E27FC236}">
                <a16:creationId xmlns:a16="http://schemas.microsoft.com/office/drawing/2014/main" id="{9D837715-433C-401A-8DA6-8FA460E2D12A}"/>
              </a:ext>
            </a:extLst>
          </p:cNvPr>
          <p:cNvSpPr>
            <a:spLocks noGrp="1"/>
          </p:cNvSpPr>
          <p:nvPr/>
        </p:nvSpPr>
        <p:spPr>
          <a:xfrm>
            <a:off x="7610432" y="2244570"/>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6" name="diagram-635">
            <a:extLst>
              <a:ext uri="{FF2B5EF4-FFF2-40B4-BE49-F238E27FC236}">
                <a16:creationId xmlns:a16="http://schemas.microsoft.com/office/drawing/2014/main" id="{6829B8F3-E102-4498-B7EE-A41F70F040C3}"/>
              </a:ext>
            </a:extLst>
          </p:cNvPr>
          <p:cNvSpPr>
            <a:spLocks noGrp="1"/>
          </p:cNvSpPr>
          <p:nvPr/>
        </p:nvSpPr>
        <p:spPr>
          <a:xfrm>
            <a:off x="933450" y="3219450"/>
            <a:ext cx="10382250" cy="2733675"/>
          </a:xfrm>
          <a:prstGeom prst="rect">
            <a:avLst/>
          </a:prstGeom>
          <a:noFill/>
          <a:ln w="0">
            <a:noFill/>
          </a:ln>
        </p:spPr>
        <p:txBody>
          <a:bodyPr lIns="0" tIns="0" rIns="0" bIns="0" anchor="t">
            <a:noAutofit/>
          </a:bodyPr>
          <a:lstStyle/>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PERIODIC_CONTROLLER(P_full):</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serve until next fixed scheduled start</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snapshot traffic and service context</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scan all configured states; insert reference revisits</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fit MUSIC/SAGE if coherent data remain valid</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select and verify finalists, or use direct measurements</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commit and confirm; record all search and movement cost</a:t>
            </a:r>
          </a:p>
          <a:p>
            <a:pPr algn="l">
              <a:buNone/>
              <a:defRPr sz="1800" b="0">
                <a:solidFill>
                  <a:srgbClr val="111111"/>
                </a:solidFill>
                <a:latin typeface="Consolas"/>
                <a:ea typeface="Consolas"/>
                <a:cs typeface="Consolas"/>
              </a:defRPr>
            </a:pPr>
            <a:r>
              <a:rPr sz="1800" b="0">
                <a:solidFill>
                  <a:srgbClr val="111111"/>
                </a:solidFill>
                <a:latin typeface="Consolas"/>
                <a:ea typeface="Consolas"/>
                <a:cs typeface="Consolas"/>
              </a:rPr>
              <a:t>  advance to next future start on the fixed schedule</a:t>
            </a:r>
          </a:p>
        </p:txBody>
      </p:sp>
      <p:sp>
        <p:nvSpPr>
          <p:cNvPr id="17" name="diagram-636">
            <a:extLst>
              <a:ext uri="{FF2B5EF4-FFF2-40B4-BE49-F238E27FC236}">
                <a16:creationId xmlns:a16="http://schemas.microsoft.com/office/drawing/2014/main" id="{91C4DF3B-325B-4F90-89D7-C420D9BA1D83}"/>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Trade-off: shorter periods improve responsiveness but consume more service time and mechanical travel.</a:t>
            </a:r>
          </a:p>
        </p:txBody>
      </p:sp>
      <p:sp>
        <p:nvSpPr>
          <p:cNvPr id="18" name="added-text-104">
            <a:extLst>
              <a:ext uri="{FF2B5EF4-FFF2-40B4-BE49-F238E27FC236}">
                <a16:creationId xmlns:a16="http://schemas.microsoft.com/office/drawing/2014/main" id="{AA722CC9-9688-44F9-ACCF-0C0E034EC82B}"/>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33</a:t>
            </a:r>
          </a:p>
        </p:txBody>
      </p:sp>
    </p:spTree>
    <p:extLst>
      <p:ext uri="{BB962C8B-B14F-4D97-AF65-F5344CB8AC3E}">
        <p14:creationId xmlns:p14="http://schemas.microsoft.com/office/powerpoint/2010/main" val="2955090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48">
            <a:extLst>
              <a:ext uri="{FF2B5EF4-FFF2-40B4-BE49-F238E27FC236}">
                <a16:creationId xmlns:a16="http://schemas.microsoft.com/office/drawing/2014/main" id="{CFF61181-940E-494D-BC04-36735F2464D2}"/>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Timing and control parameters</a:t>
            </a:r>
          </a:p>
        </p:txBody>
      </p:sp>
      <p:graphicFrame>
        <p:nvGraphicFramePr>
          <p:cNvPr id="6" name="Table 5"/>
          <p:cNvGraphicFramePr/>
          <p:nvPr/>
        </p:nvGraphicFramePr>
        <p:xfrm>
          <a:off x="933450" y="1895475"/>
          <a:ext cx="10382250" cy="414337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t, Pfull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Physical time; fixed interval between scheduled full-scan starts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Wmeas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Duration of a settled performance measurement window</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Wbeh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Behavior observation window used for usage learning</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 often longer</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minimum dwell / cooldown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Time held before ordinary new motion/search is allowed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local radius and step</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Search neighborhood bound and probe spacing</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angle / axis distance</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global-check interval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Independent timer for distant-state exploration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rolling search budget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Limit on accumulated probing, motion and interruption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time / travel budget</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model age / validity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Freshness plus prediction-reliability conditions for reuse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timestamp + diagnostics</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49">
            <a:extLst>
              <a:ext uri="{FF2B5EF4-FFF2-40B4-BE49-F238E27FC236}">
                <a16:creationId xmlns:a16="http://schemas.microsoft.com/office/drawing/2014/main" id="{1714203C-ED1A-4141-A729-68587DADD693}"/>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Tune from measured settling time, rate adaptation, score variance and coherence. No universal period is assumed.</a:t>
            </a:r>
          </a:p>
        </p:txBody>
      </p:sp>
      <p:sp>
        <p:nvSpPr>
          <p:cNvPr id="4" name="added-text-105">
            <a:extLst>
              <a:ext uri="{FF2B5EF4-FFF2-40B4-BE49-F238E27FC236}">
                <a16:creationId xmlns:a16="http://schemas.microsoft.com/office/drawing/2014/main" id="{D4A65208-AB9D-4DA1-B59E-C4C881D26690}"/>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34</a:t>
            </a:r>
          </a:p>
        </p:txBody>
      </p:sp>
    </p:spTree>
    <p:extLst>
      <p:ext uri="{BB962C8B-B14F-4D97-AF65-F5344CB8AC3E}">
        <p14:creationId xmlns:p14="http://schemas.microsoft.com/office/powerpoint/2010/main" val="3305038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B: local + global search</a:t>
            </a:r>
          </a:p>
        </p:txBody>
      </p:sp>
      <p:sp>
        <p:nvSpPr>
          <p:cNvPr id="4" name="diagram-637">
            <a:extLst>
              <a:ext uri="{FF2B5EF4-FFF2-40B4-BE49-F238E27FC236}">
                <a16:creationId xmlns:a16="http://schemas.microsoft.com/office/drawing/2014/main" id="{9F01D4A7-7F03-4EEB-99C2-BDBB238C7BD2}"/>
              </a:ext>
            </a:extLst>
          </p:cNvPr>
          <p:cNvSpPr>
            <a:spLocks noGrp="1"/>
          </p:cNvSpPr>
          <p:nvPr/>
        </p:nvSpPr>
        <p:spPr>
          <a:xfrm>
            <a:off x="933450" y="2009775"/>
            <a:ext cx="4953000" cy="4191000"/>
          </a:xfrm>
          <a:prstGeom prst="rect">
            <a:avLst/>
          </a:prstGeom>
          <a:noFill/>
          <a:ln w="0">
            <a:noFill/>
          </a:ln>
        </p:spPr>
        <p:txBody>
          <a:bodyPr lIns="0" tIns="0" rIns="0" bIns="0" anchor="t">
            <a:noAutofit/>
          </a:bodyPr>
          <a:lstStyle/>
          <a:p>
            <a:pPr marL="228600" indent="-165100" algn="l">
              <a:spcAft>
                <a:spcPts val="2200"/>
              </a:spcAft>
              <a:buChar char="•"/>
              <a:defRPr sz="2025" b="0">
                <a:solidFill>
                  <a:srgbClr val="111111"/>
                </a:solidFill>
                <a:latin typeface="Aptos"/>
                <a:ea typeface="Aptos"/>
                <a:cs typeface="Aptos"/>
              </a:defRPr>
            </a:pPr>
            <a:r>
              <a:rPr sz="2025" b="0" dirty="0">
                <a:solidFill>
                  <a:srgbClr val="111111"/>
                </a:solidFill>
                <a:latin typeface="Aptos"/>
                <a:ea typeface="Aptos"/>
                <a:cs typeface="Aptos"/>
              </a:rPr>
              <a:t>Monitor persistent, comparable degradation rather than isolated noisy samples.</a:t>
            </a:r>
          </a:p>
          <a:p>
            <a:pPr marL="228600" indent="-165100" algn="l">
              <a:spcAft>
                <a:spcPts val="2200"/>
              </a:spcAft>
              <a:buChar char="•"/>
              <a:defRPr sz="2025" b="0">
                <a:solidFill>
                  <a:srgbClr val="111111"/>
                </a:solidFill>
                <a:latin typeface="Aptos"/>
                <a:ea typeface="Aptos"/>
                <a:cs typeface="Aptos"/>
              </a:defRPr>
            </a:pPr>
            <a:r>
              <a:rPr sz="2025" b="0" dirty="0">
                <a:solidFill>
                  <a:srgbClr val="111111"/>
                </a:solidFill>
                <a:latin typeface="Aptos"/>
                <a:ea typeface="Aptos"/>
                <a:cs typeface="Aptos"/>
              </a:rPr>
              <a:t>Probe neighbors first and bound local search time.</a:t>
            </a:r>
          </a:p>
          <a:p>
            <a:pPr marL="228600" indent="-165100" algn="l">
              <a:spcAft>
                <a:spcPts val="2200"/>
              </a:spcAft>
              <a:buChar char="•"/>
              <a:defRPr sz="2025" b="0">
                <a:solidFill>
                  <a:srgbClr val="111111"/>
                </a:solidFill>
                <a:latin typeface="Aptos"/>
                <a:ea typeface="Aptos"/>
                <a:cs typeface="Aptos"/>
              </a:defRPr>
            </a:pPr>
            <a:r>
              <a:rPr sz="2025" b="0" dirty="0">
                <a:solidFill>
                  <a:srgbClr val="111111"/>
                </a:solidFill>
                <a:latin typeface="Aptos"/>
                <a:ea typeface="Aptos"/>
                <a:cs typeface="Aptos"/>
              </a:rPr>
              <a:t>Reserve independent global coverage. Escalate when local repair or models fail.</a:t>
            </a:r>
          </a:p>
        </p:txBody>
      </p:sp>
      <p:sp>
        <p:nvSpPr>
          <p:cNvPr id="5" name="diagram-638">
            <a:extLst>
              <a:ext uri="{FF2B5EF4-FFF2-40B4-BE49-F238E27FC236}">
                <a16:creationId xmlns:a16="http://schemas.microsoft.com/office/drawing/2014/main" id="{99ABEA43-233C-482B-A561-B4E804F2C6FB}"/>
              </a:ext>
            </a:extLst>
          </p:cNvPr>
          <p:cNvSpPr>
            <a:spLocks noGrp="1"/>
          </p:cNvSpPr>
          <p:nvPr/>
        </p:nvSpPr>
        <p:spPr>
          <a:xfrm>
            <a:off x="6772275" y="2571750"/>
            <a:ext cx="85725" cy="85725"/>
          </a:xfrm>
          <a:prstGeom prst="ellipse">
            <a:avLst/>
          </a:prstGeom>
          <a:solidFill>
            <a:srgbClr val="C9CDD0"/>
          </a:solidFill>
          <a:ln w="19050">
            <a:noFill/>
          </a:ln>
        </p:spPr>
        <p:txBody>
          <a:bodyPr/>
          <a:lstStyle/>
          <a:p>
            <a:endParaRPr lang="en-US"/>
          </a:p>
        </p:txBody>
      </p:sp>
      <p:sp>
        <p:nvSpPr>
          <p:cNvPr id="6" name="diagram-639">
            <a:extLst>
              <a:ext uri="{FF2B5EF4-FFF2-40B4-BE49-F238E27FC236}">
                <a16:creationId xmlns:a16="http://schemas.microsoft.com/office/drawing/2014/main" id="{FD4A795D-5349-4866-A4F8-5436246FEB96}"/>
              </a:ext>
            </a:extLst>
          </p:cNvPr>
          <p:cNvSpPr>
            <a:spLocks noGrp="1"/>
          </p:cNvSpPr>
          <p:nvPr/>
        </p:nvSpPr>
        <p:spPr>
          <a:xfrm>
            <a:off x="7458075" y="2571750"/>
            <a:ext cx="85725" cy="85725"/>
          </a:xfrm>
          <a:prstGeom prst="ellipse">
            <a:avLst/>
          </a:prstGeom>
          <a:solidFill>
            <a:srgbClr val="C9CDD0"/>
          </a:solidFill>
          <a:ln w="19050">
            <a:noFill/>
          </a:ln>
        </p:spPr>
        <p:txBody>
          <a:bodyPr/>
          <a:lstStyle/>
          <a:p>
            <a:endParaRPr lang="en-US"/>
          </a:p>
        </p:txBody>
      </p:sp>
      <p:sp>
        <p:nvSpPr>
          <p:cNvPr id="7" name="diagram-640">
            <a:extLst>
              <a:ext uri="{FF2B5EF4-FFF2-40B4-BE49-F238E27FC236}">
                <a16:creationId xmlns:a16="http://schemas.microsoft.com/office/drawing/2014/main" id="{0E05D658-12C0-496E-9EA1-3CB07AF8CC16}"/>
              </a:ext>
            </a:extLst>
          </p:cNvPr>
          <p:cNvSpPr>
            <a:spLocks noGrp="1"/>
          </p:cNvSpPr>
          <p:nvPr/>
        </p:nvSpPr>
        <p:spPr>
          <a:xfrm>
            <a:off x="8143875" y="2571750"/>
            <a:ext cx="85725" cy="85725"/>
          </a:xfrm>
          <a:prstGeom prst="ellipse">
            <a:avLst/>
          </a:prstGeom>
          <a:solidFill>
            <a:srgbClr val="C9CDD0"/>
          </a:solidFill>
          <a:ln w="19050">
            <a:noFill/>
          </a:ln>
        </p:spPr>
        <p:txBody>
          <a:bodyPr/>
          <a:lstStyle/>
          <a:p>
            <a:endParaRPr lang="en-US"/>
          </a:p>
        </p:txBody>
      </p:sp>
      <p:sp>
        <p:nvSpPr>
          <p:cNvPr id="8" name="diagram-641">
            <a:extLst>
              <a:ext uri="{FF2B5EF4-FFF2-40B4-BE49-F238E27FC236}">
                <a16:creationId xmlns:a16="http://schemas.microsoft.com/office/drawing/2014/main" id="{8AAF8AB5-980A-459A-82AE-76047F5C3A33}"/>
              </a:ext>
            </a:extLst>
          </p:cNvPr>
          <p:cNvSpPr>
            <a:spLocks noGrp="1"/>
          </p:cNvSpPr>
          <p:nvPr/>
        </p:nvSpPr>
        <p:spPr>
          <a:xfrm>
            <a:off x="8829675" y="2571750"/>
            <a:ext cx="85725" cy="85725"/>
          </a:xfrm>
          <a:prstGeom prst="ellipse">
            <a:avLst/>
          </a:prstGeom>
          <a:solidFill>
            <a:srgbClr val="C9CDD0"/>
          </a:solidFill>
          <a:ln w="19050">
            <a:noFill/>
          </a:ln>
        </p:spPr>
        <p:txBody>
          <a:bodyPr/>
          <a:lstStyle/>
          <a:p>
            <a:endParaRPr lang="en-US"/>
          </a:p>
        </p:txBody>
      </p:sp>
      <p:sp>
        <p:nvSpPr>
          <p:cNvPr id="9" name="diagram-642">
            <a:extLst>
              <a:ext uri="{FF2B5EF4-FFF2-40B4-BE49-F238E27FC236}">
                <a16:creationId xmlns:a16="http://schemas.microsoft.com/office/drawing/2014/main" id="{4FAA4B06-AE36-469A-B845-942C500D4FF2}"/>
              </a:ext>
            </a:extLst>
          </p:cNvPr>
          <p:cNvSpPr>
            <a:spLocks noGrp="1"/>
          </p:cNvSpPr>
          <p:nvPr/>
        </p:nvSpPr>
        <p:spPr>
          <a:xfrm>
            <a:off x="9515475" y="2571750"/>
            <a:ext cx="85725" cy="85725"/>
          </a:xfrm>
          <a:prstGeom prst="ellipse">
            <a:avLst/>
          </a:prstGeom>
          <a:solidFill>
            <a:srgbClr val="C9CDD0"/>
          </a:solidFill>
          <a:ln w="19050">
            <a:noFill/>
          </a:ln>
        </p:spPr>
        <p:txBody>
          <a:bodyPr/>
          <a:lstStyle/>
          <a:p>
            <a:endParaRPr lang="en-US"/>
          </a:p>
        </p:txBody>
      </p:sp>
      <p:sp>
        <p:nvSpPr>
          <p:cNvPr id="10" name="diagram-643">
            <a:extLst>
              <a:ext uri="{FF2B5EF4-FFF2-40B4-BE49-F238E27FC236}">
                <a16:creationId xmlns:a16="http://schemas.microsoft.com/office/drawing/2014/main" id="{D50C7912-2EFD-4C47-A086-1F7E66149F71}"/>
              </a:ext>
            </a:extLst>
          </p:cNvPr>
          <p:cNvSpPr>
            <a:spLocks noGrp="1"/>
          </p:cNvSpPr>
          <p:nvPr/>
        </p:nvSpPr>
        <p:spPr>
          <a:xfrm>
            <a:off x="10201275" y="2571750"/>
            <a:ext cx="85725" cy="85725"/>
          </a:xfrm>
          <a:prstGeom prst="ellipse">
            <a:avLst/>
          </a:prstGeom>
          <a:solidFill>
            <a:srgbClr val="C9CDD0"/>
          </a:solidFill>
          <a:ln w="19050">
            <a:noFill/>
          </a:ln>
        </p:spPr>
        <p:txBody>
          <a:bodyPr/>
          <a:lstStyle/>
          <a:p>
            <a:endParaRPr lang="en-US"/>
          </a:p>
        </p:txBody>
      </p:sp>
      <p:sp>
        <p:nvSpPr>
          <p:cNvPr id="11" name="diagram-644">
            <a:extLst>
              <a:ext uri="{FF2B5EF4-FFF2-40B4-BE49-F238E27FC236}">
                <a16:creationId xmlns:a16="http://schemas.microsoft.com/office/drawing/2014/main" id="{13D1B7A6-E6EB-422F-BAB7-BEC578AA4695}"/>
              </a:ext>
            </a:extLst>
          </p:cNvPr>
          <p:cNvSpPr>
            <a:spLocks noGrp="1"/>
          </p:cNvSpPr>
          <p:nvPr/>
        </p:nvSpPr>
        <p:spPr>
          <a:xfrm>
            <a:off x="6772275" y="3257550"/>
            <a:ext cx="85725" cy="85725"/>
          </a:xfrm>
          <a:prstGeom prst="ellipse">
            <a:avLst/>
          </a:prstGeom>
          <a:solidFill>
            <a:srgbClr val="C9CDD0"/>
          </a:solidFill>
          <a:ln w="19050">
            <a:noFill/>
          </a:ln>
        </p:spPr>
        <p:txBody>
          <a:bodyPr/>
          <a:lstStyle/>
          <a:p>
            <a:endParaRPr lang="en-US"/>
          </a:p>
        </p:txBody>
      </p:sp>
      <p:sp>
        <p:nvSpPr>
          <p:cNvPr id="12" name="diagram-645">
            <a:extLst>
              <a:ext uri="{FF2B5EF4-FFF2-40B4-BE49-F238E27FC236}">
                <a16:creationId xmlns:a16="http://schemas.microsoft.com/office/drawing/2014/main" id="{28DF5943-E28F-4CCB-9F8C-981C8F20491A}"/>
              </a:ext>
            </a:extLst>
          </p:cNvPr>
          <p:cNvSpPr>
            <a:spLocks noGrp="1"/>
          </p:cNvSpPr>
          <p:nvPr/>
        </p:nvSpPr>
        <p:spPr>
          <a:xfrm>
            <a:off x="7458075" y="3257550"/>
            <a:ext cx="85725" cy="85725"/>
          </a:xfrm>
          <a:prstGeom prst="ellipse">
            <a:avLst/>
          </a:prstGeom>
          <a:solidFill>
            <a:srgbClr val="C9CDD0"/>
          </a:solidFill>
          <a:ln w="19050">
            <a:noFill/>
          </a:ln>
        </p:spPr>
        <p:txBody>
          <a:bodyPr/>
          <a:lstStyle/>
          <a:p>
            <a:endParaRPr lang="en-US"/>
          </a:p>
        </p:txBody>
      </p:sp>
      <p:sp>
        <p:nvSpPr>
          <p:cNvPr id="13" name="diagram-646">
            <a:extLst>
              <a:ext uri="{FF2B5EF4-FFF2-40B4-BE49-F238E27FC236}">
                <a16:creationId xmlns:a16="http://schemas.microsoft.com/office/drawing/2014/main" id="{19EB8DA0-75B0-4FFD-8C45-CC415C111787}"/>
              </a:ext>
            </a:extLst>
          </p:cNvPr>
          <p:cNvSpPr>
            <a:spLocks noGrp="1"/>
          </p:cNvSpPr>
          <p:nvPr/>
        </p:nvSpPr>
        <p:spPr>
          <a:xfrm>
            <a:off x="8143875" y="3257550"/>
            <a:ext cx="85725" cy="85725"/>
          </a:xfrm>
          <a:prstGeom prst="ellipse">
            <a:avLst/>
          </a:prstGeom>
          <a:solidFill>
            <a:srgbClr val="C9CDD0"/>
          </a:solidFill>
          <a:ln w="19050">
            <a:noFill/>
          </a:ln>
        </p:spPr>
        <p:txBody>
          <a:bodyPr/>
          <a:lstStyle/>
          <a:p>
            <a:endParaRPr lang="en-US"/>
          </a:p>
        </p:txBody>
      </p:sp>
      <p:sp>
        <p:nvSpPr>
          <p:cNvPr id="14" name="diagram-647">
            <a:extLst>
              <a:ext uri="{FF2B5EF4-FFF2-40B4-BE49-F238E27FC236}">
                <a16:creationId xmlns:a16="http://schemas.microsoft.com/office/drawing/2014/main" id="{B30B0069-6815-46CA-AC77-E72A17FC9DD9}"/>
              </a:ext>
            </a:extLst>
          </p:cNvPr>
          <p:cNvSpPr>
            <a:spLocks noGrp="1"/>
          </p:cNvSpPr>
          <p:nvPr/>
        </p:nvSpPr>
        <p:spPr>
          <a:xfrm>
            <a:off x="8829675" y="3257550"/>
            <a:ext cx="85725" cy="85725"/>
          </a:xfrm>
          <a:prstGeom prst="ellipse">
            <a:avLst/>
          </a:prstGeom>
          <a:solidFill>
            <a:srgbClr val="C9CDD0"/>
          </a:solidFill>
          <a:ln w="19050">
            <a:noFill/>
          </a:ln>
        </p:spPr>
        <p:txBody>
          <a:bodyPr/>
          <a:lstStyle/>
          <a:p>
            <a:endParaRPr lang="en-US"/>
          </a:p>
        </p:txBody>
      </p:sp>
      <p:sp>
        <p:nvSpPr>
          <p:cNvPr id="15" name="diagram-648">
            <a:extLst>
              <a:ext uri="{FF2B5EF4-FFF2-40B4-BE49-F238E27FC236}">
                <a16:creationId xmlns:a16="http://schemas.microsoft.com/office/drawing/2014/main" id="{81B2E850-D70C-4D58-A276-68B7823A3AD0}"/>
              </a:ext>
            </a:extLst>
          </p:cNvPr>
          <p:cNvSpPr>
            <a:spLocks noGrp="1"/>
          </p:cNvSpPr>
          <p:nvPr/>
        </p:nvSpPr>
        <p:spPr>
          <a:xfrm>
            <a:off x="9515475" y="3257550"/>
            <a:ext cx="85725" cy="85725"/>
          </a:xfrm>
          <a:prstGeom prst="ellipse">
            <a:avLst/>
          </a:prstGeom>
          <a:solidFill>
            <a:srgbClr val="C9CDD0"/>
          </a:solidFill>
          <a:ln w="19050">
            <a:noFill/>
          </a:ln>
        </p:spPr>
        <p:txBody>
          <a:bodyPr/>
          <a:lstStyle/>
          <a:p>
            <a:endParaRPr lang="en-US"/>
          </a:p>
        </p:txBody>
      </p:sp>
      <p:sp>
        <p:nvSpPr>
          <p:cNvPr id="16" name="diagram-649">
            <a:extLst>
              <a:ext uri="{FF2B5EF4-FFF2-40B4-BE49-F238E27FC236}">
                <a16:creationId xmlns:a16="http://schemas.microsoft.com/office/drawing/2014/main" id="{FEFA22E1-5CB5-4712-B848-576F484A968B}"/>
              </a:ext>
            </a:extLst>
          </p:cNvPr>
          <p:cNvSpPr>
            <a:spLocks noGrp="1"/>
          </p:cNvSpPr>
          <p:nvPr/>
        </p:nvSpPr>
        <p:spPr>
          <a:xfrm>
            <a:off x="10201275" y="3257550"/>
            <a:ext cx="85725" cy="85725"/>
          </a:xfrm>
          <a:prstGeom prst="ellipse">
            <a:avLst/>
          </a:prstGeom>
          <a:solidFill>
            <a:srgbClr val="C9CDD0"/>
          </a:solidFill>
          <a:ln w="19050">
            <a:noFill/>
          </a:ln>
        </p:spPr>
        <p:txBody>
          <a:bodyPr/>
          <a:lstStyle/>
          <a:p>
            <a:endParaRPr lang="en-US"/>
          </a:p>
        </p:txBody>
      </p:sp>
      <p:sp>
        <p:nvSpPr>
          <p:cNvPr id="17" name="diagram-650">
            <a:extLst>
              <a:ext uri="{FF2B5EF4-FFF2-40B4-BE49-F238E27FC236}">
                <a16:creationId xmlns:a16="http://schemas.microsoft.com/office/drawing/2014/main" id="{6B58EC5F-EEED-45BA-B809-CAD015585EB3}"/>
              </a:ext>
            </a:extLst>
          </p:cNvPr>
          <p:cNvSpPr>
            <a:spLocks noGrp="1"/>
          </p:cNvSpPr>
          <p:nvPr/>
        </p:nvSpPr>
        <p:spPr>
          <a:xfrm>
            <a:off x="6772275" y="3943350"/>
            <a:ext cx="85725" cy="85725"/>
          </a:xfrm>
          <a:prstGeom prst="ellipse">
            <a:avLst/>
          </a:prstGeom>
          <a:solidFill>
            <a:srgbClr val="C9CDD0"/>
          </a:solidFill>
          <a:ln w="19050">
            <a:noFill/>
          </a:ln>
        </p:spPr>
        <p:txBody>
          <a:bodyPr/>
          <a:lstStyle/>
          <a:p>
            <a:endParaRPr lang="en-US"/>
          </a:p>
        </p:txBody>
      </p:sp>
      <p:sp>
        <p:nvSpPr>
          <p:cNvPr id="18" name="diagram-651">
            <a:extLst>
              <a:ext uri="{FF2B5EF4-FFF2-40B4-BE49-F238E27FC236}">
                <a16:creationId xmlns:a16="http://schemas.microsoft.com/office/drawing/2014/main" id="{6F599309-110C-4AA2-8E62-8843513D8049}"/>
              </a:ext>
            </a:extLst>
          </p:cNvPr>
          <p:cNvSpPr>
            <a:spLocks noGrp="1"/>
          </p:cNvSpPr>
          <p:nvPr/>
        </p:nvSpPr>
        <p:spPr>
          <a:xfrm>
            <a:off x="7458075" y="3943350"/>
            <a:ext cx="85725" cy="85725"/>
          </a:xfrm>
          <a:prstGeom prst="ellipse">
            <a:avLst/>
          </a:prstGeom>
          <a:solidFill>
            <a:srgbClr val="C9CDD0"/>
          </a:solidFill>
          <a:ln w="19050">
            <a:noFill/>
          </a:ln>
        </p:spPr>
        <p:txBody>
          <a:bodyPr/>
          <a:lstStyle/>
          <a:p>
            <a:endParaRPr lang="en-US"/>
          </a:p>
        </p:txBody>
      </p:sp>
      <p:sp>
        <p:nvSpPr>
          <p:cNvPr id="19" name="diagram-652">
            <a:extLst>
              <a:ext uri="{FF2B5EF4-FFF2-40B4-BE49-F238E27FC236}">
                <a16:creationId xmlns:a16="http://schemas.microsoft.com/office/drawing/2014/main" id="{A53D0991-8783-491E-8E00-4ADB9B9D6798}"/>
              </a:ext>
            </a:extLst>
          </p:cNvPr>
          <p:cNvSpPr>
            <a:spLocks noGrp="1"/>
          </p:cNvSpPr>
          <p:nvPr/>
        </p:nvSpPr>
        <p:spPr>
          <a:xfrm>
            <a:off x="8143875" y="3943350"/>
            <a:ext cx="85725" cy="85725"/>
          </a:xfrm>
          <a:prstGeom prst="ellipse">
            <a:avLst/>
          </a:prstGeom>
          <a:solidFill>
            <a:srgbClr val="C9CDD0"/>
          </a:solidFill>
          <a:ln w="19050">
            <a:noFill/>
          </a:ln>
        </p:spPr>
        <p:txBody>
          <a:bodyPr/>
          <a:lstStyle/>
          <a:p>
            <a:endParaRPr lang="en-US"/>
          </a:p>
        </p:txBody>
      </p:sp>
      <p:sp>
        <p:nvSpPr>
          <p:cNvPr id="20" name="diagram-653">
            <a:extLst>
              <a:ext uri="{FF2B5EF4-FFF2-40B4-BE49-F238E27FC236}">
                <a16:creationId xmlns:a16="http://schemas.microsoft.com/office/drawing/2014/main" id="{3658619B-4531-46FE-9587-FE44B4A23A3F}"/>
              </a:ext>
            </a:extLst>
          </p:cNvPr>
          <p:cNvSpPr>
            <a:spLocks noGrp="1"/>
          </p:cNvSpPr>
          <p:nvPr/>
        </p:nvSpPr>
        <p:spPr>
          <a:xfrm>
            <a:off x="8829675" y="3943350"/>
            <a:ext cx="85725" cy="85725"/>
          </a:xfrm>
          <a:prstGeom prst="ellipse">
            <a:avLst/>
          </a:prstGeom>
          <a:solidFill>
            <a:srgbClr val="C9CDD0"/>
          </a:solidFill>
          <a:ln w="19050">
            <a:noFill/>
          </a:ln>
        </p:spPr>
        <p:txBody>
          <a:bodyPr/>
          <a:lstStyle/>
          <a:p>
            <a:endParaRPr lang="en-US"/>
          </a:p>
        </p:txBody>
      </p:sp>
      <p:sp>
        <p:nvSpPr>
          <p:cNvPr id="21" name="diagram-654">
            <a:extLst>
              <a:ext uri="{FF2B5EF4-FFF2-40B4-BE49-F238E27FC236}">
                <a16:creationId xmlns:a16="http://schemas.microsoft.com/office/drawing/2014/main" id="{D0414AB8-4E3C-4CD1-9E98-C576BE72A1FE}"/>
              </a:ext>
            </a:extLst>
          </p:cNvPr>
          <p:cNvSpPr>
            <a:spLocks noGrp="1"/>
          </p:cNvSpPr>
          <p:nvPr/>
        </p:nvSpPr>
        <p:spPr>
          <a:xfrm>
            <a:off x="9515475" y="3943350"/>
            <a:ext cx="85725" cy="85725"/>
          </a:xfrm>
          <a:prstGeom prst="ellipse">
            <a:avLst/>
          </a:prstGeom>
          <a:solidFill>
            <a:srgbClr val="C9CDD0"/>
          </a:solidFill>
          <a:ln w="19050">
            <a:noFill/>
          </a:ln>
        </p:spPr>
        <p:txBody>
          <a:bodyPr/>
          <a:lstStyle/>
          <a:p>
            <a:endParaRPr lang="en-US"/>
          </a:p>
        </p:txBody>
      </p:sp>
      <p:sp>
        <p:nvSpPr>
          <p:cNvPr id="22" name="diagram-655">
            <a:extLst>
              <a:ext uri="{FF2B5EF4-FFF2-40B4-BE49-F238E27FC236}">
                <a16:creationId xmlns:a16="http://schemas.microsoft.com/office/drawing/2014/main" id="{0B614819-1975-424E-8465-E93F23C7B7F2}"/>
              </a:ext>
            </a:extLst>
          </p:cNvPr>
          <p:cNvSpPr>
            <a:spLocks noGrp="1"/>
          </p:cNvSpPr>
          <p:nvPr/>
        </p:nvSpPr>
        <p:spPr>
          <a:xfrm>
            <a:off x="10201275" y="3943350"/>
            <a:ext cx="85725" cy="85725"/>
          </a:xfrm>
          <a:prstGeom prst="ellipse">
            <a:avLst/>
          </a:prstGeom>
          <a:solidFill>
            <a:srgbClr val="C9CDD0"/>
          </a:solidFill>
          <a:ln w="19050">
            <a:noFill/>
          </a:ln>
        </p:spPr>
        <p:txBody>
          <a:bodyPr/>
          <a:lstStyle/>
          <a:p>
            <a:endParaRPr lang="en-US"/>
          </a:p>
        </p:txBody>
      </p:sp>
      <p:sp>
        <p:nvSpPr>
          <p:cNvPr id="23" name="diagram-656">
            <a:extLst>
              <a:ext uri="{FF2B5EF4-FFF2-40B4-BE49-F238E27FC236}">
                <a16:creationId xmlns:a16="http://schemas.microsoft.com/office/drawing/2014/main" id="{F449B082-C4AB-4A64-A724-BE0900DF0253}"/>
              </a:ext>
            </a:extLst>
          </p:cNvPr>
          <p:cNvSpPr>
            <a:spLocks noGrp="1"/>
          </p:cNvSpPr>
          <p:nvPr/>
        </p:nvSpPr>
        <p:spPr>
          <a:xfrm>
            <a:off x="6772275" y="4629150"/>
            <a:ext cx="85725" cy="85725"/>
          </a:xfrm>
          <a:prstGeom prst="ellipse">
            <a:avLst/>
          </a:prstGeom>
          <a:solidFill>
            <a:srgbClr val="C9CDD0"/>
          </a:solidFill>
          <a:ln w="19050">
            <a:noFill/>
          </a:ln>
        </p:spPr>
        <p:txBody>
          <a:bodyPr/>
          <a:lstStyle/>
          <a:p>
            <a:endParaRPr lang="en-US"/>
          </a:p>
        </p:txBody>
      </p:sp>
      <p:sp>
        <p:nvSpPr>
          <p:cNvPr id="24" name="diagram-657">
            <a:extLst>
              <a:ext uri="{FF2B5EF4-FFF2-40B4-BE49-F238E27FC236}">
                <a16:creationId xmlns:a16="http://schemas.microsoft.com/office/drawing/2014/main" id="{647FE8F8-F1E6-4591-8886-ECDF16356373}"/>
              </a:ext>
            </a:extLst>
          </p:cNvPr>
          <p:cNvSpPr>
            <a:spLocks noGrp="1"/>
          </p:cNvSpPr>
          <p:nvPr/>
        </p:nvSpPr>
        <p:spPr>
          <a:xfrm>
            <a:off x="7458075" y="4629150"/>
            <a:ext cx="85725" cy="85725"/>
          </a:xfrm>
          <a:prstGeom prst="ellipse">
            <a:avLst/>
          </a:prstGeom>
          <a:solidFill>
            <a:srgbClr val="C9CDD0"/>
          </a:solidFill>
          <a:ln w="19050">
            <a:noFill/>
          </a:ln>
        </p:spPr>
        <p:txBody>
          <a:bodyPr/>
          <a:lstStyle/>
          <a:p>
            <a:endParaRPr lang="en-US"/>
          </a:p>
        </p:txBody>
      </p:sp>
      <p:sp>
        <p:nvSpPr>
          <p:cNvPr id="25" name="diagram-658">
            <a:extLst>
              <a:ext uri="{FF2B5EF4-FFF2-40B4-BE49-F238E27FC236}">
                <a16:creationId xmlns:a16="http://schemas.microsoft.com/office/drawing/2014/main" id="{5F2E67F0-46A0-426E-A0FD-9F4F284D434B}"/>
              </a:ext>
            </a:extLst>
          </p:cNvPr>
          <p:cNvSpPr>
            <a:spLocks noGrp="1"/>
          </p:cNvSpPr>
          <p:nvPr/>
        </p:nvSpPr>
        <p:spPr>
          <a:xfrm>
            <a:off x="8143875" y="4629150"/>
            <a:ext cx="85725" cy="85725"/>
          </a:xfrm>
          <a:prstGeom prst="ellipse">
            <a:avLst/>
          </a:prstGeom>
          <a:solidFill>
            <a:srgbClr val="C9CDD0"/>
          </a:solidFill>
          <a:ln w="19050">
            <a:noFill/>
          </a:ln>
        </p:spPr>
        <p:txBody>
          <a:bodyPr/>
          <a:lstStyle/>
          <a:p>
            <a:endParaRPr lang="en-US"/>
          </a:p>
        </p:txBody>
      </p:sp>
      <p:sp>
        <p:nvSpPr>
          <p:cNvPr id="26" name="diagram-659">
            <a:extLst>
              <a:ext uri="{FF2B5EF4-FFF2-40B4-BE49-F238E27FC236}">
                <a16:creationId xmlns:a16="http://schemas.microsoft.com/office/drawing/2014/main" id="{D9BA8985-AB72-4CA4-87D6-5C03A4B2A2E1}"/>
              </a:ext>
            </a:extLst>
          </p:cNvPr>
          <p:cNvSpPr>
            <a:spLocks noGrp="1"/>
          </p:cNvSpPr>
          <p:nvPr/>
        </p:nvSpPr>
        <p:spPr>
          <a:xfrm>
            <a:off x="8829675" y="4629150"/>
            <a:ext cx="85725" cy="85725"/>
          </a:xfrm>
          <a:prstGeom prst="ellipse">
            <a:avLst/>
          </a:prstGeom>
          <a:solidFill>
            <a:srgbClr val="C9CDD0"/>
          </a:solidFill>
          <a:ln w="19050">
            <a:noFill/>
          </a:ln>
        </p:spPr>
        <p:txBody>
          <a:bodyPr/>
          <a:lstStyle/>
          <a:p>
            <a:endParaRPr lang="en-US"/>
          </a:p>
        </p:txBody>
      </p:sp>
      <p:sp>
        <p:nvSpPr>
          <p:cNvPr id="27" name="diagram-660">
            <a:extLst>
              <a:ext uri="{FF2B5EF4-FFF2-40B4-BE49-F238E27FC236}">
                <a16:creationId xmlns:a16="http://schemas.microsoft.com/office/drawing/2014/main" id="{2DB54C00-C677-4C39-B3F5-C0EB7DE5ABFF}"/>
              </a:ext>
            </a:extLst>
          </p:cNvPr>
          <p:cNvSpPr>
            <a:spLocks noGrp="1"/>
          </p:cNvSpPr>
          <p:nvPr/>
        </p:nvSpPr>
        <p:spPr>
          <a:xfrm>
            <a:off x="9515475" y="4629150"/>
            <a:ext cx="85725" cy="85725"/>
          </a:xfrm>
          <a:prstGeom prst="ellipse">
            <a:avLst/>
          </a:prstGeom>
          <a:solidFill>
            <a:srgbClr val="C9CDD0"/>
          </a:solidFill>
          <a:ln w="19050">
            <a:noFill/>
          </a:ln>
        </p:spPr>
        <p:txBody>
          <a:bodyPr/>
          <a:lstStyle/>
          <a:p>
            <a:endParaRPr lang="en-US"/>
          </a:p>
        </p:txBody>
      </p:sp>
      <p:sp>
        <p:nvSpPr>
          <p:cNvPr id="28" name="diagram-661">
            <a:extLst>
              <a:ext uri="{FF2B5EF4-FFF2-40B4-BE49-F238E27FC236}">
                <a16:creationId xmlns:a16="http://schemas.microsoft.com/office/drawing/2014/main" id="{F7B0DE02-047F-49A9-81E6-C35084BD5EE5}"/>
              </a:ext>
            </a:extLst>
          </p:cNvPr>
          <p:cNvSpPr>
            <a:spLocks noGrp="1"/>
          </p:cNvSpPr>
          <p:nvPr/>
        </p:nvSpPr>
        <p:spPr>
          <a:xfrm>
            <a:off x="10201275" y="4629150"/>
            <a:ext cx="85725" cy="85725"/>
          </a:xfrm>
          <a:prstGeom prst="ellipse">
            <a:avLst/>
          </a:prstGeom>
          <a:solidFill>
            <a:srgbClr val="C9CDD0"/>
          </a:solidFill>
          <a:ln w="19050">
            <a:noFill/>
          </a:ln>
        </p:spPr>
        <p:txBody>
          <a:bodyPr/>
          <a:lstStyle/>
          <a:p>
            <a:endParaRPr lang="en-US"/>
          </a:p>
        </p:txBody>
      </p:sp>
      <p:sp>
        <p:nvSpPr>
          <p:cNvPr id="29" name="diagram-662">
            <a:extLst>
              <a:ext uri="{FF2B5EF4-FFF2-40B4-BE49-F238E27FC236}">
                <a16:creationId xmlns:a16="http://schemas.microsoft.com/office/drawing/2014/main" id="{E997C19E-E5D3-4E64-AE2E-96436AB745DA}"/>
              </a:ext>
            </a:extLst>
          </p:cNvPr>
          <p:cNvSpPr>
            <a:spLocks noGrp="1"/>
          </p:cNvSpPr>
          <p:nvPr/>
        </p:nvSpPr>
        <p:spPr>
          <a:xfrm>
            <a:off x="6772275" y="5314950"/>
            <a:ext cx="85725" cy="85725"/>
          </a:xfrm>
          <a:prstGeom prst="ellipse">
            <a:avLst/>
          </a:prstGeom>
          <a:solidFill>
            <a:srgbClr val="C9CDD0"/>
          </a:solidFill>
          <a:ln w="19050">
            <a:noFill/>
          </a:ln>
        </p:spPr>
        <p:txBody>
          <a:bodyPr/>
          <a:lstStyle/>
          <a:p>
            <a:endParaRPr lang="en-US"/>
          </a:p>
        </p:txBody>
      </p:sp>
      <p:sp>
        <p:nvSpPr>
          <p:cNvPr id="30" name="diagram-663">
            <a:extLst>
              <a:ext uri="{FF2B5EF4-FFF2-40B4-BE49-F238E27FC236}">
                <a16:creationId xmlns:a16="http://schemas.microsoft.com/office/drawing/2014/main" id="{BE948F48-2638-4554-BBDC-9DC0B507055B}"/>
              </a:ext>
            </a:extLst>
          </p:cNvPr>
          <p:cNvSpPr>
            <a:spLocks noGrp="1"/>
          </p:cNvSpPr>
          <p:nvPr/>
        </p:nvSpPr>
        <p:spPr>
          <a:xfrm>
            <a:off x="7458075" y="5314950"/>
            <a:ext cx="85725" cy="85725"/>
          </a:xfrm>
          <a:prstGeom prst="ellipse">
            <a:avLst/>
          </a:prstGeom>
          <a:solidFill>
            <a:srgbClr val="C9CDD0"/>
          </a:solidFill>
          <a:ln w="19050">
            <a:noFill/>
          </a:ln>
        </p:spPr>
        <p:txBody>
          <a:bodyPr/>
          <a:lstStyle/>
          <a:p>
            <a:endParaRPr lang="en-US"/>
          </a:p>
        </p:txBody>
      </p:sp>
      <p:sp>
        <p:nvSpPr>
          <p:cNvPr id="31" name="diagram-664">
            <a:extLst>
              <a:ext uri="{FF2B5EF4-FFF2-40B4-BE49-F238E27FC236}">
                <a16:creationId xmlns:a16="http://schemas.microsoft.com/office/drawing/2014/main" id="{669827D8-CD2C-4EFD-88BA-15FC833DA9B2}"/>
              </a:ext>
            </a:extLst>
          </p:cNvPr>
          <p:cNvSpPr>
            <a:spLocks noGrp="1"/>
          </p:cNvSpPr>
          <p:nvPr/>
        </p:nvSpPr>
        <p:spPr>
          <a:xfrm>
            <a:off x="8143875" y="5314950"/>
            <a:ext cx="85725" cy="85725"/>
          </a:xfrm>
          <a:prstGeom prst="ellipse">
            <a:avLst/>
          </a:prstGeom>
          <a:solidFill>
            <a:srgbClr val="C9CDD0"/>
          </a:solidFill>
          <a:ln w="19050">
            <a:noFill/>
          </a:ln>
        </p:spPr>
        <p:txBody>
          <a:bodyPr/>
          <a:lstStyle/>
          <a:p>
            <a:endParaRPr lang="en-US"/>
          </a:p>
        </p:txBody>
      </p:sp>
      <p:sp>
        <p:nvSpPr>
          <p:cNvPr id="32" name="diagram-665">
            <a:extLst>
              <a:ext uri="{FF2B5EF4-FFF2-40B4-BE49-F238E27FC236}">
                <a16:creationId xmlns:a16="http://schemas.microsoft.com/office/drawing/2014/main" id="{A73F2A05-2A52-45D6-A6E3-6141692D0B4B}"/>
              </a:ext>
            </a:extLst>
          </p:cNvPr>
          <p:cNvSpPr>
            <a:spLocks noGrp="1"/>
          </p:cNvSpPr>
          <p:nvPr/>
        </p:nvSpPr>
        <p:spPr>
          <a:xfrm>
            <a:off x="8829675" y="5314950"/>
            <a:ext cx="85725" cy="85725"/>
          </a:xfrm>
          <a:prstGeom prst="ellipse">
            <a:avLst/>
          </a:prstGeom>
          <a:solidFill>
            <a:srgbClr val="C9CDD0"/>
          </a:solidFill>
          <a:ln w="19050">
            <a:noFill/>
          </a:ln>
        </p:spPr>
        <p:txBody>
          <a:bodyPr/>
          <a:lstStyle/>
          <a:p>
            <a:endParaRPr lang="en-US"/>
          </a:p>
        </p:txBody>
      </p:sp>
      <p:sp>
        <p:nvSpPr>
          <p:cNvPr id="33" name="diagram-666">
            <a:extLst>
              <a:ext uri="{FF2B5EF4-FFF2-40B4-BE49-F238E27FC236}">
                <a16:creationId xmlns:a16="http://schemas.microsoft.com/office/drawing/2014/main" id="{D33D3FF0-C372-4E88-A80A-37FD743AF486}"/>
              </a:ext>
            </a:extLst>
          </p:cNvPr>
          <p:cNvSpPr>
            <a:spLocks noGrp="1"/>
          </p:cNvSpPr>
          <p:nvPr/>
        </p:nvSpPr>
        <p:spPr>
          <a:xfrm>
            <a:off x="9515475" y="5314950"/>
            <a:ext cx="85725" cy="85725"/>
          </a:xfrm>
          <a:prstGeom prst="ellipse">
            <a:avLst/>
          </a:prstGeom>
          <a:solidFill>
            <a:srgbClr val="C9CDD0"/>
          </a:solidFill>
          <a:ln w="19050">
            <a:noFill/>
          </a:ln>
        </p:spPr>
        <p:txBody>
          <a:bodyPr/>
          <a:lstStyle/>
          <a:p>
            <a:endParaRPr lang="en-US"/>
          </a:p>
        </p:txBody>
      </p:sp>
      <p:sp>
        <p:nvSpPr>
          <p:cNvPr id="34" name="diagram-667">
            <a:extLst>
              <a:ext uri="{FF2B5EF4-FFF2-40B4-BE49-F238E27FC236}">
                <a16:creationId xmlns:a16="http://schemas.microsoft.com/office/drawing/2014/main" id="{04DE8FA4-28CA-4860-9224-C3FE75957C55}"/>
              </a:ext>
            </a:extLst>
          </p:cNvPr>
          <p:cNvSpPr>
            <a:spLocks noGrp="1"/>
          </p:cNvSpPr>
          <p:nvPr/>
        </p:nvSpPr>
        <p:spPr>
          <a:xfrm>
            <a:off x="10201275" y="5314950"/>
            <a:ext cx="85725" cy="85725"/>
          </a:xfrm>
          <a:prstGeom prst="ellipse">
            <a:avLst/>
          </a:prstGeom>
          <a:solidFill>
            <a:srgbClr val="C9CDD0"/>
          </a:solidFill>
          <a:ln w="19050">
            <a:noFill/>
          </a:ln>
        </p:spPr>
        <p:txBody>
          <a:bodyPr/>
          <a:lstStyle/>
          <a:p>
            <a:endParaRPr lang="en-US"/>
          </a:p>
        </p:txBody>
      </p:sp>
      <p:sp>
        <p:nvSpPr>
          <p:cNvPr id="35" name="diagram-668">
            <a:extLst>
              <a:ext uri="{FF2B5EF4-FFF2-40B4-BE49-F238E27FC236}">
                <a16:creationId xmlns:a16="http://schemas.microsoft.com/office/drawing/2014/main" id="{DEBD3550-52A4-40E0-8D31-9DD42C4CE199}"/>
              </a:ext>
            </a:extLst>
          </p:cNvPr>
          <p:cNvSpPr>
            <a:spLocks noGrp="1"/>
          </p:cNvSpPr>
          <p:nvPr/>
        </p:nvSpPr>
        <p:spPr>
          <a:xfrm>
            <a:off x="8096250" y="3895725"/>
            <a:ext cx="180975" cy="180975"/>
          </a:xfrm>
          <a:prstGeom prst="ellipse">
            <a:avLst/>
          </a:prstGeom>
          <a:solidFill>
            <a:srgbClr val="C76520"/>
          </a:solidFill>
          <a:ln w="19050">
            <a:noFill/>
          </a:ln>
        </p:spPr>
        <p:txBody>
          <a:bodyPr/>
          <a:lstStyle/>
          <a:p>
            <a:endParaRPr lang="en-US"/>
          </a:p>
        </p:txBody>
      </p:sp>
      <p:sp>
        <p:nvSpPr>
          <p:cNvPr id="36" name="diagram-669">
            <a:extLst>
              <a:ext uri="{FF2B5EF4-FFF2-40B4-BE49-F238E27FC236}">
                <a16:creationId xmlns:a16="http://schemas.microsoft.com/office/drawing/2014/main" id="{1856CB62-B097-45E5-AC1B-C9F60BA53D03}"/>
              </a:ext>
            </a:extLst>
          </p:cNvPr>
          <p:cNvSpPr>
            <a:spLocks noGrp="1"/>
          </p:cNvSpPr>
          <p:nvPr/>
        </p:nvSpPr>
        <p:spPr>
          <a:xfrm>
            <a:off x="8124825" y="3238500"/>
            <a:ext cx="123825" cy="123825"/>
          </a:xfrm>
          <a:prstGeom prst="ellipse">
            <a:avLst/>
          </a:prstGeom>
          <a:solidFill>
            <a:srgbClr val="17698C"/>
          </a:solidFill>
          <a:ln w="19050">
            <a:noFill/>
          </a:ln>
        </p:spPr>
        <p:txBody>
          <a:bodyPr/>
          <a:lstStyle/>
          <a:p>
            <a:endParaRPr lang="en-US"/>
          </a:p>
        </p:txBody>
      </p:sp>
      <p:sp>
        <p:nvSpPr>
          <p:cNvPr id="37" name="line-670">
            <a:extLst>
              <a:ext uri="{FF2B5EF4-FFF2-40B4-BE49-F238E27FC236}">
                <a16:creationId xmlns:a16="http://schemas.microsoft.com/office/drawing/2014/main" id="{4B4279D4-0C51-46BB-A36A-C8D449278CD3}"/>
              </a:ext>
            </a:extLst>
          </p:cNvPr>
          <p:cNvSpPr>
            <a:spLocks noGrp="1"/>
          </p:cNvSpPr>
          <p:nvPr/>
        </p:nvSpPr>
        <p:spPr>
          <a:xfrm>
            <a:off x="8181975" y="3295650"/>
            <a:ext cx="9525" cy="685800"/>
          </a:xfrm>
          <a:custGeom>
            <a:avLst/>
            <a:gdLst/>
            <a:ahLst/>
            <a:cxnLst/>
            <a:rect l="0" t="0" r="0" b="0"/>
            <a:pathLst>
              <a:path w="9525" h="685800">
                <a:moveTo>
                  <a:pt x="0" y="685800"/>
                </a:moveTo>
                <a:lnTo>
                  <a:pt x="0" y="0"/>
                </a:lnTo>
              </a:path>
            </a:pathLst>
          </a:custGeom>
          <a:noFill/>
          <a:ln w="19050">
            <a:solidFill>
              <a:srgbClr val="17698C"/>
            </a:solidFill>
          </a:ln>
        </p:spPr>
        <p:txBody>
          <a:bodyPr/>
          <a:lstStyle/>
          <a:p>
            <a:endParaRPr lang="en-US"/>
          </a:p>
        </p:txBody>
      </p:sp>
      <p:sp>
        <p:nvSpPr>
          <p:cNvPr id="38" name="line-671">
            <a:extLst>
              <a:ext uri="{FF2B5EF4-FFF2-40B4-BE49-F238E27FC236}">
                <a16:creationId xmlns:a16="http://schemas.microsoft.com/office/drawing/2014/main" id="{3475F62F-58C7-4F76-9DB5-CA0646581A24}"/>
              </a:ext>
            </a:extLst>
          </p:cNvPr>
          <p:cNvSpPr>
            <a:spLocks noGrp="1"/>
          </p:cNvSpPr>
          <p:nvPr/>
        </p:nvSpPr>
        <p:spPr>
          <a:xfrm>
            <a:off x="8181975" y="3295650"/>
            <a:ext cx="41430" cy="85768"/>
          </a:xfrm>
          <a:custGeom>
            <a:avLst/>
            <a:gdLst/>
            <a:ahLst/>
            <a:cxnLst/>
            <a:rect l="0" t="0" r="0" b="0"/>
            <a:pathLst>
              <a:path w="41430" h="85768">
                <a:moveTo>
                  <a:pt x="0" y="0"/>
                </a:moveTo>
                <a:lnTo>
                  <a:pt x="41430" y="85768"/>
                </a:lnTo>
              </a:path>
            </a:pathLst>
          </a:custGeom>
          <a:noFill/>
          <a:ln w="19050">
            <a:solidFill>
              <a:srgbClr val="17698C"/>
            </a:solidFill>
          </a:ln>
        </p:spPr>
        <p:txBody>
          <a:bodyPr/>
          <a:lstStyle/>
          <a:p>
            <a:endParaRPr lang="en-US"/>
          </a:p>
        </p:txBody>
      </p:sp>
      <p:sp>
        <p:nvSpPr>
          <p:cNvPr id="39" name="line-672">
            <a:extLst>
              <a:ext uri="{FF2B5EF4-FFF2-40B4-BE49-F238E27FC236}">
                <a16:creationId xmlns:a16="http://schemas.microsoft.com/office/drawing/2014/main" id="{366C41D0-CF91-4F00-8A74-5E515FEBD85D}"/>
              </a:ext>
            </a:extLst>
          </p:cNvPr>
          <p:cNvSpPr>
            <a:spLocks noGrp="1"/>
          </p:cNvSpPr>
          <p:nvPr/>
        </p:nvSpPr>
        <p:spPr>
          <a:xfrm>
            <a:off x="8140545" y="3295650"/>
            <a:ext cx="41430" cy="85768"/>
          </a:xfrm>
          <a:custGeom>
            <a:avLst/>
            <a:gdLst/>
            <a:ahLst/>
            <a:cxnLst/>
            <a:rect l="0" t="0" r="0" b="0"/>
            <a:pathLst>
              <a:path w="41430" h="85768">
                <a:moveTo>
                  <a:pt x="41430" y="0"/>
                </a:moveTo>
                <a:lnTo>
                  <a:pt x="0" y="85768"/>
                </a:lnTo>
              </a:path>
            </a:pathLst>
          </a:custGeom>
          <a:noFill/>
          <a:ln w="19050">
            <a:solidFill>
              <a:srgbClr val="17698C"/>
            </a:solidFill>
          </a:ln>
        </p:spPr>
        <p:txBody>
          <a:bodyPr/>
          <a:lstStyle/>
          <a:p>
            <a:endParaRPr lang="en-US"/>
          </a:p>
        </p:txBody>
      </p:sp>
      <p:sp>
        <p:nvSpPr>
          <p:cNvPr id="40" name="diagram-673">
            <a:extLst>
              <a:ext uri="{FF2B5EF4-FFF2-40B4-BE49-F238E27FC236}">
                <a16:creationId xmlns:a16="http://schemas.microsoft.com/office/drawing/2014/main" id="{59CE3B02-6382-4E9A-9D4C-A517FA20D9F1}"/>
              </a:ext>
            </a:extLst>
          </p:cNvPr>
          <p:cNvSpPr>
            <a:spLocks noGrp="1"/>
          </p:cNvSpPr>
          <p:nvPr/>
        </p:nvSpPr>
        <p:spPr>
          <a:xfrm>
            <a:off x="7439025" y="3924300"/>
            <a:ext cx="123825" cy="123825"/>
          </a:xfrm>
          <a:prstGeom prst="ellipse">
            <a:avLst/>
          </a:prstGeom>
          <a:solidFill>
            <a:srgbClr val="17698C"/>
          </a:solidFill>
          <a:ln w="19050">
            <a:noFill/>
          </a:ln>
        </p:spPr>
        <p:txBody>
          <a:bodyPr/>
          <a:lstStyle/>
          <a:p>
            <a:endParaRPr lang="en-US"/>
          </a:p>
        </p:txBody>
      </p:sp>
      <p:sp>
        <p:nvSpPr>
          <p:cNvPr id="41" name="line-674">
            <a:extLst>
              <a:ext uri="{FF2B5EF4-FFF2-40B4-BE49-F238E27FC236}">
                <a16:creationId xmlns:a16="http://schemas.microsoft.com/office/drawing/2014/main" id="{0318BFA8-D651-411B-9070-D383D0CA7B40}"/>
              </a:ext>
            </a:extLst>
          </p:cNvPr>
          <p:cNvSpPr>
            <a:spLocks noGrp="1"/>
          </p:cNvSpPr>
          <p:nvPr/>
        </p:nvSpPr>
        <p:spPr>
          <a:xfrm>
            <a:off x="7496175" y="3981450"/>
            <a:ext cx="685800" cy="9525"/>
          </a:xfrm>
          <a:custGeom>
            <a:avLst/>
            <a:gdLst/>
            <a:ahLst/>
            <a:cxnLst/>
            <a:rect l="0" t="0" r="0" b="0"/>
            <a:pathLst>
              <a:path w="685800" h="9525">
                <a:moveTo>
                  <a:pt x="685800" y="0"/>
                </a:moveTo>
                <a:lnTo>
                  <a:pt x="0" y="0"/>
                </a:lnTo>
              </a:path>
            </a:pathLst>
          </a:custGeom>
          <a:noFill/>
          <a:ln w="19050">
            <a:solidFill>
              <a:srgbClr val="17698C"/>
            </a:solidFill>
          </a:ln>
        </p:spPr>
        <p:txBody>
          <a:bodyPr/>
          <a:lstStyle/>
          <a:p>
            <a:endParaRPr lang="en-US"/>
          </a:p>
        </p:txBody>
      </p:sp>
      <p:sp>
        <p:nvSpPr>
          <p:cNvPr id="42" name="line-675">
            <a:extLst>
              <a:ext uri="{FF2B5EF4-FFF2-40B4-BE49-F238E27FC236}">
                <a16:creationId xmlns:a16="http://schemas.microsoft.com/office/drawing/2014/main" id="{F192B16F-7D65-4DCE-9C36-E908095CCF19}"/>
              </a:ext>
            </a:extLst>
          </p:cNvPr>
          <p:cNvSpPr>
            <a:spLocks noGrp="1"/>
          </p:cNvSpPr>
          <p:nvPr/>
        </p:nvSpPr>
        <p:spPr>
          <a:xfrm>
            <a:off x="7496175" y="3940020"/>
            <a:ext cx="85768" cy="41430"/>
          </a:xfrm>
          <a:custGeom>
            <a:avLst/>
            <a:gdLst/>
            <a:ahLst/>
            <a:cxnLst/>
            <a:rect l="0" t="0" r="0" b="0"/>
            <a:pathLst>
              <a:path w="85768" h="41430">
                <a:moveTo>
                  <a:pt x="0" y="41430"/>
                </a:moveTo>
                <a:lnTo>
                  <a:pt x="85768" y="0"/>
                </a:lnTo>
              </a:path>
            </a:pathLst>
          </a:custGeom>
          <a:noFill/>
          <a:ln w="19050">
            <a:solidFill>
              <a:srgbClr val="17698C"/>
            </a:solidFill>
          </a:ln>
        </p:spPr>
        <p:txBody>
          <a:bodyPr/>
          <a:lstStyle/>
          <a:p>
            <a:endParaRPr lang="en-US"/>
          </a:p>
        </p:txBody>
      </p:sp>
      <p:sp>
        <p:nvSpPr>
          <p:cNvPr id="43" name="line-676">
            <a:extLst>
              <a:ext uri="{FF2B5EF4-FFF2-40B4-BE49-F238E27FC236}">
                <a16:creationId xmlns:a16="http://schemas.microsoft.com/office/drawing/2014/main" id="{5EEC88ED-2360-417C-87DE-CA57AB771142}"/>
              </a:ext>
            </a:extLst>
          </p:cNvPr>
          <p:cNvSpPr>
            <a:spLocks noGrp="1"/>
          </p:cNvSpPr>
          <p:nvPr/>
        </p:nvSpPr>
        <p:spPr>
          <a:xfrm>
            <a:off x="7496175" y="3981450"/>
            <a:ext cx="85768" cy="41430"/>
          </a:xfrm>
          <a:custGeom>
            <a:avLst/>
            <a:gdLst/>
            <a:ahLst/>
            <a:cxnLst/>
            <a:rect l="0" t="0" r="0" b="0"/>
            <a:pathLst>
              <a:path w="85768" h="41430">
                <a:moveTo>
                  <a:pt x="0" y="0"/>
                </a:moveTo>
                <a:lnTo>
                  <a:pt x="85768" y="41430"/>
                </a:lnTo>
              </a:path>
            </a:pathLst>
          </a:custGeom>
          <a:noFill/>
          <a:ln w="19050">
            <a:solidFill>
              <a:srgbClr val="17698C"/>
            </a:solidFill>
          </a:ln>
        </p:spPr>
        <p:txBody>
          <a:bodyPr/>
          <a:lstStyle/>
          <a:p>
            <a:endParaRPr lang="en-US"/>
          </a:p>
        </p:txBody>
      </p:sp>
      <p:sp>
        <p:nvSpPr>
          <p:cNvPr id="44" name="diagram-677">
            <a:extLst>
              <a:ext uri="{FF2B5EF4-FFF2-40B4-BE49-F238E27FC236}">
                <a16:creationId xmlns:a16="http://schemas.microsoft.com/office/drawing/2014/main" id="{61ADD22D-76A6-416B-A9D8-19868DFD3442}"/>
              </a:ext>
            </a:extLst>
          </p:cNvPr>
          <p:cNvSpPr>
            <a:spLocks noGrp="1"/>
          </p:cNvSpPr>
          <p:nvPr/>
        </p:nvSpPr>
        <p:spPr>
          <a:xfrm>
            <a:off x="8810625" y="3924300"/>
            <a:ext cx="123825" cy="123825"/>
          </a:xfrm>
          <a:prstGeom prst="ellipse">
            <a:avLst/>
          </a:prstGeom>
          <a:solidFill>
            <a:srgbClr val="17698C"/>
          </a:solidFill>
          <a:ln w="19050">
            <a:noFill/>
          </a:ln>
        </p:spPr>
        <p:txBody>
          <a:bodyPr/>
          <a:lstStyle/>
          <a:p>
            <a:endParaRPr lang="en-US"/>
          </a:p>
        </p:txBody>
      </p:sp>
      <p:sp>
        <p:nvSpPr>
          <p:cNvPr id="45" name="line-678">
            <a:extLst>
              <a:ext uri="{FF2B5EF4-FFF2-40B4-BE49-F238E27FC236}">
                <a16:creationId xmlns:a16="http://schemas.microsoft.com/office/drawing/2014/main" id="{7D5BB48A-FF2B-46A8-8BC5-F20CAF185AD5}"/>
              </a:ext>
            </a:extLst>
          </p:cNvPr>
          <p:cNvSpPr>
            <a:spLocks noGrp="1"/>
          </p:cNvSpPr>
          <p:nvPr/>
        </p:nvSpPr>
        <p:spPr>
          <a:xfrm>
            <a:off x="8181975" y="3981450"/>
            <a:ext cx="685800" cy="9525"/>
          </a:xfrm>
          <a:custGeom>
            <a:avLst/>
            <a:gdLst/>
            <a:ahLst/>
            <a:cxnLst/>
            <a:rect l="0" t="0" r="0" b="0"/>
            <a:pathLst>
              <a:path w="685800" h="9525">
                <a:moveTo>
                  <a:pt x="0" y="0"/>
                </a:moveTo>
                <a:lnTo>
                  <a:pt x="685800" y="0"/>
                </a:lnTo>
              </a:path>
            </a:pathLst>
          </a:custGeom>
          <a:noFill/>
          <a:ln w="19050">
            <a:solidFill>
              <a:srgbClr val="17698C"/>
            </a:solidFill>
          </a:ln>
        </p:spPr>
        <p:txBody>
          <a:bodyPr/>
          <a:lstStyle/>
          <a:p>
            <a:endParaRPr lang="en-US"/>
          </a:p>
        </p:txBody>
      </p:sp>
      <p:sp>
        <p:nvSpPr>
          <p:cNvPr id="46" name="line-679">
            <a:extLst>
              <a:ext uri="{FF2B5EF4-FFF2-40B4-BE49-F238E27FC236}">
                <a16:creationId xmlns:a16="http://schemas.microsoft.com/office/drawing/2014/main" id="{F1C6451B-4A9C-4548-8D35-609ABB85F766}"/>
              </a:ext>
            </a:extLst>
          </p:cNvPr>
          <p:cNvSpPr>
            <a:spLocks noGrp="1"/>
          </p:cNvSpPr>
          <p:nvPr/>
        </p:nvSpPr>
        <p:spPr>
          <a:xfrm>
            <a:off x="8782007" y="3981450"/>
            <a:ext cx="85768" cy="41430"/>
          </a:xfrm>
          <a:custGeom>
            <a:avLst/>
            <a:gdLst/>
            <a:ahLst/>
            <a:cxnLst/>
            <a:rect l="0" t="0" r="0" b="0"/>
            <a:pathLst>
              <a:path w="85768" h="41430">
                <a:moveTo>
                  <a:pt x="85768" y="0"/>
                </a:moveTo>
                <a:lnTo>
                  <a:pt x="0" y="41430"/>
                </a:lnTo>
              </a:path>
            </a:pathLst>
          </a:custGeom>
          <a:noFill/>
          <a:ln w="19050">
            <a:solidFill>
              <a:srgbClr val="17698C"/>
            </a:solidFill>
          </a:ln>
        </p:spPr>
        <p:txBody>
          <a:bodyPr/>
          <a:lstStyle/>
          <a:p>
            <a:endParaRPr lang="en-US"/>
          </a:p>
        </p:txBody>
      </p:sp>
      <p:sp>
        <p:nvSpPr>
          <p:cNvPr id="47" name="line-680">
            <a:extLst>
              <a:ext uri="{FF2B5EF4-FFF2-40B4-BE49-F238E27FC236}">
                <a16:creationId xmlns:a16="http://schemas.microsoft.com/office/drawing/2014/main" id="{7A1D99CA-F26C-44FE-AC45-85FCB42030D4}"/>
              </a:ext>
            </a:extLst>
          </p:cNvPr>
          <p:cNvSpPr>
            <a:spLocks noGrp="1"/>
          </p:cNvSpPr>
          <p:nvPr/>
        </p:nvSpPr>
        <p:spPr>
          <a:xfrm>
            <a:off x="8782007" y="3940020"/>
            <a:ext cx="85768" cy="41430"/>
          </a:xfrm>
          <a:custGeom>
            <a:avLst/>
            <a:gdLst/>
            <a:ahLst/>
            <a:cxnLst/>
            <a:rect l="0" t="0" r="0" b="0"/>
            <a:pathLst>
              <a:path w="85768" h="41430">
                <a:moveTo>
                  <a:pt x="85768" y="41430"/>
                </a:moveTo>
                <a:lnTo>
                  <a:pt x="0" y="0"/>
                </a:lnTo>
              </a:path>
            </a:pathLst>
          </a:custGeom>
          <a:noFill/>
          <a:ln w="19050">
            <a:solidFill>
              <a:srgbClr val="17698C"/>
            </a:solidFill>
          </a:ln>
        </p:spPr>
        <p:txBody>
          <a:bodyPr/>
          <a:lstStyle/>
          <a:p>
            <a:endParaRPr lang="en-US"/>
          </a:p>
        </p:txBody>
      </p:sp>
      <p:sp>
        <p:nvSpPr>
          <p:cNvPr id="48" name="diagram-681">
            <a:extLst>
              <a:ext uri="{FF2B5EF4-FFF2-40B4-BE49-F238E27FC236}">
                <a16:creationId xmlns:a16="http://schemas.microsoft.com/office/drawing/2014/main" id="{56624BE0-185F-45C2-B121-FD9E05F01981}"/>
              </a:ext>
            </a:extLst>
          </p:cNvPr>
          <p:cNvSpPr>
            <a:spLocks noGrp="1"/>
          </p:cNvSpPr>
          <p:nvPr/>
        </p:nvSpPr>
        <p:spPr>
          <a:xfrm>
            <a:off x="8124825" y="4610100"/>
            <a:ext cx="123825" cy="123825"/>
          </a:xfrm>
          <a:prstGeom prst="ellipse">
            <a:avLst/>
          </a:prstGeom>
          <a:solidFill>
            <a:srgbClr val="17698C"/>
          </a:solidFill>
          <a:ln w="19050">
            <a:noFill/>
          </a:ln>
        </p:spPr>
        <p:txBody>
          <a:bodyPr/>
          <a:lstStyle/>
          <a:p>
            <a:endParaRPr lang="en-US"/>
          </a:p>
        </p:txBody>
      </p:sp>
      <p:sp>
        <p:nvSpPr>
          <p:cNvPr id="49" name="line-682">
            <a:extLst>
              <a:ext uri="{FF2B5EF4-FFF2-40B4-BE49-F238E27FC236}">
                <a16:creationId xmlns:a16="http://schemas.microsoft.com/office/drawing/2014/main" id="{1DDD49BD-D8FD-48CA-BC85-DCD0CDBB8915}"/>
              </a:ext>
            </a:extLst>
          </p:cNvPr>
          <p:cNvSpPr>
            <a:spLocks noGrp="1"/>
          </p:cNvSpPr>
          <p:nvPr/>
        </p:nvSpPr>
        <p:spPr>
          <a:xfrm>
            <a:off x="8181975" y="3981450"/>
            <a:ext cx="9525" cy="685800"/>
          </a:xfrm>
          <a:custGeom>
            <a:avLst/>
            <a:gdLst/>
            <a:ahLst/>
            <a:cxnLst/>
            <a:rect l="0" t="0" r="0" b="0"/>
            <a:pathLst>
              <a:path w="9525" h="685800">
                <a:moveTo>
                  <a:pt x="0" y="0"/>
                </a:moveTo>
                <a:lnTo>
                  <a:pt x="0" y="685800"/>
                </a:lnTo>
              </a:path>
            </a:pathLst>
          </a:custGeom>
          <a:noFill/>
          <a:ln w="19050">
            <a:solidFill>
              <a:srgbClr val="17698C"/>
            </a:solidFill>
          </a:ln>
        </p:spPr>
        <p:txBody>
          <a:bodyPr/>
          <a:lstStyle/>
          <a:p>
            <a:endParaRPr lang="en-US"/>
          </a:p>
        </p:txBody>
      </p:sp>
      <p:sp>
        <p:nvSpPr>
          <p:cNvPr id="50" name="line-683">
            <a:extLst>
              <a:ext uri="{FF2B5EF4-FFF2-40B4-BE49-F238E27FC236}">
                <a16:creationId xmlns:a16="http://schemas.microsoft.com/office/drawing/2014/main" id="{B2C8E454-6DEF-4B93-904C-C453FED80668}"/>
              </a:ext>
            </a:extLst>
          </p:cNvPr>
          <p:cNvSpPr>
            <a:spLocks noGrp="1"/>
          </p:cNvSpPr>
          <p:nvPr/>
        </p:nvSpPr>
        <p:spPr>
          <a:xfrm>
            <a:off x="8140545" y="4581482"/>
            <a:ext cx="41430" cy="85768"/>
          </a:xfrm>
          <a:custGeom>
            <a:avLst/>
            <a:gdLst/>
            <a:ahLst/>
            <a:cxnLst/>
            <a:rect l="0" t="0" r="0" b="0"/>
            <a:pathLst>
              <a:path w="41430" h="85768">
                <a:moveTo>
                  <a:pt x="41430" y="85768"/>
                </a:moveTo>
                <a:lnTo>
                  <a:pt x="0" y="0"/>
                </a:lnTo>
              </a:path>
            </a:pathLst>
          </a:custGeom>
          <a:noFill/>
          <a:ln w="19050">
            <a:solidFill>
              <a:srgbClr val="17698C"/>
            </a:solidFill>
          </a:ln>
        </p:spPr>
        <p:txBody>
          <a:bodyPr/>
          <a:lstStyle/>
          <a:p>
            <a:endParaRPr lang="en-US"/>
          </a:p>
        </p:txBody>
      </p:sp>
      <p:sp>
        <p:nvSpPr>
          <p:cNvPr id="51" name="line-684">
            <a:extLst>
              <a:ext uri="{FF2B5EF4-FFF2-40B4-BE49-F238E27FC236}">
                <a16:creationId xmlns:a16="http://schemas.microsoft.com/office/drawing/2014/main" id="{64D0AAFE-9461-480E-87AA-D2AB7DF4DC01}"/>
              </a:ext>
            </a:extLst>
          </p:cNvPr>
          <p:cNvSpPr>
            <a:spLocks noGrp="1"/>
          </p:cNvSpPr>
          <p:nvPr/>
        </p:nvSpPr>
        <p:spPr>
          <a:xfrm>
            <a:off x="8181975" y="4581482"/>
            <a:ext cx="41430" cy="85768"/>
          </a:xfrm>
          <a:custGeom>
            <a:avLst/>
            <a:gdLst/>
            <a:ahLst/>
            <a:cxnLst/>
            <a:rect l="0" t="0" r="0" b="0"/>
            <a:pathLst>
              <a:path w="41430" h="85768">
                <a:moveTo>
                  <a:pt x="0" y="85768"/>
                </a:moveTo>
                <a:lnTo>
                  <a:pt x="41430" y="0"/>
                </a:lnTo>
              </a:path>
            </a:pathLst>
          </a:custGeom>
          <a:noFill/>
          <a:ln w="19050">
            <a:solidFill>
              <a:srgbClr val="17698C"/>
            </a:solidFill>
          </a:ln>
        </p:spPr>
        <p:txBody>
          <a:bodyPr/>
          <a:lstStyle/>
          <a:p>
            <a:endParaRPr lang="en-US"/>
          </a:p>
        </p:txBody>
      </p:sp>
      <p:sp>
        <p:nvSpPr>
          <p:cNvPr id="52" name="diagram-685">
            <a:extLst>
              <a:ext uri="{FF2B5EF4-FFF2-40B4-BE49-F238E27FC236}">
                <a16:creationId xmlns:a16="http://schemas.microsoft.com/office/drawing/2014/main" id="{5CE0BE6B-EB7C-4708-A38B-9D48F8CA6C1C}"/>
              </a:ext>
            </a:extLst>
          </p:cNvPr>
          <p:cNvSpPr>
            <a:spLocks noGrp="1"/>
          </p:cNvSpPr>
          <p:nvPr/>
        </p:nvSpPr>
        <p:spPr>
          <a:xfrm>
            <a:off x="10153650" y="2524125"/>
            <a:ext cx="180975" cy="180975"/>
          </a:xfrm>
          <a:prstGeom prst="ellipse">
            <a:avLst/>
          </a:prstGeom>
          <a:solidFill>
            <a:srgbClr val="287653"/>
          </a:solidFill>
          <a:ln w="19050">
            <a:noFill/>
          </a:ln>
        </p:spPr>
        <p:txBody>
          <a:bodyPr/>
          <a:lstStyle/>
          <a:p>
            <a:endParaRPr lang="en-US"/>
          </a:p>
        </p:txBody>
      </p:sp>
      <p:sp>
        <p:nvSpPr>
          <p:cNvPr id="53" name="line-686">
            <a:extLst>
              <a:ext uri="{FF2B5EF4-FFF2-40B4-BE49-F238E27FC236}">
                <a16:creationId xmlns:a16="http://schemas.microsoft.com/office/drawing/2014/main" id="{BDB041CC-AEAB-4F83-A7BE-25CC564C04C1}"/>
              </a:ext>
            </a:extLst>
          </p:cNvPr>
          <p:cNvSpPr>
            <a:spLocks noGrp="1"/>
          </p:cNvSpPr>
          <p:nvPr/>
        </p:nvSpPr>
        <p:spPr>
          <a:xfrm>
            <a:off x="8324850" y="2733675"/>
            <a:ext cx="1781175" cy="1066800"/>
          </a:xfrm>
          <a:custGeom>
            <a:avLst/>
            <a:gdLst/>
            <a:ahLst/>
            <a:cxnLst/>
            <a:rect l="0" t="0" r="0" b="0"/>
            <a:pathLst>
              <a:path w="1781175" h="1066800">
                <a:moveTo>
                  <a:pt x="0" y="1066800"/>
                </a:moveTo>
                <a:lnTo>
                  <a:pt x="1781175" y="0"/>
                </a:lnTo>
              </a:path>
            </a:pathLst>
          </a:custGeom>
          <a:noFill/>
          <a:ln w="19050">
            <a:solidFill>
              <a:srgbClr val="287653"/>
            </a:solidFill>
          </a:ln>
        </p:spPr>
        <p:txBody>
          <a:bodyPr/>
          <a:lstStyle/>
          <a:p>
            <a:endParaRPr lang="en-US"/>
          </a:p>
        </p:txBody>
      </p:sp>
      <p:sp>
        <p:nvSpPr>
          <p:cNvPr id="54" name="line-687">
            <a:extLst>
              <a:ext uri="{FF2B5EF4-FFF2-40B4-BE49-F238E27FC236}">
                <a16:creationId xmlns:a16="http://schemas.microsoft.com/office/drawing/2014/main" id="{CB230073-4693-4739-BF4F-EC08E62B67CA}"/>
              </a:ext>
            </a:extLst>
          </p:cNvPr>
          <p:cNvSpPr>
            <a:spLocks noGrp="1"/>
          </p:cNvSpPr>
          <p:nvPr/>
        </p:nvSpPr>
        <p:spPr>
          <a:xfrm>
            <a:off x="10053733" y="2733675"/>
            <a:ext cx="52292" cy="79612"/>
          </a:xfrm>
          <a:custGeom>
            <a:avLst/>
            <a:gdLst/>
            <a:ahLst/>
            <a:cxnLst/>
            <a:rect l="0" t="0" r="0" b="0"/>
            <a:pathLst>
              <a:path w="52292" h="79612">
                <a:moveTo>
                  <a:pt x="52292" y="0"/>
                </a:moveTo>
                <a:lnTo>
                  <a:pt x="0" y="79612"/>
                </a:lnTo>
              </a:path>
            </a:pathLst>
          </a:custGeom>
          <a:noFill/>
          <a:ln w="19050">
            <a:solidFill>
              <a:srgbClr val="287653"/>
            </a:solidFill>
          </a:ln>
        </p:spPr>
        <p:txBody>
          <a:bodyPr/>
          <a:lstStyle/>
          <a:p>
            <a:endParaRPr lang="en-US"/>
          </a:p>
        </p:txBody>
      </p:sp>
      <p:sp>
        <p:nvSpPr>
          <p:cNvPr id="55" name="line-688">
            <a:extLst>
              <a:ext uri="{FF2B5EF4-FFF2-40B4-BE49-F238E27FC236}">
                <a16:creationId xmlns:a16="http://schemas.microsoft.com/office/drawing/2014/main" id="{F4AFDCDE-4611-4EE1-B85F-EF3F150DB260}"/>
              </a:ext>
            </a:extLst>
          </p:cNvPr>
          <p:cNvSpPr>
            <a:spLocks noGrp="1"/>
          </p:cNvSpPr>
          <p:nvPr/>
        </p:nvSpPr>
        <p:spPr>
          <a:xfrm>
            <a:off x="10011157" y="2733675"/>
            <a:ext cx="94868" cy="9525"/>
          </a:xfrm>
          <a:custGeom>
            <a:avLst/>
            <a:gdLst/>
            <a:ahLst/>
            <a:cxnLst/>
            <a:rect l="0" t="0" r="0" b="0"/>
            <a:pathLst>
              <a:path w="94868" h="9525">
                <a:moveTo>
                  <a:pt x="94868" y="0"/>
                </a:moveTo>
                <a:lnTo>
                  <a:pt x="0" y="8526"/>
                </a:lnTo>
              </a:path>
            </a:pathLst>
          </a:custGeom>
          <a:noFill/>
          <a:ln w="19050">
            <a:solidFill>
              <a:srgbClr val="287653"/>
            </a:solidFill>
          </a:ln>
        </p:spPr>
        <p:txBody>
          <a:bodyPr/>
          <a:lstStyle/>
          <a:p>
            <a:endParaRPr lang="en-US"/>
          </a:p>
        </p:txBody>
      </p:sp>
      <p:sp>
        <p:nvSpPr>
          <p:cNvPr id="56" name="diagram-689">
            <a:extLst>
              <a:ext uri="{FF2B5EF4-FFF2-40B4-BE49-F238E27FC236}">
                <a16:creationId xmlns:a16="http://schemas.microsoft.com/office/drawing/2014/main" id="{0708CF17-BC71-4171-8244-1A53C4E06B92}"/>
              </a:ext>
            </a:extLst>
          </p:cNvPr>
          <p:cNvSpPr>
            <a:spLocks noGrp="1"/>
          </p:cNvSpPr>
          <p:nvPr/>
        </p:nvSpPr>
        <p:spPr>
          <a:xfrm>
            <a:off x="7810500" y="5610225"/>
            <a:ext cx="1047750" cy="304800"/>
          </a:xfrm>
          <a:prstGeom prst="rect">
            <a:avLst/>
          </a:prstGeom>
          <a:noFill/>
          <a:ln w="0">
            <a:noFill/>
          </a:ln>
        </p:spPr>
        <p:txBody>
          <a:bodyPr lIns="0" tIns="0" rIns="0" bIns="0" anchor="t">
            <a:noAutofit/>
          </a:bodyPr>
          <a:lstStyle/>
          <a:p>
            <a:pPr algn="l">
              <a:buNone/>
              <a:defRPr sz="1650" b="0">
                <a:solidFill>
                  <a:srgbClr val="C76520"/>
                </a:solidFill>
                <a:latin typeface="Aptos"/>
                <a:ea typeface="Aptos"/>
                <a:cs typeface="Aptos"/>
              </a:defRPr>
            </a:pPr>
            <a:r>
              <a:rPr sz="1650" b="0">
                <a:solidFill>
                  <a:srgbClr val="C76520"/>
                </a:solidFill>
                <a:latin typeface="Aptos"/>
                <a:ea typeface="Aptos"/>
                <a:cs typeface="Aptos"/>
              </a:rPr>
              <a:t>Current</a:t>
            </a:r>
          </a:p>
        </p:txBody>
      </p:sp>
      <p:sp>
        <p:nvSpPr>
          <p:cNvPr id="57" name="diagram-690">
            <a:extLst>
              <a:ext uri="{FF2B5EF4-FFF2-40B4-BE49-F238E27FC236}">
                <a16:creationId xmlns:a16="http://schemas.microsoft.com/office/drawing/2014/main" id="{EA0A1A99-FCF1-438D-AE0E-7F34C7BBB0F2}"/>
              </a:ext>
            </a:extLst>
          </p:cNvPr>
          <p:cNvSpPr>
            <a:spLocks noGrp="1"/>
          </p:cNvSpPr>
          <p:nvPr/>
        </p:nvSpPr>
        <p:spPr>
          <a:xfrm>
            <a:off x="8953500" y="5610225"/>
            <a:ext cx="1333500" cy="304800"/>
          </a:xfrm>
          <a:prstGeom prst="rect">
            <a:avLst/>
          </a:prstGeom>
          <a:noFill/>
          <a:ln w="0">
            <a:noFill/>
          </a:ln>
        </p:spPr>
        <p:txBody>
          <a:bodyPr lIns="0" tIns="0" rIns="0" bIns="0" anchor="t">
            <a:noAutofit/>
          </a:bodyPr>
          <a:lstStyle/>
          <a:p>
            <a:pPr algn="l">
              <a:buNone/>
              <a:defRPr sz="1650" b="0">
                <a:solidFill>
                  <a:srgbClr val="17698C"/>
                </a:solidFill>
                <a:latin typeface="Aptos"/>
                <a:ea typeface="Aptos"/>
                <a:cs typeface="Aptos"/>
              </a:defRPr>
            </a:pPr>
            <a:r>
              <a:rPr sz="1650" b="0">
                <a:solidFill>
                  <a:srgbClr val="17698C"/>
                </a:solidFill>
                <a:latin typeface="Aptos"/>
                <a:ea typeface="Aptos"/>
                <a:cs typeface="Aptos"/>
              </a:rPr>
              <a:t>Local probes</a:t>
            </a:r>
          </a:p>
        </p:txBody>
      </p:sp>
      <p:sp>
        <p:nvSpPr>
          <p:cNvPr id="58" name="diagram-691">
            <a:extLst>
              <a:ext uri="{FF2B5EF4-FFF2-40B4-BE49-F238E27FC236}">
                <a16:creationId xmlns:a16="http://schemas.microsoft.com/office/drawing/2014/main" id="{54AC1693-760E-421B-BD8B-2BA7A71B1569}"/>
              </a:ext>
            </a:extLst>
          </p:cNvPr>
          <p:cNvSpPr>
            <a:spLocks noGrp="1"/>
          </p:cNvSpPr>
          <p:nvPr/>
        </p:nvSpPr>
        <p:spPr>
          <a:xfrm>
            <a:off x="9458325" y="2076450"/>
            <a:ext cx="1724025" cy="304800"/>
          </a:xfrm>
          <a:prstGeom prst="rect">
            <a:avLst/>
          </a:prstGeom>
          <a:noFill/>
          <a:ln w="0">
            <a:noFill/>
          </a:ln>
        </p:spPr>
        <p:txBody>
          <a:bodyPr lIns="0" tIns="0" rIns="0" bIns="0" anchor="t">
            <a:noAutofit/>
          </a:bodyPr>
          <a:lstStyle/>
          <a:p>
            <a:pPr algn="l">
              <a:buNone/>
              <a:defRPr sz="1650" b="0">
                <a:solidFill>
                  <a:srgbClr val="287653"/>
                </a:solidFill>
                <a:latin typeface="Aptos"/>
                <a:ea typeface="Aptos"/>
                <a:cs typeface="Aptos"/>
              </a:defRPr>
            </a:pPr>
            <a:r>
              <a:rPr sz="1650" b="0">
                <a:solidFill>
                  <a:srgbClr val="287653"/>
                </a:solidFill>
                <a:latin typeface="Aptos"/>
                <a:ea typeface="Aptos"/>
                <a:cs typeface="Aptos"/>
              </a:rPr>
              <a:t>Global check</a:t>
            </a:r>
          </a:p>
        </p:txBody>
      </p:sp>
      <p:sp>
        <p:nvSpPr>
          <p:cNvPr id="59" name="diagram-692">
            <a:extLst>
              <a:ext uri="{FF2B5EF4-FFF2-40B4-BE49-F238E27FC236}">
                <a16:creationId xmlns:a16="http://schemas.microsoft.com/office/drawing/2014/main" id="{9A8A9725-A19F-4656-B755-D062F11F696E}"/>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A remote orientation can improve while the current one stays unchanged. Degradation triggers alone will miss it.</a:t>
            </a:r>
          </a:p>
        </p:txBody>
      </p:sp>
      <p:sp>
        <p:nvSpPr>
          <p:cNvPr id="60" name="added-text-106">
            <a:extLst>
              <a:ext uri="{FF2B5EF4-FFF2-40B4-BE49-F238E27FC236}">
                <a16:creationId xmlns:a16="http://schemas.microsoft.com/office/drawing/2014/main" id="{C958E1E3-268C-470C-B006-B6A69F206B16}"/>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35</a:t>
            </a:r>
          </a:p>
        </p:txBody>
      </p:sp>
    </p:spTree>
    <p:extLst>
      <p:ext uri="{BB962C8B-B14F-4D97-AF65-F5344CB8AC3E}">
        <p14:creationId xmlns:p14="http://schemas.microsoft.com/office/powerpoint/2010/main" val="29550901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50">
            <a:extLst>
              <a:ext uri="{FF2B5EF4-FFF2-40B4-BE49-F238E27FC236}">
                <a16:creationId xmlns:a16="http://schemas.microsoft.com/office/drawing/2014/main" id="{F3340A01-31A2-4CF9-B4DF-5EC0ADCAF3DA}"/>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Local-search decision steps</a:t>
            </a:r>
          </a:p>
        </p:txBody>
      </p:sp>
      <p:sp>
        <p:nvSpPr>
          <p:cNvPr id="2" name="added-text-51">
            <a:extLst>
              <a:ext uri="{FF2B5EF4-FFF2-40B4-BE49-F238E27FC236}">
                <a16:creationId xmlns:a16="http://schemas.microsoft.com/office/drawing/2014/main" id="{005CB595-750E-4F9F-A65D-AAF991207C40}"/>
              </a:ext>
            </a:extLst>
          </p:cNvPr>
          <p:cNvSpPr>
            <a:spLocks noGrp="1"/>
          </p:cNvSpPr>
          <p:nvPr/>
        </p:nvSpPr>
        <p:spPr>
          <a:xfrm>
            <a:off x="933450" y="2000250"/>
            <a:ext cx="10287000" cy="4019550"/>
          </a:xfrm>
          <a:prstGeom prst="rect">
            <a:avLst/>
          </a:prstGeom>
          <a:noFill/>
          <a:ln w="0">
            <a:noFill/>
          </a:ln>
        </p:spPr>
        <p:txBody>
          <a:bodyPr lIns="0" tIns="0" rIns="0" bIns="0" anchor="t">
            <a:noAutofit/>
          </a:bodyPr>
          <a:lstStyle/>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LOCAL_SEARCH(q0, step, bounds, budgets):</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best = q0</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while time and comparison budgets remain:</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form reachable neighbors; wrap pan and respect limits</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compare each neighbor using paired measurements</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if accepted: commit, confirm, and recenter at new best</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elif comparison is inconclusive: repeat or return UNCERTAIN</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else: check 2-D diagonals when useful; reduce step</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stop at actuator resolution, adequacy, or budget limit</a:t>
            </a:r>
          </a:p>
          <a:p>
            <a:pPr algn="l">
              <a:defRPr sz="1725" b="0">
                <a:solidFill>
                  <a:srgbClr val="111111"/>
                </a:solidFill>
                <a:latin typeface="Consolas"/>
                <a:ea typeface="Consolas"/>
                <a:cs typeface="Consolas"/>
              </a:defRPr>
            </a:pPr>
            <a:r>
              <a:rPr sz="1725" b="0">
                <a:solidFill>
                  <a:srgbClr val="111111"/>
                </a:solidFill>
                <a:latin typeface="Consolas"/>
                <a:ea typeface="Consolas"/>
                <a:cs typeface="Consolas"/>
              </a:rPr>
              <a:t>  return best and explicit stopping status</a:t>
            </a:r>
          </a:p>
        </p:txBody>
      </p:sp>
      <p:sp>
        <p:nvSpPr>
          <p:cNvPr id="3" name="added-text-52">
            <a:extLst>
              <a:ext uri="{FF2B5EF4-FFF2-40B4-BE49-F238E27FC236}">
                <a16:creationId xmlns:a16="http://schemas.microsoft.com/office/drawing/2014/main" id="{1952C547-0714-478B-A711-80A37AD13D0D}"/>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1-D neighbors: β ± step. 2-D: pan/tilt perturbations, with physical-axis neighbors near a pole.</a:t>
            </a:r>
          </a:p>
        </p:txBody>
      </p:sp>
      <p:sp>
        <p:nvSpPr>
          <p:cNvPr id="4" name="added-text-107">
            <a:extLst>
              <a:ext uri="{FF2B5EF4-FFF2-40B4-BE49-F238E27FC236}">
                <a16:creationId xmlns:a16="http://schemas.microsoft.com/office/drawing/2014/main" id="{7A0CAAC5-8E0A-46BA-B638-DD1B0C242D7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36</a:t>
            </a:r>
          </a:p>
        </p:txBody>
      </p:sp>
    </p:spTree>
    <p:extLst>
      <p:ext uri="{BB962C8B-B14F-4D97-AF65-F5344CB8AC3E}">
        <p14:creationId xmlns:p14="http://schemas.microsoft.com/office/powerpoint/2010/main" val="2075123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B: controller pseudocode</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sp>
        <p:nvSpPr>
          <p:cNvPr id="4" name="diagram-693">
            <a:extLst>
              <a:ext uri="{FF2B5EF4-FFF2-40B4-BE49-F238E27FC236}">
                <a16:creationId xmlns:a16="http://schemas.microsoft.com/office/drawing/2014/main" id="{E9453A8B-23F3-4A9F-8603-9BAA50332785}"/>
              </a:ext>
            </a:extLst>
          </p:cNvPr>
          <p:cNvSpPr>
            <a:spLocks noGrp="1"/>
          </p:cNvSpPr>
          <p:nvPr/>
        </p:nvSpPr>
        <p:spPr>
          <a:xfrm>
            <a:off x="933450" y="1990725"/>
            <a:ext cx="10477500" cy="3962400"/>
          </a:xfrm>
          <a:prstGeom prst="rect">
            <a:avLst/>
          </a:prstGeom>
          <a:noFill/>
          <a:ln w="0">
            <a:noFill/>
          </a:ln>
        </p:spPr>
        <p:txBody>
          <a:bodyPr lIns="0" tIns="0" rIns="0" bIns="0" anchor="t">
            <a:noAutofit/>
          </a:bodyPr>
          <a:lstStyle/>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EVENT_CONTROLLER():</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initialize by full scan; store backups and coverage queue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while active: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monitor valid service metrics and current context</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severe failure: run budgeted recovery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elif only policy changed: rescore valid models; verify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elif sustained degradation: local search; widen if needed</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independent global timer is due:</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probe coverage states and diverse archive candidates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refresh MUSIC/SAGE only from sufficient valid new data</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confirm changes; reset baseline only after valid settling</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log outcomes; enforce cooldown and rolling search budget</a:t>
            </a:r>
          </a:p>
        </p:txBody>
      </p:sp>
      <p:sp>
        <p:nvSpPr>
          <p:cNvPr id="5" name="diagram-694">
            <a:extLst>
              <a:ext uri="{FF2B5EF4-FFF2-40B4-BE49-F238E27FC236}">
                <a16:creationId xmlns:a16="http://schemas.microsoft.com/office/drawing/2014/main" id="{44ADF5C7-85BB-4957-961E-7813A0BDBA06}"/>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If global checks are deferred, retain their coverage debt. Invalid observations are not zero-capacity measurements.</a:t>
            </a:r>
          </a:p>
        </p:txBody>
      </p:sp>
      <p:sp>
        <p:nvSpPr>
          <p:cNvPr id="6" name="added-text-108">
            <a:extLst>
              <a:ext uri="{FF2B5EF4-FFF2-40B4-BE49-F238E27FC236}">
                <a16:creationId xmlns:a16="http://schemas.microsoft.com/office/drawing/2014/main" id="{943BB6BE-BD5E-418B-A6B0-91592CAF6A8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37</a:t>
            </a:r>
          </a:p>
        </p:txBody>
      </p:sp>
    </p:spTree>
    <p:extLst>
      <p:ext uri="{BB962C8B-B14F-4D97-AF65-F5344CB8AC3E}">
        <p14:creationId xmlns:p14="http://schemas.microsoft.com/office/powerpoint/2010/main" val="2955090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Paired verification</a:t>
            </a:r>
          </a:p>
        </p:txBody>
      </p:sp>
      <p:sp>
        <p:nvSpPr>
          <p:cNvPr id="4" name="diagram-695">
            <a:extLst>
              <a:ext uri="{FF2B5EF4-FFF2-40B4-BE49-F238E27FC236}">
                <a16:creationId xmlns:a16="http://schemas.microsoft.com/office/drawing/2014/main" id="{3F0C7189-4A5E-4D47-8C11-8C578630C1CC}"/>
              </a:ext>
            </a:extLst>
          </p:cNvPr>
          <p:cNvSpPr>
            <a:spLocks noGrp="1"/>
          </p:cNvSpPr>
          <p:nvPr/>
        </p:nvSpPr>
        <p:spPr>
          <a:xfrm>
            <a:off x="933450" y="1971675"/>
            <a:ext cx="2543175" cy="609600"/>
          </a:xfrm>
          <a:prstGeom prst="rect">
            <a:avLst/>
          </a:prstGeom>
          <a:solidFill>
            <a:srgbClr val="FFFFFF"/>
          </a:solidFill>
          <a:ln w="19050">
            <a:solidFill>
              <a:srgbClr val="111111"/>
            </a:solidFill>
          </a:ln>
        </p:spPr>
        <p:txBody>
          <a:bodyPr/>
          <a:lstStyle/>
          <a:p>
            <a:endParaRPr lang="en-US"/>
          </a:p>
        </p:txBody>
      </p:sp>
      <p:sp>
        <p:nvSpPr>
          <p:cNvPr id="5" name="diagram-696">
            <a:extLst>
              <a:ext uri="{FF2B5EF4-FFF2-40B4-BE49-F238E27FC236}">
                <a16:creationId xmlns:a16="http://schemas.microsoft.com/office/drawing/2014/main" id="{CC845983-8F7D-4649-9673-63B759746D07}"/>
              </a:ext>
            </a:extLst>
          </p:cNvPr>
          <p:cNvSpPr>
            <a:spLocks noGrp="1"/>
          </p:cNvSpPr>
          <p:nvPr/>
        </p:nvSpPr>
        <p:spPr>
          <a:xfrm>
            <a:off x="1009650" y="2085975"/>
            <a:ext cx="239077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Incumbent q₀</a:t>
            </a:r>
          </a:p>
        </p:txBody>
      </p:sp>
      <p:sp>
        <p:nvSpPr>
          <p:cNvPr id="6" name="diagram-697">
            <a:extLst>
              <a:ext uri="{FF2B5EF4-FFF2-40B4-BE49-F238E27FC236}">
                <a16:creationId xmlns:a16="http://schemas.microsoft.com/office/drawing/2014/main" id="{288DB74D-4C3E-49A5-BBB2-F611EEA783A7}"/>
              </a:ext>
            </a:extLst>
          </p:cNvPr>
          <p:cNvSpPr>
            <a:spLocks noGrp="1"/>
          </p:cNvSpPr>
          <p:nvPr/>
        </p:nvSpPr>
        <p:spPr>
          <a:xfrm>
            <a:off x="4657725" y="1971675"/>
            <a:ext cx="2543175" cy="609600"/>
          </a:xfrm>
          <a:prstGeom prst="rect">
            <a:avLst/>
          </a:prstGeom>
          <a:solidFill>
            <a:srgbClr val="FFFFFF"/>
          </a:solidFill>
          <a:ln w="19050">
            <a:solidFill>
              <a:srgbClr val="17698C"/>
            </a:solidFill>
          </a:ln>
        </p:spPr>
        <p:txBody>
          <a:bodyPr/>
          <a:lstStyle/>
          <a:p>
            <a:endParaRPr lang="en-US"/>
          </a:p>
        </p:txBody>
      </p:sp>
      <p:sp>
        <p:nvSpPr>
          <p:cNvPr id="7" name="diagram-698">
            <a:extLst>
              <a:ext uri="{FF2B5EF4-FFF2-40B4-BE49-F238E27FC236}">
                <a16:creationId xmlns:a16="http://schemas.microsoft.com/office/drawing/2014/main" id="{B71A6A84-63AC-4579-B38B-8E557C4BC14B}"/>
              </a:ext>
            </a:extLst>
          </p:cNvPr>
          <p:cNvSpPr>
            <a:spLocks noGrp="1"/>
          </p:cNvSpPr>
          <p:nvPr/>
        </p:nvSpPr>
        <p:spPr>
          <a:xfrm>
            <a:off x="4733925" y="2085975"/>
            <a:ext cx="2390775" cy="457200"/>
          </a:xfrm>
          <a:prstGeom prst="rect">
            <a:avLst/>
          </a:prstGeom>
          <a:noFill/>
          <a:ln w="0">
            <a:noFill/>
          </a:ln>
        </p:spPr>
        <p:txBody>
          <a:bodyPr lIns="0" tIns="0" rIns="0" bIns="0" anchor="t">
            <a:noAutofit/>
          </a:bodyPr>
          <a:lstStyle/>
          <a:p>
            <a:pPr algn="ctr">
              <a:buNone/>
              <a:defRPr sz="1650" b="1">
                <a:solidFill>
                  <a:srgbClr val="17698C"/>
                </a:solidFill>
                <a:latin typeface="Aptos"/>
                <a:ea typeface="Aptos"/>
                <a:cs typeface="Aptos"/>
              </a:defRPr>
            </a:pPr>
            <a:r>
              <a:rPr sz="1650" b="1">
                <a:solidFill>
                  <a:srgbClr val="17698C"/>
                </a:solidFill>
                <a:latin typeface="Aptos"/>
                <a:ea typeface="Aptos"/>
                <a:cs typeface="Aptos"/>
              </a:rPr>
              <a:t>Candidate qc</a:t>
            </a:r>
          </a:p>
        </p:txBody>
      </p:sp>
      <p:sp>
        <p:nvSpPr>
          <p:cNvPr id="8" name="diagram-699">
            <a:extLst>
              <a:ext uri="{FF2B5EF4-FFF2-40B4-BE49-F238E27FC236}">
                <a16:creationId xmlns:a16="http://schemas.microsoft.com/office/drawing/2014/main" id="{EB48158C-2CB6-4E28-BC63-D460F57A44B6}"/>
              </a:ext>
            </a:extLst>
          </p:cNvPr>
          <p:cNvSpPr>
            <a:spLocks noGrp="1"/>
          </p:cNvSpPr>
          <p:nvPr/>
        </p:nvSpPr>
        <p:spPr>
          <a:xfrm>
            <a:off x="8382000" y="1971675"/>
            <a:ext cx="2857500" cy="609600"/>
          </a:xfrm>
          <a:prstGeom prst="rect">
            <a:avLst/>
          </a:prstGeom>
          <a:solidFill>
            <a:srgbClr val="FFFFFF"/>
          </a:solidFill>
          <a:ln w="19050">
            <a:solidFill>
              <a:srgbClr val="111111"/>
            </a:solidFill>
          </a:ln>
        </p:spPr>
        <p:txBody>
          <a:bodyPr/>
          <a:lstStyle/>
          <a:p>
            <a:endParaRPr lang="en-US"/>
          </a:p>
        </p:txBody>
      </p:sp>
      <p:sp>
        <p:nvSpPr>
          <p:cNvPr id="9" name="diagram-700">
            <a:extLst>
              <a:ext uri="{FF2B5EF4-FFF2-40B4-BE49-F238E27FC236}">
                <a16:creationId xmlns:a16="http://schemas.microsoft.com/office/drawing/2014/main" id="{CD338837-E714-4A48-9566-03A88B289E1F}"/>
              </a:ext>
            </a:extLst>
          </p:cNvPr>
          <p:cNvSpPr>
            <a:spLocks noGrp="1"/>
          </p:cNvSpPr>
          <p:nvPr/>
        </p:nvSpPr>
        <p:spPr>
          <a:xfrm>
            <a:off x="8458200" y="2085975"/>
            <a:ext cx="27051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Incumbent q₀</a:t>
            </a:r>
          </a:p>
        </p:txBody>
      </p:sp>
      <p:sp>
        <p:nvSpPr>
          <p:cNvPr id="10" name="line-701">
            <a:extLst>
              <a:ext uri="{FF2B5EF4-FFF2-40B4-BE49-F238E27FC236}">
                <a16:creationId xmlns:a16="http://schemas.microsoft.com/office/drawing/2014/main" id="{2E9C560D-118A-4B0E-AEF8-478669D7AAD2}"/>
              </a:ext>
            </a:extLst>
          </p:cNvPr>
          <p:cNvSpPr>
            <a:spLocks noGrp="1"/>
          </p:cNvSpPr>
          <p:nvPr/>
        </p:nvSpPr>
        <p:spPr>
          <a:xfrm>
            <a:off x="3571875" y="2276475"/>
            <a:ext cx="971550" cy="9525"/>
          </a:xfrm>
          <a:custGeom>
            <a:avLst/>
            <a:gdLst/>
            <a:ahLst/>
            <a:cxnLst/>
            <a:rect l="0" t="0" r="0" b="0"/>
            <a:pathLst>
              <a:path w="971550" h="9525">
                <a:moveTo>
                  <a:pt x="0" y="0"/>
                </a:moveTo>
                <a:lnTo>
                  <a:pt x="971550" y="0"/>
                </a:lnTo>
              </a:path>
            </a:pathLst>
          </a:custGeom>
          <a:noFill/>
          <a:ln w="23813">
            <a:solidFill>
              <a:srgbClr val="17698C"/>
            </a:solidFill>
          </a:ln>
        </p:spPr>
        <p:txBody>
          <a:bodyPr/>
          <a:lstStyle/>
          <a:p>
            <a:endParaRPr lang="en-US"/>
          </a:p>
        </p:txBody>
      </p:sp>
      <p:sp>
        <p:nvSpPr>
          <p:cNvPr id="11" name="line-702">
            <a:extLst>
              <a:ext uri="{FF2B5EF4-FFF2-40B4-BE49-F238E27FC236}">
                <a16:creationId xmlns:a16="http://schemas.microsoft.com/office/drawing/2014/main" id="{869B4218-2893-48B9-96A2-189B6E6FC0CA}"/>
              </a:ext>
            </a:extLst>
          </p:cNvPr>
          <p:cNvSpPr>
            <a:spLocks noGrp="1"/>
          </p:cNvSpPr>
          <p:nvPr/>
        </p:nvSpPr>
        <p:spPr>
          <a:xfrm>
            <a:off x="4457657" y="227647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2" name="line-703">
            <a:extLst>
              <a:ext uri="{FF2B5EF4-FFF2-40B4-BE49-F238E27FC236}">
                <a16:creationId xmlns:a16="http://schemas.microsoft.com/office/drawing/2014/main" id="{EE015437-5F7A-4E76-9CD0-0B49B88406EF}"/>
              </a:ext>
            </a:extLst>
          </p:cNvPr>
          <p:cNvSpPr>
            <a:spLocks noGrp="1"/>
          </p:cNvSpPr>
          <p:nvPr/>
        </p:nvSpPr>
        <p:spPr>
          <a:xfrm>
            <a:off x="4457657" y="223504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3" name="line-704">
            <a:extLst>
              <a:ext uri="{FF2B5EF4-FFF2-40B4-BE49-F238E27FC236}">
                <a16:creationId xmlns:a16="http://schemas.microsoft.com/office/drawing/2014/main" id="{3A14E536-317E-432D-8080-C412B06B6483}"/>
              </a:ext>
            </a:extLst>
          </p:cNvPr>
          <p:cNvSpPr>
            <a:spLocks noGrp="1"/>
          </p:cNvSpPr>
          <p:nvPr/>
        </p:nvSpPr>
        <p:spPr>
          <a:xfrm>
            <a:off x="7296150" y="2276475"/>
            <a:ext cx="971550" cy="9525"/>
          </a:xfrm>
          <a:custGeom>
            <a:avLst/>
            <a:gdLst/>
            <a:ahLst/>
            <a:cxnLst/>
            <a:rect l="0" t="0" r="0" b="0"/>
            <a:pathLst>
              <a:path w="971550" h="9525">
                <a:moveTo>
                  <a:pt x="0" y="0"/>
                </a:moveTo>
                <a:lnTo>
                  <a:pt x="971550" y="0"/>
                </a:lnTo>
              </a:path>
            </a:pathLst>
          </a:custGeom>
          <a:noFill/>
          <a:ln w="23813">
            <a:solidFill>
              <a:srgbClr val="17698C"/>
            </a:solidFill>
          </a:ln>
        </p:spPr>
        <p:txBody>
          <a:bodyPr/>
          <a:lstStyle/>
          <a:p>
            <a:endParaRPr lang="en-US"/>
          </a:p>
        </p:txBody>
      </p:sp>
      <p:sp>
        <p:nvSpPr>
          <p:cNvPr id="14" name="line-705">
            <a:extLst>
              <a:ext uri="{FF2B5EF4-FFF2-40B4-BE49-F238E27FC236}">
                <a16:creationId xmlns:a16="http://schemas.microsoft.com/office/drawing/2014/main" id="{65818A21-BB80-43BF-B5A9-4E037A3B8677}"/>
              </a:ext>
            </a:extLst>
          </p:cNvPr>
          <p:cNvSpPr>
            <a:spLocks noGrp="1"/>
          </p:cNvSpPr>
          <p:nvPr/>
        </p:nvSpPr>
        <p:spPr>
          <a:xfrm>
            <a:off x="8181932" y="227647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5" name="line-706">
            <a:extLst>
              <a:ext uri="{FF2B5EF4-FFF2-40B4-BE49-F238E27FC236}">
                <a16:creationId xmlns:a16="http://schemas.microsoft.com/office/drawing/2014/main" id="{B6074282-D687-4808-BC79-8703FCA5FBBD}"/>
              </a:ext>
            </a:extLst>
          </p:cNvPr>
          <p:cNvSpPr>
            <a:spLocks noGrp="1"/>
          </p:cNvSpPr>
          <p:nvPr/>
        </p:nvSpPr>
        <p:spPr>
          <a:xfrm>
            <a:off x="8181932" y="223504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6" name="diagram-707">
            <a:extLst>
              <a:ext uri="{FF2B5EF4-FFF2-40B4-BE49-F238E27FC236}">
                <a16:creationId xmlns:a16="http://schemas.microsoft.com/office/drawing/2014/main" id="{AAD34D27-4B12-41F4-B2D5-A57CFC767D3D}"/>
              </a:ext>
            </a:extLst>
          </p:cNvPr>
          <p:cNvSpPr>
            <a:spLocks noGrp="1"/>
          </p:cNvSpPr>
          <p:nvPr/>
        </p:nvSpPr>
        <p:spPr>
          <a:xfrm>
            <a:off x="1743075" y="2743200"/>
            <a:ext cx="1238250" cy="285750"/>
          </a:xfrm>
          <a:prstGeom prst="rect">
            <a:avLst/>
          </a:prstGeom>
          <a:noFill/>
          <a:ln w="0">
            <a:noFill/>
          </a:ln>
        </p:spPr>
        <p:txBody>
          <a:bodyPr lIns="0" tIns="0" rIns="0" bIns="0" anchor="t">
            <a:noAutofit/>
          </a:bodyPr>
          <a:lstStyle/>
          <a:p>
            <a:pPr algn="ctr">
              <a:buNone/>
              <a:defRPr sz="1650" b="0">
                <a:solidFill>
                  <a:srgbClr val="111111"/>
                </a:solidFill>
                <a:latin typeface="Aptos"/>
                <a:ea typeface="Aptos"/>
                <a:cs typeface="Aptos"/>
              </a:defRPr>
            </a:pPr>
            <a:r>
              <a:rPr sz="1650" b="0">
                <a:solidFill>
                  <a:srgbClr val="111111"/>
                </a:solidFill>
                <a:latin typeface="Aptos"/>
                <a:ea typeface="Aptos"/>
                <a:cs typeface="Aptos"/>
              </a:rPr>
              <a:t>before</a:t>
            </a:r>
          </a:p>
        </p:txBody>
      </p:sp>
      <p:sp>
        <p:nvSpPr>
          <p:cNvPr id="17" name="diagram-708">
            <a:extLst>
              <a:ext uri="{FF2B5EF4-FFF2-40B4-BE49-F238E27FC236}">
                <a16:creationId xmlns:a16="http://schemas.microsoft.com/office/drawing/2014/main" id="{CA036F59-796B-4F8B-9E00-AB94303F0CE2}"/>
              </a:ext>
            </a:extLst>
          </p:cNvPr>
          <p:cNvSpPr>
            <a:spLocks noGrp="1"/>
          </p:cNvSpPr>
          <p:nvPr/>
        </p:nvSpPr>
        <p:spPr>
          <a:xfrm>
            <a:off x="5343525" y="2743200"/>
            <a:ext cx="1333500" cy="285750"/>
          </a:xfrm>
          <a:prstGeom prst="rect">
            <a:avLst/>
          </a:prstGeom>
          <a:noFill/>
          <a:ln w="0">
            <a:noFill/>
          </a:ln>
        </p:spPr>
        <p:txBody>
          <a:bodyPr lIns="0" tIns="0" rIns="0" bIns="0" anchor="t">
            <a:noAutofit/>
          </a:bodyPr>
          <a:lstStyle/>
          <a:p>
            <a:pPr algn="ctr">
              <a:buNone/>
              <a:defRPr sz="1650" b="0">
                <a:solidFill>
                  <a:srgbClr val="111111"/>
                </a:solidFill>
                <a:latin typeface="Aptos"/>
                <a:ea typeface="Aptos"/>
                <a:cs typeface="Aptos"/>
              </a:defRPr>
            </a:pPr>
            <a:r>
              <a:rPr sz="1650" b="0">
                <a:solidFill>
                  <a:srgbClr val="111111"/>
                </a:solidFill>
                <a:latin typeface="Aptos"/>
                <a:ea typeface="Aptos"/>
                <a:cs typeface="Aptos"/>
              </a:rPr>
              <a:t>candidate</a:t>
            </a:r>
          </a:p>
        </p:txBody>
      </p:sp>
      <p:sp>
        <p:nvSpPr>
          <p:cNvPr id="18" name="diagram-709">
            <a:extLst>
              <a:ext uri="{FF2B5EF4-FFF2-40B4-BE49-F238E27FC236}">
                <a16:creationId xmlns:a16="http://schemas.microsoft.com/office/drawing/2014/main" id="{732C8748-265A-4A73-9F29-CABB72D647C3}"/>
              </a:ext>
            </a:extLst>
          </p:cNvPr>
          <p:cNvSpPr>
            <a:spLocks noGrp="1"/>
          </p:cNvSpPr>
          <p:nvPr/>
        </p:nvSpPr>
        <p:spPr>
          <a:xfrm>
            <a:off x="9239250" y="2743200"/>
            <a:ext cx="1238250" cy="285750"/>
          </a:xfrm>
          <a:prstGeom prst="rect">
            <a:avLst/>
          </a:prstGeom>
          <a:noFill/>
          <a:ln w="0">
            <a:noFill/>
          </a:ln>
        </p:spPr>
        <p:txBody>
          <a:bodyPr lIns="0" tIns="0" rIns="0" bIns="0" anchor="t">
            <a:noAutofit/>
          </a:bodyPr>
          <a:lstStyle/>
          <a:p>
            <a:pPr algn="ctr">
              <a:buNone/>
              <a:defRPr sz="1650" b="0">
                <a:solidFill>
                  <a:srgbClr val="111111"/>
                </a:solidFill>
                <a:latin typeface="Aptos"/>
                <a:ea typeface="Aptos"/>
                <a:cs typeface="Aptos"/>
              </a:defRPr>
            </a:pPr>
            <a:r>
              <a:rPr sz="1650" b="0">
                <a:solidFill>
                  <a:srgbClr val="111111"/>
                </a:solidFill>
                <a:latin typeface="Aptos"/>
                <a:ea typeface="Aptos"/>
                <a:cs typeface="Aptos"/>
              </a:rPr>
              <a:t>after</a:t>
            </a:r>
          </a:p>
        </p:txBody>
      </p:sp>
      <p:pic>
        <p:nvPicPr>
          <p:cNvPr id="44" name="Picture 43"/>
          <p:cNvPicPr>
            <a:picLocks noChangeAspect="1"/>
          </p:cNvPicPr>
          <p:nvPr/>
        </p:nvPicPr>
        <p:blipFill>
          <a:blip r:embed="rId3"/>
          <a:stretch/>
        </p:blipFill>
        <p:spPr>
          <a:xfrm>
            <a:off x="933450" y="3362325"/>
            <a:ext cx="3970057" cy="491365"/>
          </a:xfrm>
          <a:prstGeom prst="rect">
            <a:avLst/>
          </a:prstGeom>
        </p:spPr>
      </p:pic>
      <p:pic>
        <p:nvPicPr>
          <p:cNvPr id="45" name="Picture 44"/>
          <p:cNvPicPr>
            <a:picLocks noChangeAspect="1"/>
          </p:cNvPicPr>
          <p:nvPr/>
        </p:nvPicPr>
        <p:blipFill>
          <a:blip r:embed="rId4"/>
          <a:stretch/>
        </p:blipFill>
        <p:spPr>
          <a:xfrm>
            <a:off x="933450" y="4072765"/>
            <a:ext cx="2026338" cy="373959"/>
          </a:xfrm>
          <a:prstGeom prst="rect">
            <a:avLst/>
          </a:prstGeom>
        </p:spPr>
      </p:pic>
      <p:sp>
        <p:nvSpPr>
          <p:cNvPr id="21" name="diagram-710">
            <a:extLst>
              <a:ext uri="{FF2B5EF4-FFF2-40B4-BE49-F238E27FC236}">
                <a16:creationId xmlns:a16="http://schemas.microsoft.com/office/drawing/2014/main" id="{5ED23BEF-0C27-4627-B6B7-AA8698159901}"/>
              </a:ext>
            </a:extLst>
          </p:cNvPr>
          <p:cNvSpPr>
            <a:spLocks noGrp="1"/>
          </p:cNvSpPr>
          <p:nvPr/>
        </p:nvSpPr>
        <p:spPr>
          <a:xfrm>
            <a:off x="933450" y="5172075"/>
            <a:ext cx="10287000" cy="1219200"/>
          </a:xfrm>
          <a:prstGeom prst="rect">
            <a:avLst/>
          </a:prstGeom>
          <a:noFill/>
          <a:ln w="0">
            <a:noFill/>
          </a:ln>
        </p:spPr>
        <p:txBody>
          <a:bodyPr lIns="0" tIns="0" rIns="0" bIns="0" anchor="t">
            <a:noAutofit/>
          </a:bodyPr>
          <a:lstStyle/>
          <a:p>
            <a:pPr marL="228600" indent="-165100" algn="l">
              <a:spcAft>
                <a:spcPts val="900"/>
              </a:spcAft>
              <a:buChar char="•"/>
              <a:defRPr sz="1875" b="0">
                <a:solidFill>
                  <a:srgbClr val="111111"/>
                </a:solidFill>
                <a:latin typeface="Aptos"/>
                <a:ea typeface="Aptos"/>
                <a:cs typeface="Aptos"/>
              </a:defRPr>
            </a:pPr>
            <a:r>
              <a:rPr sz="1875" b="0">
                <a:solidFill>
                  <a:srgbClr val="111111"/>
                </a:solidFill>
                <a:latin typeface="Aptos"/>
                <a:ea typeface="Aptos"/>
                <a:cs typeface="Aptos"/>
              </a:rPr>
              <a:t>Reject brackets with excessive drift, missing clients or a changed policy.</a:t>
            </a:r>
          </a:p>
          <a:p>
            <a:pPr marL="228600" indent="-165100" algn="l">
              <a:spcAft>
                <a:spcPts val="900"/>
              </a:spcAft>
              <a:buChar char="•"/>
              <a:defRPr sz="1875" b="0">
                <a:solidFill>
                  <a:srgbClr val="111111"/>
                </a:solidFill>
                <a:latin typeface="Aptos"/>
                <a:ea typeface="Aptos"/>
                <a:cs typeface="Aptos"/>
              </a:defRPr>
            </a:pPr>
            <a:r>
              <a:rPr sz="1875" b="0">
                <a:solidFill>
                  <a:srgbClr val="111111"/>
                </a:solidFill>
                <a:latin typeface="Aptos"/>
                <a:ea typeface="Aptos"/>
                <a:cs typeface="Aptos"/>
              </a:rPr>
              <a:t>Require service feasibility. Confirm the move and revalidate any rollback state.</a:t>
            </a:r>
          </a:p>
        </p:txBody>
      </p:sp>
      <p:sp>
        <p:nvSpPr>
          <p:cNvPr id="25" name="added-text-13">
            <a:extLst>
              <a:ext uri="{FF2B5EF4-FFF2-40B4-BE49-F238E27FC236}">
                <a16:creationId xmlns:a16="http://schemas.microsoft.com/office/drawing/2014/main" id="{1B86694D-B08F-4F8D-802C-3DFAA9015597}"/>
              </a:ext>
            </a:extLst>
          </p:cNvPr>
          <p:cNvSpPr>
            <a:spLocks noGrp="1"/>
          </p:cNvSpPr>
          <p:nvPr/>
        </p:nvSpPr>
        <p:spPr>
          <a:xfrm>
            <a:off x="933450" y="4572000"/>
            <a:ext cx="10287000" cy="419100"/>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Δ̄: average measured improvement    uΔ: uncertainty allowance    δswitch: minimum useful gain</a:t>
            </a:r>
          </a:p>
        </p:txBody>
      </p:sp>
      <p:sp>
        <p:nvSpPr>
          <p:cNvPr id="26" name="added-text-109">
            <a:extLst>
              <a:ext uri="{FF2B5EF4-FFF2-40B4-BE49-F238E27FC236}">
                <a16:creationId xmlns:a16="http://schemas.microsoft.com/office/drawing/2014/main" id="{ABC78EAF-7299-4A80-B6A7-F34B1C40474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38</a:t>
            </a:r>
          </a:p>
        </p:txBody>
      </p:sp>
    </p:spTree>
    <p:extLst>
      <p:ext uri="{BB962C8B-B14F-4D97-AF65-F5344CB8AC3E}">
        <p14:creationId xmlns:p14="http://schemas.microsoft.com/office/powerpoint/2010/main" val="2955090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ed-text-53">
            <a:extLst>
              <a:ext uri="{FF2B5EF4-FFF2-40B4-BE49-F238E27FC236}">
                <a16:creationId xmlns:a16="http://schemas.microsoft.com/office/drawing/2014/main" id="{122A2A44-B7C5-47E0-A695-A058B7B1D7CD}"/>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Paired-probe notation</a:t>
            </a:r>
          </a:p>
        </p:txBody>
      </p:sp>
      <p:graphicFrame>
        <p:nvGraphicFramePr>
          <p:cNvPr id="7" name="Table 6"/>
          <p:cNvGraphicFramePr/>
          <p:nvPr/>
        </p:nvGraphicFramePr>
        <p:xfrm>
          <a:off x="933450" y="1895475"/>
          <a:ext cx="10382250" cy="236220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472440">
                <a:tc>
                  <a:txBody>
                    <a:bodyPr/>
                    <a:lstStyle/>
                    <a:p>
                      <a:r>
                        <a:rPr sz="1725"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472440">
                <a:tc>
                  <a:txBody>
                    <a:bodyPr/>
                    <a:lstStyle/>
                    <a:p>
                      <a:r>
                        <a:rPr sz="1725" b="1">
                          <a:solidFill>
                            <a:srgbClr val="111111"/>
                          </a:solidFill>
                          <a:latin typeface="Aptos"/>
                          <a:ea typeface="Aptos"/>
                          <a:cs typeface="Aptos"/>
                        </a:rPr>
                        <a:t>q0, qc, r</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Current orientation, candidate orientation, bracket repetition</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states; index</a:t>
                      </a:r>
                    </a:p>
                  </a:txBody>
                  <a:tcPr marL="85725" marR="85725" marT="19050" marB="19050" anchor="ctr">
                    <a:solidFill>
                      <a:srgbClr val="FFFFFF"/>
                    </a:solidFill>
                  </a:tcPr>
                </a:tc>
                <a:extLst>
                  <a:ext uri="{0D108BD9-81ED-4DB2-BD59-A6C34878D82A}">
                    <a16:rowId xmlns:a16="http://schemas.microsoft.com/office/drawing/2014/main" val="10001"/>
                  </a:ext>
                </a:extLst>
              </a:tr>
              <a:tr h="472440">
                <a:tc>
                  <a:txBody>
                    <a:bodyPr/>
                    <a:lstStyle/>
                    <a:p>
                      <a:r>
                        <a:rPr sz="1725" b="1">
                          <a:solidFill>
                            <a:srgbClr val="111111"/>
                          </a:solidFill>
                          <a:latin typeface="Aptos"/>
                          <a:ea typeface="Aptos"/>
                          <a:cs typeface="Aptos"/>
                        </a:rPr>
                        <a:t>yr(q)</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Finite-window measured utility at orientation q</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objective units</a:t>
                      </a:r>
                    </a:p>
                  </a:txBody>
                  <a:tcPr marL="85725" marR="85725" marT="19050" marB="19050" anchor="ctr">
                    <a:solidFill>
                      <a:srgbClr val="FFFFFF"/>
                    </a:solidFill>
                  </a:tcPr>
                </a:tc>
                <a:extLst>
                  <a:ext uri="{0D108BD9-81ED-4DB2-BD59-A6C34878D82A}">
                    <a16:rowId xmlns:a16="http://schemas.microsoft.com/office/drawing/2014/main" val="10002"/>
                  </a:ext>
                </a:extLst>
              </a:tr>
              <a:tr h="472440">
                <a:tc>
                  <a:txBody>
                    <a:bodyPr/>
                    <a:lstStyle/>
                    <a:p>
                      <a:r>
                        <a:rPr sz="1725" b="1">
                          <a:solidFill>
                            <a:srgbClr val="111111"/>
                          </a:solidFill>
                          <a:latin typeface="Aptos"/>
                          <a:ea typeface="Aptos"/>
                          <a:cs typeface="Aptos"/>
                        </a:rPr>
                        <a:t>Δr, Δ̄</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Candidate gain for one bracket; average across valid brackets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same units as utility</a:t>
                      </a:r>
                    </a:p>
                  </a:txBody>
                  <a:tcPr marL="85725" marR="85725" marT="19050" marB="19050" anchor="ctr">
                    <a:solidFill>
                      <a:srgbClr val="FFFFFF"/>
                    </a:solidFill>
                  </a:tcPr>
                </a:tc>
                <a:extLst>
                  <a:ext uri="{0D108BD9-81ED-4DB2-BD59-A6C34878D82A}">
                    <a16:rowId xmlns:a16="http://schemas.microsoft.com/office/drawing/2014/main" val="10003"/>
                  </a:ext>
                </a:extLst>
              </a:tr>
              <a:tr h="472440">
                <a:tc>
                  <a:txBody>
                    <a:bodyPr/>
                    <a:lstStyle/>
                    <a:p>
                      <a:r>
                        <a:rPr sz="1725" b="1">
                          <a:solidFill>
                            <a:srgbClr val="111111"/>
                          </a:solidFill>
                          <a:latin typeface="Aptos"/>
                          <a:ea typeface="Aptos"/>
                          <a:cs typeface="Aptos"/>
                        </a:rPr>
                        <a:t>uΔ, δswitch</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Empirical uncertainty allowance; useful-gain threshold</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same units as utility</a:t>
                      </a:r>
                    </a:p>
                  </a:txBody>
                  <a:tcPr marL="85725" marR="85725" marT="19050" marB="19050" anchor="ctr">
                    <a:solidFill>
                      <a:srgbClr val="FFFFFF"/>
                    </a:solidFill>
                  </a:tcPr>
                </a:tc>
                <a:extLst>
                  <a:ext uri="{0D108BD9-81ED-4DB2-BD59-A6C34878D82A}">
                    <a16:rowId xmlns:a16="http://schemas.microsoft.com/office/drawing/2014/main" val="10004"/>
                  </a:ext>
                </a:extLst>
              </a:tr>
            </a:tbl>
          </a:graphicData>
        </a:graphic>
      </p:graphicFrame>
      <p:sp>
        <p:nvSpPr>
          <p:cNvPr id="3" name="added-text-54">
            <a:extLst>
              <a:ext uri="{FF2B5EF4-FFF2-40B4-BE49-F238E27FC236}">
                <a16:creationId xmlns:a16="http://schemas.microsoft.com/office/drawing/2014/main" id="{81820A6A-E3FE-493C-BFE7-3E3266FD7D10}"/>
              </a:ext>
            </a:extLst>
          </p:cNvPr>
          <p:cNvSpPr>
            <a:spLocks noGrp="1"/>
          </p:cNvSpPr>
          <p:nvPr/>
        </p:nvSpPr>
        <p:spPr>
          <a:xfrm>
            <a:off x="933450" y="4629150"/>
            <a:ext cx="10287000" cy="1028700"/>
          </a:xfrm>
          <a:prstGeom prst="rect">
            <a:avLst/>
          </a:prstGeom>
          <a:noFill/>
          <a:ln w="0">
            <a:noFill/>
          </a:ln>
        </p:spPr>
        <p:txBody>
          <a:bodyPr lIns="0" tIns="0" rIns="0" bIns="0" anchor="t">
            <a:noAutofit/>
          </a:bodyPr>
          <a:lstStyle/>
          <a:p>
            <a:pPr algn="l">
              <a:defRPr sz="1875" b="0">
                <a:solidFill>
                  <a:srgbClr val="111111"/>
                </a:solidFill>
                <a:latin typeface="Aptos"/>
                <a:ea typeface="Aptos"/>
                <a:cs typeface="Aptos"/>
              </a:defRPr>
            </a:pPr>
            <a:r>
              <a:rPr sz="1875" b="0">
                <a:solidFill>
                  <a:srgbClr val="111111"/>
                </a:solidFill>
                <a:latin typeface="Aptos"/>
                <a:ea typeface="Aptos"/>
                <a:cs typeface="Aptos"/>
              </a:rPr>
              <a:t>Illustrative bracket (Mb/s): current before = 50, candidate = 55, current after = 46.</a:t>
            </a:r>
          </a:p>
          <a:p>
            <a:pPr algn="l">
              <a:defRPr sz="1875" b="0">
                <a:solidFill>
                  <a:srgbClr val="111111"/>
                </a:solidFill>
                <a:latin typeface="Aptos"/>
                <a:ea typeface="Aptos"/>
                <a:cs typeface="Aptos"/>
              </a:defRPr>
            </a:pPr>
            <a:r>
              <a:rPr sz="1875" b="0">
                <a:solidFill>
                  <a:srgbClr val="111111"/>
                </a:solidFill>
                <a:latin typeface="Aptos"/>
                <a:ea typeface="Aptos"/>
                <a:cs typeface="Aptos"/>
              </a:rPr>
              <a:t>Interpolated current = (50 + 46)/2 = 48, so candidate gain Δ = 7 Mb/s.</a:t>
            </a:r>
          </a:p>
          <a:p>
            <a:pPr algn="l">
              <a:defRPr sz="1875" b="0">
                <a:solidFill>
                  <a:srgbClr val="111111"/>
                </a:solidFill>
                <a:latin typeface="Aptos"/>
                <a:ea typeface="Aptos"/>
                <a:cs typeface="Aptos"/>
              </a:defRPr>
            </a:pPr>
            <a:r>
              <a:rPr sz="1875" b="0">
                <a:solidFill>
                  <a:srgbClr val="111111"/>
                </a:solidFill>
                <a:latin typeface="Aptos"/>
                <a:ea typeface="Aptos"/>
                <a:cs typeface="Aptos"/>
              </a:rPr>
              <a:t>With uΔ = 2 and δswitch = 3, the gain test passes: 7 − 2 &gt; 3.</a:t>
            </a:r>
          </a:p>
        </p:txBody>
      </p:sp>
      <p:sp>
        <p:nvSpPr>
          <p:cNvPr id="4" name="added-text-55">
            <a:extLst>
              <a:ext uri="{FF2B5EF4-FFF2-40B4-BE49-F238E27FC236}">
                <a16:creationId xmlns:a16="http://schemas.microsoft.com/office/drawing/2014/main" id="{2A8FE381-F1CC-4EE1-9A5C-E0F1C1463BC4}"/>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Acceptance still requires a valid bracket and service feasibility. These example values are hypothetical.</a:t>
            </a:r>
          </a:p>
        </p:txBody>
      </p:sp>
      <p:sp>
        <p:nvSpPr>
          <p:cNvPr id="5" name="added-text-110">
            <a:extLst>
              <a:ext uri="{FF2B5EF4-FFF2-40B4-BE49-F238E27FC236}">
                <a16:creationId xmlns:a16="http://schemas.microsoft.com/office/drawing/2014/main" id="{6B66FA83-6B50-4D15-AAF9-7F2285EFDE2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39</a:t>
            </a:r>
          </a:p>
        </p:txBody>
      </p:sp>
    </p:spTree>
    <p:extLst>
      <p:ext uri="{BB962C8B-B14F-4D97-AF65-F5344CB8AC3E}">
        <p14:creationId xmlns:p14="http://schemas.microsoft.com/office/powerpoint/2010/main" val="1999733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C: recurring usage</a:t>
            </a:r>
          </a:p>
        </p:txBody>
      </p:sp>
      <p:sp>
        <p:nvSpPr>
          <p:cNvPr id="4" name="diagram-711">
            <a:extLst>
              <a:ext uri="{FF2B5EF4-FFF2-40B4-BE49-F238E27FC236}">
                <a16:creationId xmlns:a16="http://schemas.microsoft.com/office/drawing/2014/main" id="{78BA2002-1255-4CFD-B506-2CE09B5D66CF}"/>
              </a:ext>
            </a:extLst>
          </p:cNvPr>
          <p:cNvSpPr>
            <a:spLocks noGrp="1"/>
          </p:cNvSpPr>
          <p:nvPr/>
        </p:nvSpPr>
        <p:spPr>
          <a:xfrm>
            <a:off x="933450" y="1990725"/>
            <a:ext cx="4572000" cy="361950"/>
          </a:xfrm>
          <a:prstGeom prst="rect">
            <a:avLst/>
          </a:prstGeom>
          <a:noFill/>
          <a:ln w="0">
            <a:noFill/>
          </a:ln>
        </p:spPr>
        <p:txBody>
          <a:bodyPr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Weekday evening</a:t>
            </a:r>
          </a:p>
        </p:txBody>
      </p:sp>
      <p:sp>
        <p:nvSpPr>
          <p:cNvPr id="5" name="diagram-712">
            <a:extLst>
              <a:ext uri="{FF2B5EF4-FFF2-40B4-BE49-F238E27FC236}">
                <a16:creationId xmlns:a16="http://schemas.microsoft.com/office/drawing/2014/main" id="{37BC64CB-5778-4D71-9168-162A934DF486}"/>
              </a:ext>
            </a:extLst>
          </p:cNvPr>
          <p:cNvSpPr>
            <a:spLocks noGrp="1"/>
          </p:cNvSpPr>
          <p:nvPr/>
        </p:nvSpPr>
        <p:spPr>
          <a:xfrm>
            <a:off x="1343025" y="2828925"/>
            <a:ext cx="1028700" cy="662940"/>
          </a:xfrm>
          <a:prstGeom prst="rect">
            <a:avLst/>
          </a:prstGeom>
          <a:solidFill>
            <a:srgbClr val="FFFFFF"/>
          </a:solidFill>
          <a:ln w="19050">
            <a:solidFill>
              <a:srgbClr val="111111"/>
            </a:solidFill>
          </a:ln>
        </p:spPr>
        <p:txBody>
          <a:bodyPr/>
          <a:lstStyle/>
          <a:p>
            <a:endParaRPr lang="en-US"/>
          </a:p>
        </p:txBody>
      </p:sp>
      <p:sp>
        <p:nvSpPr>
          <p:cNvPr id="6" name="diagram-713">
            <a:extLst>
              <a:ext uri="{FF2B5EF4-FFF2-40B4-BE49-F238E27FC236}">
                <a16:creationId xmlns:a16="http://schemas.microsoft.com/office/drawing/2014/main" id="{E5AC30B8-732F-4F48-A07E-E0B9ED9D1904}"/>
              </a:ext>
            </a:extLst>
          </p:cNvPr>
          <p:cNvSpPr>
            <a:spLocks noGrp="1"/>
          </p:cNvSpPr>
          <p:nvPr/>
        </p:nvSpPr>
        <p:spPr>
          <a:xfrm>
            <a:off x="1400175" y="2886075"/>
            <a:ext cx="914400" cy="548640"/>
          </a:xfrm>
          <a:prstGeom prst="rect">
            <a:avLst/>
          </a:prstGeom>
          <a:solidFill>
            <a:srgbClr val="F1F4F5"/>
          </a:solidFill>
          <a:ln w="19050">
            <a:noFill/>
          </a:ln>
        </p:spPr>
        <p:txBody>
          <a:bodyPr/>
          <a:lstStyle/>
          <a:p>
            <a:endParaRPr lang="en-US"/>
          </a:p>
        </p:txBody>
      </p:sp>
      <p:sp>
        <p:nvSpPr>
          <p:cNvPr id="7" name="line-714">
            <a:extLst>
              <a:ext uri="{FF2B5EF4-FFF2-40B4-BE49-F238E27FC236}">
                <a16:creationId xmlns:a16="http://schemas.microsoft.com/office/drawing/2014/main" id="{11087A6A-51D1-4E16-9036-DEB9A3CD7867}"/>
              </a:ext>
            </a:extLst>
          </p:cNvPr>
          <p:cNvSpPr>
            <a:spLocks noGrp="1"/>
          </p:cNvSpPr>
          <p:nvPr/>
        </p:nvSpPr>
        <p:spPr>
          <a:xfrm>
            <a:off x="1857375" y="3491865"/>
            <a:ext cx="9525" cy="148590"/>
          </a:xfrm>
          <a:custGeom>
            <a:avLst/>
            <a:gdLst/>
            <a:ahLst/>
            <a:cxnLst/>
            <a:rect l="0" t="0" r="0" b="0"/>
            <a:pathLst>
              <a:path w="9525" h="148590">
                <a:moveTo>
                  <a:pt x="0" y="0"/>
                </a:moveTo>
                <a:lnTo>
                  <a:pt x="0" y="148590"/>
                </a:lnTo>
              </a:path>
            </a:pathLst>
          </a:custGeom>
          <a:noFill/>
          <a:ln w="19050">
            <a:solidFill>
              <a:srgbClr val="111111"/>
            </a:solidFill>
          </a:ln>
        </p:spPr>
        <p:txBody>
          <a:bodyPr/>
          <a:lstStyle/>
          <a:p>
            <a:endParaRPr lang="en-US"/>
          </a:p>
        </p:txBody>
      </p:sp>
      <p:sp>
        <p:nvSpPr>
          <p:cNvPr id="8" name="line-715">
            <a:extLst>
              <a:ext uri="{FF2B5EF4-FFF2-40B4-BE49-F238E27FC236}">
                <a16:creationId xmlns:a16="http://schemas.microsoft.com/office/drawing/2014/main" id="{8B40A521-CCBB-47EB-9641-0FFF3E1B256B}"/>
              </a:ext>
            </a:extLst>
          </p:cNvPr>
          <p:cNvSpPr>
            <a:spLocks noGrp="1"/>
          </p:cNvSpPr>
          <p:nvPr/>
        </p:nvSpPr>
        <p:spPr>
          <a:xfrm>
            <a:off x="1571625" y="3640455"/>
            <a:ext cx="571500" cy="9525"/>
          </a:xfrm>
          <a:custGeom>
            <a:avLst/>
            <a:gdLst/>
            <a:ahLst/>
            <a:cxnLst/>
            <a:rect l="0" t="0" r="0" b="0"/>
            <a:pathLst>
              <a:path w="571500" h="9525">
                <a:moveTo>
                  <a:pt x="0" y="0"/>
                </a:moveTo>
                <a:lnTo>
                  <a:pt x="571500" y="0"/>
                </a:lnTo>
              </a:path>
            </a:pathLst>
          </a:custGeom>
          <a:noFill/>
          <a:ln w="28575">
            <a:solidFill>
              <a:srgbClr val="111111"/>
            </a:solidFill>
          </a:ln>
        </p:spPr>
        <p:txBody>
          <a:bodyPr/>
          <a:lstStyle/>
          <a:p>
            <a:endParaRPr lang="en-US"/>
          </a:p>
        </p:txBody>
      </p:sp>
      <p:sp>
        <p:nvSpPr>
          <p:cNvPr id="9" name="diagram-716">
            <a:extLst>
              <a:ext uri="{FF2B5EF4-FFF2-40B4-BE49-F238E27FC236}">
                <a16:creationId xmlns:a16="http://schemas.microsoft.com/office/drawing/2014/main" id="{7CF617A0-934B-4823-81FA-5B3C32F0B110}"/>
              </a:ext>
            </a:extLst>
          </p:cNvPr>
          <p:cNvSpPr>
            <a:spLocks noGrp="1"/>
          </p:cNvSpPr>
          <p:nvPr/>
        </p:nvSpPr>
        <p:spPr>
          <a:xfrm>
            <a:off x="676275" y="3743325"/>
            <a:ext cx="236220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Living room streaming</a:t>
            </a:r>
          </a:p>
        </p:txBody>
      </p:sp>
      <p:sp>
        <p:nvSpPr>
          <p:cNvPr id="10" name="diagram-717">
            <a:extLst>
              <a:ext uri="{FF2B5EF4-FFF2-40B4-BE49-F238E27FC236}">
                <a16:creationId xmlns:a16="http://schemas.microsoft.com/office/drawing/2014/main" id="{EEB7C9CF-704D-4E23-9917-93A037546D30}"/>
              </a:ext>
            </a:extLst>
          </p:cNvPr>
          <p:cNvSpPr>
            <a:spLocks noGrp="1"/>
          </p:cNvSpPr>
          <p:nvPr/>
        </p:nvSpPr>
        <p:spPr>
          <a:xfrm>
            <a:off x="4171950" y="2809875"/>
            <a:ext cx="416242" cy="766763"/>
          </a:xfrm>
          <a:prstGeom prst="roundRect">
            <a:avLst>
              <a:gd name="adj" fmla="val 18307"/>
            </a:avLst>
          </a:prstGeom>
          <a:solidFill>
            <a:srgbClr val="FFFFFF"/>
          </a:solidFill>
          <a:ln w="19050">
            <a:solidFill>
              <a:srgbClr val="111111"/>
            </a:solidFill>
          </a:ln>
        </p:spPr>
        <p:txBody>
          <a:bodyPr/>
          <a:lstStyle/>
          <a:p>
            <a:endParaRPr lang="en-US"/>
          </a:p>
        </p:txBody>
      </p:sp>
      <p:sp>
        <p:nvSpPr>
          <p:cNvPr id="11" name="diagram-718">
            <a:extLst>
              <a:ext uri="{FF2B5EF4-FFF2-40B4-BE49-F238E27FC236}">
                <a16:creationId xmlns:a16="http://schemas.microsoft.com/office/drawing/2014/main" id="{2ABCB6E4-9B26-466C-9BC6-6D1DA34DC25D}"/>
              </a:ext>
            </a:extLst>
          </p:cNvPr>
          <p:cNvSpPr>
            <a:spLocks noGrp="1"/>
          </p:cNvSpPr>
          <p:nvPr/>
        </p:nvSpPr>
        <p:spPr>
          <a:xfrm>
            <a:off x="4226719" y="2908459"/>
            <a:ext cx="306705" cy="547688"/>
          </a:xfrm>
          <a:prstGeom prst="rect">
            <a:avLst/>
          </a:prstGeom>
          <a:solidFill>
            <a:srgbClr val="F1F4F5"/>
          </a:solidFill>
          <a:ln w="9525">
            <a:solidFill>
              <a:srgbClr val="C9CDD0"/>
            </a:solidFill>
          </a:ln>
        </p:spPr>
        <p:txBody>
          <a:bodyPr/>
          <a:lstStyle/>
          <a:p>
            <a:endParaRPr lang="en-US"/>
          </a:p>
        </p:txBody>
      </p:sp>
      <p:sp>
        <p:nvSpPr>
          <p:cNvPr id="12" name="diagram-719">
            <a:extLst>
              <a:ext uri="{FF2B5EF4-FFF2-40B4-BE49-F238E27FC236}">
                <a16:creationId xmlns:a16="http://schemas.microsoft.com/office/drawing/2014/main" id="{852B4050-1A7E-4CC5-BB47-6300B490C6A2}"/>
              </a:ext>
            </a:extLst>
          </p:cNvPr>
          <p:cNvSpPr>
            <a:spLocks noGrp="1"/>
          </p:cNvSpPr>
          <p:nvPr/>
        </p:nvSpPr>
        <p:spPr>
          <a:xfrm>
            <a:off x="4347210" y="3478054"/>
            <a:ext cx="54769" cy="54769"/>
          </a:xfrm>
          <a:prstGeom prst="ellipse">
            <a:avLst/>
          </a:prstGeom>
          <a:solidFill>
            <a:srgbClr val="C9CDD0"/>
          </a:solidFill>
          <a:ln w="19050">
            <a:noFill/>
          </a:ln>
        </p:spPr>
        <p:txBody>
          <a:bodyPr/>
          <a:lstStyle/>
          <a:p>
            <a:endParaRPr lang="en-US"/>
          </a:p>
        </p:txBody>
      </p:sp>
      <p:sp>
        <p:nvSpPr>
          <p:cNvPr id="13" name="diagram-720">
            <a:extLst>
              <a:ext uri="{FF2B5EF4-FFF2-40B4-BE49-F238E27FC236}">
                <a16:creationId xmlns:a16="http://schemas.microsoft.com/office/drawing/2014/main" id="{C6E4E266-262C-4D2A-A489-D4E081F33953}"/>
              </a:ext>
            </a:extLst>
          </p:cNvPr>
          <p:cNvSpPr>
            <a:spLocks noGrp="1"/>
          </p:cNvSpPr>
          <p:nvPr/>
        </p:nvSpPr>
        <p:spPr>
          <a:xfrm>
            <a:off x="3505200" y="3817620"/>
            <a:ext cx="1749743"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Phone active</a:t>
            </a:r>
          </a:p>
        </p:txBody>
      </p:sp>
      <p:sp>
        <p:nvSpPr>
          <p:cNvPr id="14" name="diagram-721">
            <a:extLst>
              <a:ext uri="{FF2B5EF4-FFF2-40B4-BE49-F238E27FC236}">
                <a16:creationId xmlns:a16="http://schemas.microsoft.com/office/drawing/2014/main" id="{45D27C35-7E5F-494C-BD33-39F63EEFD323}"/>
              </a:ext>
            </a:extLst>
          </p:cNvPr>
          <p:cNvSpPr>
            <a:spLocks noGrp="1"/>
          </p:cNvSpPr>
          <p:nvPr/>
        </p:nvSpPr>
        <p:spPr>
          <a:xfrm>
            <a:off x="6715125" y="1990725"/>
            <a:ext cx="4572000" cy="361950"/>
          </a:xfrm>
          <a:prstGeom prst="rect">
            <a:avLst/>
          </a:prstGeom>
          <a:noFill/>
          <a:ln w="0">
            <a:noFill/>
          </a:ln>
        </p:spPr>
        <p:txBody>
          <a:bodyPr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Weekend daytime</a:t>
            </a:r>
          </a:p>
        </p:txBody>
      </p:sp>
      <p:sp>
        <p:nvSpPr>
          <p:cNvPr id="15" name="diagram-722">
            <a:extLst>
              <a:ext uri="{FF2B5EF4-FFF2-40B4-BE49-F238E27FC236}">
                <a16:creationId xmlns:a16="http://schemas.microsoft.com/office/drawing/2014/main" id="{95DAC032-84DB-4A02-AB65-784849613DD7}"/>
              </a:ext>
            </a:extLst>
          </p:cNvPr>
          <p:cNvSpPr>
            <a:spLocks noGrp="1"/>
          </p:cNvSpPr>
          <p:nvPr/>
        </p:nvSpPr>
        <p:spPr>
          <a:xfrm>
            <a:off x="6991350" y="2828925"/>
            <a:ext cx="1028700" cy="662940"/>
          </a:xfrm>
          <a:prstGeom prst="rect">
            <a:avLst/>
          </a:prstGeom>
          <a:solidFill>
            <a:srgbClr val="FFFFFF"/>
          </a:solidFill>
          <a:ln w="19050">
            <a:solidFill>
              <a:srgbClr val="111111"/>
            </a:solidFill>
          </a:ln>
        </p:spPr>
        <p:txBody>
          <a:bodyPr/>
          <a:lstStyle/>
          <a:p>
            <a:endParaRPr lang="en-US"/>
          </a:p>
        </p:txBody>
      </p:sp>
      <p:sp>
        <p:nvSpPr>
          <p:cNvPr id="16" name="diagram-723">
            <a:extLst>
              <a:ext uri="{FF2B5EF4-FFF2-40B4-BE49-F238E27FC236}">
                <a16:creationId xmlns:a16="http://schemas.microsoft.com/office/drawing/2014/main" id="{8934E3DA-3C13-4B47-A3CD-B20CCA17EB76}"/>
              </a:ext>
            </a:extLst>
          </p:cNvPr>
          <p:cNvSpPr>
            <a:spLocks noGrp="1"/>
          </p:cNvSpPr>
          <p:nvPr/>
        </p:nvSpPr>
        <p:spPr>
          <a:xfrm>
            <a:off x="7048500" y="2886075"/>
            <a:ext cx="914400" cy="548640"/>
          </a:xfrm>
          <a:prstGeom prst="rect">
            <a:avLst/>
          </a:prstGeom>
          <a:solidFill>
            <a:srgbClr val="F1F4F5"/>
          </a:solidFill>
          <a:ln w="19050">
            <a:noFill/>
          </a:ln>
        </p:spPr>
        <p:txBody>
          <a:bodyPr/>
          <a:lstStyle/>
          <a:p>
            <a:endParaRPr lang="en-US"/>
          </a:p>
        </p:txBody>
      </p:sp>
      <p:sp>
        <p:nvSpPr>
          <p:cNvPr id="17" name="line-724">
            <a:extLst>
              <a:ext uri="{FF2B5EF4-FFF2-40B4-BE49-F238E27FC236}">
                <a16:creationId xmlns:a16="http://schemas.microsoft.com/office/drawing/2014/main" id="{B1756580-9163-455D-A092-81A5C0EF791B}"/>
              </a:ext>
            </a:extLst>
          </p:cNvPr>
          <p:cNvSpPr>
            <a:spLocks noGrp="1"/>
          </p:cNvSpPr>
          <p:nvPr/>
        </p:nvSpPr>
        <p:spPr>
          <a:xfrm>
            <a:off x="6877050" y="3571875"/>
            <a:ext cx="1257300" cy="9525"/>
          </a:xfrm>
          <a:custGeom>
            <a:avLst/>
            <a:gdLst/>
            <a:ahLst/>
            <a:cxnLst/>
            <a:rect l="0" t="0" r="0" b="0"/>
            <a:pathLst>
              <a:path w="1257300" h="9525">
                <a:moveTo>
                  <a:pt x="0" y="0"/>
                </a:moveTo>
                <a:lnTo>
                  <a:pt x="1257300" y="0"/>
                </a:lnTo>
              </a:path>
            </a:pathLst>
          </a:custGeom>
          <a:noFill/>
          <a:ln w="38100">
            <a:solidFill>
              <a:srgbClr val="111111"/>
            </a:solidFill>
          </a:ln>
        </p:spPr>
        <p:txBody>
          <a:bodyPr/>
          <a:lstStyle/>
          <a:p>
            <a:endParaRPr lang="en-US"/>
          </a:p>
        </p:txBody>
      </p:sp>
      <p:sp>
        <p:nvSpPr>
          <p:cNvPr id="18" name="diagram-725">
            <a:extLst>
              <a:ext uri="{FF2B5EF4-FFF2-40B4-BE49-F238E27FC236}">
                <a16:creationId xmlns:a16="http://schemas.microsoft.com/office/drawing/2014/main" id="{5FD105C9-34E2-4D54-A466-EE55A8A63162}"/>
              </a:ext>
            </a:extLst>
          </p:cNvPr>
          <p:cNvSpPr>
            <a:spLocks noGrp="1"/>
          </p:cNvSpPr>
          <p:nvPr/>
        </p:nvSpPr>
        <p:spPr>
          <a:xfrm>
            <a:off x="6324600" y="3743325"/>
            <a:ext cx="236220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Work / browsing</a:t>
            </a:r>
          </a:p>
        </p:txBody>
      </p:sp>
      <p:sp>
        <p:nvSpPr>
          <p:cNvPr id="19" name="diagram-726">
            <a:extLst>
              <a:ext uri="{FF2B5EF4-FFF2-40B4-BE49-F238E27FC236}">
                <a16:creationId xmlns:a16="http://schemas.microsoft.com/office/drawing/2014/main" id="{F4258F23-E87C-42A4-9D96-0EAF13D1B519}"/>
              </a:ext>
            </a:extLst>
          </p:cNvPr>
          <p:cNvSpPr>
            <a:spLocks noGrp="1"/>
          </p:cNvSpPr>
          <p:nvPr/>
        </p:nvSpPr>
        <p:spPr>
          <a:xfrm>
            <a:off x="9639300" y="2981325"/>
            <a:ext cx="712470" cy="502920"/>
          </a:xfrm>
          <a:prstGeom prst="roundRect">
            <a:avLst>
              <a:gd name="adj" fmla="val 15152"/>
            </a:avLst>
          </a:prstGeom>
          <a:solidFill>
            <a:srgbClr val="FFFFFF"/>
          </a:solidFill>
          <a:ln w="19050">
            <a:solidFill>
              <a:srgbClr val="111111"/>
            </a:solidFill>
          </a:ln>
        </p:spPr>
        <p:txBody>
          <a:bodyPr/>
          <a:lstStyle/>
          <a:p>
            <a:endParaRPr lang="en-US"/>
          </a:p>
        </p:txBody>
      </p:sp>
      <p:sp>
        <p:nvSpPr>
          <p:cNvPr id="20" name="diagram-727">
            <a:extLst>
              <a:ext uri="{FF2B5EF4-FFF2-40B4-BE49-F238E27FC236}">
                <a16:creationId xmlns:a16="http://schemas.microsoft.com/office/drawing/2014/main" id="{F6931E93-35AC-460E-82C3-3E487FD57C15}"/>
              </a:ext>
            </a:extLst>
          </p:cNvPr>
          <p:cNvSpPr>
            <a:spLocks noGrp="1"/>
          </p:cNvSpPr>
          <p:nvPr/>
        </p:nvSpPr>
        <p:spPr>
          <a:xfrm>
            <a:off x="9880283" y="3086100"/>
            <a:ext cx="293370" cy="293370"/>
          </a:xfrm>
          <a:prstGeom prst="ellipse">
            <a:avLst/>
          </a:prstGeom>
          <a:solidFill>
            <a:srgbClr val="F1F4F5"/>
          </a:solidFill>
          <a:ln w="19050">
            <a:solidFill>
              <a:srgbClr val="111111"/>
            </a:solidFill>
          </a:ln>
        </p:spPr>
        <p:txBody>
          <a:bodyPr/>
          <a:lstStyle/>
          <a:p>
            <a:endParaRPr lang="en-US"/>
          </a:p>
        </p:txBody>
      </p:sp>
      <p:sp>
        <p:nvSpPr>
          <p:cNvPr id="21" name="line-728">
            <a:extLst>
              <a:ext uri="{FF2B5EF4-FFF2-40B4-BE49-F238E27FC236}">
                <a16:creationId xmlns:a16="http://schemas.microsoft.com/office/drawing/2014/main" id="{5F47D067-5A4B-41A1-9BD5-BCAFF33D7AE9}"/>
              </a:ext>
            </a:extLst>
          </p:cNvPr>
          <p:cNvSpPr>
            <a:spLocks noGrp="1"/>
          </p:cNvSpPr>
          <p:nvPr/>
        </p:nvSpPr>
        <p:spPr>
          <a:xfrm>
            <a:off x="9848850" y="3484245"/>
            <a:ext cx="83820" cy="157163"/>
          </a:xfrm>
          <a:custGeom>
            <a:avLst/>
            <a:gdLst/>
            <a:ahLst/>
            <a:cxnLst/>
            <a:rect l="0" t="0" r="0" b="0"/>
            <a:pathLst>
              <a:path w="83820" h="157163">
                <a:moveTo>
                  <a:pt x="83820" y="0"/>
                </a:moveTo>
                <a:lnTo>
                  <a:pt x="0" y="157163"/>
                </a:lnTo>
              </a:path>
            </a:pathLst>
          </a:custGeom>
          <a:noFill/>
          <a:ln w="19050">
            <a:solidFill>
              <a:srgbClr val="111111"/>
            </a:solidFill>
          </a:ln>
        </p:spPr>
        <p:txBody>
          <a:bodyPr/>
          <a:lstStyle/>
          <a:p>
            <a:endParaRPr lang="en-US"/>
          </a:p>
        </p:txBody>
      </p:sp>
      <p:sp>
        <p:nvSpPr>
          <p:cNvPr id="22" name="line-729">
            <a:extLst>
              <a:ext uri="{FF2B5EF4-FFF2-40B4-BE49-F238E27FC236}">
                <a16:creationId xmlns:a16="http://schemas.microsoft.com/office/drawing/2014/main" id="{240AFBFB-592E-486F-86BC-B630CFF3A856}"/>
              </a:ext>
            </a:extLst>
          </p:cNvPr>
          <p:cNvSpPr>
            <a:spLocks noGrp="1"/>
          </p:cNvSpPr>
          <p:nvPr/>
        </p:nvSpPr>
        <p:spPr>
          <a:xfrm>
            <a:off x="9744075" y="3641408"/>
            <a:ext cx="471488" cy="9525"/>
          </a:xfrm>
          <a:custGeom>
            <a:avLst/>
            <a:gdLst/>
            <a:ahLst/>
            <a:cxnLst/>
            <a:rect l="0" t="0" r="0" b="0"/>
            <a:pathLst>
              <a:path w="471488" h="9525">
                <a:moveTo>
                  <a:pt x="0" y="0"/>
                </a:moveTo>
                <a:lnTo>
                  <a:pt x="471488" y="0"/>
                </a:lnTo>
              </a:path>
            </a:pathLst>
          </a:custGeom>
          <a:noFill/>
          <a:ln w="19050">
            <a:solidFill>
              <a:srgbClr val="111111"/>
            </a:solidFill>
          </a:ln>
        </p:spPr>
        <p:txBody>
          <a:bodyPr/>
          <a:lstStyle/>
          <a:p>
            <a:endParaRPr lang="en-US"/>
          </a:p>
        </p:txBody>
      </p:sp>
      <p:sp>
        <p:nvSpPr>
          <p:cNvPr id="23" name="diagram-730">
            <a:extLst>
              <a:ext uri="{FF2B5EF4-FFF2-40B4-BE49-F238E27FC236}">
                <a16:creationId xmlns:a16="http://schemas.microsoft.com/office/drawing/2014/main" id="{8C62BAD0-290E-494B-B31E-74E9486F0C58}"/>
              </a:ext>
            </a:extLst>
          </p:cNvPr>
          <p:cNvSpPr>
            <a:spLocks noGrp="1"/>
          </p:cNvSpPr>
          <p:nvPr/>
        </p:nvSpPr>
        <p:spPr>
          <a:xfrm>
            <a:off x="8972550" y="3714750"/>
            <a:ext cx="2045970" cy="523875"/>
          </a:xfrm>
          <a:prstGeom prst="rect">
            <a:avLst/>
          </a:prstGeom>
          <a:noFill/>
          <a:ln w="0">
            <a:noFill/>
          </a:ln>
        </p:spPr>
        <p:txBody>
          <a:bodyPr lIns="0" tIns="0" rIns="0" bIns="0" anchor="t">
            <a:noAutofit/>
          </a:bodyPr>
          <a:lstStyle/>
          <a:p>
            <a:pPr algn="ctr">
              <a:buNone/>
              <a:defRPr sz="1575" b="0">
                <a:solidFill>
                  <a:srgbClr val="111111"/>
                </a:solidFill>
                <a:latin typeface="Aptos"/>
                <a:ea typeface="Aptos"/>
                <a:cs typeface="Aptos"/>
              </a:defRPr>
            </a:pPr>
            <a:r>
              <a:rPr sz="1575" b="0">
                <a:solidFill>
                  <a:srgbClr val="111111"/>
                </a:solidFill>
                <a:latin typeface="Aptos"/>
                <a:ea typeface="Aptos"/>
                <a:cs typeface="Aptos"/>
              </a:rPr>
              <a:t>Camera may stay active</a:t>
            </a:r>
          </a:p>
        </p:txBody>
      </p:sp>
      <p:sp>
        <p:nvSpPr>
          <p:cNvPr id="24" name="line-731">
            <a:extLst>
              <a:ext uri="{FF2B5EF4-FFF2-40B4-BE49-F238E27FC236}">
                <a16:creationId xmlns:a16="http://schemas.microsoft.com/office/drawing/2014/main" id="{63E240CB-9780-4AA1-B6B7-ABC828B8A5CA}"/>
              </a:ext>
            </a:extLst>
          </p:cNvPr>
          <p:cNvSpPr>
            <a:spLocks noGrp="1"/>
          </p:cNvSpPr>
          <p:nvPr/>
        </p:nvSpPr>
        <p:spPr>
          <a:xfrm>
            <a:off x="6096000" y="2000250"/>
            <a:ext cx="9525" cy="2552700"/>
          </a:xfrm>
          <a:custGeom>
            <a:avLst/>
            <a:gdLst/>
            <a:ahLst/>
            <a:cxnLst/>
            <a:rect l="0" t="0" r="0" b="0"/>
            <a:pathLst>
              <a:path w="9525" h="2552700">
                <a:moveTo>
                  <a:pt x="0" y="0"/>
                </a:moveTo>
                <a:lnTo>
                  <a:pt x="0" y="2552700"/>
                </a:lnTo>
              </a:path>
            </a:pathLst>
          </a:custGeom>
          <a:noFill/>
          <a:ln w="9525">
            <a:solidFill>
              <a:srgbClr val="C9CDD0"/>
            </a:solidFill>
          </a:ln>
        </p:spPr>
        <p:txBody>
          <a:bodyPr/>
          <a:lstStyle/>
          <a:p>
            <a:endParaRPr lang="en-US"/>
          </a:p>
        </p:txBody>
      </p:sp>
      <p:sp>
        <p:nvSpPr>
          <p:cNvPr id="25" name="diagram-732">
            <a:extLst>
              <a:ext uri="{FF2B5EF4-FFF2-40B4-BE49-F238E27FC236}">
                <a16:creationId xmlns:a16="http://schemas.microsoft.com/office/drawing/2014/main" id="{369EEF35-1A11-4193-A369-07253AB624AD}"/>
              </a:ext>
            </a:extLst>
          </p:cNvPr>
          <p:cNvSpPr>
            <a:spLocks noGrp="1"/>
          </p:cNvSpPr>
          <p:nvPr/>
        </p:nvSpPr>
        <p:spPr>
          <a:xfrm>
            <a:off x="933450" y="4867275"/>
            <a:ext cx="10382250" cy="381000"/>
          </a:xfrm>
          <a:prstGeom prst="rect">
            <a:avLst/>
          </a:prstGeom>
          <a:noFill/>
          <a:ln w="0">
            <a:noFill/>
          </a:ln>
        </p:spPr>
        <p:txBody>
          <a:bodyPr lIns="0" tIns="0" rIns="0" bIns="0" anchor="t">
            <a:noAutofit/>
          </a:bodyPr>
          <a:lstStyle/>
          <a:p>
            <a:pPr algn="l">
              <a:buNone/>
              <a:defRPr sz="2325" b="1">
                <a:solidFill>
                  <a:srgbClr val="17698C"/>
                </a:solidFill>
                <a:latin typeface="Aptos"/>
                <a:ea typeface="Aptos"/>
                <a:cs typeface="Aptos"/>
              </a:defRPr>
            </a:pPr>
            <a:r>
              <a:rPr sz="2325" b="1">
                <a:solidFill>
                  <a:srgbClr val="17698C"/>
                </a:solidFill>
                <a:latin typeface="Aptos"/>
                <a:ea typeface="Aptos"/>
                <a:cs typeface="Aptos"/>
              </a:rPr>
              <a:t>Forecast a distribution of activity, demand, and spatial state</a:t>
            </a:r>
          </a:p>
        </p:txBody>
      </p:sp>
      <p:sp>
        <p:nvSpPr>
          <p:cNvPr id="26" name="diagram-733">
            <a:extLst>
              <a:ext uri="{FF2B5EF4-FFF2-40B4-BE49-F238E27FC236}">
                <a16:creationId xmlns:a16="http://schemas.microsoft.com/office/drawing/2014/main" id="{AFBE4753-4FF0-4F03-B158-38F601EF7B7C}"/>
              </a:ext>
            </a:extLst>
          </p:cNvPr>
          <p:cNvSpPr>
            <a:spLocks noGrp="1"/>
          </p:cNvSpPr>
          <p:nvPr/>
        </p:nvSpPr>
        <p:spPr>
          <a:xfrm>
            <a:off x="933450" y="5381625"/>
            <a:ext cx="10382250" cy="619125"/>
          </a:xfrm>
          <a:prstGeom prst="rect">
            <a:avLst/>
          </a:prstGeom>
          <a:noFill/>
          <a:ln w="0">
            <a:noFill/>
          </a:ln>
        </p:spPr>
        <p:txBody>
          <a:bodyPr lIns="0" tIns="0" rIns="0" bIns="0" anchor="t">
            <a:noAutofit/>
          </a:bodyPr>
          <a:lstStyle/>
          <a:p>
            <a:pPr algn="l">
              <a:buNone/>
              <a:defRPr sz="1950" b="0">
                <a:solidFill>
                  <a:srgbClr val="111111"/>
                </a:solidFill>
                <a:latin typeface="Aptos"/>
                <a:ea typeface="Aptos"/>
                <a:cs typeface="Aptos"/>
              </a:defRPr>
            </a:pPr>
            <a:r>
              <a:rPr sz="1950" b="0">
                <a:solidFill>
                  <a:srgbClr val="111111"/>
                </a:solidFill>
                <a:latin typeface="Aptos"/>
                <a:ea typeface="Aptos"/>
                <a:cs typeface="Aptos"/>
              </a:rPr>
              <a:t>Use current observations to correct the seasonal prior. Multiple rooms and services can be active together.</a:t>
            </a:r>
          </a:p>
        </p:txBody>
      </p:sp>
      <p:sp>
        <p:nvSpPr>
          <p:cNvPr id="27" name="added-text-111">
            <a:extLst>
              <a:ext uri="{FF2B5EF4-FFF2-40B4-BE49-F238E27FC236}">
                <a16:creationId xmlns:a16="http://schemas.microsoft.com/office/drawing/2014/main" id="{121F467C-56B0-4FD5-91C4-D28F56EA9AD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40</a:t>
            </a:r>
          </a:p>
        </p:txBody>
      </p:sp>
    </p:spTree>
    <p:extLst>
      <p:ext uri="{BB962C8B-B14F-4D97-AF65-F5344CB8AC3E}">
        <p14:creationId xmlns:p14="http://schemas.microsoft.com/office/powerpoint/2010/main" val="29550901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C: seasonal learning</a:t>
            </a:r>
          </a:p>
        </p:txBody>
      </p:sp>
      <p:pic>
        <p:nvPicPr>
          <p:cNvPr id="14" name="Picture 13"/>
          <p:cNvPicPr>
            <a:picLocks noChangeAspect="1"/>
          </p:cNvPicPr>
          <p:nvPr/>
        </p:nvPicPr>
        <p:blipFill>
          <a:blip r:embed="rId3"/>
          <a:stretch/>
        </p:blipFill>
        <p:spPr>
          <a:xfrm>
            <a:off x="933450" y="2019300"/>
            <a:ext cx="3506024" cy="912411"/>
          </a:xfrm>
          <a:prstGeom prst="rect">
            <a:avLst/>
          </a:prstGeom>
        </p:spPr>
      </p:pic>
      <p:pic>
        <p:nvPicPr>
          <p:cNvPr id="15" name="Picture 14"/>
          <p:cNvPicPr>
            <a:picLocks noChangeAspect="1"/>
          </p:cNvPicPr>
          <p:nvPr/>
        </p:nvPicPr>
        <p:blipFill>
          <a:blip r:embed="rId4"/>
          <a:stretch/>
        </p:blipFill>
        <p:spPr>
          <a:xfrm>
            <a:off x="933450" y="3226986"/>
            <a:ext cx="2348614" cy="321034"/>
          </a:xfrm>
          <a:prstGeom prst="rect">
            <a:avLst/>
          </a:prstGeom>
        </p:spPr>
      </p:pic>
      <p:sp>
        <p:nvSpPr>
          <p:cNvPr id="6" name="diagram-734">
            <a:extLst>
              <a:ext uri="{FF2B5EF4-FFF2-40B4-BE49-F238E27FC236}">
                <a16:creationId xmlns:a16="http://schemas.microsoft.com/office/drawing/2014/main" id="{D21CC0DA-F158-4CA0-8006-8F08A300F6CC}"/>
              </a:ext>
            </a:extLst>
          </p:cNvPr>
          <p:cNvSpPr>
            <a:spLocks noGrp="1"/>
          </p:cNvSpPr>
          <p:nvPr/>
        </p:nvSpPr>
        <p:spPr>
          <a:xfrm>
            <a:off x="933450" y="4124325"/>
            <a:ext cx="10287000" cy="2266950"/>
          </a:xfrm>
          <a:prstGeom prst="rect">
            <a:avLst/>
          </a:prstGeom>
          <a:noFill/>
          <a:ln w="0">
            <a:noFill/>
          </a:ln>
        </p:spPr>
        <p:txBody>
          <a:bodyPr lIns="0" tIns="0" rIns="0" bIns="0" anchor="t">
            <a:noAutofit/>
          </a:bodyPr>
          <a:lstStyle/>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Group observations by time band and weekday/weekend. Pool sparse contexts.</a:t>
            </a:r>
          </a:p>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Learn joint activity and demand uncertainty, not just an average traffic vector.</a:t>
            </a:r>
          </a:p>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Keep behavior forecasts separate from current orientation-response estimates.</a:t>
            </a:r>
          </a:p>
          <a:p>
            <a:pPr marL="228600" indent="-165100" algn="l">
              <a:spcAft>
                <a:spcPts val="1100"/>
              </a:spcAft>
              <a:buChar char="•"/>
              <a:defRPr sz="1875" b="0">
                <a:solidFill>
                  <a:srgbClr val="111111"/>
                </a:solidFill>
                <a:latin typeface="Aptos"/>
                <a:ea typeface="Aptos"/>
                <a:cs typeface="Aptos"/>
              </a:defRPr>
            </a:pPr>
            <a:r>
              <a:rPr sz="1875" b="0">
                <a:solidFill>
                  <a:srgbClr val="111111"/>
                </a:solidFill>
                <a:latin typeface="Aptos"/>
                <a:ea typeface="Aptos"/>
                <a:cs typeface="Aptos"/>
              </a:rPr>
              <a:t>Cold start or changed routines: lower confidence and continue Scheme B.</a:t>
            </a:r>
          </a:p>
        </p:txBody>
      </p:sp>
      <p:sp>
        <p:nvSpPr>
          <p:cNvPr id="10" name="added-text-14">
            <a:extLst>
              <a:ext uri="{FF2B5EF4-FFF2-40B4-BE49-F238E27FC236}">
                <a16:creationId xmlns:a16="http://schemas.microsoft.com/office/drawing/2014/main" id="{86F562FE-E931-4EB5-B9D2-060E7F599AE6}"/>
              </a:ext>
            </a:extLst>
          </p:cNvPr>
          <p:cNvSpPr>
            <a:spLocks noGrp="1"/>
          </p:cNvSpPr>
          <p:nvPr/>
        </p:nvSpPr>
        <p:spPr>
          <a:xfrm>
            <a:off x="933450" y="3705225"/>
            <a:ext cx="10287000" cy="371475"/>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E: activity event    c: calendar context    κ: pooling strength    ωr: recency weight</a:t>
            </a:r>
          </a:p>
        </p:txBody>
      </p:sp>
      <p:sp>
        <p:nvSpPr>
          <p:cNvPr id="11" name="added-text-112">
            <a:extLst>
              <a:ext uri="{FF2B5EF4-FFF2-40B4-BE49-F238E27FC236}">
                <a16:creationId xmlns:a16="http://schemas.microsoft.com/office/drawing/2014/main" id="{6FAA9304-8D96-4463-9BA4-0E4F818C94A8}"/>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41</a:t>
            </a:r>
          </a:p>
        </p:txBody>
      </p:sp>
    </p:spTree>
    <p:extLst>
      <p:ext uri="{BB962C8B-B14F-4D97-AF65-F5344CB8AC3E}">
        <p14:creationId xmlns:p14="http://schemas.microsoft.com/office/powerpoint/2010/main" val="2955090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56">
            <a:extLst>
              <a:ext uri="{FF2B5EF4-FFF2-40B4-BE49-F238E27FC236}">
                <a16:creationId xmlns:a16="http://schemas.microsoft.com/office/drawing/2014/main" id="{C1168D3A-288A-4947-A81F-3939C59CF17B}"/>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Seasonal-profile notation</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E, Er, 1{Er}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Activity event; event in record r; indicator equal to 1 if observed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event; 0 or 1</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c, Dc</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Calendar/context bin; valid comparable records in that bin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label; set of records</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P̂(E|c), Ppool(E)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Estimated context probability and broader pooled probability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[0,1]</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κ</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Pooling strength, expressed as prior effective observation weight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 0; weight units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ωr, te, tr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Recency weight, current decision time, past observation time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unitless; time</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Tmemory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Decay time scale controlling how fast older records lose weight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same time unit as te − tr</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e, Af,e, Zi,e, Λf,e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Behavior window; activity flag; spatial state; offered active rate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index; binary; label; bit/s</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R, unknown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Available spatial labels/clusters and explicit missing-state value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set; categorical state</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57">
            <a:extLst>
              <a:ext uri="{FF2B5EF4-FFF2-40B4-BE49-F238E27FC236}">
                <a16:creationId xmlns:a16="http://schemas.microsoft.com/office/drawing/2014/main" id="{21B395E7-A859-461A-B8E8-3630A49F850C}"/>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Here c is a context bin. In the channel equations, c is a complex path gain. These meanings are unrelated.</a:t>
            </a:r>
          </a:p>
        </p:txBody>
      </p:sp>
      <p:sp>
        <p:nvSpPr>
          <p:cNvPr id="4" name="added-text-113">
            <a:extLst>
              <a:ext uri="{FF2B5EF4-FFF2-40B4-BE49-F238E27FC236}">
                <a16:creationId xmlns:a16="http://schemas.microsoft.com/office/drawing/2014/main" id="{0966A824-8211-45EE-A368-B8787E51A93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42</a:t>
            </a:r>
          </a:p>
        </p:txBody>
      </p:sp>
    </p:spTree>
    <p:extLst>
      <p:ext uri="{BB962C8B-B14F-4D97-AF65-F5344CB8AC3E}">
        <p14:creationId xmlns:p14="http://schemas.microsoft.com/office/powerpoint/2010/main" val="12491214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C: predictive objective</a:t>
            </a:r>
          </a:p>
        </p:txBody>
      </p:sp>
      <p:pic>
        <p:nvPicPr>
          <p:cNvPr id="14" name="Picture 13"/>
          <p:cNvPicPr>
            <a:picLocks noChangeAspect="1"/>
          </p:cNvPicPr>
          <p:nvPr/>
        </p:nvPicPr>
        <p:blipFill>
          <a:blip r:embed="rId3"/>
          <a:stretch/>
        </p:blipFill>
        <p:spPr>
          <a:xfrm>
            <a:off x="933450" y="1971675"/>
            <a:ext cx="5736860" cy="620201"/>
          </a:xfrm>
          <a:prstGeom prst="rect">
            <a:avLst/>
          </a:prstGeom>
        </p:spPr>
      </p:pic>
      <p:pic>
        <p:nvPicPr>
          <p:cNvPr id="15" name="Picture 14"/>
          <p:cNvPicPr>
            <a:picLocks noChangeAspect="1"/>
          </p:cNvPicPr>
          <p:nvPr/>
        </p:nvPicPr>
        <p:blipFill>
          <a:blip r:embed="rId4"/>
          <a:stretch/>
        </p:blipFill>
        <p:spPr>
          <a:xfrm>
            <a:off x="933450" y="2906201"/>
            <a:ext cx="3498570" cy="369735"/>
          </a:xfrm>
          <a:prstGeom prst="rect">
            <a:avLst/>
          </a:prstGeom>
        </p:spPr>
      </p:pic>
      <p:sp>
        <p:nvSpPr>
          <p:cNvPr id="6" name="diagram-735">
            <a:extLst>
              <a:ext uri="{FF2B5EF4-FFF2-40B4-BE49-F238E27FC236}">
                <a16:creationId xmlns:a16="http://schemas.microsoft.com/office/drawing/2014/main" id="{E68E9B7B-13B0-44FC-8B6C-D36860838C5B}"/>
              </a:ext>
            </a:extLst>
          </p:cNvPr>
          <p:cNvSpPr>
            <a:spLocks noGrp="1"/>
          </p:cNvSpPr>
          <p:nvPr/>
        </p:nvSpPr>
        <p:spPr>
          <a:xfrm>
            <a:off x="933450" y="4086225"/>
            <a:ext cx="10287000" cy="2305050"/>
          </a:xfrm>
          <a:prstGeom prst="rect">
            <a:avLst/>
          </a:prstGeom>
          <a:noFill/>
          <a:ln w="0">
            <a:noFill/>
          </a:ln>
        </p:spPr>
        <p:txBody>
          <a:bodyPr lIns="0" tIns="0" rIns="0" bIns="0" anchor="t">
            <a:noAutofit/>
          </a:bodyPr>
          <a:lstStyle/>
          <a:p>
            <a:pPr marL="228600" indent="-165100" algn="l">
              <a:spcAft>
                <a:spcPts val="1200"/>
              </a:spcAft>
              <a:buChar char="•"/>
              <a:defRPr sz="1875" b="0">
                <a:solidFill>
                  <a:srgbClr val="111111"/>
                </a:solidFill>
                <a:latin typeface="Aptos"/>
                <a:ea typeface="Aptos"/>
                <a:cs typeface="Aptos"/>
              </a:defRPr>
            </a:pPr>
            <a:r>
              <a:rPr sz="1875" b="0">
                <a:solidFill>
                  <a:srgbClr val="111111"/>
                </a:solidFill>
                <a:latin typeface="Aptos"/>
                <a:ea typeface="Aptos"/>
                <a:cs typeface="Aptos"/>
              </a:rPr>
              <a:t>Score likely joint scenarios over a short horizon, including holding the incumbent.</a:t>
            </a:r>
          </a:p>
          <a:p>
            <a:pPr marL="228600" indent="-165100" algn="l">
              <a:spcAft>
                <a:spcPts val="1200"/>
              </a:spcAft>
              <a:buChar char="•"/>
              <a:defRPr sz="1875" b="0">
                <a:solidFill>
                  <a:srgbClr val="111111"/>
                </a:solidFill>
                <a:latin typeface="Aptos"/>
                <a:ea typeface="Aptos"/>
                <a:cs typeface="Aptos"/>
              </a:defRPr>
            </a:pPr>
            <a:r>
              <a:rPr sz="1875" b="0">
                <a:solidFill>
                  <a:srgbClr val="111111"/>
                </a:solidFill>
                <a:latin typeface="Aptos"/>
                <a:ea typeface="Aptos"/>
                <a:cs typeface="Aptos"/>
              </a:rPr>
              <a:t>Include probe interruption and movement cost once. Revalidate candidate response.</a:t>
            </a:r>
          </a:p>
          <a:p>
            <a:pPr marL="228600" indent="-165100" algn="l">
              <a:spcAft>
                <a:spcPts val="1200"/>
              </a:spcAft>
              <a:buChar char="•"/>
              <a:defRPr sz="1875" b="0">
                <a:solidFill>
                  <a:srgbClr val="111111"/>
                </a:solidFill>
                <a:latin typeface="Aptos"/>
                <a:ea typeface="Aptos"/>
                <a:cs typeface="Aptos"/>
              </a:defRPr>
            </a:pPr>
            <a:r>
              <a:rPr sz="1875" b="0">
                <a:solidFill>
                  <a:srgbClr val="111111"/>
                </a:solidFill>
                <a:latin typeface="Aptos"/>
                <a:ea typeface="Aptos"/>
                <a:cs typeface="Aptos"/>
              </a:rPr>
              <a:t>Require net benefit beyond uncertainty while protecting current critical services.</a:t>
            </a:r>
          </a:p>
          <a:p>
            <a:pPr marL="228600" indent="-165100" algn="l">
              <a:spcAft>
                <a:spcPts val="1200"/>
              </a:spcAft>
              <a:buChar char="•"/>
              <a:defRPr sz="1875" b="0">
                <a:solidFill>
                  <a:srgbClr val="111111"/>
                </a:solidFill>
                <a:latin typeface="Aptos"/>
                <a:ea typeface="Aptos"/>
                <a:cs typeface="Aptos"/>
              </a:defRPr>
            </a:pPr>
            <a:r>
              <a:rPr sz="1875" b="0">
                <a:solidFill>
                  <a:srgbClr val="111111"/>
                </a:solidFill>
                <a:latin typeface="Aptos"/>
                <a:ea typeface="Aptos"/>
                <a:cs typeface="Aptos"/>
              </a:rPr>
              <a:t>Urgent live recovery overrides predictive proposals. Replan after new observations.</a:t>
            </a:r>
          </a:p>
        </p:txBody>
      </p:sp>
      <p:sp>
        <p:nvSpPr>
          <p:cNvPr id="10" name="added-text-15">
            <a:extLst>
              <a:ext uri="{FF2B5EF4-FFF2-40B4-BE49-F238E27FC236}">
                <a16:creationId xmlns:a16="http://schemas.microsoft.com/office/drawing/2014/main" id="{C80A316A-4D66-4FFF-8DEB-670579EF547A}"/>
              </a:ext>
            </a:extLst>
          </p:cNvPr>
          <p:cNvSpPr>
            <a:spLocks noGrp="1"/>
          </p:cNvSpPr>
          <p:nvPr/>
        </p:nvSpPr>
        <p:spPr>
          <a:xfrm>
            <a:off x="933450" y="3324225"/>
            <a:ext cx="10287000" cy="695325"/>
          </a:xfrm>
          <a:prstGeom prst="rect">
            <a:avLst/>
          </a:prstGeom>
          <a:noFill/>
          <a:ln w="0">
            <a:noFill/>
          </a:ln>
        </p:spPr>
        <p:txBody>
          <a:bodyPr lIns="0" tIns="0" rIns="0" bIns="0" anchor="t">
            <a:noAutofit/>
          </a:bodyPr>
          <a:lstStyle/>
          <a:p>
            <a:pPr algn="l">
              <a:defRPr sz="1575" b="0">
                <a:solidFill>
                  <a:srgbClr val="17698C"/>
                </a:solidFill>
                <a:latin typeface="Aptos"/>
                <a:ea typeface="Aptos"/>
                <a:cs typeface="Aptos"/>
              </a:defRPr>
            </a:pPr>
            <a:r>
              <a:rPr sz="1575" b="0">
                <a:solidFill>
                  <a:srgbClr val="17698C"/>
                </a:solidFill>
                <a:latin typeface="Aptos"/>
                <a:ea typeface="Aptos"/>
                <a:cs typeface="Aptos"/>
              </a:rPr>
              <a:t>h: future interval    s: forecast scenario    ps: scenario probability</a:t>
            </a:r>
          </a:p>
          <a:p>
            <a:pPr algn="l">
              <a:defRPr sz="1575" b="0">
                <a:solidFill>
                  <a:srgbClr val="17698C"/>
                </a:solidFill>
                <a:latin typeface="Aptos"/>
                <a:ea typeface="Aptos"/>
                <a:cs typeface="Aptos"/>
              </a:defRPr>
            </a:pPr>
            <a:r>
              <a:rPr sz="1575" b="0">
                <a:solidFill>
                  <a:srgbClr val="17698C"/>
                </a:solidFill>
                <a:latin typeface="Aptos"/>
                <a:ea typeface="Aptos"/>
                <a:cs typeface="Aptos"/>
              </a:rPr>
              <a:t>V̂: expected horizon utility    uV: uncertainty allowance    δpredict: required gain</a:t>
            </a:r>
          </a:p>
        </p:txBody>
      </p:sp>
      <p:sp>
        <p:nvSpPr>
          <p:cNvPr id="11" name="added-text-114">
            <a:extLst>
              <a:ext uri="{FF2B5EF4-FFF2-40B4-BE49-F238E27FC236}">
                <a16:creationId xmlns:a16="http://schemas.microsoft.com/office/drawing/2014/main" id="{C61791DA-79ED-4E38-B991-627188502E92}"/>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43</a:t>
            </a:r>
          </a:p>
        </p:txBody>
      </p:sp>
    </p:spTree>
    <p:extLst>
      <p:ext uri="{BB962C8B-B14F-4D97-AF65-F5344CB8AC3E}">
        <p14:creationId xmlns:p14="http://schemas.microsoft.com/office/powerpoint/2010/main" val="2955090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58">
            <a:extLst>
              <a:ext uri="{FF2B5EF4-FFF2-40B4-BE49-F238E27FC236}">
                <a16:creationId xmlns:a16="http://schemas.microsoft.com/office/drawing/2014/main" id="{83C5E797-C9E1-4DB8-82DC-B8EAE9D39559}"/>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Horizon-utility notation</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h, H, Δth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Future interval index, number of intervals, interval duration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0…H−1; count; s</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s, S, ps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Joint forecast scenario index/count and scenario probability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1…S; Σs ps = 1</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wf,h(s), Tf,h(s)(q)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Policy weight and delivered service rate in scenario s, interval 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unitless; bit/s</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Uf(T)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Chosen utility: T or log(1 + T/rfref)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or unitless</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V̂(q)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Expected utility integrated over the prediction horizon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 or utility-seconds</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Cmech(q0,q)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Mechanical wear/energy penalty converted into objective units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same units as V̂</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uV(q), δpredict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Forecast/response uncertainty allowance and required net-gain margin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same units as V̂</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q0, q, 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Incumbent, proposed candidate, and selected feasible orientation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actuator states</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59">
            <a:extLst>
              <a:ext uri="{FF2B5EF4-FFF2-40B4-BE49-F238E27FC236}">
                <a16:creationId xmlns:a16="http://schemas.microsoft.com/office/drawing/2014/main" id="{004A63C0-F8C9-4C94-B010-80AE983EAA55}"/>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H here is a horizon length. A superscript H in matrix formulas means conjugate transpose.</a:t>
            </a:r>
          </a:p>
        </p:txBody>
      </p:sp>
      <p:sp>
        <p:nvSpPr>
          <p:cNvPr id="4" name="added-text-115">
            <a:extLst>
              <a:ext uri="{FF2B5EF4-FFF2-40B4-BE49-F238E27FC236}">
                <a16:creationId xmlns:a16="http://schemas.microsoft.com/office/drawing/2014/main" id="{7F101033-737E-4014-9CA9-077CE3482F06}"/>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44</a:t>
            </a:r>
          </a:p>
        </p:txBody>
      </p:sp>
    </p:spTree>
    <p:extLst>
      <p:ext uri="{BB962C8B-B14F-4D97-AF65-F5344CB8AC3E}">
        <p14:creationId xmlns:p14="http://schemas.microsoft.com/office/powerpoint/2010/main" val="1525649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dded-text-60">
            <a:extLst>
              <a:ext uri="{FF2B5EF4-FFF2-40B4-BE49-F238E27FC236}">
                <a16:creationId xmlns:a16="http://schemas.microsoft.com/office/drawing/2014/main" id="{4442264A-16F6-4AE1-930A-765928E8D0CF}"/>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Forecasted service terms</a:t>
            </a:r>
          </a:p>
        </p:txBody>
      </p:sp>
      <p:sp>
        <p:nvSpPr>
          <p:cNvPr id="2" name="added-text-61">
            <a:extLst>
              <a:ext uri="{FF2B5EF4-FFF2-40B4-BE49-F238E27FC236}">
                <a16:creationId xmlns:a16="http://schemas.microsoft.com/office/drawing/2014/main" id="{E5927391-F589-4DEC-A3B3-8AB5DEF0D305}"/>
              </a:ext>
            </a:extLst>
          </p:cNvPr>
          <p:cNvSpPr>
            <a:spLocks noGrp="1"/>
          </p:cNvSpPr>
          <p:nvPr/>
        </p:nvSpPr>
        <p:spPr>
          <a:xfrm>
            <a:off x="933450" y="1895475"/>
            <a:ext cx="10287000" cy="333375"/>
          </a:xfrm>
          <a:prstGeom prst="rect">
            <a:avLst/>
          </a:prstGeom>
          <a:noFill/>
          <a:ln w="0">
            <a:noFill/>
          </a:ln>
        </p:spPr>
        <p:txBody>
          <a:bodyPr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For each scenario and future interval:</a:t>
            </a:r>
          </a:p>
        </p:txBody>
      </p:sp>
      <p:sp>
        <p:nvSpPr>
          <p:cNvPr id="3" name="added-text-62">
            <a:extLst>
              <a:ext uri="{FF2B5EF4-FFF2-40B4-BE49-F238E27FC236}">
                <a16:creationId xmlns:a16="http://schemas.microsoft.com/office/drawing/2014/main" id="{6EC396BC-A55F-42A7-B70B-A9BEF909BE12}"/>
              </a:ext>
            </a:extLst>
          </p:cNvPr>
          <p:cNvSpPr>
            <a:spLocks noGrp="1"/>
          </p:cNvSpPr>
          <p:nvPr/>
        </p:nvSpPr>
        <p:spPr>
          <a:xfrm>
            <a:off x="933450" y="2381250"/>
            <a:ext cx="10287000" cy="752475"/>
          </a:xfrm>
          <a:prstGeom prst="rect">
            <a:avLst/>
          </a:prstGeom>
          <a:noFill/>
          <a:ln w="0">
            <a:noFill/>
          </a:ln>
        </p:spPr>
        <p:txBody>
          <a:bodyPr lIns="0" tIns="0" rIns="0" bIns="0" anchor="t">
            <a:noAutofit/>
          </a:bodyPr>
          <a:lstStyle/>
          <a:p>
            <a:pPr algn="l">
              <a:defRPr sz="2100" b="0">
                <a:solidFill>
                  <a:srgbClr val="17698C"/>
                </a:solidFill>
                <a:latin typeface="Aptos"/>
                <a:ea typeface="Aptos"/>
                <a:cs typeface="Aptos"/>
              </a:defRPr>
            </a:pPr>
            <a:r>
              <a:rPr sz="2100" b="0">
                <a:solidFill>
                  <a:srgbClr val="17698C"/>
                </a:solidFill>
                <a:latin typeface="Aptos"/>
                <a:ea typeface="Aptos"/>
                <a:cs typeface="Aptos"/>
              </a:rPr>
              <a:t>delivered rate = activity × min{offered demand, usable fraction × airtime × link rate}</a:t>
            </a:r>
          </a:p>
        </p:txBody>
      </p:sp>
      <p:graphicFrame>
        <p:nvGraphicFramePr>
          <p:cNvPr id="10" name="Table 9"/>
          <p:cNvGraphicFramePr/>
          <p:nvPr/>
        </p:nvGraphicFramePr>
        <p:xfrm>
          <a:off x="933450" y="3352800"/>
          <a:ext cx="10382250" cy="262763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412750">
                <a:tc>
                  <a:txBody>
                    <a:bodyPr/>
                    <a:lstStyle/>
                    <a:p>
                      <a:r>
                        <a:rPr sz="1725"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725"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412750">
                <a:tc>
                  <a:txBody>
                    <a:bodyPr/>
                    <a:lstStyle/>
                    <a:p>
                      <a:r>
                        <a:rPr sz="1725" b="1">
                          <a:solidFill>
                            <a:srgbClr val="111111"/>
                          </a:solidFill>
                          <a:latin typeface="Aptos"/>
                          <a:ea typeface="Aptos"/>
                          <a:cs typeface="Aptos"/>
                        </a:rPr>
                        <a:t>Af,h(s)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Predicted service activity flag</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0 or 1</a:t>
                      </a:r>
                    </a:p>
                  </a:txBody>
                  <a:tcPr marL="85725" marR="85725" marT="19050" marB="19050" anchor="ctr">
                    <a:solidFill>
                      <a:srgbClr val="FFFFFF"/>
                    </a:solidFill>
                  </a:tcPr>
                </a:tc>
                <a:extLst>
                  <a:ext uri="{0D108BD9-81ED-4DB2-BD59-A6C34878D82A}">
                    <a16:rowId xmlns:a16="http://schemas.microsoft.com/office/drawing/2014/main" val="10001"/>
                  </a:ext>
                </a:extLst>
              </a:tr>
              <a:tr h="412750">
                <a:tc>
                  <a:txBody>
                    <a:bodyPr/>
                    <a:lstStyle/>
                    <a:p>
                      <a:r>
                        <a:rPr sz="1725" b="1">
                          <a:solidFill>
                            <a:srgbClr val="111111"/>
                          </a:solidFill>
                          <a:latin typeface="Aptos"/>
                          <a:ea typeface="Aptos"/>
                          <a:cs typeface="Aptos"/>
                        </a:rPr>
                        <a:t>Λf,h(s)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Offered rate when active</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bit/s</a:t>
                      </a:r>
                    </a:p>
                  </a:txBody>
                  <a:tcPr marL="85725" marR="85725" marT="19050" marB="19050" anchor="ctr">
                    <a:solidFill>
                      <a:srgbClr val="FFFFFF"/>
                    </a:solidFill>
                  </a:tcPr>
                </a:tc>
                <a:extLst>
                  <a:ext uri="{0D108BD9-81ED-4DB2-BD59-A6C34878D82A}">
                    <a16:rowId xmlns:a16="http://schemas.microsoft.com/office/drawing/2014/main" val="10002"/>
                  </a:ext>
                </a:extLst>
              </a:tr>
              <a:tr h="412750">
                <a:tc>
                  <a:txBody>
                    <a:bodyPr/>
                    <a:lstStyle/>
                    <a:p>
                      <a:r>
                        <a:rPr sz="1725" b="1">
                          <a:solidFill>
                            <a:srgbClr val="111111"/>
                          </a:solidFill>
                          <a:latin typeface="Aptos"/>
                          <a:ea typeface="Aptos"/>
                          <a:cs typeface="Aptos"/>
                        </a:rPr>
                        <a:t>ζh(q0,q)</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Usable fraction after planned probe, motion and settling</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[0,1]</a:t>
                      </a:r>
                    </a:p>
                  </a:txBody>
                  <a:tcPr marL="85725" marR="85725" marT="19050" marB="19050" anchor="ctr">
                    <a:solidFill>
                      <a:srgbClr val="FFFFFF"/>
                    </a:solidFill>
                  </a:tcPr>
                </a:tc>
                <a:extLst>
                  <a:ext uri="{0D108BD9-81ED-4DB2-BD59-A6C34878D82A}">
                    <a16:rowId xmlns:a16="http://schemas.microsoft.com/office/drawing/2014/main" val="10003"/>
                  </a:ext>
                </a:extLst>
              </a:tr>
              <a:tr h="412750">
                <a:tc>
                  <a:txBody>
                    <a:bodyPr/>
                    <a:lstStyle/>
                    <a:p>
                      <a:r>
                        <a:rPr sz="1725" b="1">
                          <a:solidFill>
                            <a:srgbClr val="111111"/>
                          </a:solidFill>
                          <a:latin typeface="Aptos"/>
                          <a:ea typeface="Aptos"/>
                          <a:cs typeface="Aptos"/>
                        </a:rPr>
                        <a:t>af,h(s)</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Share of usable data airtime given to service f</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[0,1]; total ≤ 1</a:t>
                      </a:r>
                    </a:p>
                  </a:txBody>
                  <a:tcPr marL="85725" marR="85725" marT="19050" marB="19050" anchor="ctr">
                    <a:solidFill>
                      <a:srgbClr val="FFFFFF"/>
                    </a:solidFill>
                  </a:tcPr>
                </a:tc>
                <a:extLst>
                  <a:ext uri="{0D108BD9-81ED-4DB2-BD59-A6C34878D82A}">
                    <a16:rowId xmlns:a16="http://schemas.microsoft.com/office/drawing/2014/main" val="10004"/>
                  </a:ext>
                </a:extLst>
              </a:tr>
              <a:tr h="412750">
                <a:tc>
                  <a:txBody>
                    <a:bodyPr/>
                    <a:lstStyle/>
                    <a:p>
                      <a:r>
                        <a:rPr sz="1725" b="1">
                          <a:solidFill>
                            <a:srgbClr val="111111"/>
                          </a:solidFill>
                          <a:latin typeface="Aptos"/>
                          <a:ea typeface="Aptos"/>
                          <a:cs typeface="Aptos"/>
                        </a:rPr>
                        <a:t>Ci(f),h(s)(q)</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Response-model payload rate for client carrying service f</a:t>
                      </a:r>
                    </a:p>
                  </a:txBody>
                  <a:tcPr marL="85725" marR="85725" marT="19050" marB="19050" anchor="ctr">
                    <a:solidFill>
                      <a:srgbClr val="FFFFFF"/>
                    </a:solidFill>
                  </a:tcPr>
                </a:tc>
                <a:tc>
                  <a:txBody>
                    <a:bodyPr/>
                    <a:lstStyle/>
                    <a:p>
                      <a:r>
                        <a:rPr sz="1725" b="0">
                          <a:solidFill>
                            <a:srgbClr val="111111"/>
                          </a:solidFill>
                          <a:latin typeface="Aptos"/>
                          <a:ea typeface="Aptos"/>
                          <a:cs typeface="Aptos"/>
                        </a:rPr>
                        <a:t>bit/s of allocated airtime</a:t>
                      </a:r>
                    </a:p>
                  </a:txBody>
                  <a:tcPr marL="85725" marR="85725"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5" name="added-text-63">
            <a:extLst>
              <a:ext uri="{FF2B5EF4-FFF2-40B4-BE49-F238E27FC236}">
                <a16:creationId xmlns:a16="http://schemas.microsoft.com/office/drawing/2014/main" id="{1BC96C1F-77F3-4A75-BE48-41F253C89E56}"/>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This rate approximation needs queue evolution when backlog carries across intervals. Count lost airtime only once.</a:t>
            </a:r>
          </a:p>
        </p:txBody>
      </p:sp>
      <p:sp>
        <p:nvSpPr>
          <p:cNvPr id="6" name="added-text-116">
            <a:extLst>
              <a:ext uri="{FF2B5EF4-FFF2-40B4-BE49-F238E27FC236}">
                <a16:creationId xmlns:a16="http://schemas.microsoft.com/office/drawing/2014/main" id="{4961E68D-5946-4B96-A44F-5F32BA697BA1}"/>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45</a:t>
            </a:r>
          </a:p>
        </p:txBody>
      </p:sp>
    </p:spTree>
    <p:extLst>
      <p:ext uri="{BB962C8B-B14F-4D97-AF65-F5344CB8AC3E}">
        <p14:creationId xmlns:p14="http://schemas.microsoft.com/office/powerpoint/2010/main" val="1190792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C: predictive pseudocode</a:t>
            </a:r>
          </a:p>
        </p:txBody>
      </p:sp>
      <p:sp>
        <p:nvSpPr>
          <p:cNvPr id="4" name="diagram-736">
            <a:extLst>
              <a:ext uri="{FF2B5EF4-FFF2-40B4-BE49-F238E27FC236}">
                <a16:creationId xmlns:a16="http://schemas.microsoft.com/office/drawing/2014/main" id="{C33F6FEB-216B-46CE-8BD5-331D0DC6C82D}"/>
              </a:ext>
            </a:extLst>
          </p:cNvPr>
          <p:cNvSpPr>
            <a:spLocks noGrp="1"/>
          </p:cNvSpPr>
          <p:nvPr/>
        </p:nvSpPr>
        <p:spPr>
          <a:xfrm>
            <a:off x="933450" y="1990725"/>
            <a:ext cx="10477500" cy="3962400"/>
          </a:xfrm>
          <a:prstGeom prst="rect">
            <a:avLst/>
          </a:prstGeom>
          <a:noFill/>
          <a:ln w="0">
            <a:noFill/>
          </a:ln>
        </p:spPr>
        <p:txBody>
          <a:bodyPr lIns="0" tIns="0" rIns="0" bIns="0" anchor="t">
            <a:noAutofit/>
          </a:bodyPr>
          <a:lstStyle/>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PREDICTIVE_CONTROLLER():</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update models from newly completed observations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urgent current-service failure: return Scheme B recovery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forecast or response support is weak: return Scheme B</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forecast joint activity, demand, and spatial scenarios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build incumbent + contextual + global coverage candidates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score horizon utility after interruption and movement cost</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if conservative net-gain margin passes: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probe proposal within shared budget</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check present-service guards and forecast validity</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commit, confirm, and retain recovery options</a:t>
            </a:r>
          </a:p>
          <a:p>
            <a:pPr algn="l">
              <a:buNone/>
              <a:defRPr sz="1725" b="0">
                <a:solidFill>
                  <a:srgbClr val="111111"/>
                </a:solidFill>
                <a:latin typeface="Consolas"/>
                <a:ea typeface="Consolas"/>
                <a:cs typeface="Consolas"/>
              </a:defRPr>
            </a:pPr>
            <a:r>
              <a:rPr sz="1725" b="0">
                <a:solidFill>
                  <a:srgbClr val="111111"/>
                </a:solidFill>
                <a:latin typeface="Consolas"/>
                <a:ea typeface="Consolas"/>
                <a:cs typeface="Consolas"/>
              </a:rPr>
              <a:t>  continue global checks; log forecasts and actual outcomes</a:t>
            </a:r>
          </a:p>
        </p:txBody>
      </p:sp>
      <p:sp>
        <p:nvSpPr>
          <p:cNvPr id="5" name="diagram-737">
            <a:extLst>
              <a:ext uri="{FF2B5EF4-FFF2-40B4-BE49-F238E27FC236}">
                <a16:creationId xmlns:a16="http://schemas.microsoft.com/office/drawing/2014/main" id="{1E90E9A1-3159-4546-9DF8-BA5F65E2EB89}"/>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First use prediction to rank probes. Enable advance moves only after validating forecast and response quality.</a:t>
            </a:r>
          </a:p>
        </p:txBody>
      </p:sp>
      <p:sp>
        <p:nvSpPr>
          <p:cNvPr id="6" name="added-text-117">
            <a:extLst>
              <a:ext uri="{FF2B5EF4-FFF2-40B4-BE49-F238E27FC236}">
                <a16:creationId xmlns:a16="http://schemas.microsoft.com/office/drawing/2014/main" id="{43294050-C942-4A62-9502-AEDBF9C02924}"/>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46</a:t>
            </a:r>
          </a:p>
        </p:txBody>
      </p:sp>
    </p:spTree>
    <p:extLst>
      <p:ext uri="{BB962C8B-B14F-4D97-AF65-F5344CB8AC3E}">
        <p14:creationId xmlns:p14="http://schemas.microsoft.com/office/powerpoint/2010/main" val="29550901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64">
            <a:extLst>
              <a:ext uri="{FF2B5EF4-FFF2-40B4-BE49-F238E27FC236}">
                <a16:creationId xmlns:a16="http://schemas.microsoft.com/office/drawing/2014/main" id="{36FEEF6E-5AEC-4362-8260-83DFE70BA4E3}"/>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III. Predictive acceptance gates</a:t>
            </a:r>
          </a:p>
        </p:txBody>
      </p:sp>
      <p:sp>
        <p:nvSpPr>
          <p:cNvPr id="2" name="added-text-65">
            <a:extLst>
              <a:ext uri="{FF2B5EF4-FFF2-40B4-BE49-F238E27FC236}">
                <a16:creationId xmlns:a16="http://schemas.microsoft.com/office/drawing/2014/main" id="{B69F2FD6-C64F-429F-89CE-CA92C7F49838}"/>
              </a:ext>
            </a:extLst>
          </p:cNvPr>
          <p:cNvSpPr>
            <a:spLocks noGrp="1"/>
          </p:cNvSpPr>
          <p:nvPr/>
        </p:nvSpPr>
        <p:spPr>
          <a:xfrm>
            <a:off x="933450" y="1971675"/>
            <a:ext cx="10287000" cy="4095750"/>
          </a:xfrm>
          <a:prstGeom prst="rect">
            <a:avLst/>
          </a:prstGeom>
          <a:noFill/>
          <a:ln w="0">
            <a:noFill/>
          </a:ln>
        </p:spPr>
        <p:txBody>
          <a:bodyPr lIns="0" tIns="0" rIns="0" bIns="0" anchor="t">
            <a:noAutofit/>
          </a:bodyPr>
          <a:lstStyle/>
          <a:p>
            <a:pPr marL="228600" indent="-165100" algn="l">
              <a:spcAft>
                <a:spcPts val="1800"/>
              </a:spcAft>
              <a:buChar char="•"/>
              <a:defRPr sz="2025" b="0">
                <a:solidFill>
                  <a:srgbClr val="111111"/>
                </a:solidFill>
                <a:latin typeface="Aptos"/>
                <a:ea typeface="Aptos"/>
                <a:cs typeface="Aptos"/>
              </a:defRPr>
            </a:pPr>
            <a:r>
              <a:rPr sz="2025" b="0">
                <a:solidFill>
                  <a:srgbClr val="111111"/>
                </a:solidFill>
                <a:latin typeface="Aptos"/>
                <a:ea typeface="Aptos"/>
                <a:cs typeface="Aptos"/>
              </a:rPr>
              <a:t>Behavior support: the context has enough independent history and calibrated uncertainty.</a:t>
            </a:r>
          </a:p>
          <a:p>
            <a:pPr marL="228600" indent="-165100" algn="l">
              <a:spcAft>
                <a:spcPts val="1800"/>
              </a:spcAft>
              <a:buChar char="•"/>
              <a:defRPr sz="2025" b="0">
                <a:solidFill>
                  <a:srgbClr val="111111"/>
                </a:solidFill>
                <a:latin typeface="Aptos"/>
                <a:ea typeface="Aptos"/>
                <a:cs typeface="Aptos"/>
              </a:defRPr>
            </a:pPr>
            <a:r>
              <a:rPr sz="2025" b="0">
                <a:solidFill>
                  <a:srgbClr val="111111"/>
                </a:solidFill>
                <a:latin typeface="Aptos"/>
                <a:ea typeface="Aptos"/>
                <a:cs typeface="Aptos"/>
              </a:rPr>
              <a:t>Response support: fresh channel/probe evidence supports the candidate’s predicted service rates.</a:t>
            </a:r>
          </a:p>
          <a:p>
            <a:pPr marL="228600" indent="-165100" algn="l">
              <a:spcAft>
                <a:spcPts val="1800"/>
              </a:spcAft>
              <a:buChar char="•"/>
              <a:defRPr sz="2025" b="0">
                <a:solidFill>
                  <a:srgbClr val="111111"/>
                </a:solidFill>
                <a:latin typeface="Aptos"/>
                <a:ea typeface="Aptos"/>
                <a:cs typeface="Aptos"/>
              </a:defRPr>
            </a:pPr>
            <a:r>
              <a:rPr sz="2025" b="0">
                <a:solidFill>
                  <a:srgbClr val="111111"/>
                </a:solidFill>
                <a:latin typeface="Aptos"/>
                <a:ea typeface="Aptos"/>
                <a:cs typeface="Aptos"/>
              </a:rPr>
              <a:t>Current-service guard: active critical rates and delay requirements remain satisfied.</a:t>
            </a:r>
          </a:p>
          <a:p>
            <a:pPr marL="228600" indent="-165100" algn="l">
              <a:spcAft>
                <a:spcPts val="1800"/>
              </a:spcAft>
              <a:buChar char="•"/>
              <a:defRPr sz="2025" b="0">
                <a:solidFill>
                  <a:srgbClr val="111111"/>
                </a:solidFill>
                <a:latin typeface="Aptos"/>
                <a:ea typeface="Aptos"/>
                <a:cs typeface="Aptos"/>
              </a:defRPr>
            </a:pPr>
            <a:r>
              <a:rPr sz="2025" b="0">
                <a:solidFill>
                  <a:srgbClr val="111111"/>
                </a:solidFill>
                <a:latin typeface="Aptos"/>
                <a:ea typeface="Aptos"/>
                <a:cs typeface="Aptos"/>
              </a:rPr>
              <a:t>Future-value gate: expected horizon gain exceeds uncertainty and the configured margin.</a:t>
            </a:r>
          </a:p>
          <a:p>
            <a:pPr marL="228600" indent="-165100" algn="l">
              <a:spcAft>
                <a:spcPts val="1800"/>
              </a:spcAft>
              <a:buChar char="•"/>
              <a:defRPr sz="2025" b="0">
                <a:solidFill>
                  <a:srgbClr val="111111"/>
                </a:solidFill>
                <a:latin typeface="Aptos"/>
                <a:ea typeface="Aptos"/>
                <a:cs typeface="Aptos"/>
              </a:defRPr>
            </a:pPr>
            <a:r>
              <a:rPr sz="2025" b="0">
                <a:solidFill>
                  <a:srgbClr val="111111"/>
                </a:solidFill>
                <a:latin typeface="Aptos"/>
                <a:ea typeface="Aptos"/>
                <a:cs typeface="Aptos"/>
              </a:rPr>
              <a:t>Execution guard: one actuator controller enforces the shared budget, confirmation and recovery.</a:t>
            </a:r>
          </a:p>
        </p:txBody>
      </p:sp>
      <p:sp>
        <p:nvSpPr>
          <p:cNvPr id="3" name="added-text-66">
            <a:extLst>
              <a:ext uri="{FF2B5EF4-FFF2-40B4-BE49-F238E27FC236}">
                <a16:creationId xmlns:a16="http://schemas.microsoft.com/office/drawing/2014/main" id="{50152AAB-612C-4530-9D36-8A63642B8AE2}"/>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 useful advance move can have a temporary noncritical loss. It needs explicit permission from the control policy.</a:t>
            </a:r>
          </a:p>
        </p:txBody>
      </p:sp>
      <p:sp>
        <p:nvSpPr>
          <p:cNvPr id="4" name="added-text-118">
            <a:extLst>
              <a:ext uri="{FF2B5EF4-FFF2-40B4-BE49-F238E27FC236}">
                <a16:creationId xmlns:a16="http://schemas.microsoft.com/office/drawing/2014/main" id="{3037C29B-A27A-48A9-86D1-2FAD68FFD6EB}"/>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47</a:t>
            </a:r>
          </a:p>
        </p:txBody>
      </p:sp>
    </p:spTree>
    <p:extLst>
      <p:ext uri="{BB962C8B-B14F-4D97-AF65-F5344CB8AC3E}">
        <p14:creationId xmlns:p14="http://schemas.microsoft.com/office/powerpoint/2010/main" val="15455709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Controller architecture</a:t>
            </a:r>
          </a:p>
        </p:txBody>
      </p:sp>
      <p:sp>
        <p:nvSpPr>
          <p:cNvPr id="4" name="diagram-738">
            <a:extLst>
              <a:ext uri="{FF2B5EF4-FFF2-40B4-BE49-F238E27FC236}">
                <a16:creationId xmlns:a16="http://schemas.microsoft.com/office/drawing/2014/main" id="{187949DA-3D52-467C-A85A-E5FDA8A41940}"/>
              </a:ext>
            </a:extLst>
          </p:cNvPr>
          <p:cNvSpPr>
            <a:spLocks noGrp="1"/>
          </p:cNvSpPr>
          <p:nvPr/>
        </p:nvSpPr>
        <p:spPr>
          <a:xfrm>
            <a:off x="933450" y="2028825"/>
            <a:ext cx="2667000" cy="609600"/>
          </a:xfrm>
          <a:prstGeom prst="rect">
            <a:avLst/>
          </a:prstGeom>
          <a:solidFill>
            <a:srgbClr val="FFFFFF"/>
          </a:solidFill>
          <a:ln w="19050">
            <a:solidFill>
              <a:srgbClr val="111111"/>
            </a:solidFill>
          </a:ln>
        </p:spPr>
        <p:txBody>
          <a:bodyPr/>
          <a:lstStyle/>
          <a:p>
            <a:endParaRPr lang="en-US"/>
          </a:p>
        </p:txBody>
      </p:sp>
      <p:sp>
        <p:nvSpPr>
          <p:cNvPr id="5" name="diagram-739">
            <a:extLst>
              <a:ext uri="{FF2B5EF4-FFF2-40B4-BE49-F238E27FC236}">
                <a16:creationId xmlns:a16="http://schemas.microsoft.com/office/drawing/2014/main" id="{E9951368-FF7D-47CB-A102-2E821F8BC0C8}"/>
              </a:ext>
            </a:extLst>
          </p:cNvPr>
          <p:cNvSpPr>
            <a:spLocks noGrp="1"/>
          </p:cNvSpPr>
          <p:nvPr/>
        </p:nvSpPr>
        <p:spPr>
          <a:xfrm>
            <a:off x="1009650" y="2143125"/>
            <a:ext cx="25146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History + calendar</a:t>
            </a:r>
          </a:p>
        </p:txBody>
      </p:sp>
      <p:sp>
        <p:nvSpPr>
          <p:cNvPr id="6" name="diagram-740">
            <a:extLst>
              <a:ext uri="{FF2B5EF4-FFF2-40B4-BE49-F238E27FC236}">
                <a16:creationId xmlns:a16="http://schemas.microsoft.com/office/drawing/2014/main" id="{ED7293F6-2482-4BD5-BF55-0FB83EC78EC5}"/>
              </a:ext>
            </a:extLst>
          </p:cNvPr>
          <p:cNvSpPr>
            <a:spLocks noGrp="1"/>
          </p:cNvSpPr>
          <p:nvPr/>
        </p:nvSpPr>
        <p:spPr>
          <a:xfrm>
            <a:off x="4505325" y="2028825"/>
            <a:ext cx="2667000" cy="609600"/>
          </a:xfrm>
          <a:prstGeom prst="rect">
            <a:avLst/>
          </a:prstGeom>
          <a:solidFill>
            <a:srgbClr val="FFFFFF"/>
          </a:solidFill>
          <a:ln w="19050">
            <a:solidFill>
              <a:srgbClr val="111111"/>
            </a:solidFill>
          </a:ln>
        </p:spPr>
        <p:txBody>
          <a:bodyPr/>
          <a:lstStyle/>
          <a:p>
            <a:endParaRPr lang="en-US"/>
          </a:p>
        </p:txBody>
      </p:sp>
      <p:sp>
        <p:nvSpPr>
          <p:cNvPr id="7" name="diagram-741">
            <a:extLst>
              <a:ext uri="{FF2B5EF4-FFF2-40B4-BE49-F238E27FC236}">
                <a16:creationId xmlns:a16="http://schemas.microsoft.com/office/drawing/2014/main" id="{F63FCFEA-BEBC-4F2D-A026-A69C5827F8C7}"/>
              </a:ext>
            </a:extLst>
          </p:cNvPr>
          <p:cNvSpPr>
            <a:spLocks noGrp="1"/>
          </p:cNvSpPr>
          <p:nvPr/>
        </p:nvSpPr>
        <p:spPr>
          <a:xfrm>
            <a:off x="4581525" y="2143125"/>
            <a:ext cx="25146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Usage forecast</a:t>
            </a:r>
          </a:p>
        </p:txBody>
      </p:sp>
      <p:sp>
        <p:nvSpPr>
          <p:cNvPr id="8" name="diagram-742">
            <a:extLst>
              <a:ext uri="{FF2B5EF4-FFF2-40B4-BE49-F238E27FC236}">
                <a16:creationId xmlns:a16="http://schemas.microsoft.com/office/drawing/2014/main" id="{75ADA4D5-197D-49E1-A9A0-EE38124CEA6C}"/>
              </a:ext>
            </a:extLst>
          </p:cNvPr>
          <p:cNvSpPr>
            <a:spLocks noGrp="1"/>
          </p:cNvSpPr>
          <p:nvPr/>
        </p:nvSpPr>
        <p:spPr>
          <a:xfrm>
            <a:off x="8229600" y="2028825"/>
            <a:ext cx="3019425" cy="609600"/>
          </a:xfrm>
          <a:prstGeom prst="rect">
            <a:avLst/>
          </a:prstGeom>
          <a:solidFill>
            <a:srgbClr val="FFFFFF"/>
          </a:solidFill>
          <a:ln w="19050">
            <a:solidFill>
              <a:srgbClr val="111111"/>
            </a:solidFill>
          </a:ln>
        </p:spPr>
        <p:txBody>
          <a:bodyPr/>
          <a:lstStyle/>
          <a:p>
            <a:endParaRPr lang="en-US"/>
          </a:p>
        </p:txBody>
      </p:sp>
      <p:sp>
        <p:nvSpPr>
          <p:cNvPr id="9" name="diagram-743">
            <a:extLst>
              <a:ext uri="{FF2B5EF4-FFF2-40B4-BE49-F238E27FC236}">
                <a16:creationId xmlns:a16="http://schemas.microsoft.com/office/drawing/2014/main" id="{12E63FE4-395C-405B-B568-A276CBB1EBBE}"/>
              </a:ext>
            </a:extLst>
          </p:cNvPr>
          <p:cNvSpPr>
            <a:spLocks noGrp="1"/>
          </p:cNvSpPr>
          <p:nvPr/>
        </p:nvSpPr>
        <p:spPr>
          <a:xfrm>
            <a:off x="8305800" y="2143125"/>
            <a:ext cx="2867025"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Candidate planner</a:t>
            </a:r>
          </a:p>
        </p:txBody>
      </p:sp>
      <p:sp>
        <p:nvSpPr>
          <p:cNvPr id="10" name="line-744">
            <a:extLst>
              <a:ext uri="{FF2B5EF4-FFF2-40B4-BE49-F238E27FC236}">
                <a16:creationId xmlns:a16="http://schemas.microsoft.com/office/drawing/2014/main" id="{DD8D69D0-4ABD-443D-9FCA-8C5DBC46638B}"/>
              </a:ext>
            </a:extLst>
          </p:cNvPr>
          <p:cNvSpPr>
            <a:spLocks noGrp="1"/>
          </p:cNvSpPr>
          <p:nvPr/>
        </p:nvSpPr>
        <p:spPr>
          <a:xfrm>
            <a:off x="3667125" y="2333625"/>
            <a:ext cx="762000" cy="9525"/>
          </a:xfrm>
          <a:custGeom>
            <a:avLst/>
            <a:gdLst/>
            <a:ahLst/>
            <a:cxnLst/>
            <a:rect l="0" t="0" r="0" b="0"/>
            <a:pathLst>
              <a:path w="762000" h="9525">
                <a:moveTo>
                  <a:pt x="0" y="0"/>
                </a:moveTo>
                <a:lnTo>
                  <a:pt x="762000" y="0"/>
                </a:lnTo>
              </a:path>
            </a:pathLst>
          </a:custGeom>
          <a:noFill/>
          <a:ln w="23813">
            <a:solidFill>
              <a:srgbClr val="17698C"/>
            </a:solidFill>
          </a:ln>
        </p:spPr>
        <p:txBody>
          <a:bodyPr/>
          <a:lstStyle/>
          <a:p>
            <a:endParaRPr lang="en-US"/>
          </a:p>
        </p:txBody>
      </p:sp>
      <p:sp>
        <p:nvSpPr>
          <p:cNvPr id="11" name="line-745">
            <a:extLst>
              <a:ext uri="{FF2B5EF4-FFF2-40B4-BE49-F238E27FC236}">
                <a16:creationId xmlns:a16="http://schemas.microsoft.com/office/drawing/2014/main" id="{1D91F60E-C765-467D-8AB7-D4F549E18FE4}"/>
              </a:ext>
            </a:extLst>
          </p:cNvPr>
          <p:cNvSpPr>
            <a:spLocks noGrp="1"/>
          </p:cNvSpPr>
          <p:nvPr/>
        </p:nvSpPr>
        <p:spPr>
          <a:xfrm>
            <a:off x="4343357" y="233362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2" name="line-746">
            <a:extLst>
              <a:ext uri="{FF2B5EF4-FFF2-40B4-BE49-F238E27FC236}">
                <a16:creationId xmlns:a16="http://schemas.microsoft.com/office/drawing/2014/main" id="{D4D4A9D4-506A-4E80-BA0B-320DB38E7B30}"/>
              </a:ext>
            </a:extLst>
          </p:cNvPr>
          <p:cNvSpPr>
            <a:spLocks noGrp="1"/>
          </p:cNvSpPr>
          <p:nvPr/>
        </p:nvSpPr>
        <p:spPr>
          <a:xfrm>
            <a:off x="4343357" y="229219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3" name="line-747">
            <a:extLst>
              <a:ext uri="{FF2B5EF4-FFF2-40B4-BE49-F238E27FC236}">
                <a16:creationId xmlns:a16="http://schemas.microsoft.com/office/drawing/2014/main" id="{851A97F0-CEC1-497F-AC37-B05ED64D7ADE}"/>
              </a:ext>
            </a:extLst>
          </p:cNvPr>
          <p:cNvSpPr>
            <a:spLocks noGrp="1"/>
          </p:cNvSpPr>
          <p:nvPr/>
        </p:nvSpPr>
        <p:spPr>
          <a:xfrm>
            <a:off x="7239000" y="2333625"/>
            <a:ext cx="914400" cy="9525"/>
          </a:xfrm>
          <a:custGeom>
            <a:avLst/>
            <a:gdLst/>
            <a:ahLst/>
            <a:cxnLst/>
            <a:rect l="0" t="0" r="0" b="0"/>
            <a:pathLst>
              <a:path w="914400" h="9525">
                <a:moveTo>
                  <a:pt x="0" y="0"/>
                </a:moveTo>
                <a:lnTo>
                  <a:pt x="914400" y="0"/>
                </a:lnTo>
              </a:path>
            </a:pathLst>
          </a:custGeom>
          <a:noFill/>
          <a:ln w="23813">
            <a:solidFill>
              <a:srgbClr val="17698C"/>
            </a:solidFill>
          </a:ln>
        </p:spPr>
        <p:txBody>
          <a:bodyPr/>
          <a:lstStyle/>
          <a:p>
            <a:endParaRPr lang="en-US"/>
          </a:p>
        </p:txBody>
      </p:sp>
      <p:sp>
        <p:nvSpPr>
          <p:cNvPr id="14" name="line-748">
            <a:extLst>
              <a:ext uri="{FF2B5EF4-FFF2-40B4-BE49-F238E27FC236}">
                <a16:creationId xmlns:a16="http://schemas.microsoft.com/office/drawing/2014/main" id="{7C6B79AD-06CD-4FFA-AA28-62956A3CD070}"/>
              </a:ext>
            </a:extLst>
          </p:cNvPr>
          <p:cNvSpPr>
            <a:spLocks noGrp="1"/>
          </p:cNvSpPr>
          <p:nvPr/>
        </p:nvSpPr>
        <p:spPr>
          <a:xfrm>
            <a:off x="8067632" y="233362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15" name="line-749">
            <a:extLst>
              <a:ext uri="{FF2B5EF4-FFF2-40B4-BE49-F238E27FC236}">
                <a16:creationId xmlns:a16="http://schemas.microsoft.com/office/drawing/2014/main" id="{DBEFEA7F-6C95-4A7F-8CE7-2297D41DB616}"/>
              </a:ext>
            </a:extLst>
          </p:cNvPr>
          <p:cNvSpPr>
            <a:spLocks noGrp="1"/>
          </p:cNvSpPr>
          <p:nvPr/>
        </p:nvSpPr>
        <p:spPr>
          <a:xfrm>
            <a:off x="8067632" y="229219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16" name="diagram-750">
            <a:extLst>
              <a:ext uri="{FF2B5EF4-FFF2-40B4-BE49-F238E27FC236}">
                <a16:creationId xmlns:a16="http://schemas.microsoft.com/office/drawing/2014/main" id="{1CC05374-A0BC-47E2-A780-4D97BABCF26E}"/>
              </a:ext>
            </a:extLst>
          </p:cNvPr>
          <p:cNvSpPr>
            <a:spLocks noGrp="1"/>
          </p:cNvSpPr>
          <p:nvPr/>
        </p:nvSpPr>
        <p:spPr>
          <a:xfrm>
            <a:off x="933450" y="3305175"/>
            <a:ext cx="2667000" cy="609600"/>
          </a:xfrm>
          <a:prstGeom prst="rect">
            <a:avLst/>
          </a:prstGeom>
          <a:solidFill>
            <a:srgbClr val="FFFFFF"/>
          </a:solidFill>
          <a:ln w="19050">
            <a:solidFill>
              <a:srgbClr val="111111"/>
            </a:solidFill>
          </a:ln>
        </p:spPr>
        <p:txBody>
          <a:bodyPr/>
          <a:lstStyle/>
          <a:p>
            <a:endParaRPr lang="en-US"/>
          </a:p>
        </p:txBody>
      </p:sp>
      <p:sp>
        <p:nvSpPr>
          <p:cNvPr id="17" name="diagram-751">
            <a:extLst>
              <a:ext uri="{FF2B5EF4-FFF2-40B4-BE49-F238E27FC236}">
                <a16:creationId xmlns:a16="http://schemas.microsoft.com/office/drawing/2014/main" id="{AC587F89-3F26-4FA6-B402-6CE8A1D76050}"/>
              </a:ext>
            </a:extLst>
          </p:cNvPr>
          <p:cNvSpPr>
            <a:spLocks noGrp="1"/>
          </p:cNvSpPr>
          <p:nvPr/>
        </p:nvSpPr>
        <p:spPr>
          <a:xfrm>
            <a:off x="1009650" y="3419475"/>
            <a:ext cx="25146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Fresh CSI / probes</a:t>
            </a:r>
          </a:p>
        </p:txBody>
      </p:sp>
      <p:sp>
        <p:nvSpPr>
          <p:cNvPr id="18" name="diagram-752">
            <a:extLst>
              <a:ext uri="{FF2B5EF4-FFF2-40B4-BE49-F238E27FC236}">
                <a16:creationId xmlns:a16="http://schemas.microsoft.com/office/drawing/2014/main" id="{A2810A8F-47DB-43C7-BF7E-1FD5FF99709E}"/>
              </a:ext>
            </a:extLst>
          </p:cNvPr>
          <p:cNvSpPr>
            <a:spLocks noGrp="1"/>
          </p:cNvSpPr>
          <p:nvPr/>
        </p:nvSpPr>
        <p:spPr>
          <a:xfrm>
            <a:off x="4505325" y="3305175"/>
            <a:ext cx="2667000" cy="609600"/>
          </a:xfrm>
          <a:prstGeom prst="rect">
            <a:avLst/>
          </a:prstGeom>
          <a:solidFill>
            <a:srgbClr val="FFFFFF"/>
          </a:solidFill>
          <a:ln w="19050">
            <a:solidFill>
              <a:srgbClr val="111111"/>
            </a:solidFill>
          </a:ln>
        </p:spPr>
        <p:txBody>
          <a:bodyPr/>
          <a:lstStyle/>
          <a:p>
            <a:endParaRPr lang="en-US"/>
          </a:p>
        </p:txBody>
      </p:sp>
      <p:sp>
        <p:nvSpPr>
          <p:cNvPr id="19" name="diagram-753">
            <a:extLst>
              <a:ext uri="{FF2B5EF4-FFF2-40B4-BE49-F238E27FC236}">
                <a16:creationId xmlns:a16="http://schemas.microsoft.com/office/drawing/2014/main" id="{540F51C2-2B1B-4344-9C7B-906F313C639C}"/>
              </a:ext>
            </a:extLst>
          </p:cNvPr>
          <p:cNvSpPr>
            <a:spLocks noGrp="1"/>
          </p:cNvSpPr>
          <p:nvPr/>
        </p:nvSpPr>
        <p:spPr>
          <a:xfrm>
            <a:off x="4581525" y="3419475"/>
            <a:ext cx="25146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Response model</a:t>
            </a:r>
          </a:p>
        </p:txBody>
      </p:sp>
      <p:sp>
        <p:nvSpPr>
          <p:cNvPr id="20" name="line-754">
            <a:extLst>
              <a:ext uri="{FF2B5EF4-FFF2-40B4-BE49-F238E27FC236}">
                <a16:creationId xmlns:a16="http://schemas.microsoft.com/office/drawing/2014/main" id="{96429A6D-782B-4CCD-BDF6-CE9572C7E697}"/>
              </a:ext>
            </a:extLst>
          </p:cNvPr>
          <p:cNvSpPr>
            <a:spLocks noGrp="1"/>
          </p:cNvSpPr>
          <p:nvPr/>
        </p:nvSpPr>
        <p:spPr>
          <a:xfrm>
            <a:off x="3667125" y="3609975"/>
            <a:ext cx="762000" cy="9525"/>
          </a:xfrm>
          <a:custGeom>
            <a:avLst/>
            <a:gdLst/>
            <a:ahLst/>
            <a:cxnLst/>
            <a:rect l="0" t="0" r="0" b="0"/>
            <a:pathLst>
              <a:path w="762000" h="9525">
                <a:moveTo>
                  <a:pt x="0" y="0"/>
                </a:moveTo>
                <a:lnTo>
                  <a:pt x="762000" y="0"/>
                </a:lnTo>
              </a:path>
            </a:pathLst>
          </a:custGeom>
          <a:noFill/>
          <a:ln w="23813">
            <a:solidFill>
              <a:srgbClr val="17698C"/>
            </a:solidFill>
          </a:ln>
        </p:spPr>
        <p:txBody>
          <a:bodyPr/>
          <a:lstStyle/>
          <a:p>
            <a:endParaRPr lang="en-US"/>
          </a:p>
        </p:txBody>
      </p:sp>
      <p:sp>
        <p:nvSpPr>
          <p:cNvPr id="21" name="line-755">
            <a:extLst>
              <a:ext uri="{FF2B5EF4-FFF2-40B4-BE49-F238E27FC236}">
                <a16:creationId xmlns:a16="http://schemas.microsoft.com/office/drawing/2014/main" id="{00B38A4F-986C-4D36-BB38-984F5AC8561E}"/>
              </a:ext>
            </a:extLst>
          </p:cNvPr>
          <p:cNvSpPr>
            <a:spLocks noGrp="1"/>
          </p:cNvSpPr>
          <p:nvPr/>
        </p:nvSpPr>
        <p:spPr>
          <a:xfrm>
            <a:off x="4343357" y="360997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22" name="line-756">
            <a:extLst>
              <a:ext uri="{FF2B5EF4-FFF2-40B4-BE49-F238E27FC236}">
                <a16:creationId xmlns:a16="http://schemas.microsoft.com/office/drawing/2014/main" id="{2F6ADBD1-7933-4E02-B159-1416410F3636}"/>
              </a:ext>
            </a:extLst>
          </p:cNvPr>
          <p:cNvSpPr>
            <a:spLocks noGrp="1"/>
          </p:cNvSpPr>
          <p:nvPr/>
        </p:nvSpPr>
        <p:spPr>
          <a:xfrm>
            <a:off x="4343357" y="356854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23" name="line-757">
            <a:extLst>
              <a:ext uri="{FF2B5EF4-FFF2-40B4-BE49-F238E27FC236}">
                <a16:creationId xmlns:a16="http://schemas.microsoft.com/office/drawing/2014/main" id="{15BF8BA7-3536-4159-A89D-0930AD506AC8}"/>
              </a:ext>
            </a:extLst>
          </p:cNvPr>
          <p:cNvSpPr>
            <a:spLocks noGrp="1"/>
          </p:cNvSpPr>
          <p:nvPr/>
        </p:nvSpPr>
        <p:spPr>
          <a:xfrm>
            <a:off x="7258050" y="3609975"/>
            <a:ext cx="638175" cy="9525"/>
          </a:xfrm>
          <a:custGeom>
            <a:avLst/>
            <a:gdLst/>
            <a:ahLst/>
            <a:cxnLst/>
            <a:rect l="0" t="0" r="0" b="0"/>
            <a:pathLst>
              <a:path w="638175" h="9525">
                <a:moveTo>
                  <a:pt x="0" y="0"/>
                </a:moveTo>
                <a:lnTo>
                  <a:pt x="638175" y="0"/>
                </a:lnTo>
              </a:path>
            </a:pathLst>
          </a:custGeom>
          <a:noFill/>
          <a:ln w="23813">
            <a:solidFill>
              <a:srgbClr val="17698C"/>
            </a:solidFill>
          </a:ln>
        </p:spPr>
        <p:txBody>
          <a:bodyPr/>
          <a:lstStyle/>
          <a:p>
            <a:endParaRPr lang="en-US"/>
          </a:p>
        </p:txBody>
      </p:sp>
      <p:sp>
        <p:nvSpPr>
          <p:cNvPr id="24" name="line-758">
            <a:extLst>
              <a:ext uri="{FF2B5EF4-FFF2-40B4-BE49-F238E27FC236}">
                <a16:creationId xmlns:a16="http://schemas.microsoft.com/office/drawing/2014/main" id="{C228076C-9EEA-4517-8FDD-ECE9A1AB8FBD}"/>
              </a:ext>
            </a:extLst>
          </p:cNvPr>
          <p:cNvSpPr>
            <a:spLocks noGrp="1"/>
          </p:cNvSpPr>
          <p:nvPr/>
        </p:nvSpPr>
        <p:spPr>
          <a:xfrm>
            <a:off x="7896225" y="2428875"/>
            <a:ext cx="9525" cy="1181100"/>
          </a:xfrm>
          <a:custGeom>
            <a:avLst/>
            <a:gdLst/>
            <a:ahLst/>
            <a:cxnLst/>
            <a:rect l="0" t="0" r="0" b="0"/>
            <a:pathLst>
              <a:path w="9525" h="1181100">
                <a:moveTo>
                  <a:pt x="0" y="1181100"/>
                </a:moveTo>
                <a:lnTo>
                  <a:pt x="0" y="0"/>
                </a:lnTo>
              </a:path>
            </a:pathLst>
          </a:custGeom>
          <a:noFill/>
          <a:ln w="23813">
            <a:solidFill>
              <a:srgbClr val="17698C"/>
            </a:solidFill>
          </a:ln>
        </p:spPr>
        <p:txBody>
          <a:bodyPr/>
          <a:lstStyle/>
          <a:p>
            <a:endParaRPr lang="en-US"/>
          </a:p>
        </p:txBody>
      </p:sp>
      <p:sp>
        <p:nvSpPr>
          <p:cNvPr id="25" name="line-759">
            <a:extLst>
              <a:ext uri="{FF2B5EF4-FFF2-40B4-BE49-F238E27FC236}">
                <a16:creationId xmlns:a16="http://schemas.microsoft.com/office/drawing/2014/main" id="{89CA9D05-10A1-4104-B7C8-BF1847C01692}"/>
              </a:ext>
            </a:extLst>
          </p:cNvPr>
          <p:cNvSpPr>
            <a:spLocks noGrp="1"/>
          </p:cNvSpPr>
          <p:nvPr/>
        </p:nvSpPr>
        <p:spPr>
          <a:xfrm>
            <a:off x="7896225" y="2428875"/>
            <a:ext cx="257175" cy="9525"/>
          </a:xfrm>
          <a:custGeom>
            <a:avLst/>
            <a:gdLst/>
            <a:ahLst/>
            <a:cxnLst/>
            <a:rect l="0" t="0" r="0" b="0"/>
            <a:pathLst>
              <a:path w="257175" h="9525">
                <a:moveTo>
                  <a:pt x="0" y="0"/>
                </a:moveTo>
                <a:lnTo>
                  <a:pt x="257175" y="0"/>
                </a:lnTo>
              </a:path>
            </a:pathLst>
          </a:custGeom>
          <a:noFill/>
          <a:ln w="23813">
            <a:solidFill>
              <a:srgbClr val="17698C"/>
            </a:solidFill>
          </a:ln>
        </p:spPr>
        <p:txBody>
          <a:bodyPr/>
          <a:lstStyle/>
          <a:p>
            <a:endParaRPr lang="en-US"/>
          </a:p>
        </p:txBody>
      </p:sp>
      <p:sp>
        <p:nvSpPr>
          <p:cNvPr id="26" name="line-760">
            <a:extLst>
              <a:ext uri="{FF2B5EF4-FFF2-40B4-BE49-F238E27FC236}">
                <a16:creationId xmlns:a16="http://schemas.microsoft.com/office/drawing/2014/main" id="{AEB50D4E-BF06-402D-BB6C-36FB196678CC}"/>
              </a:ext>
            </a:extLst>
          </p:cNvPr>
          <p:cNvSpPr>
            <a:spLocks noGrp="1"/>
          </p:cNvSpPr>
          <p:nvPr/>
        </p:nvSpPr>
        <p:spPr>
          <a:xfrm>
            <a:off x="8067632" y="2428875"/>
            <a:ext cx="85768" cy="41430"/>
          </a:xfrm>
          <a:custGeom>
            <a:avLst/>
            <a:gdLst/>
            <a:ahLst/>
            <a:cxnLst/>
            <a:rect l="0" t="0" r="0" b="0"/>
            <a:pathLst>
              <a:path w="85768" h="41430">
                <a:moveTo>
                  <a:pt x="85768" y="0"/>
                </a:moveTo>
                <a:lnTo>
                  <a:pt x="0" y="41430"/>
                </a:lnTo>
              </a:path>
            </a:pathLst>
          </a:custGeom>
          <a:noFill/>
          <a:ln w="23813">
            <a:solidFill>
              <a:srgbClr val="17698C"/>
            </a:solidFill>
          </a:ln>
        </p:spPr>
        <p:txBody>
          <a:bodyPr/>
          <a:lstStyle/>
          <a:p>
            <a:endParaRPr lang="en-US"/>
          </a:p>
        </p:txBody>
      </p:sp>
      <p:sp>
        <p:nvSpPr>
          <p:cNvPr id="27" name="line-761">
            <a:extLst>
              <a:ext uri="{FF2B5EF4-FFF2-40B4-BE49-F238E27FC236}">
                <a16:creationId xmlns:a16="http://schemas.microsoft.com/office/drawing/2014/main" id="{AB3F732B-234A-42B6-9D23-88F18A26D7AF}"/>
              </a:ext>
            </a:extLst>
          </p:cNvPr>
          <p:cNvSpPr>
            <a:spLocks noGrp="1"/>
          </p:cNvSpPr>
          <p:nvPr/>
        </p:nvSpPr>
        <p:spPr>
          <a:xfrm>
            <a:off x="8067632" y="2387445"/>
            <a:ext cx="85768" cy="41430"/>
          </a:xfrm>
          <a:custGeom>
            <a:avLst/>
            <a:gdLst/>
            <a:ahLst/>
            <a:cxnLst/>
            <a:rect l="0" t="0" r="0" b="0"/>
            <a:pathLst>
              <a:path w="85768" h="41430">
                <a:moveTo>
                  <a:pt x="85768" y="41430"/>
                </a:moveTo>
                <a:lnTo>
                  <a:pt x="0" y="0"/>
                </a:lnTo>
              </a:path>
            </a:pathLst>
          </a:custGeom>
          <a:noFill/>
          <a:ln w="23813">
            <a:solidFill>
              <a:srgbClr val="17698C"/>
            </a:solidFill>
          </a:ln>
        </p:spPr>
        <p:txBody>
          <a:bodyPr/>
          <a:lstStyle/>
          <a:p>
            <a:endParaRPr lang="en-US"/>
          </a:p>
        </p:txBody>
      </p:sp>
      <p:sp>
        <p:nvSpPr>
          <p:cNvPr id="28" name="diagram-762">
            <a:extLst>
              <a:ext uri="{FF2B5EF4-FFF2-40B4-BE49-F238E27FC236}">
                <a16:creationId xmlns:a16="http://schemas.microsoft.com/office/drawing/2014/main" id="{F7353784-DBFD-45F3-B4D0-E04EAD864B9F}"/>
              </a:ext>
            </a:extLst>
          </p:cNvPr>
          <p:cNvSpPr>
            <a:spLocks noGrp="1"/>
          </p:cNvSpPr>
          <p:nvPr/>
        </p:nvSpPr>
        <p:spPr>
          <a:xfrm>
            <a:off x="933450" y="4924425"/>
            <a:ext cx="2667000" cy="609600"/>
          </a:xfrm>
          <a:prstGeom prst="rect">
            <a:avLst/>
          </a:prstGeom>
          <a:solidFill>
            <a:srgbClr val="FFFFFF"/>
          </a:solidFill>
          <a:ln w="19050">
            <a:solidFill>
              <a:srgbClr val="111111"/>
            </a:solidFill>
          </a:ln>
        </p:spPr>
        <p:txBody>
          <a:bodyPr/>
          <a:lstStyle/>
          <a:p>
            <a:endParaRPr lang="en-US"/>
          </a:p>
        </p:txBody>
      </p:sp>
      <p:sp>
        <p:nvSpPr>
          <p:cNvPr id="29" name="diagram-763">
            <a:extLst>
              <a:ext uri="{FF2B5EF4-FFF2-40B4-BE49-F238E27FC236}">
                <a16:creationId xmlns:a16="http://schemas.microsoft.com/office/drawing/2014/main" id="{C96E14E8-F00A-4471-9137-E197947AF4B9}"/>
              </a:ext>
            </a:extLst>
          </p:cNvPr>
          <p:cNvSpPr>
            <a:spLocks noGrp="1"/>
          </p:cNvSpPr>
          <p:nvPr/>
        </p:nvSpPr>
        <p:spPr>
          <a:xfrm>
            <a:off x="1009650" y="5038725"/>
            <a:ext cx="2514600" cy="457200"/>
          </a:xfrm>
          <a:prstGeom prst="rect">
            <a:avLst/>
          </a:prstGeom>
          <a:noFill/>
          <a:ln w="0">
            <a:noFill/>
          </a:ln>
        </p:spPr>
        <p:txBody>
          <a:bodyPr lIns="0" tIns="0" rIns="0" bIns="0" anchor="t">
            <a:noAutofit/>
          </a:bodyPr>
          <a:lstStyle/>
          <a:p>
            <a:pPr algn="ctr">
              <a:buNone/>
              <a:defRPr sz="1650" b="1">
                <a:solidFill>
                  <a:srgbClr val="111111"/>
                </a:solidFill>
                <a:latin typeface="Aptos"/>
                <a:ea typeface="Aptos"/>
                <a:cs typeface="Aptos"/>
              </a:defRPr>
            </a:pPr>
            <a:r>
              <a:rPr sz="1650" b="1">
                <a:solidFill>
                  <a:srgbClr val="111111"/>
                </a:solidFill>
                <a:latin typeface="Aptos"/>
                <a:ea typeface="Aptos"/>
                <a:cs typeface="Aptos"/>
              </a:rPr>
              <a:t>Live service monitor</a:t>
            </a:r>
          </a:p>
        </p:txBody>
      </p:sp>
      <p:sp>
        <p:nvSpPr>
          <p:cNvPr id="30" name="diagram-764">
            <a:extLst>
              <a:ext uri="{FF2B5EF4-FFF2-40B4-BE49-F238E27FC236}">
                <a16:creationId xmlns:a16="http://schemas.microsoft.com/office/drawing/2014/main" id="{B5F509DE-6DF3-4BC0-B294-0FD116DE3F10}"/>
              </a:ext>
            </a:extLst>
          </p:cNvPr>
          <p:cNvSpPr>
            <a:spLocks noGrp="1"/>
          </p:cNvSpPr>
          <p:nvPr/>
        </p:nvSpPr>
        <p:spPr>
          <a:xfrm>
            <a:off x="4505325" y="4924425"/>
            <a:ext cx="2667000" cy="609600"/>
          </a:xfrm>
          <a:prstGeom prst="rect">
            <a:avLst/>
          </a:prstGeom>
          <a:solidFill>
            <a:srgbClr val="FFFFFF"/>
          </a:solidFill>
          <a:ln w="19050">
            <a:solidFill>
              <a:srgbClr val="C76520"/>
            </a:solidFill>
          </a:ln>
        </p:spPr>
        <p:txBody>
          <a:bodyPr/>
          <a:lstStyle/>
          <a:p>
            <a:endParaRPr lang="en-US"/>
          </a:p>
        </p:txBody>
      </p:sp>
      <p:sp>
        <p:nvSpPr>
          <p:cNvPr id="31" name="diagram-765">
            <a:extLst>
              <a:ext uri="{FF2B5EF4-FFF2-40B4-BE49-F238E27FC236}">
                <a16:creationId xmlns:a16="http://schemas.microsoft.com/office/drawing/2014/main" id="{6AD440DE-2A79-4C1C-A7DA-37C7375C5E21}"/>
              </a:ext>
            </a:extLst>
          </p:cNvPr>
          <p:cNvSpPr>
            <a:spLocks noGrp="1"/>
          </p:cNvSpPr>
          <p:nvPr/>
        </p:nvSpPr>
        <p:spPr>
          <a:xfrm>
            <a:off x="4581525" y="5038725"/>
            <a:ext cx="2514600" cy="457200"/>
          </a:xfrm>
          <a:prstGeom prst="rect">
            <a:avLst/>
          </a:prstGeom>
          <a:noFill/>
          <a:ln w="0">
            <a:noFill/>
          </a:ln>
        </p:spPr>
        <p:txBody>
          <a:bodyPr lIns="0" tIns="0" rIns="0" bIns="0" anchor="t">
            <a:noAutofit/>
          </a:bodyPr>
          <a:lstStyle/>
          <a:p>
            <a:pPr algn="ctr">
              <a:buNone/>
              <a:defRPr sz="1650" b="1">
                <a:solidFill>
                  <a:srgbClr val="C76520"/>
                </a:solidFill>
                <a:latin typeface="Aptos"/>
                <a:ea typeface="Aptos"/>
                <a:cs typeface="Aptos"/>
              </a:defRPr>
            </a:pPr>
            <a:r>
              <a:rPr sz="1650" b="1">
                <a:solidFill>
                  <a:srgbClr val="C76520"/>
                </a:solidFill>
                <a:latin typeface="Aptos"/>
                <a:ea typeface="Aptos"/>
                <a:cs typeface="Aptos"/>
              </a:rPr>
              <a:t>Scheme B recovery</a:t>
            </a:r>
          </a:p>
        </p:txBody>
      </p:sp>
      <p:sp>
        <p:nvSpPr>
          <p:cNvPr id="32" name="diagram-766">
            <a:extLst>
              <a:ext uri="{FF2B5EF4-FFF2-40B4-BE49-F238E27FC236}">
                <a16:creationId xmlns:a16="http://schemas.microsoft.com/office/drawing/2014/main" id="{41DE4BEB-1E3A-4C35-9CAD-10FAB8337447}"/>
              </a:ext>
            </a:extLst>
          </p:cNvPr>
          <p:cNvSpPr>
            <a:spLocks noGrp="1"/>
          </p:cNvSpPr>
          <p:nvPr/>
        </p:nvSpPr>
        <p:spPr>
          <a:xfrm>
            <a:off x="8229600" y="4924425"/>
            <a:ext cx="3019425" cy="609600"/>
          </a:xfrm>
          <a:prstGeom prst="rect">
            <a:avLst/>
          </a:prstGeom>
          <a:solidFill>
            <a:srgbClr val="FFFFFF"/>
          </a:solidFill>
          <a:ln w="19050">
            <a:solidFill>
              <a:srgbClr val="C76520"/>
            </a:solidFill>
          </a:ln>
        </p:spPr>
        <p:txBody>
          <a:bodyPr/>
          <a:lstStyle/>
          <a:p>
            <a:endParaRPr lang="en-US"/>
          </a:p>
        </p:txBody>
      </p:sp>
      <p:sp>
        <p:nvSpPr>
          <p:cNvPr id="33" name="diagram-767">
            <a:extLst>
              <a:ext uri="{FF2B5EF4-FFF2-40B4-BE49-F238E27FC236}">
                <a16:creationId xmlns:a16="http://schemas.microsoft.com/office/drawing/2014/main" id="{D1BA51E1-0346-4C43-8F55-5297AD441A0B}"/>
              </a:ext>
            </a:extLst>
          </p:cNvPr>
          <p:cNvSpPr>
            <a:spLocks noGrp="1"/>
          </p:cNvSpPr>
          <p:nvPr/>
        </p:nvSpPr>
        <p:spPr>
          <a:xfrm>
            <a:off x="8305800" y="5038725"/>
            <a:ext cx="2867025" cy="457200"/>
          </a:xfrm>
          <a:prstGeom prst="rect">
            <a:avLst/>
          </a:prstGeom>
          <a:noFill/>
          <a:ln w="0">
            <a:noFill/>
          </a:ln>
        </p:spPr>
        <p:txBody>
          <a:bodyPr lIns="0" tIns="0" rIns="0" bIns="0" anchor="t">
            <a:noAutofit/>
          </a:bodyPr>
          <a:lstStyle/>
          <a:p>
            <a:pPr algn="ctr">
              <a:buNone/>
              <a:defRPr sz="1650" b="1">
                <a:solidFill>
                  <a:srgbClr val="C76520"/>
                </a:solidFill>
                <a:latin typeface="Aptos"/>
                <a:ea typeface="Aptos"/>
                <a:cs typeface="Aptos"/>
              </a:defRPr>
            </a:pPr>
            <a:r>
              <a:rPr sz="1650" b="1">
                <a:solidFill>
                  <a:srgbClr val="C76520"/>
                </a:solidFill>
                <a:latin typeface="Aptos"/>
                <a:ea typeface="Aptos"/>
                <a:cs typeface="Aptos"/>
              </a:rPr>
              <a:t>Single actuator + verify</a:t>
            </a:r>
          </a:p>
        </p:txBody>
      </p:sp>
      <p:sp>
        <p:nvSpPr>
          <p:cNvPr id="34" name="line-768">
            <a:extLst>
              <a:ext uri="{FF2B5EF4-FFF2-40B4-BE49-F238E27FC236}">
                <a16:creationId xmlns:a16="http://schemas.microsoft.com/office/drawing/2014/main" id="{A183400E-03EE-4E53-B948-9C75A8BED95E}"/>
              </a:ext>
            </a:extLst>
          </p:cNvPr>
          <p:cNvSpPr>
            <a:spLocks noGrp="1"/>
          </p:cNvSpPr>
          <p:nvPr/>
        </p:nvSpPr>
        <p:spPr>
          <a:xfrm>
            <a:off x="3667125" y="5229225"/>
            <a:ext cx="762000" cy="9525"/>
          </a:xfrm>
          <a:custGeom>
            <a:avLst/>
            <a:gdLst/>
            <a:ahLst/>
            <a:cxnLst/>
            <a:rect l="0" t="0" r="0" b="0"/>
            <a:pathLst>
              <a:path w="762000" h="9525">
                <a:moveTo>
                  <a:pt x="0" y="0"/>
                </a:moveTo>
                <a:lnTo>
                  <a:pt x="762000" y="0"/>
                </a:lnTo>
              </a:path>
            </a:pathLst>
          </a:custGeom>
          <a:noFill/>
          <a:ln w="23813">
            <a:solidFill>
              <a:srgbClr val="C76520"/>
            </a:solidFill>
          </a:ln>
        </p:spPr>
        <p:txBody>
          <a:bodyPr/>
          <a:lstStyle/>
          <a:p>
            <a:endParaRPr lang="en-US"/>
          </a:p>
        </p:txBody>
      </p:sp>
      <p:sp>
        <p:nvSpPr>
          <p:cNvPr id="35" name="line-769">
            <a:extLst>
              <a:ext uri="{FF2B5EF4-FFF2-40B4-BE49-F238E27FC236}">
                <a16:creationId xmlns:a16="http://schemas.microsoft.com/office/drawing/2014/main" id="{BC2847CC-B6FF-4B5A-9C55-F0EF36352973}"/>
              </a:ext>
            </a:extLst>
          </p:cNvPr>
          <p:cNvSpPr>
            <a:spLocks noGrp="1"/>
          </p:cNvSpPr>
          <p:nvPr/>
        </p:nvSpPr>
        <p:spPr>
          <a:xfrm>
            <a:off x="4343357" y="5229225"/>
            <a:ext cx="85768" cy="41430"/>
          </a:xfrm>
          <a:custGeom>
            <a:avLst/>
            <a:gdLst/>
            <a:ahLst/>
            <a:cxnLst/>
            <a:rect l="0" t="0" r="0" b="0"/>
            <a:pathLst>
              <a:path w="85768" h="41430">
                <a:moveTo>
                  <a:pt x="85768" y="0"/>
                </a:moveTo>
                <a:lnTo>
                  <a:pt x="0" y="41430"/>
                </a:lnTo>
              </a:path>
            </a:pathLst>
          </a:custGeom>
          <a:noFill/>
          <a:ln w="23813">
            <a:solidFill>
              <a:srgbClr val="C76520"/>
            </a:solidFill>
          </a:ln>
        </p:spPr>
        <p:txBody>
          <a:bodyPr/>
          <a:lstStyle/>
          <a:p>
            <a:endParaRPr lang="en-US"/>
          </a:p>
        </p:txBody>
      </p:sp>
      <p:sp>
        <p:nvSpPr>
          <p:cNvPr id="36" name="line-770">
            <a:extLst>
              <a:ext uri="{FF2B5EF4-FFF2-40B4-BE49-F238E27FC236}">
                <a16:creationId xmlns:a16="http://schemas.microsoft.com/office/drawing/2014/main" id="{AA82629D-5309-47E3-9F78-E777398BDEA4}"/>
              </a:ext>
            </a:extLst>
          </p:cNvPr>
          <p:cNvSpPr>
            <a:spLocks noGrp="1"/>
          </p:cNvSpPr>
          <p:nvPr/>
        </p:nvSpPr>
        <p:spPr>
          <a:xfrm>
            <a:off x="4343357" y="5187795"/>
            <a:ext cx="85768" cy="41430"/>
          </a:xfrm>
          <a:custGeom>
            <a:avLst/>
            <a:gdLst/>
            <a:ahLst/>
            <a:cxnLst/>
            <a:rect l="0" t="0" r="0" b="0"/>
            <a:pathLst>
              <a:path w="85768" h="41430">
                <a:moveTo>
                  <a:pt x="85768" y="41430"/>
                </a:moveTo>
                <a:lnTo>
                  <a:pt x="0" y="0"/>
                </a:lnTo>
              </a:path>
            </a:pathLst>
          </a:custGeom>
          <a:noFill/>
          <a:ln w="23813">
            <a:solidFill>
              <a:srgbClr val="C76520"/>
            </a:solidFill>
          </a:ln>
        </p:spPr>
        <p:txBody>
          <a:bodyPr/>
          <a:lstStyle/>
          <a:p>
            <a:endParaRPr lang="en-US"/>
          </a:p>
        </p:txBody>
      </p:sp>
      <p:sp>
        <p:nvSpPr>
          <p:cNvPr id="37" name="line-771">
            <a:extLst>
              <a:ext uri="{FF2B5EF4-FFF2-40B4-BE49-F238E27FC236}">
                <a16:creationId xmlns:a16="http://schemas.microsoft.com/office/drawing/2014/main" id="{86BE42C2-179D-4DC1-8C15-0DD31A24118B}"/>
              </a:ext>
            </a:extLst>
          </p:cNvPr>
          <p:cNvSpPr>
            <a:spLocks noGrp="1"/>
          </p:cNvSpPr>
          <p:nvPr/>
        </p:nvSpPr>
        <p:spPr>
          <a:xfrm>
            <a:off x="7239000" y="5229225"/>
            <a:ext cx="914400" cy="9525"/>
          </a:xfrm>
          <a:custGeom>
            <a:avLst/>
            <a:gdLst/>
            <a:ahLst/>
            <a:cxnLst/>
            <a:rect l="0" t="0" r="0" b="0"/>
            <a:pathLst>
              <a:path w="914400" h="9525">
                <a:moveTo>
                  <a:pt x="0" y="0"/>
                </a:moveTo>
                <a:lnTo>
                  <a:pt x="914400" y="0"/>
                </a:lnTo>
              </a:path>
            </a:pathLst>
          </a:custGeom>
          <a:noFill/>
          <a:ln w="23813">
            <a:solidFill>
              <a:srgbClr val="C76520"/>
            </a:solidFill>
          </a:ln>
        </p:spPr>
        <p:txBody>
          <a:bodyPr/>
          <a:lstStyle/>
          <a:p>
            <a:endParaRPr lang="en-US"/>
          </a:p>
        </p:txBody>
      </p:sp>
      <p:sp>
        <p:nvSpPr>
          <p:cNvPr id="38" name="line-772">
            <a:extLst>
              <a:ext uri="{FF2B5EF4-FFF2-40B4-BE49-F238E27FC236}">
                <a16:creationId xmlns:a16="http://schemas.microsoft.com/office/drawing/2014/main" id="{B69BB467-65DE-4A6A-B63B-3697CD3E1CDB}"/>
              </a:ext>
            </a:extLst>
          </p:cNvPr>
          <p:cNvSpPr>
            <a:spLocks noGrp="1"/>
          </p:cNvSpPr>
          <p:nvPr/>
        </p:nvSpPr>
        <p:spPr>
          <a:xfrm>
            <a:off x="8067632" y="5229225"/>
            <a:ext cx="85768" cy="41430"/>
          </a:xfrm>
          <a:custGeom>
            <a:avLst/>
            <a:gdLst/>
            <a:ahLst/>
            <a:cxnLst/>
            <a:rect l="0" t="0" r="0" b="0"/>
            <a:pathLst>
              <a:path w="85768" h="41430">
                <a:moveTo>
                  <a:pt x="85768" y="0"/>
                </a:moveTo>
                <a:lnTo>
                  <a:pt x="0" y="41430"/>
                </a:lnTo>
              </a:path>
            </a:pathLst>
          </a:custGeom>
          <a:noFill/>
          <a:ln w="23813">
            <a:solidFill>
              <a:srgbClr val="C76520"/>
            </a:solidFill>
          </a:ln>
        </p:spPr>
        <p:txBody>
          <a:bodyPr/>
          <a:lstStyle/>
          <a:p>
            <a:endParaRPr lang="en-US"/>
          </a:p>
        </p:txBody>
      </p:sp>
      <p:sp>
        <p:nvSpPr>
          <p:cNvPr id="39" name="line-773">
            <a:extLst>
              <a:ext uri="{FF2B5EF4-FFF2-40B4-BE49-F238E27FC236}">
                <a16:creationId xmlns:a16="http://schemas.microsoft.com/office/drawing/2014/main" id="{354F37FB-A643-4238-A714-485FCB0F7F9F}"/>
              </a:ext>
            </a:extLst>
          </p:cNvPr>
          <p:cNvSpPr>
            <a:spLocks noGrp="1"/>
          </p:cNvSpPr>
          <p:nvPr/>
        </p:nvSpPr>
        <p:spPr>
          <a:xfrm>
            <a:off x="8067632" y="5187795"/>
            <a:ext cx="85768" cy="41430"/>
          </a:xfrm>
          <a:custGeom>
            <a:avLst/>
            <a:gdLst/>
            <a:ahLst/>
            <a:cxnLst/>
            <a:rect l="0" t="0" r="0" b="0"/>
            <a:pathLst>
              <a:path w="85768" h="41430">
                <a:moveTo>
                  <a:pt x="85768" y="41430"/>
                </a:moveTo>
                <a:lnTo>
                  <a:pt x="0" y="0"/>
                </a:lnTo>
              </a:path>
            </a:pathLst>
          </a:custGeom>
          <a:noFill/>
          <a:ln w="23813">
            <a:solidFill>
              <a:srgbClr val="C76520"/>
            </a:solidFill>
          </a:ln>
        </p:spPr>
        <p:txBody>
          <a:bodyPr/>
          <a:lstStyle/>
          <a:p>
            <a:endParaRPr lang="en-US"/>
          </a:p>
        </p:txBody>
      </p:sp>
      <p:sp>
        <p:nvSpPr>
          <p:cNvPr id="40" name="line-774">
            <a:extLst>
              <a:ext uri="{FF2B5EF4-FFF2-40B4-BE49-F238E27FC236}">
                <a16:creationId xmlns:a16="http://schemas.microsoft.com/office/drawing/2014/main" id="{429DD677-2CA0-4FCB-85F7-DB06A3D9FCF3}"/>
              </a:ext>
            </a:extLst>
          </p:cNvPr>
          <p:cNvSpPr>
            <a:spLocks noGrp="1"/>
          </p:cNvSpPr>
          <p:nvPr/>
        </p:nvSpPr>
        <p:spPr>
          <a:xfrm>
            <a:off x="9734550" y="2714625"/>
            <a:ext cx="9525" cy="2133600"/>
          </a:xfrm>
          <a:custGeom>
            <a:avLst/>
            <a:gdLst/>
            <a:ahLst/>
            <a:cxnLst/>
            <a:rect l="0" t="0" r="0" b="0"/>
            <a:pathLst>
              <a:path w="9525" h="2133600">
                <a:moveTo>
                  <a:pt x="0" y="0"/>
                </a:moveTo>
                <a:lnTo>
                  <a:pt x="0" y="2133600"/>
                </a:lnTo>
              </a:path>
            </a:pathLst>
          </a:custGeom>
          <a:noFill/>
          <a:ln w="28575">
            <a:solidFill>
              <a:srgbClr val="17698C"/>
            </a:solidFill>
          </a:ln>
        </p:spPr>
        <p:txBody>
          <a:bodyPr/>
          <a:lstStyle/>
          <a:p>
            <a:endParaRPr lang="en-US"/>
          </a:p>
        </p:txBody>
      </p:sp>
      <p:sp>
        <p:nvSpPr>
          <p:cNvPr id="41" name="line-775">
            <a:extLst>
              <a:ext uri="{FF2B5EF4-FFF2-40B4-BE49-F238E27FC236}">
                <a16:creationId xmlns:a16="http://schemas.microsoft.com/office/drawing/2014/main" id="{5AE3B1EC-B9C1-4FC9-91BC-1DD2E24E373C}"/>
              </a:ext>
            </a:extLst>
          </p:cNvPr>
          <p:cNvSpPr>
            <a:spLocks noGrp="1"/>
          </p:cNvSpPr>
          <p:nvPr/>
        </p:nvSpPr>
        <p:spPr>
          <a:xfrm>
            <a:off x="9693120" y="4762457"/>
            <a:ext cx="41430" cy="85768"/>
          </a:xfrm>
          <a:custGeom>
            <a:avLst/>
            <a:gdLst/>
            <a:ahLst/>
            <a:cxnLst/>
            <a:rect l="0" t="0" r="0" b="0"/>
            <a:pathLst>
              <a:path w="41430" h="85768">
                <a:moveTo>
                  <a:pt x="41430" y="85768"/>
                </a:moveTo>
                <a:lnTo>
                  <a:pt x="0" y="0"/>
                </a:lnTo>
              </a:path>
            </a:pathLst>
          </a:custGeom>
          <a:noFill/>
          <a:ln w="28575">
            <a:solidFill>
              <a:srgbClr val="17698C"/>
            </a:solidFill>
          </a:ln>
        </p:spPr>
        <p:txBody>
          <a:bodyPr/>
          <a:lstStyle/>
          <a:p>
            <a:endParaRPr lang="en-US"/>
          </a:p>
        </p:txBody>
      </p:sp>
      <p:sp>
        <p:nvSpPr>
          <p:cNvPr id="42" name="line-776">
            <a:extLst>
              <a:ext uri="{FF2B5EF4-FFF2-40B4-BE49-F238E27FC236}">
                <a16:creationId xmlns:a16="http://schemas.microsoft.com/office/drawing/2014/main" id="{CD0B891E-FCC1-4729-9E69-240590296F81}"/>
              </a:ext>
            </a:extLst>
          </p:cNvPr>
          <p:cNvSpPr>
            <a:spLocks noGrp="1"/>
          </p:cNvSpPr>
          <p:nvPr/>
        </p:nvSpPr>
        <p:spPr>
          <a:xfrm>
            <a:off x="9734550" y="4762457"/>
            <a:ext cx="41430" cy="85768"/>
          </a:xfrm>
          <a:custGeom>
            <a:avLst/>
            <a:gdLst/>
            <a:ahLst/>
            <a:cxnLst/>
            <a:rect l="0" t="0" r="0" b="0"/>
            <a:pathLst>
              <a:path w="41430" h="85768">
                <a:moveTo>
                  <a:pt x="0" y="85768"/>
                </a:moveTo>
                <a:lnTo>
                  <a:pt x="41430" y="0"/>
                </a:lnTo>
              </a:path>
            </a:pathLst>
          </a:custGeom>
          <a:noFill/>
          <a:ln w="28575">
            <a:solidFill>
              <a:srgbClr val="17698C"/>
            </a:solidFill>
          </a:ln>
        </p:spPr>
        <p:txBody>
          <a:bodyPr/>
          <a:lstStyle/>
          <a:p>
            <a:endParaRPr lang="en-US"/>
          </a:p>
        </p:txBody>
      </p:sp>
      <p:sp>
        <p:nvSpPr>
          <p:cNvPr id="43" name="diagram-777">
            <a:extLst>
              <a:ext uri="{FF2B5EF4-FFF2-40B4-BE49-F238E27FC236}">
                <a16:creationId xmlns:a16="http://schemas.microsoft.com/office/drawing/2014/main" id="{135041A6-75D0-44AB-A8B7-307E744B0385}"/>
              </a:ext>
            </a:extLst>
          </p:cNvPr>
          <p:cNvSpPr>
            <a:spLocks noGrp="1"/>
          </p:cNvSpPr>
          <p:nvPr/>
        </p:nvSpPr>
        <p:spPr>
          <a:xfrm>
            <a:off x="9915525" y="3457575"/>
            <a:ext cx="1457325" cy="752475"/>
          </a:xfrm>
          <a:prstGeom prst="rect">
            <a:avLst/>
          </a:prstGeom>
          <a:noFill/>
          <a:ln w="0">
            <a:noFill/>
          </a:ln>
        </p:spPr>
        <p:txBody>
          <a:bodyPr lIns="0" tIns="0" rIns="0" bIns="0" anchor="t">
            <a:noAutofit/>
          </a:bodyPr>
          <a:lstStyle/>
          <a:p>
            <a:pPr algn="l">
              <a:buNone/>
              <a:defRPr sz="1725" b="0">
                <a:solidFill>
                  <a:srgbClr val="17698C"/>
                </a:solidFill>
                <a:latin typeface="Aptos"/>
                <a:ea typeface="Aptos"/>
                <a:cs typeface="Aptos"/>
              </a:defRPr>
            </a:pPr>
            <a:r>
              <a:rPr sz="1725" b="0">
                <a:solidFill>
                  <a:srgbClr val="17698C"/>
                </a:solidFill>
                <a:latin typeface="Aptos"/>
                <a:ea typeface="Aptos"/>
                <a:cs typeface="Aptos"/>
              </a:rPr>
              <a:t>Service guards</a:t>
            </a:r>
          </a:p>
          <a:p>
            <a:pPr algn="l">
              <a:buNone/>
              <a:defRPr sz="1725" b="0">
                <a:solidFill>
                  <a:srgbClr val="17698C"/>
                </a:solidFill>
                <a:latin typeface="Aptos"/>
                <a:ea typeface="Aptos"/>
                <a:cs typeface="Aptos"/>
              </a:defRPr>
            </a:pPr>
            <a:r>
              <a:rPr sz="1725" b="0">
                <a:solidFill>
                  <a:srgbClr val="17698C"/>
                </a:solidFill>
                <a:latin typeface="Aptos"/>
                <a:ea typeface="Aptos"/>
                <a:cs typeface="Aptos"/>
              </a:rPr>
              <a:t>Shared search budget</a:t>
            </a:r>
          </a:p>
        </p:txBody>
      </p:sp>
      <p:sp>
        <p:nvSpPr>
          <p:cNvPr id="44" name="diagram-778">
            <a:extLst>
              <a:ext uri="{FF2B5EF4-FFF2-40B4-BE49-F238E27FC236}">
                <a16:creationId xmlns:a16="http://schemas.microsoft.com/office/drawing/2014/main" id="{4395F05F-9A1F-4615-BB0D-8345D74A3814}"/>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Measured outcomes update both the response archive and behavioral history. Current-service recovery has priority.</a:t>
            </a:r>
          </a:p>
        </p:txBody>
      </p:sp>
      <p:sp>
        <p:nvSpPr>
          <p:cNvPr id="45" name="added-text-119">
            <a:extLst>
              <a:ext uri="{FF2B5EF4-FFF2-40B4-BE49-F238E27FC236}">
                <a16:creationId xmlns:a16="http://schemas.microsoft.com/office/drawing/2014/main" id="{9C791509-C469-4CBB-9443-AC5621EF62F5}"/>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48</a:t>
            </a:r>
          </a:p>
        </p:txBody>
      </p:sp>
    </p:spTree>
    <p:extLst>
      <p:ext uri="{BB962C8B-B14F-4D97-AF65-F5344CB8AC3E}">
        <p14:creationId xmlns:p14="http://schemas.microsoft.com/office/powerpoint/2010/main" val="29550901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317A9-FFEC-33E1-1614-9E78831B676B}"/>
              </a:ext>
            </a:extLst>
          </p:cNvPr>
          <p:cNvSpPr>
            <a:spLocks noGrp="1"/>
          </p:cNvSpPr>
          <p:nvPr>
            <p:ph type="title"/>
          </p:nvPr>
        </p:nvSpPr>
        <p:spPr/>
        <p:txBody>
          <a:bodyPr anchor="ctr">
            <a:noAutofit/>
          </a:bodyPr>
          <a:lstStyle/>
          <a:p>
            <a:pPr>
              <a:buNone/>
              <a:defRPr sz="4400">
                <a:solidFill>
                  <a:srgbClr val="111111"/>
                </a:solidFill>
                <a:latin typeface="Aptos Display"/>
                <a:ea typeface="Aptos Display"/>
                <a:cs typeface="Aptos Display"/>
              </a:defRPr>
            </a:pPr>
            <a:r>
              <a:rPr sz="4400">
                <a:solidFill>
                  <a:srgbClr val="111111"/>
                </a:solidFill>
                <a:latin typeface="Aptos Display"/>
                <a:ea typeface="Aptos Display"/>
                <a:cs typeface="Aptos Display"/>
              </a:rPr>
              <a:t>III. Evaluation and rollout</a:t>
            </a:r>
          </a:p>
        </p:txBody>
      </p:sp>
      <p:sp>
        <p:nvSpPr>
          <p:cNvPr id="3" name="Content Placeholder 2">
            <a:extLst>
              <a:ext uri="{FF2B5EF4-FFF2-40B4-BE49-F238E27FC236}">
                <a16:creationId xmlns:a16="http://schemas.microsoft.com/office/drawing/2014/main" id="{33ED4E2E-5882-127C-D058-FED549545657}"/>
              </a:ext>
            </a:extLst>
          </p:cNvPr>
          <p:cNvSpPr>
            <a:spLocks noGrp="1"/>
          </p:cNvSpPr>
          <p:nvPr>
            <p:ph idx="1"/>
          </p:nvPr>
        </p:nvSpPr>
        <p:spPr/>
        <p:txBody>
          <a:bodyPr/>
          <a:lstStyle/>
          <a:p>
            <a:endParaRPr/>
          </a:p>
        </p:txBody>
      </p:sp>
      <p:pic>
        <p:nvPicPr>
          <p:cNvPr id="12" name="Picture 11"/>
          <p:cNvPicPr>
            <a:picLocks noChangeAspect="1"/>
          </p:cNvPicPr>
          <p:nvPr/>
        </p:nvPicPr>
        <p:blipFill>
          <a:blip r:embed="rId3"/>
          <a:stretch/>
        </p:blipFill>
        <p:spPr>
          <a:xfrm>
            <a:off x="933450" y="1943100"/>
            <a:ext cx="4042488" cy="504286"/>
          </a:xfrm>
          <a:prstGeom prst="rect">
            <a:avLst/>
          </a:prstGeom>
        </p:spPr>
      </p:pic>
      <p:sp>
        <p:nvSpPr>
          <p:cNvPr id="5" name="diagram-779">
            <a:extLst>
              <a:ext uri="{FF2B5EF4-FFF2-40B4-BE49-F238E27FC236}">
                <a16:creationId xmlns:a16="http://schemas.microsoft.com/office/drawing/2014/main" id="{DCEBD861-1CF7-46F8-98DC-DA4FF98E4FBF}"/>
              </a:ext>
            </a:extLst>
          </p:cNvPr>
          <p:cNvSpPr>
            <a:spLocks noGrp="1"/>
          </p:cNvSpPr>
          <p:nvPr/>
        </p:nvSpPr>
        <p:spPr>
          <a:xfrm>
            <a:off x="933450" y="3457575"/>
            <a:ext cx="10287000" cy="2933700"/>
          </a:xfrm>
          <a:prstGeom prst="rect">
            <a:avLst/>
          </a:prstGeom>
          <a:noFill/>
          <a:ln w="0">
            <a:noFill/>
          </a:ln>
        </p:spPr>
        <p:txBody>
          <a:bodyPr lIns="0" tIns="0" rIns="0" bIns="0" anchor="t">
            <a:noAutofit/>
          </a:bodyPr>
          <a:lstStyle/>
          <a:p>
            <a:pPr marL="228600" indent="-165100" algn="l">
              <a:spcAft>
                <a:spcPts val="1300"/>
              </a:spcAft>
              <a:buChar char="•"/>
              <a:defRPr sz="1875" b="0">
                <a:solidFill>
                  <a:srgbClr val="111111"/>
                </a:solidFill>
                <a:latin typeface="Aptos"/>
                <a:ea typeface="Aptos"/>
                <a:cs typeface="Aptos"/>
              </a:defRPr>
            </a:pPr>
            <a:r>
              <a:rPr sz="1875" b="0">
                <a:solidFill>
                  <a:srgbClr val="111111"/>
                </a:solidFill>
                <a:latin typeface="Aptos"/>
                <a:ea typeface="Aptos"/>
                <a:cs typeface="Aptos"/>
              </a:rPr>
              <a:t>Test static scenes, gradual motion, abrupt blockage, remote improvements and policy changes.</a:t>
            </a:r>
          </a:p>
          <a:p>
            <a:pPr marL="228600" indent="-165100" algn="l">
              <a:spcAft>
                <a:spcPts val="1300"/>
              </a:spcAft>
              <a:buChar char="•"/>
              <a:defRPr sz="1875" b="0">
                <a:solidFill>
                  <a:srgbClr val="111111"/>
                </a:solidFill>
                <a:latin typeface="Aptos"/>
                <a:ea typeface="Aptos"/>
                <a:cs typeface="Aptos"/>
              </a:defRPr>
            </a:pPr>
            <a:r>
              <a:rPr sz="1875" b="0">
                <a:solidFill>
                  <a:srgbClr val="111111"/>
                </a:solidFill>
                <a:latin typeface="Aptos"/>
                <a:ea typeface="Aptos"/>
                <a:cs typeface="Aptos"/>
              </a:rPr>
              <a:t>Compare A/B baselines, prediction for probe ranking, and guarded proactive control.</a:t>
            </a:r>
          </a:p>
          <a:p>
            <a:pPr marL="228600" indent="-165100" algn="l">
              <a:spcAft>
                <a:spcPts val="1300"/>
              </a:spcAft>
              <a:buChar char="•"/>
              <a:defRPr sz="1875" b="0">
                <a:solidFill>
                  <a:srgbClr val="111111"/>
                </a:solidFill>
                <a:latin typeface="Aptos"/>
                <a:ea typeface="Aptos"/>
                <a:cs typeface="Aptos"/>
              </a:defRPr>
            </a:pPr>
            <a:r>
              <a:rPr sz="1875" b="0">
                <a:solidFill>
                  <a:srgbClr val="111111"/>
                </a:solidFill>
                <a:latin typeface="Aptos"/>
                <a:ea typeface="Aptos"/>
                <a:cs typeface="Aptos"/>
              </a:rPr>
              <a:t>Report per-service goodput, latency/violations, recovery time, probe cost and mechanical travel.</a:t>
            </a:r>
          </a:p>
          <a:p>
            <a:pPr marL="228600" indent="-165100" algn="l">
              <a:spcAft>
                <a:spcPts val="1300"/>
              </a:spcAft>
              <a:buChar char="•"/>
              <a:defRPr sz="1875" b="0">
                <a:solidFill>
                  <a:srgbClr val="111111"/>
                </a:solidFill>
                <a:latin typeface="Aptos"/>
                <a:ea typeface="Aptos"/>
                <a:cs typeface="Aptos"/>
              </a:defRPr>
            </a:pPr>
            <a:r>
              <a:rPr sz="1875" b="0">
                <a:solidFill>
                  <a:srgbClr val="111111"/>
                </a:solidFill>
                <a:latin typeface="Aptos"/>
                <a:ea typeface="Aptos"/>
                <a:cs typeface="Aptos"/>
              </a:rPr>
              <a:t>Validate on later time periods, including cold start, unfamiliar devices and changed routines.</a:t>
            </a:r>
          </a:p>
        </p:txBody>
      </p:sp>
      <p:sp>
        <p:nvSpPr>
          <p:cNvPr id="6" name="diagram-780">
            <a:extLst>
              <a:ext uri="{FF2B5EF4-FFF2-40B4-BE49-F238E27FC236}">
                <a16:creationId xmlns:a16="http://schemas.microsoft.com/office/drawing/2014/main" id="{1BBF1203-BA67-4843-ADF8-D7F6E24E3DA1}"/>
              </a:ext>
            </a:extLst>
          </p:cNvPr>
          <p:cNvSpPr>
            <a:spLocks noGrp="1"/>
          </p:cNvSpPr>
          <p:nvPr/>
        </p:nvSpPr>
        <p:spPr>
          <a:xfrm>
            <a:off x="933450" y="6048375"/>
            <a:ext cx="10287000" cy="466725"/>
          </a:xfrm>
          <a:prstGeom prst="rect">
            <a:avLst/>
          </a:prstGeom>
          <a:noFill/>
          <a:ln w="0">
            <a:noFill/>
          </a:ln>
        </p:spPr>
        <p:txBody>
          <a:bodyPr lIns="0" tIns="0" rIns="0" bIns="0" anchor="t">
            <a:noAutofit/>
          </a:bodyPr>
          <a:lstStyle/>
          <a:p>
            <a:pPr algn="l">
              <a:buNone/>
              <a:defRPr sz="1575" b="0">
                <a:solidFill>
                  <a:srgbClr val="62676D"/>
                </a:solidFill>
                <a:latin typeface="Aptos"/>
                <a:ea typeface="Aptos"/>
                <a:cs typeface="Aptos"/>
              </a:defRPr>
            </a:pPr>
            <a:r>
              <a:rPr sz="1575" b="0">
                <a:solidFill>
                  <a:srgbClr val="62676D"/>
                </a:solidFill>
                <a:latin typeface="Aptos"/>
                <a:ea typeface="Aptos"/>
                <a:cs typeface="Aptos"/>
              </a:rPr>
              <a:t>Deployment: validate estimation and static selection, establish A/B baselines, then add learning incrementally.</a:t>
            </a:r>
          </a:p>
        </p:txBody>
      </p:sp>
      <p:sp>
        <p:nvSpPr>
          <p:cNvPr id="9" name="added-text-120">
            <a:extLst>
              <a:ext uri="{FF2B5EF4-FFF2-40B4-BE49-F238E27FC236}">
                <a16:creationId xmlns:a16="http://schemas.microsoft.com/office/drawing/2014/main" id="{5124B637-A830-49C7-B0D6-44BBC5D065B8}"/>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49</a:t>
            </a:r>
          </a:p>
        </p:txBody>
      </p:sp>
    </p:spTree>
    <p:extLst>
      <p:ext uri="{BB962C8B-B14F-4D97-AF65-F5344CB8AC3E}">
        <p14:creationId xmlns:p14="http://schemas.microsoft.com/office/powerpoint/2010/main" val="29550901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67">
            <a:extLst>
              <a:ext uri="{FF2B5EF4-FFF2-40B4-BE49-F238E27FC236}">
                <a16:creationId xmlns:a16="http://schemas.microsoft.com/office/drawing/2014/main" id="{7F5433CD-1607-4550-82ED-51F029057159}"/>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Reference: Part I symbols</a:t>
            </a:r>
          </a:p>
        </p:txBody>
      </p:sp>
      <p:graphicFrame>
        <p:nvGraphicFramePr>
          <p:cNvPr id="6" name="Table 5"/>
          <p:cNvGraphicFramePr/>
          <p:nvPr/>
        </p:nvGraphicFramePr>
        <p:xfrm>
          <a:off x="933450" y="1895475"/>
          <a:ext cx="10382250" cy="3783330"/>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575"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575"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575"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575" b="1">
                          <a:solidFill>
                            <a:srgbClr val="111111"/>
                          </a:solidFill>
                          <a:latin typeface="Aptos"/>
                          <a:ea typeface="Aptos"/>
                          <a:cs typeface="Aptos"/>
                        </a:rPr>
                        <a:t>β, γ, α; ψ, θ, φ</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Control tilt/pan/polar tilt; in-plane or polar/azimuth arrival angles</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geometry</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575" b="1">
                          <a:solidFill>
                            <a:srgbClr val="111111"/>
                          </a:solidFill>
                          <a:latin typeface="Aptos"/>
                          <a:ea typeface="Aptos"/>
                          <a:cs typeface="Aptos"/>
                        </a:rPr>
                        <a:t>q, ξ; d̂, b̂, u</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Control state, arrival direction; unit axis and arrival vectors</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geometry</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575" b="1">
                          <a:solidFill>
                            <a:srgbClr val="111111"/>
                          </a:solidFill>
                          <a:latin typeface="Aptos"/>
                          <a:ea typeface="Aptos"/>
                          <a:cs typeface="Aptos"/>
                        </a:rPr>
                        <a:t>ρ, p, λn, μ, χ</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Phase-center radius/position, wavelength, axis-direction cosine/angle</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geometry</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575" b="1">
                          <a:solidFill>
                            <a:srgbClr val="111111"/>
                          </a:solidFill>
                          <a:latin typeface="Aptos"/>
                          <a:ea typeface="Aptos"/>
                          <a:cs typeface="Aptos"/>
                        </a:rPr>
                        <a:t>K, L, M, D; k,n,m,d</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Position, tone, snapshot, path counts and their indices</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sampling</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575" b="1">
                          <a:solidFill>
                            <a:srgbClr val="111111"/>
                          </a:solidFill>
                          <a:latin typeface="Aptos"/>
                          <a:ea typeface="Aptos"/>
                          <a:cs typeface="Aptos"/>
                        </a:rPr>
                        <a:t>x, X, w; A, B; c</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CSI, noise, response matrices and complex path gains</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signal model</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575" b="1">
                          <a:solidFill>
                            <a:srgbClr val="111111"/>
                          </a:solidFill>
                          <a:latin typeface="Aptos"/>
                          <a:ea typeface="Aptos"/>
                          <a:cs typeface="Aptos"/>
                        </a:rPr>
                        <a:t>R̂, Us, Un, Λs, Λn, PM, ε</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Covariance, subspaces, eigenvalues, MUSIC score, numerical floor</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MUSIC</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575" b="1">
                          <a:solidFill>
                            <a:srgbClr val="111111"/>
                          </a:solidFill>
                          <a:latin typeface="Aptos"/>
                          <a:ea typeface="Aptos"/>
                          <a:cs typeface="Aptos"/>
                        </a:rPr>
                        <a:t>Q, S, vQ, bQ; J1,J2,Es,Ψ</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Frequency windows/manifolds; virtual selectors, subspace, operator</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MUSIC / ESPRIT</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575" b="1">
                          <a:solidFill>
                            <a:srgbClr val="111111"/>
                          </a:solidFill>
                          <a:latin typeface="Aptos"/>
                          <a:ea typeface="Aptos"/>
                          <a:cs typeface="Aptos"/>
                        </a:rPr>
                        <a:t>Yd, b, cd; ξd,τd</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Path-isolated observation, full response, gain row, angle and delay</a:t>
                      </a:r>
                    </a:p>
                  </a:txBody>
                  <a:tcPr marL="85725" marR="85725" marT="19050" marB="19050" anchor="ctr">
                    <a:solidFill>
                      <a:srgbClr val="FFFFFF"/>
                    </a:solidFill>
                  </a:tcPr>
                </a:tc>
                <a:tc>
                  <a:txBody>
                    <a:bodyPr/>
                    <a:lstStyle/>
                    <a:p>
                      <a:r>
                        <a:rPr sz="1575" b="0">
                          <a:solidFill>
                            <a:srgbClr val="111111"/>
                          </a:solidFill>
                          <a:latin typeface="Aptos"/>
                          <a:ea typeface="Aptos"/>
                          <a:cs typeface="Aptos"/>
                        </a:rPr>
                        <a:t>SAGE</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68">
            <a:extLst>
              <a:ext uri="{FF2B5EF4-FFF2-40B4-BE49-F238E27FC236}">
                <a16:creationId xmlns:a16="http://schemas.microsoft.com/office/drawing/2014/main" id="{D49A5E5D-24FC-44AE-BF92-5E0B3ACF30B5}"/>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Detailed tables beside each method give dimensions and assumptions. fn, f0 and Δf are frequencies in Hz.</a:t>
            </a:r>
          </a:p>
        </p:txBody>
      </p:sp>
      <p:sp>
        <p:nvSpPr>
          <p:cNvPr id="4" name="added-text-121">
            <a:extLst>
              <a:ext uri="{FF2B5EF4-FFF2-40B4-BE49-F238E27FC236}">
                <a16:creationId xmlns:a16="http://schemas.microsoft.com/office/drawing/2014/main" id="{4EEDC5D1-F284-47BE-AE74-F22102D75EC5}"/>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50</a:t>
            </a:r>
          </a:p>
        </p:txBody>
      </p:sp>
    </p:spTree>
    <p:extLst>
      <p:ext uri="{BB962C8B-B14F-4D97-AF65-F5344CB8AC3E}">
        <p14:creationId xmlns:p14="http://schemas.microsoft.com/office/powerpoint/2010/main" val="3023713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69">
            <a:extLst>
              <a:ext uri="{FF2B5EF4-FFF2-40B4-BE49-F238E27FC236}">
                <a16:creationId xmlns:a16="http://schemas.microsoft.com/office/drawing/2014/main" id="{76EDADB0-AB27-4F8F-823D-793340BA57E2}"/>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Reference: Part II symbols</a:t>
            </a:r>
          </a:p>
        </p:txBody>
      </p:sp>
      <p:graphicFrame>
        <p:nvGraphicFramePr>
          <p:cNvPr id="6" name="Table 5"/>
          <p:cNvGraphicFramePr/>
          <p:nvPr/>
        </p:nvGraphicFramePr>
        <p:xfrm>
          <a:off x="933450" y="1895475"/>
          <a:ext cx="10382250" cy="368236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i, f, i(f)</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Client index, service index, and service-to-client mapping</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indices</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h, P, N, I, SINR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Channel, transmit/noise/interference power, linear signal-quality ratio</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link model</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C, a, ℓ, 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Allocated-airtime rate, airtime share, offered load, delivered rate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service model</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Q1, Q2, q0, q★</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Candidate sets, incumbent and selected orientation</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optimization</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Jsum, J, w</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Sum-goodput, chosen objective, and policy weight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objective</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rref, rmin, Fcritical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Utility normalization rate, minimum rate, constrained service set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requirements</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goodput, Mb/s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Nonduplicate delivered payload rate; 10⁶ payload bits per second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reported unit</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models, shortlist, status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Reliable source-labeled fits, finalists, explicit decision outcome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algorithm interface</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70">
            <a:extLst>
              <a:ext uri="{FF2B5EF4-FFF2-40B4-BE49-F238E27FC236}">
                <a16:creationId xmlns:a16="http://schemas.microsoft.com/office/drawing/2014/main" id="{4B588A41-A2A4-4A49-96AE-CDD530D853D0}"/>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a is a steering response when indexed by scan/tone and direction; ai or af is an airtime fraction.</a:t>
            </a:r>
          </a:p>
        </p:txBody>
      </p:sp>
      <p:sp>
        <p:nvSpPr>
          <p:cNvPr id="4" name="added-text-122">
            <a:extLst>
              <a:ext uri="{FF2B5EF4-FFF2-40B4-BE49-F238E27FC236}">
                <a16:creationId xmlns:a16="http://schemas.microsoft.com/office/drawing/2014/main" id="{D3E5F1BD-B160-4A4F-8BC7-CD90AE19176F}"/>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51</a:t>
            </a:r>
          </a:p>
        </p:txBody>
      </p:sp>
    </p:spTree>
    <p:extLst>
      <p:ext uri="{BB962C8B-B14F-4D97-AF65-F5344CB8AC3E}">
        <p14:creationId xmlns:p14="http://schemas.microsoft.com/office/powerpoint/2010/main" val="21205310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dded-text-71">
            <a:extLst>
              <a:ext uri="{FF2B5EF4-FFF2-40B4-BE49-F238E27FC236}">
                <a16:creationId xmlns:a16="http://schemas.microsoft.com/office/drawing/2014/main" id="{9B11D033-37D2-4958-9EC9-35E3DE0E5070}"/>
              </a:ext>
            </a:extLst>
          </p:cNvPr>
          <p:cNvSpPr>
            <a:spLocks noGrp="1"/>
          </p:cNvSpPr>
          <p:nvPr/>
        </p:nvSpPr>
        <p:spPr>
          <a:xfrm>
            <a:off x="933450" y="628650"/>
            <a:ext cx="10382250" cy="904875"/>
          </a:xfrm>
          <a:prstGeom prst="rect">
            <a:avLst/>
          </a:prstGeom>
          <a:noFill/>
          <a:ln w="0">
            <a:noFill/>
          </a:ln>
        </p:spPr>
        <p:txBody>
          <a:bodyPr lIns="0" tIns="0" rIns="0" bIns="0" anchor="t">
            <a:noAutofit/>
          </a:bodyPr>
          <a:lstStyle/>
          <a:p>
            <a:pPr algn="l">
              <a:defRPr sz="4050" b="0">
                <a:solidFill>
                  <a:srgbClr val="111111"/>
                </a:solidFill>
                <a:latin typeface="Aptos Display"/>
                <a:ea typeface="Aptos Display"/>
                <a:cs typeface="Aptos Display"/>
              </a:defRPr>
            </a:pPr>
            <a:r>
              <a:rPr sz="4050" b="0">
                <a:solidFill>
                  <a:srgbClr val="111111"/>
                </a:solidFill>
                <a:latin typeface="Aptos Display"/>
                <a:ea typeface="Aptos Display"/>
                <a:cs typeface="Aptos Display"/>
              </a:rPr>
              <a:t>Reference: Part III symbols</a:t>
            </a:r>
          </a:p>
        </p:txBody>
      </p:sp>
      <p:graphicFrame>
        <p:nvGraphicFramePr>
          <p:cNvPr id="6" name="Table 5"/>
          <p:cNvGraphicFramePr/>
          <p:nvPr/>
        </p:nvGraphicFramePr>
        <p:xfrm>
          <a:off x="933450" y="1895475"/>
          <a:ext cx="10382250" cy="4143375"/>
        </p:xfrm>
        <a:graphic>
          <a:graphicData uri="http://schemas.openxmlformats.org/drawingml/2006/table">
            <a:tbl>
              <a:tblPr/>
              <a:tblGrid>
                <a:gridCol w="2143125">
                  <a:extLst>
                    <a:ext uri="{9D8B030D-6E8A-4147-A177-3AD203B41FA5}">
                      <a16:colId xmlns:a16="http://schemas.microsoft.com/office/drawing/2014/main" val="20000"/>
                    </a:ext>
                  </a:extLst>
                </a:gridCol>
                <a:gridCol w="604837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371475">
                <a:tc>
                  <a:txBody>
                    <a:bodyPr/>
                    <a:lstStyle/>
                    <a:p>
                      <a:r>
                        <a:rPr sz="1650" b="1">
                          <a:solidFill>
                            <a:srgbClr val="17698C"/>
                          </a:solidFill>
                          <a:latin typeface="Aptos"/>
                          <a:ea typeface="Aptos"/>
                          <a:cs typeface="Aptos"/>
                        </a:rPr>
                        <a:t>Notation</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Meaning</a:t>
                      </a:r>
                    </a:p>
                  </a:txBody>
                  <a:tcPr marL="85725" marR="85725" marT="19050" marB="19050" anchor="ctr">
                    <a:solidFill>
                      <a:srgbClr val="F1F4F5"/>
                    </a:solidFill>
                  </a:tcPr>
                </a:tc>
                <a:tc>
                  <a:txBody>
                    <a:bodyPr/>
                    <a:lstStyle/>
                    <a:p>
                      <a:r>
                        <a:rPr sz="1650" b="1">
                          <a:solidFill>
                            <a:srgbClr val="17698C"/>
                          </a:solidFill>
                          <a:latin typeface="Aptos"/>
                          <a:ea typeface="Aptos"/>
                          <a:cs typeface="Aptos"/>
                        </a:rPr>
                        <a:t>Units / shape</a:t>
                      </a:r>
                    </a:p>
                  </a:txBody>
                  <a:tcPr marL="85725" marR="85725" marT="19050" marB="19050" anchor="ctr">
                    <a:solidFill>
                      <a:srgbClr val="F1F4F5"/>
                    </a:solidFill>
                  </a:tcPr>
                </a:tc>
                <a:extLst>
                  <a:ext uri="{0D108BD9-81ED-4DB2-BD59-A6C34878D82A}">
                    <a16:rowId xmlns:a16="http://schemas.microsoft.com/office/drawing/2014/main" val="10000"/>
                  </a:ext>
                </a:extLst>
              </a:tr>
              <a:tr h="371475">
                <a:tc>
                  <a:txBody>
                    <a:bodyPr/>
                    <a:lstStyle/>
                    <a:p>
                      <a:r>
                        <a:rPr sz="1650" b="1">
                          <a:solidFill>
                            <a:srgbClr val="111111"/>
                          </a:solidFill>
                          <a:latin typeface="Aptos"/>
                          <a:ea typeface="Aptos"/>
                          <a:cs typeface="Aptos"/>
                        </a:rPr>
                        <a:t>t, Pfull, Wmeas, Wbeh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Physical time, full-scan period, score window, behavior window</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time</a:t>
                      </a:r>
                    </a:p>
                  </a:txBody>
                  <a:tcPr marL="85725" marR="85725" marT="19050" marB="19050" anchor="ctr">
                    <a:solidFill>
                      <a:srgbClr val="FFFFFF"/>
                    </a:solidFill>
                  </a:tcPr>
                </a:tc>
                <a:extLst>
                  <a:ext uri="{0D108BD9-81ED-4DB2-BD59-A6C34878D82A}">
                    <a16:rowId xmlns:a16="http://schemas.microsoft.com/office/drawing/2014/main" val="10001"/>
                  </a:ext>
                </a:extLst>
              </a:tr>
              <a:tr h="371475">
                <a:tc>
                  <a:txBody>
                    <a:bodyPr/>
                    <a:lstStyle/>
                    <a:p>
                      <a:r>
                        <a:rPr sz="1650" b="1">
                          <a:solidFill>
                            <a:srgbClr val="111111"/>
                          </a:solidFill>
                          <a:latin typeface="Aptos"/>
                          <a:ea typeface="Aptos"/>
                          <a:cs typeface="Aptos"/>
                        </a:rPr>
                        <a:t>yr, Δr, Δ̄, uΔ, δswitch</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Probe score, gain, average gain, uncertainty and switch threshold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current utility units</a:t>
                      </a:r>
                    </a:p>
                  </a:txBody>
                  <a:tcPr marL="85725" marR="85725" marT="19050" marB="19050" anchor="ctr">
                    <a:solidFill>
                      <a:srgbClr val="FFFFFF"/>
                    </a:solidFill>
                  </a:tcPr>
                </a:tc>
                <a:extLst>
                  <a:ext uri="{0D108BD9-81ED-4DB2-BD59-A6C34878D82A}">
                    <a16:rowId xmlns:a16="http://schemas.microsoft.com/office/drawing/2014/main" val="10002"/>
                  </a:ext>
                </a:extLst>
              </a:tr>
              <a:tr h="371475">
                <a:tc>
                  <a:txBody>
                    <a:bodyPr/>
                    <a:lstStyle/>
                    <a:p>
                      <a:r>
                        <a:rPr sz="1650" b="1">
                          <a:solidFill>
                            <a:srgbClr val="111111"/>
                          </a:solidFill>
                          <a:latin typeface="Aptos"/>
                          <a:ea typeface="Aptos"/>
                          <a:cs typeface="Aptos"/>
                        </a:rPr>
                        <a:t>E, c, Dc, Ppool, κ, ωr</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Activity event, context, records, pooled prior, shrinkage, recency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seasonal profile</a:t>
                      </a:r>
                    </a:p>
                  </a:txBody>
                  <a:tcPr marL="85725" marR="85725" marT="19050" marB="19050" anchor="ctr">
                    <a:solidFill>
                      <a:srgbClr val="FFFFFF"/>
                    </a:solidFill>
                  </a:tcPr>
                </a:tc>
                <a:extLst>
                  <a:ext uri="{0D108BD9-81ED-4DB2-BD59-A6C34878D82A}">
                    <a16:rowId xmlns:a16="http://schemas.microsoft.com/office/drawing/2014/main" val="10003"/>
                  </a:ext>
                </a:extLst>
              </a:tr>
              <a:tr h="371475">
                <a:tc>
                  <a:txBody>
                    <a:bodyPr/>
                    <a:lstStyle/>
                    <a:p>
                      <a:r>
                        <a:rPr sz="1650" b="1">
                          <a:solidFill>
                            <a:srgbClr val="111111"/>
                          </a:solidFill>
                          <a:latin typeface="Aptos"/>
                          <a:ea typeface="Aptos"/>
                          <a:cs typeface="Aptos"/>
                        </a:rPr>
                        <a:t>te, tr, Tmemory; A, Z, Λ</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Decision/record/decay times; activity, spatial state, demand</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learning state</a:t>
                      </a:r>
                    </a:p>
                  </a:txBody>
                  <a:tcPr marL="85725" marR="85725" marT="19050" marB="19050" anchor="ctr">
                    <a:solidFill>
                      <a:srgbClr val="FFFFFF"/>
                    </a:solidFill>
                  </a:tcPr>
                </a:tc>
                <a:extLst>
                  <a:ext uri="{0D108BD9-81ED-4DB2-BD59-A6C34878D82A}">
                    <a16:rowId xmlns:a16="http://schemas.microsoft.com/office/drawing/2014/main" val="10004"/>
                  </a:ext>
                </a:extLst>
              </a:tr>
              <a:tr h="371475">
                <a:tc>
                  <a:txBody>
                    <a:bodyPr/>
                    <a:lstStyle/>
                    <a:p>
                      <a:r>
                        <a:rPr sz="1650" b="1">
                          <a:solidFill>
                            <a:srgbClr val="111111"/>
                          </a:solidFill>
                          <a:latin typeface="Aptos"/>
                          <a:ea typeface="Aptos"/>
                          <a:cs typeface="Aptos"/>
                        </a:rPr>
                        <a:t>h,H,Δth; s,S,ps</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Horizon index/count/duration; scenario index/count/probability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forecast</a:t>
                      </a:r>
                    </a:p>
                  </a:txBody>
                  <a:tcPr marL="85725" marR="85725" marT="19050" marB="19050" anchor="ctr">
                    <a:solidFill>
                      <a:srgbClr val="FFFFFF"/>
                    </a:solidFill>
                  </a:tcPr>
                </a:tc>
                <a:extLst>
                  <a:ext uri="{0D108BD9-81ED-4DB2-BD59-A6C34878D82A}">
                    <a16:rowId xmlns:a16="http://schemas.microsoft.com/office/drawing/2014/main" val="10005"/>
                  </a:ext>
                </a:extLst>
              </a:tr>
              <a:tr h="371475">
                <a:tc>
                  <a:txBody>
                    <a:bodyPr/>
                    <a:lstStyle/>
                    <a:p>
                      <a:r>
                        <a:rPr sz="1650" b="1">
                          <a:solidFill>
                            <a:srgbClr val="111111"/>
                          </a:solidFill>
                          <a:latin typeface="Aptos"/>
                          <a:ea typeface="Aptos"/>
                          <a:cs typeface="Aptos"/>
                        </a:rPr>
                        <a:t>ζ, a, C, T, w, U</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Usable fraction, airtime, link rate, delivered rate, weight, utility</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predicted service</a:t>
                      </a:r>
                    </a:p>
                  </a:txBody>
                  <a:tcPr marL="85725" marR="85725" marT="19050" marB="19050" anchor="ctr">
                    <a:solidFill>
                      <a:srgbClr val="FFFFFF"/>
                    </a:solidFill>
                  </a:tcPr>
                </a:tc>
                <a:extLst>
                  <a:ext uri="{0D108BD9-81ED-4DB2-BD59-A6C34878D82A}">
                    <a16:rowId xmlns:a16="http://schemas.microsoft.com/office/drawing/2014/main" val="10006"/>
                  </a:ext>
                </a:extLst>
              </a:tr>
              <a:tr h="371475">
                <a:tc>
                  <a:txBody>
                    <a:bodyPr/>
                    <a:lstStyle/>
                    <a:p>
                      <a:r>
                        <a:rPr sz="1650" b="1">
                          <a:solidFill>
                            <a:srgbClr val="111111"/>
                          </a:solidFill>
                          <a:latin typeface="Aptos"/>
                          <a:ea typeface="Aptos"/>
                          <a:cs typeface="Aptos"/>
                        </a:rPr>
                        <a:t>V̂, Cmech, uV, δpredict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Horizon value, mechanical cost, uncertainty, required benefit</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compatible utility units</a:t>
                      </a:r>
                    </a:p>
                  </a:txBody>
                  <a:tcPr marL="85725" marR="85725" marT="19050" marB="19050" anchor="ctr">
                    <a:solidFill>
                      <a:srgbClr val="FFFFFF"/>
                    </a:solidFill>
                  </a:tcPr>
                </a:tc>
                <a:extLst>
                  <a:ext uri="{0D108BD9-81ED-4DB2-BD59-A6C34878D82A}">
                    <a16:rowId xmlns:a16="http://schemas.microsoft.com/office/drawing/2014/main" val="10007"/>
                  </a:ext>
                </a:extLst>
              </a:tr>
              <a:tr h="371475">
                <a:tc>
                  <a:txBody>
                    <a:bodyPr/>
                    <a:lstStyle/>
                    <a:p>
                      <a:r>
                        <a:rPr sz="1650" b="1">
                          <a:solidFill>
                            <a:srgbClr val="111111"/>
                          </a:solidFill>
                          <a:latin typeface="Aptos"/>
                          <a:ea typeface="Aptos"/>
                          <a:cs typeface="Aptos"/>
                        </a:rPr>
                        <a:t>Gwall</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Delivered payload bits divided by total elapsed experiment time</a:t>
                      </a:r>
                    </a:p>
                  </a:txBody>
                  <a:tcPr marL="85725" marR="85725" marT="19050" marB="19050" anchor="ctr">
                    <a:solidFill>
                      <a:srgbClr val="FFFFFF"/>
                    </a:solidFill>
                  </a:tcPr>
                </a:tc>
                <a:tc>
                  <a:txBody>
                    <a:bodyPr/>
                    <a:lstStyle/>
                    <a:p>
                      <a:r>
                        <a:rPr sz="1650" b="0">
                          <a:solidFill>
                            <a:srgbClr val="111111"/>
                          </a:solidFill>
                          <a:latin typeface="Aptos"/>
                          <a:ea typeface="Aptos"/>
                          <a:cs typeface="Aptos"/>
                        </a:rPr>
                        <a:t>bit/s</a:t>
                      </a:r>
                    </a:p>
                  </a:txBody>
                  <a:tcPr marL="85725" marR="85725" marT="19050" marB="19050" anchor="ctr">
                    <a:solidFill>
                      <a:srgbClr val="FFFFFF"/>
                    </a:solidFill>
                  </a:tcPr>
                </a:tc>
                <a:extLst>
                  <a:ext uri="{0D108BD9-81ED-4DB2-BD59-A6C34878D82A}">
                    <a16:rowId xmlns:a16="http://schemas.microsoft.com/office/drawing/2014/main" val="10008"/>
                  </a:ext>
                </a:extLst>
              </a:tr>
            </a:tbl>
          </a:graphicData>
        </a:graphic>
      </p:graphicFrame>
      <p:sp>
        <p:nvSpPr>
          <p:cNvPr id="3" name="added-text-72">
            <a:extLst>
              <a:ext uri="{FF2B5EF4-FFF2-40B4-BE49-F238E27FC236}">
                <a16:creationId xmlns:a16="http://schemas.microsoft.com/office/drawing/2014/main" id="{5338B774-80AD-4A99-A339-3C3954A21BD4}"/>
              </a:ext>
            </a:extLst>
          </p:cNvPr>
          <p:cNvSpPr>
            <a:spLocks noGrp="1"/>
          </p:cNvSpPr>
          <p:nvPr/>
        </p:nvSpPr>
        <p:spPr>
          <a:xfrm>
            <a:off x="933450" y="6143625"/>
            <a:ext cx="10334625" cy="419100"/>
          </a:xfrm>
          <a:prstGeom prst="rect">
            <a:avLst/>
          </a:prstGeom>
          <a:noFill/>
          <a:ln w="0">
            <a:noFill/>
          </a:ln>
        </p:spPr>
        <p:txBody>
          <a:bodyPr lIns="0" tIns="0" rIns="0" bIns="0" anchor="t">
            <a:noAutofit/>
          </a:bodyPr>
          <a:lstStyle/>
          <a:p>
            <a:pPr algn="l">
              <a:defRPr sz="1500" b="0">
                <a:solidFill>
                  <a:srgbClr val="62676D"/>
                </a:solidFill>
                <a:latin typeface="Aptos"/>
                <a:ea typeface="Aptos"/>
                <a:cs typeface="Aptos"/>
              </a:defRPr>
            </a:pPr>
            <a:r>
              <a:rPr sz="1500" b="0">
                <a:solidFill>
                  <a:srgbClr val="62676D"/>
                </a:solidFill>
                <a:latin typeface="Aptos"/>
                <a:ea typeface="Aptos"/>
                <a:cs typeface="Aptos"/>
              </a:rPr>
              <a:t>S counts smoothing windows or forecast scenarios. b is a window offset in MUSIC and a response vector in SAGE.</a:t>
            </a:r>
          </a:p>
        </p:txBody>
      </p:sp>
      <p:sp>
        <p:nvSpPr>
          <p:cNvPr id="4" name="added-text-123">
            <a:extLst>
              <a:ext uri="{FF2B5EF4-FFF2-40B4-BE49-F238E27FC236}">
                <a16:creationId xmlns:a16="http://schemas.microsoft.com/office/drawing/2014/main" id="{8C593EA6-46F9-4B68-B675-BF50E532B609}"/>
              </a:ext>
            </a:extLst>
          </p:cNvPr>
          <p:cNvSpPr>
            <a:spLocks noGrp="1"/>
          </p:cNvSpPr>
          <p:nvPr/>
        </p:nvSpPr>
        <p:spPr>
          <a:xfrm>
            <a:off x="10877550" y="6524625"/>
            <a:ext cx="428625" cy="238125"/>
          </a:xfrm>
          <a:prstGeom prst="rect">
            <a:avLst/>
          </a:prstGeom>
          <a:noFill/>
          <a:ln w="0">
            <a:noFill/>
          </a:ln>
        </p:spPr>
        <p:txBody>
          <a:bodyPr lIns="0" tIns="0" rIns="0" bIns="0" anchor="t">
            <a:noAutofit/>
          </a:bodyPr>
          <a:lstStyle/>
          <a:p>
            <a:pPr algn="l">
              <a:defRPr sz="1200" b="0">
                <a:solidFill>
                  <a:srgbClr val="62676D"/>
                </a:solidFill>
                <a:latin typeface="Aptos"/>
                <a:ea typeface="Aptos"/>
                <a:cs typeface="Aptos"/>
              </a:defRPr>
            </a:pPr>
            <a:r>
              <a:rPr sz="1200" b="0">
                <a:solidFill>
                  <a:srgbClr val="62676D"/>
                </a:solidFill>
                <a:latin typeface="Aptos"/>
                <a:ea typeface="Aptos"/>
                <a:cs typeface="Aptos"/>
              </a:rPr>
              <a:t>52</a:t>
            </a:r>
          </a:p>
        </p:txBody>
      </p:sp>
    </p:spTree>
    <p:extLst>
      <p:ext uri="{BB962C8B-B14F-4D97-AF65-F5344CB8AC3E}">
        <p14:creationId xmlns:p14="http://schemas.microsoft.com/office/powerpoint/2010/main" val="340590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9210</Words>
  <Application>Microsoft Office PowerPoint</Application>
  <DocSecurity>0</DocSecurity>
  <PresentationFormat>Widescreen</PresentationFormat>
  <Paragraphs>1028</Paragraphs>
  <Slides>53</Slides>
  <Notes>53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Nunito Sans Normal</vt:lpstr>
      <vt:lpstr>Aptos</vt:lpstr>
      <vt:lpstr>Aptos Display</vt:lpstr>
      <vt:lpstr>Arial</vt:lpstr>
      <vt:lpstr>Consolas</vt:lpstr>
      <vt:lpstr>Office Theme</vt:lpstr>
      <vt:lpstr>Rotating Wi-Fi Antennas Estimation and Adaptive Orientation Optimization</vt:lpstr>
      <vt:lpstr>Rotation Platform Follow the strongest path.  Poparization optimization (follow the client ),cross polarization ratio missmatch </vt:lpstr>
      <vt:lpstr>System overview</vt:lpstr>
      <vt:lpstr>PowerPoint Presentation</vt:lpstr>
      <vt:lpstr>I. 1-D rotation geometry</vt:lpstr>
      <vt:lpstr>PowerPoint Presentation</vt:lpstr>
      <vt:lpstr>I. 2-D pan–tilt geometry</vt:lpstr>
      <vt:lpstr>PowerPoint Presentation</vt:lpstr>
      <vt:lpstr>I. CSI and signal model</vt:lpstr>
      <vt:lpstr>PowerPoint Presentation</vt:lpstr>
      <vt:lpstr>PowerPoint Presentation</vt:lpstr>
      <vt:lpstr>I. MUSIC estimation</vt:lpstr>
      <vt:lpstr>PowerPoint Presentation</vt:lpstr>
      <vt:lpstr>I. MUSIC_FIT pseudocode</vt:lpstr>
      <vt:lpstr>PowerPoint Presentation</vt:lpstr>
      <vt:lpstr>I. ESPRIT in beamspace</vt:lpstr>
      <vt:lpstr>PowerPoint Presentation</vt:lpstr>
      <vt:lpstr>I. SAGE update equations</vt:lpstr>
      <vt:lpstr>PowerPoint Presentation</vt:lpstr>
      <vt:lpstr>I. SAGE_FIT pseudocode</vt:lpstr>
      <vt:lpstr>PowerPoint Presentation</vt:lpstr>
      <vt:lpstr>II. Channel to goodput</vt:lpstr>
      <vt:lpstr>PowerPoint Presentation</vt:lpstr>
      <vt:lpstr>II. 1-D: one source</vt:lpstr>
      <vt:lpstr>II. 1-D: multiple sources</vt:lpstr>
      <vt:lpstr>II. 1-D: service priorities</vt:lpstr>
      <vt:lpstr>PowerPoint Presentation</vt:lpstr>
      <vt:lpstr>II. 2-D: one source</vt:lpstr>
      <vt:lpstr>II. 2-D: multiple sources</vt:lpstr>
      <vt:lpstr>II. 2-D: service priorities</vt:lpstr>
      <vt:lpstr>PowerPoint Presentation</vt:lpstr>
      <vt:lpstr>II. Selection pseudocode</vt:lpstr>
      <vt:lpstr>PowerPoint Presentation</vt:lpstr>
      <vt:lpstr>III. A: periodic full scans</vt:lpstr>
      <vt:lpstr>PowerPoint Presentation</vt:lpstr>
      <vt:lpstr>III. B: local + global search</vt:lpstr>
      <vt:lpstr>PowerPoint Presentation</vt:lpstr>
      <vt:lpstr>III. B: controller pseudocode</vt:lpstr>
      <vt:lpstr>III. Paired verification</vt:lpstr>
      <vt:lpstr>PowerPoint Presentation</vt:lpstr>
      <vt:lpstr>III. C: recurring usage</vt:lpstr>
      <vt:lpstr>III. C: seasonal learning</vt:lpstr>
      <vt:lpstr>PowerPoint Presentation</vt:lpstr>
      <vt:lpstr>III. C: predictive objective</vt:lpstr>
      <vt:lpstr>PowerPoint Presentation</vt:lpstr>
      <vt:lpstr>PowerPoint Presentation</vt:lpstr>
      <vt:lpstr>III. C: predictive pseudocode</vt:lpstr>
      <vt:lpstr>PowerPoint Presentation</vt:lpstr>
      <vt:lpstr>III. Controller architecture</vt:lpstr>
      <vt:lpstr>III. Evaluation and rollout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Shizhen Jia</cp:lastModifiedBy>
  <cp:revision>6</cp:revision>
  <dcterms:created xsi:type="dcterms:W3CDTF">2026-09-11T19:16:35Z</dcterms:created>
  <dcterms:modified xsi:type="dcterms:W3CDTF">2026-09-11T21:06:17Z</dcterms:modified>
</cp:coreProperties>
</file>